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C0C2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43"/>
  </p:normalViewPr>
  <p:slideViewPr>
    <p:cSldViewPr snapToGrid="0">
      <p:cViewPr varScale="1">
        <p:scale>
          <a:sx n="154" d="100"/>
          <a:sy n="154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Combined lecture deck. Sources: Week 04 original categorical/probability slides, Week 04 student-response probability outline, OpenIntro Statistics Chapter 3.1-3.2, and Canvas Week 04 practice/check-in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that the lecture responds to check-in and practice quiz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Original Week 04 comparison slide, enlarged.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Original Week 04 comparison-group slide, enlarged.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probability with one concrete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Translate notation into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household Venn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addition rule as an accounting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neither and at least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Clarify disjoint before independence.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central plain-language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product check with enlarged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Second representation for the same household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Direct practice-quiz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Address the exact hard practice-quiz question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Relatable independence example with data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original conditional probability idea with larger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original probability-tree setup as board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Respond to the most common check-in concern with larger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Active response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with scope reminder and exit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/>
          <p:cNvPicPr>
            <a:picLocks noChangeAspect="1"/>
          </p:cNvPicPr>
          <p:nvPr/>
        </p:nvPicPr>
        <p:blipFill>
          <a:blip r:embed="rId3"/>
          <a:srcRect t="107" b="107"/>
          <a:stretch>
            <a:fillRect/>
          </a:stretch>
        </p:blipFill>
        <p:spPr>
          <a:xfrm>
            <a:off x="0" y="95250"/>
            <a:ext cx="9144000" cy="42576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F4AD8B-C505-4D7B-AB5E-B00A6E3D794A}"/>
              </a:ext>
            </a:extLst>
          </p:cNvPr>
          <p:cNvSpPr>
            <a:spLocks noGrp="1"/>
          </p:cNvSpPr>
          <p:nvPr/>
        </p:nvSpPr>
        <p:spPr>
          <a:xfrm>
            <a:off x="819150" y="2019300"/>
            <a:ext cx="7524750" cy="762000"/>
          </a:xfrm>
          <a:prstGeom prst="rect">
            <a:avLst/>
          </a:prstGeom>
          <a:solidFill>
            <a:srgbClr val="FBE3D6">
              <a:alpha val="58039"/>
            </a:srgbClr>
          </a:solidFill>
          <a:ln w="0">
            <a:noFill/>
          </a:ln>
        </p:spPr>
        <p:txBody>
          <a:bodyPr lIns="38100" tIns="19050" rIns="38100" bIns="19050" anchor="b">
            <a:noAutofit/>
          </a:bodyPr>
          <a:lstStyle/>
          <a:p>
            <a:pPr algn="l">
              <a:buNone/>
              <a:defRPr sz="23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32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Categorical comparisons and probability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11F6C-A6A4-42C3-A2FF-E31273B8D207}"/>
              </a:ext>
            </a:extLst>
          </p:cNvPr>
          <p:cNvSpPr>
            <a:spLocks noGrp="1"/>
          </p:cNvSpPr>
          <p:nvPr/>
        </p:nvSpPr>
        <p:spPr>
          <a:xfrm>
            <a:off x="904875" y="3257550"/>
            <a:ext cx="7410450" cy="9525"/>
          </a:xfrm>
          <a:prstGeom prst="rect">
            <a:avLst/>
          </a:prstGeom>
          <a:solidFill>
            <a:srgbClr val="777777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02AAA-F1DC-4732-9928-FCE5D2349336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7543800" cy="781050"/>
          </a:xfrm>
          <a:prstGeom prst="rect">
            <a:avLst/>
          </a:prstGeom>
          <a:solidFill>
            <a:srgbClr val="95C0C2">
              <a:alpha val="49020"/>
            </a:srgbClr>
          </a:solidFill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buNone/>
              <a:defRPr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 dirty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STAT UN 1001  ·  LECTURE </a:t>
            </a:r>
            <a:r>
              <a:rPr lang="en-US" altLang="zh-CN" sz="1800" b="1" i="0" dirty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7</a:t>
            </a:r>
            <a:endParaRPr sz="1800" b="1" i="0" dirty="0">
              <a:solidFill>
                <a:srgbClr val="2D2D2D"/>
              </a:solidFill>
              <a:latin typeface="Montserrat"/>
              <a:ea typeface="Montserrat"/>
              <a:cs typeface="Montserrat"/>
            </a:endParaRPr>
          </a:p>
          <a:p>
            <a:pPr algn="l">
              <a:buNone/>
              <a:defRPr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SEPTEMBER 2</a:t>
            </a:r>
            <a:r>
              <a:rPr lang="en-US" altLang="zh-CN"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9</a:t>
            </a:r>
            <a:r>
              <a:rPr sz="1800" b="1" i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800" b="1" i="0" dirty="0">
                <a:solidFill>
                  <a:srgbClr val="2D2D2D"/>
                </a:solidFill>
                <a:latin typeface="Montserrat"/>
                <a:ea typeface="Montserrat"/>
                <a:cs typeface="Montserrat"/>
              </a:rPr>
              <a:t>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A9FDD7-B6B6-4FD1-84DE-840A2CC6F311}"/>
              </a:ext>
            </a:extLst>
          </p:cNvPr>
          <p:cNvSpPr>
            <a:spLocks noGrp="1"/>
          </p:cNvSpPr>
          <p:nvPr/>
        </p:nvSpPr>
        <p:spPr>
          <a:xfrm>
            <a:off x="0" y="4752975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pic>
        <p:nvPicPr>
          <p:cNvPr id="14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4420" y="4867275"/>
            <a:ext cx="153233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31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From</a:t>
            </a:r>
            <a:r>
              <a:rPr lang="zh-CN" altLang="en-US"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Flipped</a:t>
            </a:r>
            <a:r>
              <a:rPr lang="zh-CN" altLang="en-US"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Activities</a:t>
            </a:r>
            <a:r>
              <a:rPr lang="zh-CN" altLang="en-US"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Check-In</a:t>
            </a:r>
            <a:endParaRPr sz="2000" b="1" i="0" dirty="0">
              <a:solidFill>
                <a:srgbClr val="18324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77025-48B9-4A52-B7DE-83FADD223672}"/>
              </a:ext>
            </a:extLst>
          </p:cNvPr>
          <p:cNvSpPr>
            <a:spLocks noGrp="1"/>
          </p:cNvSpPr>
          <p:nvPr/>
        </p:nvSpPr>
        <p:spPr>
          <a:xfrm>
            <a:off x="914400" y="133350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1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HARDEST ISSUE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C021DB-7176-4ACB-9B59-7F0E084BE39A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285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Knowing which rule applies</a:t>
            </a:r>
          </a:p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26 students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30C787-E151-4ED2-930A-DC422C4872CB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100"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AFA71B-337F-41CD-8A68-469913FF0902}"/>
              </a:ext>
            </a:extLst>
          </p:cNvPr>
          <p:cNvSpPr>
            <a:spLocks noGrp="1"/>
          </p:cNvSpPr>
          <p:nvPr/>
        </p:nvSpPr>
        <p:spPr>
          <a:xfrm>
            <a:off x="914400" y="3038475"/>
            <a:ext cx="285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Understanding independence</a:t>
            </a:r>
          </a:p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13 students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F335AA-060B-4B69-AB18-5116BD9FFFFF}"/>
              </a:ext>
            </a:extLst>
          </p:cNvPr>
          <p:cNvSpPr>
            <a:spLocks noGrp="1"/>
          </p:cNvSpPr>
          <p:nvPr/>
        </p:nvSpPr>
        <p:spPr>
          <a:xfrm>
            <a:off x="4619625" y="142875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A4573A"/>
                </a:solidFill>
                <a:latin typeface="Aptos"/>
                <a:ea typeface="Aptos"/>
                <a:cs typeface="Aptos"/>
              </a:defRPr>
            </a:pPr>
            <a:r>
              <a:rPr sz="1100" b="1" i="0">
                <a:solidFill>
                  <a:srgbClr val="A4573A"/>
                </a:solidFill>
                <a:latin typeface="Aptos"/>
                <a:ea typeface="Aptos"/>
                <a:cs typeface="Aptos"/>
              </a:rPr>
              <a:t>PRACTICE QUIZ LOW POINTS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D7784-0FCC-49EF-92A6-C46858254384}"/>
              </a:ext>
            </a:extLst>
          </p:cNvPr>
          <p:cNvSpPr>
            <a:spLocks noGrp="1"/>
          </p:cNvSpPr>
          <p:nvPr/>
        </p:nvSpPr>
        <p:spPr>
          <a:xfrm>
            <a:off x="4619625" y="1752600"/>
            <a:ext cx="34290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75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Independence from Venn: 45/64 correct</a:t>
            </a:r>
          </a:p>
          <a:p>
            <a:pPr algn="l">
              <a:defRPr sz="127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75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Two-city rain independence: 47/64 correct</a:t>
            </a:r>
          </a:p>
          <a:p>
            <a:pPr algn="l">
              <a:defRPr sz="127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75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Disjoint addition: 51/64 correct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4EEE34-4B2A-4F1B-B7D8-BCC300354B6B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Today’s repeated question: what does the event mean?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Counts and proportions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22" name="Table 21"/>
          <p:cNvGraphicFramePr/>
          <p:nvPr>
            <p:extLst>
              <p:ext uri="{D42A27DB-BD31-4B8C-83A1-F6EECF244321}">
                <p14:modId xmlns:p14="http://schemas.microsoft.com/office/powerpoint/2010/main" val="683046202"/>
              </p:ext>
            </p:extLst>
          </p:nvPr>
        </p:nvGraphicFramePr>
        <p:xfrm>
          <a:off x="857250" y="1219200"/>
          <a:ext cx="7429500" cy="1695452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r>
                        <a:rPr dirty="0"/>
                        <a:t>Report group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Event X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Other events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rPr dirty="0"/>
                        <a:t>Vaccine A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rPr dirty="0"/>
                        <a:t>Older vaccines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D1E4473D-93DA-4D29-A5D4-051AF010F79D}"/>
              </a:ext>
            </a:extLst>
          </p:cNvPr>
          <p:cNvSpPr>
            <a:spLocks noGrp="1"/>
          </p:cNvSpPr>
          <p:nvPr/>
        </p:nvSpPr>
        <p:spPr>
          <a:xfrm>
            <a:off x="775509" y="3200402"/>
            <a:ext cx="4968586" cy="99059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Which group has more reports? </a:t>
            </a:r>
            <a:endParaRPr lang="en-US" sz="1400" b="1" i="0" dirty="0">
              <a:solidFill>
                <a:srgbClr val="183247"/>
              </a:solidFill>
              <a:latin typeface="Aptos"/>
              <a:ea typeface="Aptos"/>
              <a:cs typeface="Aptos"/>
            </a:endParaRPr>
          </a:p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Which group has the larger Event X proportion?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The comparison group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22" name="Table 21"/>
          <p:cNvGraphicFramePr/>
          <p:nvPr/>
        </p:nvGraphicFramePr>
        <p:xfrm>
          <a:off x="800100" y="1200150"/>
          <a:ext cx="7543800" cy="1911669"/>
        </p:xfrm>
        <a:graphic>
          <a:graphicData uri="http://schemas.openxmlformats.org/drawingml/2006/table">
            <a:tbl>
              <a:tblPr/>
              <a:tblGrid>
                <a:gridCol w="18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r>
                        <a:t>Report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 X proportion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t>Vaccine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t>New Vaccine 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r>
                        <a:t>Older vaccines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6F9D5257-0FE8-4F17-9B61-7BE258418DE2}"/>
              </a:ext>
            </a:extLst>
          </p:cNvPr>
          <p:cNvSpPr>
            <a:spLocks noGrp="1"/>
          </p:cNvSpPr>
          <p:nvPr/>
        </p:nvSpPr>
        <p:spPr>
          <a:xfrm>
            <a:off x="800100" y="3378519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If “everyone else” mostly means New Vaccine A2, what question does the comparison answer?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Probability:</a:t>
            </a:r>
            <a:r>
              <a:rPr lang="zh-CN" altLang="en-US"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Chance process and sample 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5979AD-5EC4-43BA-BE78-631B4A9982E5}"/>
              </a:ext>
            </a:extLst>
          </p:cNvPr>
          <p:cNvSpPr>
            <a:spLocks noGrp="1"/>
          </p:cNvSpPr>
          <p:nvPr/>
        </p:nvSpPr>
        <p:spPr>
          <a:xfrm>
            <a:off x="665018" y="1066800"/>
            <a:ext cx="3678382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CHANCE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3025AA-AD00-4B38-AA08-6F90AF0BA079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Randomly sample one household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866550-B85E-4851-B85C-A67A5D5366EF}"/>
              </a:ext>
            </a:extLst>
          </p:cNvPr>
          <p:cNvSpPr>
            <a:spLocks noGrp="1"/>
          </p:cNvSpPr>
          <p:nvPr/>
        </p:nvSpPr>
        <p:spPr>
          <a:xfrm>
            <a:off x="5191125" y="1057275"/>
            <a:ext cx="2952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C99A3F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31B55D-EA1B-42F3-AA1F-EF7C2CCA35DF}"/>
              </a:ext>
            </a:extLst>
          </p:cNvPr>
          <p:cNvSpPr>
            <a:spLocks noGrp="1"/>
          </p:cNvSpPr>
          <p:nvPr/>
        </p:nvSpPr>
        <p:spPr>
          <a:xfrm>
            <a:off x="5210175" y="1443644"/>
            <a:ext cx="2952750" cy="1162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</a:t>
            </a:r>
            <a:r>
              <a:rPr sz="1425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: has a cat</a:t>
            </a:r>
          </a:p>
          <a:p>
            <a:pPr algn="l">
              <a:defRPr sz="14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</a:t>
            </a:r>
            <a:r>
              <a:rPr sz="1425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: has a car</a:t>
            </a:r>
          </a:p>
          <a:p>
            <a:pPr algn="l">
              <a:defRPr sz="14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B</a:t>
            </a:r>
            <a:r>
              <a:rPr sz="1425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: has a child under age 2</a:t>
            </a:r>
            <a:endParaRPr lang="en-US" sz="1425" b="0" i="0" dirty="0">
              <a:solidFill>
                <a:srgbClr val="1E2A32"/>
              </a:solidFill>
              <a:latin typeface="Aptos"/>
              <a:ea typeface="Aptos"/>
              <a:cs typeface="Aptos"/>
            </a:endParaRPr>
          </a:p>
          <a:p>
            <a:pPr algn="l">
              <a:defRPr sz="14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425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…</a:t>
            </a:r>
            <a:endParaRPr sz="1425" b="0" i="0" dirty="0">
              <a:solidFill>
                <a:srgbClr val="1E2A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53CF0F-BBD4-4057-9736-480FFF3E7F93}"/>
              </a:ext>
            </a:extLst>
          </p:cNvPr>
          <p:cNvSpPr>
            <a:spLocks noGrp="1"/>
          </p:cNvSpPr>
          <p:nvPr/>
        </p:nvSpPr>
        <p:spPr>
          <a:xfrm>
            <a:off x="671945" y="2486025"/>
            <a:ext cx="357620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8F3E8B-B73E-45CB-AE49-BABD3D5263BB}"/>
              </a:ext>
            </a:extLst>
          </p:cNvPr>
          <p:cNvSpPr>
            <a:spLocks noGrp="1"/>
          </p:cNvSpPr>
          <p:nvPr/>
        </p:nvSpPr>
        <p:spPr>
          <a:xfrm>
            <a:off x="914400" y="2990850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one selected household’s combination of traits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4B863D-4E36-4C7A-A2FD-48D718E07D84}"/>
              </a:ext>
            </a:extLst>
          </p:cNvPr>
          <p:cNvSpPr>
            <a:spLocks noGrp="1"/>
          </p:cNvSpPr>
          <p:nvPr/>
        </p:nvSpPr>
        <p:spPr>
          <a:xfrm>
            <a:off x="5162550" y="2509838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A4573A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A4573A"/>
                </a:solidFill>
                <a:latin typeface="Aptos"/>
                <a:ea typeface="Aptos"/>
                <a:cs typeface="Aptos"/>
              </a:rPr>
              <a:t>SAMPLE SPACE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F4034A-31D8-4651-A912-A03405C09FEB}"/>
              </a:ext>
            </a:extLst>
          </p:cNvPr>
          <p:cNvSpPr>
            <a:spLocks noGrp="1"/>
          </p:cNvSpPr>
          <p:nvPr/>
        </p:nvSpPr>
        <p:spPr>
          <a:xfrm>
            <a:off x="5162550" y="2945606"/>
            <a:ext cx="304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all possible combinations that could be selected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5D32F46-15C3-4369-9D46-896B4B6B6002}"/>
              </a:ext>
            </a:extLst>
          </p:cNvPr>
          <p:cNvSpPr>
            <a:spLocks noGrp="1"/>
          </p:cNvSpPr>
          <p:nvPr/>
        </p:nvSpPr>
        <p:spPr>
          <a:xfrm>
            <a:off x="723900" y="3829657"/>
            <a:ext cx="7696200" cy="45720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5F61BA-3EA0-4748-99B4-04B730C04647}"/>
              </a:ext>
            </a:extLst>
          </p:cNvPr>
          <p:cNvSpPr>
            <a:spLocks noGrp="1"/>
          </p:cNvSpPr>
          <p:nvPr/>
        </p:nvSpPr>
        <p:spPr>
          <a:xfrm>
            <a:off x="933450" y="3924907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What outcome did we observe if the household has a cat, no car, and no child under 2?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Events as sets of outcomes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AAAC90-722A-492E-A4BE-A30C3BAECB9E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C AND 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1C1B6A-F6FC-4837-A568-AFDCF19B438B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2095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cat and car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ECB16-A872-4932-99A3-C46C39A3A9A7}"/>
              </a:ext>
            </a:extLst>
          </p:cNvPr>
          <p:cNvSpPr>
            <a:spLocks noGrp="1"/>
          </p:cNvSpPr>
          <p:nvPr/>
        </p:nvSpPr>
        <p:spPr>
          <a:xfrm>
            <a:off x="3476625" y="1428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C OR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920BA0-07A3-41C7-8D96-9E8EE8C934AB}"/>
              </a:ext>
            </a:extLst>
          </p:cNvPr>
          <p:cNvSpPr>
            <a:spLocks noGrp="1"/>
          </p:cNvSpPr>
          <p:nvPr/>
        </p:nvSpPr>
        <p:spPr>
          <a:xfrm>
            <a:off x="3476625" y="1847850"/>
            <a:ext cx="2095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cat, car, or both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788C19-BBA7-4F81-BC9B-ECB92445D883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A4573A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A4573A"/>
                </a:solidFill>
                <a:latin typeface="Aptos"/>
                <a:ea typeface="Aptos"/>
                <a:cs typeface="Aptos"/>
              </a:rPr>
              <a:t>NOT 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0BF1E0-4915-40BE-852F-B47EB90DB765}"/>
              </a:ext>
            </a:extLst>
          </p:cNvPr>
          <p:cNvSpPr>
            <a:spLocks noGrp="1"/>
          </p:cNvSpPr>
          <p:nvPr/>
        </p:nvSpPr>
        <p:spPr>
          <a:xfrm>
            <a:off x="6096000" y="1847850"/>
            <a:ext cx="2095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no cat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F0E9537-12D8-4A2C-B125-55B7EA835862}"/>
              </a:ext>
            </a:extLst>
          </p:cNvPr>
          <p:cNvSpPr>
            <a:spLocks noGrp="1"/>
          </p:cNvSpPr>
          <p:nvPr/>
        </p:nvSpPr>
        <p:spPr>
          <a:xfrm>
            <a:off x="723900" y="3675610"/>
            <a:ext cx="7696200" cy="45720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318BBD-EB3D-4B35-9B9F-8976B5D80982}"/>
              </a:ext>
            </a:extLst>
          </p:cNvPr>
          <p:cNvSpPr>
            <a:spLocks noGrp="1"/>
          </p:cNvSpPr>
          <p:nvPr/>
        </p:nvSpPr>
        <p:spPr>
          <a:xfrm>
            <a:off x="933450" y="3770860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In probability, “or” includes the overlap unless the problem says otherwise.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Venn diagram regions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6C19F6-DBAA-4C21-A74F-BAFFE8BFBADD}"/>
              </a:ext>
            </a:extLst>
          </p:cNvPr>
          <p:cNvSpPr>
            <a:spLocks noGrp="1"/>
          </p:cNvSpPr>
          <p:nvPr/>
        </p:nvSpPr>
        <p:spPr>
          <a:xfrm>
            <a:off x="781050" y="1571625"/>
            <a:ext cx="2539365" cy="1937004"/>
          </a:xfrm>
          <a:prstGeom prst="ellipse">
            <a:avLst/>
          </a:prstGeom>
          <a:solidFill>
            <a:srgbClr val="2E6F73">
              <a:alpha val="12000"/>
            </a:srgbClr>
          </a:solidFill>
          <a:ln w="22860">
            <a:solidFill>
              <a:srgbClr val="2E6F73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D74ADCA-A5F4-4552-8ECB-47B44990D48C}"/>
              </a:ext>
            </a:extLst>
          </p:cNvPr>
          <p:cNvSpPr>
            <a:spLocks noGrp="1"/>
          </p:cNvSpPr>
          <p:nvPr/>
        </p:nvSpPr>
        <p:spPr>
          <a:xfrm>
            <a:off x="2050733" y="1571625"/>
            <a:ext cx="2539365" cy="1937004"/>
          </a:xfrm>
          <a:prstGeom prst="ellipse">
            <a:avLst/>
          </a:prstGeom>
          <a:solidFill>
            <a:srgbClr val="C99A3F">
              <a:alpha val="12000"/>
            </a:srgbClr>
          </a:solidFill>
          <a:ln w="22860">
            <a:solidFill>
              <a:srgbClr val="C99A3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249D1F-0717-4CFC-BBD1-9962EAC4776C}"/>
              </a:ext>
            </a:extLst>
          </p:cNvPr>
          <p:cNvSpPr>
            <a:spLocks noGrp="1"/>
          </p:cNvSpPr>
          <p:nvPr/>
        </p:nvSpPr>
        <p:spPr>
          <a:xfrm>
            <a:off x="977265" y="1190625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C: cat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6CB785-FAEE-47C6-BCE1-C6026347A432}"/>
              </a:ext>
            </a:extLst>
          </p:cNvPr>
          <p:cNvSpPr>
            <a:spLocks noGrp="1"/>
          </p:cNvSpPr>
          <p:nvPr/>
        </p:nvSpPr>
        <p:spPr>
          <a:xfrm>
            <a:off x="2780348" y="1190625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A: car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048D94-9015-451F-AD54-F7A4A2889488}"/>
              </a:ext>
            </a:extLst>
          </p:cNvPr>
          <p:cNvSpPr>
            <a:spLocks noGrp="1"/>
          </p:cNvSpPr>
          <p:nvPr/>
        </p:nvSpPr>
        <p:spPr>
          <a:xfrm>
            <a:off x="1371600" y="2390775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733867-E556-4448-9D92-C43BC989D885}"/>
              </a:ext>
            </a:extLst>
          </p:cNvPr>
          <p:cNvSpPr>
            <a:spLocks noGrp="1"/>
          </p:cNvSpPr>
          <p:nvPr/>
        </p:nvSpPr>
        <p:spPr>
          <a:xfrm>
            <a:off x="2279333" y="2390775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1A8E1F-EF5B-41F0-90FA-89D3A1F0B1EB}"/>
              </a:ext>
            </a:extLst>
          </p:cNvPr>
          <p:cNvSpPr>
            <a:spLocks noGrp="1"/>
          </p:cNvSpPr>
          <p:nvPr/>
        </p:nvSpPr>
        <p:spPr>
          <a:xfrm>
            <a:off x="3669983" y="2390775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32CBF9-A84E-45D7-96D9-B9889611BA86}"/>
              </a:ext>
            </a:extLst>
          </p:cNvPr>
          <p:cNvSpPr>
            <a:spLocks noGrp="1"/>
          </p:cNvSpPr>
          <p:nvPr/>
        </p:nvSpPr>
        <p:spPr>
          <a:xfrm>
            <a:off x="2190750" y="3661029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1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5F6F7A"/>
                </a:solidFill>
                <a:latin typeface="Aptos"/>
                <a:ea typeface="Aptos"/>
                <a:cs typeface="Aptos"/>
              </a:rPr>
              <a:t>neither: 30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759016-33CC-4A20-8DF5-F66F31439B2B}"/>
              </a:ext>
            </a:extLst>
          </p:cNvPr>
          <p:cNvSpPr>
            <a:spLocks noGrp="1"/>
          </p:cNvSpPr>
          <p:nvPr/>
        </p:nvSpPr>
        <p:spPr>
          <a:xfrm>
            <a:off x="5499735" y="1012247"/>
            <a:ext cx="2667000" cy="71177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SURVEY </a:t>
            </a:r>
            <a:r>
              <a:rPr sz="2000" b="1" i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100</a:t>
            </a:r>
            <a:r>
              <a:rPr sz="20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 HOUSEHOLDS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6D6BBE-F9F7-4101-858D-8E52EF3C8F56}"/>
              </a:ext>
            </a:extLst>
          </p:cNvPr>
          <p:cNvSpPr>
            <a:spLocks noGrp="1"/>
          </p:cNvSpPr>
          <p:nvPr/>
        </p:nvSpPr>
        <p:spPr>
          <a:xfrm>
            <a:off x="5572125" y="1752600"/>
            <a:ext cx="26670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35 have a cat</a:t>
            </a:r>
          </a:p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60 have a car</a:t>
            </a:r>
          </a:p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25 have both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17796F-AAD7-4127-BDDB-438807C3BD6B}"/>
              </a:ext>
            </a:extLst>
          </p:cNvPr>
          <p:cNvSpPr>
            <a:spLocks noGrp="1"/>
          </p:cNvSpPr>
          <p:nvPr/>
        </p:nvSpPr>
        <p:spPr>
          <a:xfrm>
            <a:off x="5499735" y="2771775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C99A3F"/>
                </a:solidFill>
                <a:latin typeface="Aptos"/>
                <a:ea typeface="Aptos"/>
                <a:cs typeface="Aptos"/>
              </a:rPr>
              <a:t>READ FROM THE DIAGRAM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2B4B3D-9D4A-4CBC-BF97-797F51B01209}"/>
              </a:ext>
            </a:extLst>
          </p:cNvPr>
          <p:cNvSpPr>
            <a:spLocks noGrp="1"/>
          </p:cNvSpPr>
          <p:nvPr/>
        </p:nvSpPr>
        <p:spPr>
          <a:xfrm>
            <a:off x="5572125" y="3238500"/>
            <a:ext cx="266700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cat only = 10</a:t>
            </a:r>
          </a:p>
          <a:p>
            <a:pPr algn="l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both = 25</a:t>
            </a:r>
          </a:p>
          <a:p>
            <a:pPr algn="l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car only = 35</a:t>
            </a:r>
          </a:p>
          <a:p>
            <a:pPr algn="l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neither = 30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Overlap and double-counting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85CA84-634C-4E3D-BB51-62E36BD9C85F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2480310" cy="1835468"/>
          </a:xfrm>
          <a:prstGeom prst="ellipse">
            <a:avLst/>
          </a:prstGeom>
          <a:solidFill>
            <a:srgbClr val="2E6F73">
              <a:alpha val="12000"/>
            </a:srgbClr>
          </a:solidFill>
          <a:ln w="22860">
            <a:solidFill>
              <a:srgbClr val="2E6F73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87D5E1C-26DE-4086-B8A8-EF15D623DA91}"/>
              </a:ext>
            </a:extLst>
          </p:cNvPr>
          <p:cNvSpPr>
            <a:spLocks noGrp="1"/>
          </p:cNvSpPr>
          <p:nvPr/>
        </p:nvSpPr>
        <p:spPr>
          <a:xfrm>
            <a:off x="1983105" y="1676400"/>
            <a:ext cx="2480310" cy="1835468"/>
          </a:xfrm>
          <a:prstGeom prst="ellipse">
            <a:avLst/>
          </a:prstGeom>
          <a:solidFill>
            <a:srgbClr val="C99A3F">
              <a:alpha val="12000"/>
            </a:srgbClr>
          </a:solidFill>
          <a:ln w="22860">
            <a:solidFill>
              <a:srgbClr val="C99A3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08D320-B450-4EDC-8E23-FC1E998F6D55}"/>
              </a:ext>
            </a:extLst>
          </p:cNvPr>
          <p:cNvSpPr>
            <a:spLocks noGrp="1"/>
          </p:cNvSpPr>
          <p:nvPr/>
        </p:nvSpPr>
        <p:spPr>
          <a:xfrm>
            <a:off x="952500" y="13525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C: cat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C57625-DB7F-4F48-887C-E435CF6C4B07}"/>
              </a:ext>
            </a:extLst>
          </p:cNvPr>
          <p:cNvSpPr>
            <a:spLocks noGrp="1"/>
          </p:cNvSpPr>
          <p:nvPr/>
        </p:nvSpPr>
        <p:spPr>
          <a:xfrm>
            <a:off x="2726055" y="13525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C99A3F"/>
                </a:solidFill>
                <a:latin typeface="Aptos"/>
                <a:ea typeface="Aptos"/>
                <a:cs typeface="Aptos"/>
              </a:rPr>
              <a:t>A: car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ED4343-31D4-4762-9B69-1B728105457A}"/>
              </a:ext>
            </a:extLst>
          </p:cNvPr>
          <p:cNvSpPr>
            <a:spLocks noGrp="1"/>
          </p:cNvSpPr>
          <p:nvPr/>
        </p:nvSpPr>
        <p:spPr>
          <a:xfrm>
            <a:off x="1333500" y="24955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CD5822-AF23-4EC4-A04D-2F4096ECEF29}"/>
              </a:ext>
            </a:extLst>
          </p:cNvPr>
          <p:cNvSpPr>
            <a:spLocks noGrp="1"/>
          </p:cNvSpPr>
          <p:nvPr/>
        </p:nvSpPr>
        <p:spPr>
          <a:xfrm>
            <a:off x="2211705" y="24955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4CE39A-47B6-43F7-B3DC-0091E6C08B39}"/>
              </a:ext>
            </a:extLst>
          </p:cNvPr>
          <p:cNvSpPr>
            <a:spLocks noGrp="1"/>
          </p:cNvSpPr>
          <p:nvPr/>
        </p:nvSpPr>
        <p:spPr>
          <a:xfrm>
            <a:off x="3602355" y="24955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244EB6-5714-451F-9527-FE9EFF67C754}"/>
              </a:ext>
            </a:extLst>
          </p:cNvPr>
          <p:cNvSpPr>
            <a:spLocks noGrp="1"/>
          </p:cNvSpPr>
          <p:nvPr/>
        </p:nvSpPr>
        <p:spPr>
          <a:xfrm>
            <a:off x="4838700" y="1333500"/>
            <a:ext cx="33337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P(C or A)</a:t>
            </a:r>
          </a:p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= P(C) + P(A) − P(C and A)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9FFF7A-F5A9-468B-88D4-715C79DCF6DC}"/>
              </a:ext>
            </a:extLst>
          </p:cNvPr>
          <p:cNvSpPr>
            <a:spLocks noGrp="1"/>
          </p:cNvSpPr>
          <p:nvPr/>
        </p:nvSpPr>
        <p:spPr>
          <a:xfrm>
            <a:off x="4905375" y="2343150"/>
            <a:ext cx="319087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35/100 + 60/100 − 25/100</a:t>
            </a:r>
          </a:p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= 70/100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3ACE69-BD5E-4970-AFD4-61E03651247D}"/>
              </a:ext>
            </a:extLst>
          </p:cNvPr>
          <p:cNvSpPr>
            <a:spLocks noGrp="1"/>
          </p:cNvSpPr>
          <p:nvPr/>
        </p:nvSpPr>
        <p:spPr>
          <a:xfrm>
            <a:off x="4953000" y="325755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The 25 households in the overlap appear in both circle totals.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17746E0-F591-4F23-8692-6E4474B830FB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7696200" cy="45720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085025-A348-484E-9176-F96E11A18D9E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What would go wrong if we used 35 + 60 = 95?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Complements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C5820A-17AC-4F1F-BEED-1A5540B17A6C}"/>
              </a:ext>
            </a:extLst>
          </p:cNvPr>
          <p:cNvSpPr>
            <a:spLocks noGrp="1"/>
          </p:cNvSpPr>
          <p:nvPr/>
        </p:nvSpPr>
        <p:spPr>
          <a:xfrm>
            <a:off x="762000" y="1562100"/>
            <a:ext cx="2421255" cy="1874520"/>
          </a:xfrm>
          <a:prstGeom prst="ellipse">
            <a:avLst/>
          </a:prstGeom>
          <a:solidFill>
            <a:srgbClr val="2E6F73">
              <a:alpha val="12000"/>
            </a:srgbClr>
          </a:solidFill>
          <a:ln w="22860">
            <a:solidFill>
              <a:srgbClr val="2E6F73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64F6691-59D6-4A90-9F78-E61E89552644}"/>
              </a:ext>
            </a:extLst>
          </p:cNvPr>
          <p:cNvSpPr>
            <a:spLocks noGrp="1"/>
          </p:cNvSpPr>
          <p:nvPr/>
        </p:nvSpPr>
        <p:spPr>
          <a:xfrm>
            <a:off x="1972628" y="1562100"/>
            <a:ext cx="2421255" cy="1874520"/>
          </a:xfrm>
          <a:prstGeom prst="ellipse">
            <a:avLst/>
          </a:prstGeom>
          <a:solidFill>
            <a:srgbClr val="C99A3F">
              <a:alpha val="12000"/>
            </a:srgbClr>
          </a:solidFill>
          <a:ln w="22860">
            <a:solidFill>
              <a:srgbClr val="C99A3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5B95C2-F6CA-4D15-9D21-BAE9EA5FC25F}"/>
              </a:ext>
            </a:extLst>
          </p:cNvPr>
          <p:cNvSpPr>
            <a:spLocks noGrp="1"/>
          </p:cNvSpPr>
          <p:nvPr/>
        </p:nvSpPr>
        <p:spPr>
          <a:xfrm>
            <a:off x="971550" y="12382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C: cat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65CA1B-21BA-48ED-9951-B6441E7D1905}"/>
              </a:ext>
            </a:extLst>
          </p:cNvPr>
          <p:cNvSpPr>
            <a:spLocks noGrp="1"/>
          </p:cNvSpPr>
          <p:nvPr/>
        </p:nvSpPr>
        <p:spPr>
          <a:xfrm>
            <a:off x="2715578" y="12382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A: car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DEA443-9896-4DF0-B363-FFC76A436D4C}"/>
              </a:ext>
            </a:extLst>
          </p:cNvPr>
          <p:cNvSpPr>
            <a:spLocks noGrp="1"/>
          </p:cNvSpPr>
          <p:nvPr/>
        </p:nvSpPr>
        <p:spPr>
          <a:xfrm>
            <a:off x="1352550" y="2381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3A731A-098E-4E4B-9802-BF0FFB04B466}"/>
              </a:ext>
            </a:extLst>
          </p:cNvPr>
          <p:cNvSpPr>
            <a:spLocks noGrp="1"/>
          </p:cNvSpPr>
          <p:nvPr/>
        </p:nvSpPr>
        <p:spPr>
          <a:xfrm>
            <a:off x="2201228" y="2381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7B4A44-45F1-47A5-A3C4-16708798AB2F}"/>
              </a:ext>
            </a:extLst>
          </p:cNvPr>
          <p:cNvSpPr>
            <a:spLocks noGrp="1"/>
          </p:cNvSpPr>
          <p:nvPr/>
        </p:nvSpPr>
        <p:spPr>
          <a:xfrm>
            <a:off x="3591878" y="2381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CAE8CB-1304-4140-9E5C-357D6F53CB03}"/>
              </a:ext>
            </a:extLst>
          </p:cNvPr>
          <p:cNvSpPr>
            <a:spLocks noGrp="1"/>
          </p:cNvSpPr>
          <p:nvPr/>
        </p:nvSpPr>
        <p:spPr>
          <a:xfrm>
            <a:off x="2171700" y="358902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1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neither: 30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2DD59E-8F3B-4731-AD20-048815BD37A2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32861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7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P(not A) = 1 − P(A)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860B1A-FF5A-4927-8DF3-467197C4F212}"/>
              </a:ext>
            </a:extLst>
          </p:cNvPr>
          <p:cNvSpPr>
            <a:spLocks noGrp="1"/>
          </p:cNvSpPr>
          <p:nvPr/>
        </p:nvSpPr>
        <p:spPr>
          <a:xfrm>
            <a:off x="4953000" y="2238375"/>
            <a:ext cx="30956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P(cat or car) = 70/100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858CAC-7E62-4F19-B577-CFDA2018AF63}"/>
              </a:ext>
            </a:extLst>
          </p:cNvPr>
          <p:cNvSpPr>
            <a:spLocks noGrp="1"/>
          </p:cNvSpPr>
          <p:nvPr/>
        </p:nvSpPr>
        <p:spPr>
          <a:xfrm>
            <a:off x="4953000" y="2781300"/>
            <a:ext cx="30956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P(neither cat nor car)</a:t>
            </a:r>
          </a:p>
          <a:p>
            <a:pPr>
              <a:defRPr sz="13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= 30/100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723E155-900F-4012-BA0C-D81BA88FEFFF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7696200" cy="45720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CDB425-DEEA-466D-BD7D-2257EB465874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Complement means everything outside the event.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Disjoint events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D5202-E5F6-4331-91EF-26C5CD334168}"/>
              </a:ext>
            </a:extLst>
          </p:cNvPr>
          <p:cNvSpPr>
            <a:spLocks noGrp="1"/>
          </p:cNvSpPr>
          <p:nvPr/>
        </p:nvSpPr>
        <p:spPr>
          <a:xfrm>
            <a:off x="876300" y="12192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1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365CCB-EF55-4BBF-AAD9-5282A1F4E104}"/>
              </a:ext>
            </a:extLst>
          </p:cNvPr>
          <p:cNvSpPr>
            <a:spLocks noGrp="1"/>
          </p:cNvSpPr>
          <p:nvPr/>
        </p:nvSpPr>
        <p:spPr>
          <a:xfrm>
            <a:off x="876300" y="1543050"/>
            <a:ext cx="7239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Can both happen for the same randomly selected household?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439923-410D-4580-BC2C-6BF20F589A57}"/>
              </a:ext>
            </a:extLst>
          </p:cNvPr>
          <p:cNvSpPr>
            <a:spLocks noGrp="1"/>
          </p:cNvSpPr>
          <p:nvPr/>
        </p:nvSpPr>
        <p:spPr>
          <a:xfrm>
            <a:off x="876300" y="2362201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10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DISJOINT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A336CF-94A9-490C-96C4-CD47B942C9A6}"/>
              </a:ext>
            </a:extLst>
          </p:cNvPr>
          <p:cNvSpPr>
            <a:spLocks noGrp="1"/>
          </p:cNvSpPr>
          <p:nvPr/>
        </p:nvSpPr>
        <p:spPr>
          <a:xfrm>
            <a:off x="876300" y="2686051"/>
            <a:ext cx="3048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exactly 0 cars versus exactly 2 cars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3F13EF-DF26-4743-BAA3-AC62CB35BA33}"/>
              </a:ext>
            </a:extLst>
          </p:cNvPr>
          <p:cNvSpPr>
            <a:spLocks noGrp="1"/>
          </p:cNvSpPr>
          <p:nvPr/>
        </p:nvSpPr>
        <p:spPr>
          <a:xfrm>
            <a:off x="5238750" y="2381250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100"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NOT DISJOINT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ADD1F9-952F-4B1D-A1D0-5E65A5427B72}"/>
              </a:ext>
            </a:extLst>
          </p:cNvPr>
          <p:cNvSpPr>
            <a:spLocks noGrp="1"/>
          </p:cNvSpPr>
          <p:nvPr/>
        </p:nvSpPr>
        <p:spPr>
          <a:xfrm>
            <a:off x="5238750" y="2705100"/>
            <a:ext cx="3048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has a cat versus has a car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368649C-608E-41A1-9C23-723325C26846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7696200" cy="45720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454FC7-8B89-46E1-BDBC-0C3515F02B35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If events are disjoint, P(A or B) = P(A) + P(B).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Independent events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B56A9B-ABD6-4F9A-A2E3-B2D298ECF10F}"/>
              </a:ext>
            </a:extLst>
          </p:cNvPr>
          <p:cNvSpPr>
            <a:spLocks noGrp="1"/>
          </p:cNvSpPr>
          <p:nvPr/>
        </p:nvSpPr>
        <p:spPr>
          <a:xfrm>
            <a:off x="914400" y="1428750"/>
            <a:ext cx="72390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9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95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Events are independent when </a:t>
            </a:r>
            <a:r>
              <a:rPr sz="1950" b="1" i="0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knowing one happened </a:t>
            </a:r>
            <a:r>
              <a:rPr sz="195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does not </a:t>
            </a:r>
            <a:r>
              <a:rPr sz="1950" b="1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ptos"/>
                <a:cs typeface="Aptos"/>
              </a:rPr>
              <a:t>change the probability </a:t>
            </a:r>
            <a:r>
              <a:rPr sz="195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of the other.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CD3B27-CEC7-4E42-9E03-BDD8FECFE215}"/>
              </a:ext>
            </a:extLst>
          </p:cNvPr>
          <p:cNvSpPr>
            <a:spLocks noGrp="1"/>
          </p:cNvSpPr>
          <p:nvPr/>
        </p:nvSpPr>
        <p:spPr>
          <a:xfrm>
            <a:off x="933451" y="2571750"/>
            <a:ext cx="2952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HOUSEHOLD 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56F0E2-AA28-4F67-9B3E-2861209703CF}"/>
              </a:ext>
            </a:extLst>
          </p:cNvPr>
          <p:cNvSpPr>
            <a:spLocks noGrp="1"/>
          </p:cNvSpPr>
          <p:nvPr/>
        </p:nvSpPr>
        <p:spPr>
          <a:xfrm>
            <a:off x="933450" y="2895600"/>
            <a:ext cx="3238499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Does knowing a household has a car change how likely it is to have a cat?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8EDC6C-4323-4847-BF00-6E13ED1F9E55}"/>
              </a:ext>
            </a:extLst>
          </p:cNvPr>
          <p:cNvSpPr>
            <a:spLocks noGrp="1"/>
          </p:cNvSpPr>
          <p:nvPr/>
        </p:nvSpPr>
        <p:spPr>
          <a:xfrm>
            <a:off x="4886326" y="2571750"/>
            <a:ext cx="3238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C99A3F"/>
                </a:solidFill>
                <a:latin typeface="Aptos"/>
                <a:ea typeface="Aptos"/>
                <a:cs typeface="Aptos"/>
              </a:rPr>
              <a:t>KEY DISTINCTION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ED8534-9F05-4F80-9FAA-83FB01209118}"/>
              </a:ext>
            </a:extLst>
          </p:cNvPr>
          <p:cNvSpPr>
            <a:spLocks noGrp="1"/>
          </p:cNvSpPr>
          <p:nvPr/>
        </p:nvSpPr>
        <p:spPr>
          <a:xfrm>
            <a:off x="4886325" y="2895600"/>
            <a:ext cx="3457575" cy="1009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Disjoint asks whether both can happen.</a:t>
            </a:r>
          </a:p>
          <a:p>
            <a:pPr algn="l">
              <a:defRPr sz="14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Independent asks whether one changes the probability.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36F4BAF-C170-4AB5-AB24-149FEA55D5A7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7696200" cy="45720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E1684F-E69C-4EA5-A055-E46876FB8ED4}"/>
              </a:ext>
            </a:extLst>
          </p:cNvPr>
          <p:cNvSpPr>
            <a:spLocks noGrp="1"/>
          </p:cNvSpPr>
          <p:nvPr/>
        </p:nvSpPr>
        <p:spPr>
          <a:xfrm>
            <a:off x="933450" y="4233863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Overlap alone does not answer independence.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Household independence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A94D2D-3181-461F-9881-6BAB021D6959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2480310" cy="1858899"/>
          </a:xfrm>
          <a:prstGeom prst="ellipse">
            <a:avLst/>
          </a:prstGeom>
          <a:solidFill>
            <a:srgbClr val="2E6F73">
              <a:alpha val="12000"/>
            </a:srgbClr>
          </a:solidFill>
          <a:ln w="22860">
            <a:solidFill>
              <a:srgbClr val="2E6F73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0CC5AE-0883-4D64-BC5B-7D0008F729C6}"/>
              </a:ext>
            </a:extLst>
          </p:cNvPr>
          <p:cNvSpPr>
            <a:spLocks noGrp="1"/>
          </p:cNvSpPr>
          <p:nvPr/>
        </p:nvSpPr>
        <p:spPr>
          <a:xfrm>
            <a:off x="1906905" y="1676400"/>
            <a:ext cx="2480310" cy="1858899"/>
          </a:xfrm>
          <a:prstGeom prst="ellipse">
            <a:avLst/>
          </a:prstGeom>
          <a:solidFill>
            <a:srgbClr val="C99A3F">
              <a:alpha val="12000"/>
            </a:srgbClr>
          </a:solidFill>
          <a:ln w="22860">
            <a:solidFill>
              <a:srgbClr val="C99A3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E7F58E-5AC6-472A-B894-55C0A268717D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C: cat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B06A67-7E3E-43DB-BD40-6D8F4B75F930}"/>
              </a:ext>
            </a:extLst>
          </p:cNvPr>
          <p:cNvSpPr>
            <a:spLocks noGrp="1"/>
          </p:cNvSpPr>
          <p:nvPr/>
        </p:nvSpPr>
        <p:spPr>
          <a:xfrm>
            <a:off x="2649855" y="13525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A: car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DD23FB-9698-4687-AB47-B6398DA40C1C}"/>
              </a:ext>
            </a:extLst>
          </p:cNvPr>
          <p:cNvSpPr>
            <a:spLocks noGrp="1"/>
          </p:cNvSpPr>
          <p:nvPr/>
        </p:nvSpPr>
        <p:spPr>
          <a:xfrm>
            <a:off x="1257300" y="24955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F72B3A-7FC3-4A0C-A65D-70DBEC822E0D}"/>
              </a:ext>
            </a:extLst>
          </p:cNvPr>
          <p:cNvSpPr>
            <a:spLocks noGrp="1"/>
          </p:cNvSpPr>
          <p:nvPr/>
        </p:nvSpPr>
        <p:spPr>
          <a:xfrm>
            <a:off x="2135505" y="24955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B04830-9C38-4406-A3FA-2B34671F3326}"/>
              </a:ext>
            </a:extLst>
          </p:cNvPr>
          <p:cNvSpPr>
            <a:spLocks noGrp="1"/>
          </p:cNvSpPr>
          <p:nvPr/>
        </p:nvSpPr>
        <p:spPr>
          <a:xfrm>
            <a:off x="3526155" y="24955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46B265-BDA2-4482-AB01-B1487BB51118}"/>
              </a:ext>
            </a:extLst>
          </p:cNvPr>
          <p:cNvSpPr>
            <a:spLocks noGrp="1"/>
          </p:cNvSpPr>
          <p:nvPr/>
        </p:nvSpPr>
        <p:spPr>
          <a:xfrm>
            <a:off x="2076450" y="3687699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1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5F6F7A"/>
                </a:solidFill>
                <a:latin typeface="Aptos"/>
                <a:ea typeface="Aptos"/>
                <a:cs typeface="Aptos"/>
              </a:rPr>
              <a:t>neither: 30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013304-9D57-4FE9-8FE7-97FF77601966}"/>
              </a:ext>
            </a:extLst>
          </p:cNvPr>
          <p:cNvSpPr>
            <a:spLocks noGrp="1"/>
          </p:cNvSpPr>
          <p:nvPr/>
        </p:nvSpPr>
        <p:spPr>
          <a:xfrm>
            <a:off x="5095875" y="1257300"/>
            <a:ext cx="2857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P(C) = 0.35</a:t>
            </a:r>
          </a:p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P(A) = 0.60</a:t>
            </a:r>
          </a:p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P(C and A) = 0.25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ED9210-F9AF-405F-B406-5164E72BC018}"/>
              </a:ext>
            </a:extLst>
          </p:cNvPr>
          <p:cNvSpPr>
            <a:spLocks noGrp="1"/>
          </p:cNvSpPr>
          <p:nvPr/>
        </p:nvSpPr>
        <p:spPr>
          <a:xfrm>
            <a:off x="5095875" y="238125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If independent: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DDA408-9421-45A1-A87B-AB35318D4D0F}"/>
              </a:ext>
            </a:extLst>
          </p:cNvPr>
          <p:cNvSpPr>
            <a:spLocks noGrp="1"/>
          </p:cNvSpPr>
          <p:nvPr/>
        </p:nvSpPr>
        <p:spPr>
          <a:xfrm>
            <a:off x="5095875" y="28003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0.35 × 0.60 = 0.21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507A91-1A98-47D8-84EE-4D76310EC996}"/>
              </a:ext>
            </a:extLst>
          </p:cNvPr>
          <p:cNvSpPr>
            <a:spLocks noGrp="1"/>
          </p:cNvSpPr>
          <p:nvPr/>
        </p:nvSpPr>
        <p:spPr>
          <a:xfrm>
            <a:off x="5010150" y="3429000"/>
            <a:ext cx="304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A4573A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A4573A"/>
                </a:solidFill>
                <a:latin typeface="Aptos"/>
                <a:ea typeface="Aptos"/>
                <a:cs typeface="Aptos"/>
              </a:rPr>
              <a:t>Observed overlap is 0.25, so this constructed example does not fit independence exactly.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Two-way table independence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762000" y="1257300"/>
          <a:ext cx="4953000" cy="179070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t>No 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A5DAAFED-BE43-488F-98EC-57D44CBCBB3D}"/>
              </a:ext>
            </a:extLst>
          </p:cNvPr>
          <p:cNvSpPr>
            <a:spLocks noGrp="1"/>
          </p:cNvSpPr>
          <p:nvPr/>
        </p:nvSpPr>
        <p:spPr>
          <a:xfrm>
            <a:off x="6076950" y="1352550"/>
            <a:ext cx="233362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Product check:</a:t>
            </a:r>
          </a:p>
          <a:p>
            <a:pPr>
              <a:defRPr sz="12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P(C and A) = 0.25</a:t>
            </a:r>
          </a:p>
          <a:p>
            <a:pPr>
              <a:defRPr sz="12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P(C)P(A) = 0.21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A5D53-5125-4DF4-8C91-4CDAD190626F}"/>
              </a:ext>
            </a:extLst>
          </p:cNvPr>
          <p:cNvSpPr>
            <a:spLocks noGrp="1"/>
          </p:cNvSpPr>
          <p:nvPr/>
        </p:nvSpPr>
        <p:spPr>
          <a:xfrm>
            <a:off x="6076950" y="2714625"/>
            <a:ext cx="233362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Conditional check:</a:t>
            </a:r>
          </a:p>
          <a:p>
            <a:pPr>
              <a:defRPr sz="12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P(C | A) = 25/60</a:t>
            </a:r>
          </a:p>
          <a:p>
            <a:pPr>
              <a:defRPr sz="12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P(C) = 35/100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8D761CD-BCA1-45BE-ABC9-7B562B81603C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7696200" cy="45720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C86A55-9ACF-4528-8FFF-A08DEB7B9E19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Does knowing the household has a car change the probability of cat ownership?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Phone and computer Venn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9BF5D4-4A8E-4538-859B-7859300224B6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2539365" cy="1921383"/>
          </a:xfrm>
          <a:prstGeom prst="ellipse">
            <a:avLst/>
          </a:prstGeom>
          <a:solidFill>
            <a:srgbClr val="2E6F73">
              <a:alpha val="12000"/>
            </a:srgbClr>
          </a:solidFill>
          <a:ln w="22860">
            <a:solidFill>
              <a:srgbClr val="2E6F73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916D2A-C83D-40DE-BF2E-17014C975527}"/>
              </a:ext>
            </a:extLst>
          </p:cNvPr>
          <p:cNvSpPr>
            <a:spLocks noGrp="1"/>
          </p:cNvSpPr>
          <p:nvPr/>
        </p:nvSpPr>
        <p:spPr>
          <a:xfrm>
            <a:off x="2107883" y="1581150"/>
            <a:ext cx="2539365" cy="1921383"/>
          </a:xfrm>
          <a:prstGeom prst="ellipse">
            <a:avLst/>
          </a:prstGeom>
          <a:solidFill>
            <a:srgbClr val="A4573A">
              <a:alpha val="12000"/>
            </a:srgbClr>
          </a:solidFill>
          <a:ln w="22860">
            <a:solidFill>
              <a:srgbClr val="A4573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8E18BC-42AB-46D9-BA18-93E867C868BB}"/>
              </a:ext>
            </a:extLst>
          </p:cNvPr>
          <p:cNvSpPr>
            <a:spLocks noGrp="1"/>
          </p:cNvSpPr>
          <p:nvPr/>
        </p:nvSpPr>
        <p:spPr>
          <a:xfrm>
            <a:off x="1047750" y="125730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I: iPhone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EA9EFA-3388-4D97-AEF1-7AB274B79EA9}"/>
              </a:ext>
            </a:extLst>
          </p:cNvPr>
          <p:cNvSpPr>
            <a:spLocks noGrp="1"/>
          </p:cNvSpPr>
          <p:nvPr/>
        </p:nvSpPr>
        <p:spPr>
          <a:xfrm>
            <a:off x="2850833" y="125730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A4573A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A4573A"/>
                </a:solidFill>
                <a:latin typeface="Aptos"/>
                <a:ea typeface="Aptos"/>
                <a:cs typeface="Aptos"/>
              </a:rPr>
              <a:t>M: Apple computer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3CF03E-54F2-4FE3-8D67-E2CDBB0C6FBA}"/>
              </a:ext>
            </a:extLst>
          </p:cNvPr>
          <p:cNvSpPr>
            <a:spLocks noGrp="1"/>
          </p:cNvSpPr>
          <p:nvPr/>
        </p:nvSpPr>
        <p:spPr>
          <a:xfrm>
            <a:off x="1428750" y="240030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C3B92B-243A-4058-980C-EF72BA48B6C1}"/>
              </a:ext>
            </a:extLst>
          </p:cNvPr>
          <p:cNvSpPr>
            <a:spLocks noGrp="1"/>
          </p:cNvSpPr>
          <p:nvPr/>
        </p:nvSpPr>
        <p:spPr>
          <a:xfrm>
            <a:off x="2336483" y="240030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FA9F71-9FC8-48E8-8C06-802ACE02532B}"/>
              </a:ext>
            </a:extLst>
          </p:cNvPr>
          <p:cNvSpPr>
            <a:spLocks noGrp="1"/>
          </p:cNvSpPr>
          <p:nvPr/>
        </p:nvSpPr>
        <p:spPr>
          <a:xfrm>
            <a:off x="3727133" y="240030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F950C-F3E1-4EA2-9E1B-E533B97111C7}"/>
              </a:ext>
            </a:extLst>
          </p:cNvPr>
          <p:cNvSpPr>
            <a:spLocks noGrp="1"/>
          </p:cNvSpPr>
          <p:nvPr/>
        </p:nvSpPr>
        <p:spPr>
          <a:xfrm>
            <a:off x="2247900" y="3654933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1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5F6F7A"/>
                </a:solidFill>
                <a:latin typeface="Aptos"/>
                <a:ea typeface="Aptos"/>
                <a:cs typeface="Aptos"/>
              </a:rPr>
              <a:t>neither: 36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2EBEB6-9099-4FA7-ACEB-22A366CF79E7}"/>
              </a:ext>
            </a:extLst>
          </p:cNvPr>
          <p:cNvSpPr>
            <a:spLocks noGrp="1"/>
          </p:cNvSpPr>
          <p:nvPr/>
        </p:nvSpPr>
        <p:spPr>
          <a:xfrm>
            <a:off x="5667375" y="140970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1BF921-CFD6-4DA0-B3CB-BB4D1D76D3FB}"/>
              </a:ext>
            </a:extLst>
          </p:cNvPr>
          <p:cNvSpPr>
            <a:spLocks noGrp="1"/>
          </p:cNvSpPr>
          <p:nvPr/>
        </p:nvSpPr>
        <p:spPr>
          <a:xfrm>
            <a:off x="5667375" y="1733550"/>
            <a:ext cx="2571750" cy="1314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100 students</a:t>
            </a:r>
          </a:p>
          <a:p>
            <a:pPr algn="l">
              <a:defRPr sz="1425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54 use an iPhone</a:t>
            </a:r>
          </a:p>
          <a:p>
            <a:pPr algn="l">
              <a:defRPr sz="1425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32 use an Apple computer</a:t>
            </a:r>
          </a:p>
          <a:p>
            <a:pPr algn="l">
              <a:defRPr sz="1425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22 use both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026423-F376-4C90-BE63-28751DEA1407}"/>
              </a:ext>
            </a:extLst>
          </p:cNvPr>
          <p:cNvSpPr>
            <a:spLocks noGrp="1"/>
          </p:cNvSpPr>
          <p:nvPr/>
        </p:nvSpPr>
        <p:spPr>
          <a:xfrm>
            <a:off x="5667375" y="3209925"/>
            <a:ext cx="26193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C99A3F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796DEB-2828-4DD6-A2BF-21E7AEE442F7}"/>
              </a:ext>
            </a:extLst>
          </p:cNvPr>
          <p:cNvSpPr>
            <a:spLocks noGrp="1"/>
          </p:cNvSpPr>
          <p:nvPr/>
        </p:nvSpPr>
        <p:spPr>
          <a:xfrm>
            <a:off x="5667375" y="3533775"/>
            <a:ext cx="311086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What is P(iPhone or Apple computer)?</a:t>
            </a:r>
          </a:p>
          <a:p>
            <a:pPr algn="l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What is P(neither)?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Phone and computer independence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37C4495-8982-4E26-8479-224A849E0B46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2480310" cy="1843278"/>
          </a:xfrm>
          <a:prstGeom prst="ellipse">
            <a:avLst/>
          </a:prstGeom>
          <a:solidFill>
            <a:srgbClr val="2E6F73">
              <a:alpha val="12000"/>
            </a:srgbClr>
          </a:solidFill>
          <a:ln w="22860">
            <a:solidFill>
              <a:srgbClr val="2E6F73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EE8D527-5929-4CF3-96AE-E48EA5AD752D}"/>
              </a:ext>
            </a:extLst>
          </p:cNvPr>
          <p:cNvSpPr>
            <a:spLocks noGrp="1"/>
          </p:cNvSpPr>
          <p:nvPr/>
        </p:nvSpPr>
        <p:spPr>
          <a:xfrm>
            <a:off x="2002155" y="1676400"/>
            <a:ext cx="2480310" cy="1843278"/>
          </a:xfrm>
          <a:prstGeom prst="ellipse">
            <a:avLst/>
          </a:prstGeom>
          <a:solidFill>
            <a:srgbClr val="A4573A">
              <a:alpha val="12000"/>
            </a:srgbClr>
          </a:solidFill>
          <a:ln w="22860">
            <a:solidFill>
              <a:srgbClr val="A4573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F6B0D6-0EF4-4B65-A001-E77DDA7BBA89}"/>
              </a:ext>
            </a:extLst>
          </p:cNvPr>
          <p:cNvSpPr>
            <a:spLocks noGrp="1"/>
          </p:cNvSpPr>
          <p:nvPr/>
        </p:nvSpPr>
        <p:spPr>
          <a:xfrm>
            <a:off x="971550" y="13525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I: iPhone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23EFAD-03AA-496A-9F7C-DD47D8E95522}"/>
              </a:ext>
            </a:extLst>
          </p:cNvPr>
          <p:cNvSpPr>
            <a:spLocks noGrp="1"/>
          </p:cNvSpPr>
          <p:nvPr/>
        </p:nvSpPr>
        <p:spPr>
          <a:xfrm>
            <a:off x="2745105" y="13525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A4573A"/>
                </a:solidFill>
                <a:latin typeface="Aptos"/>
                <a:ea typeface="Aptos"/>
                <a:cs typeface="Aptos"/>
              </a:defRPr>
            </a:pPr>
            <a:r>
              <a:rPr sz="1400" b="1" i="0">
                <a:solidFill>
                  <a:srgbClr val="A4573A"/>
                </a:solidFill>
                <a:latin typeface="Aptos"/>
                <a:ea typeface="Aptos"/>
                <a:cs typeface="Aptos"/>
              </a:rPr>
              <a:t>M: Apple computer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4836E0-8F1F-4D60-800F-0906A95A8301}"/>
              </a:ext>
            </a:extLst>
          </p:cNvPr>
          <p:cNvSpPr>
            <a:spLocks noGrp="1"/>
          </p:cNvSpPr>
          <p:nvPr/>
        </p:nvSpPr>
        <p:spPr>
          <a:xfrm>
            <a:off x="1352550" y="24955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3F518B-005F-4C85-BE8C-592D378162B6}"/>
              </a:ext>
            </a:extLst>
          </p:cNvPr>
          <p:cNvSpPr>
            <a:spLocks noGrp="1"/>
          </p:cNvSpPr>
          <p:nvPr/>
        </p:nvSpPr>
        <p:spPr>
          <a:xfrm>
            <a:off x="2230755" y="24955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C8D41B-F06D-45BB-A9E9-F95AFC366CC9}"/>
              </a:ext>
            </a:extLst>
          </p:cNvPr>
          <p:cNvSpPr>
            <a:spLocks noGrp="1"/>
          </p:cNvSpPr>
          <p:nvPr/>
        </p:nvSpPr>
        <p:spPr>
          <a:xfrm>
            <a:off x="3621405" y="24955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DE86E8-5D30-4CC5-A8DF-D40BF0E584D5}"/>
              </a:ext>
            </a:extLst>
          </p:cNvPr>
          <p:cNvSpPr>
            <a:spLocks noGrp="1"/>
          </p:cNvSpPr>
          <p:nvPr/>
        </p:nvSpPr>
        <p:spPr>
          <a:xfrm>
            <a:off x="5095875" y="1238250"/>
            <a:ext cx="2857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P(I) = 0.54</a:t>
            </a:r>
          </a:p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P(M) = 0.32</a:t>
            </a:r>
          </a:p>
          <a:p>
            <a:pPr>
              <a:defRPr sz="14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P(I and M) = 0.22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8FB2CE-BE33-478C-BB79-48B637ED006D}"/>
              </a:ext>
            </a:extLst>
          </p:cNvPr>
          <p:cNvSpPr>
            <a:spLocks noGrp="1"/>
          </p:cNvSpPr>
          <p:nvPr/>
        </p:nvSpPr>
        <p:spPr>
          <a:xfrm>
            <a:off x="5095875" y="24003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Under independence: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D6876F-4A41-4EE7-B13E-17F040664BBA}"/>
              </a:ext>
            </a:extLst>
          </p:cNvPr>
          <p:cNvSpPr>
            <a:spLocks noGrp="1"/>
          </p:cNvSpPr>
          <p:nvPr/>
        </p:nvSpPr>
        <p:spPr>
          <a:xfrm>
            <a:off x="5095875" y="28003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0.54 × 0.32 = 0.1728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Two-city rain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C91109-8A22-4264-A449-CD677FABBED9}"/>
              </a:ext>
            </a:extLst>
          </p:cNvPr>
          <p:cNvSpPr>
            <a:spLocks noGrp="1"/>
          </p:cNvSpPr>
          <p:nvPr/>
        </p:nvSpPr>
        <p:spPr>
          <a:xfrm>
            <a:off x="1000125" y="135255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HYPOTHETICAL DAILY WEATHER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D6AEF1-75EF-493B-97D2-22E8E489E389}"/>
              </a:ext>
            </a:extLst>
          </p:cNvPr>
          <p:cNvSpPr>
            <a:spLocks noGrp="1"/>
          </p:cNvSpPr>
          <p:nvPr/>
        </p:nvSpPr>
        <p:spPr>
          <a:xfrm>
            <a:off x="1000125" y="1676400"/>
            <a:ext cx="314325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P(New York rain) = 0.30</a:t>
            </a:r>
          </a:p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P(Boston rain) = 0.35</a:t>
            </a:r>
          </a:p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P(both rain) = 0.18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5221CE-41BF-4CD2-8198-A03DB3D4D743}"/>
              </a:ext>
            </a:extLst>
          </p:cNvPr>
          <p:cNvSpPr>
            <a:spLocks noGrp="1"/>
          </p:cNvSpPr>
          <p:nvPr/>
        </p:nvSpPr>
        <p:spPr>
          <a:xfrm>
            <a:off x="4905375" y="16002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1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0.30 × 0.35 = 0.105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698AAC-68CB-4142-AD80-69724946D45B}"/>
              </a:ext>
            </a:extLst>
          </p:cNvPr>
          <p:cNvSpPr>
            <a:spLocks noGrp="1"/>
          </p:cNvSpPr>
          <p:nvPr/>
        </p:nvSpPr>
        <p:spPr>
          <a:xfrm>
            <a:off x="4905375" y="2209800"/>
            <a:ext cx="3048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425" b="0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0.18 is larger than 0.105, so these hypothetical probabilities do not support independence.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Conditional probability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75F26B-C75D-4DC4-A781-7CBFA3E8FAE0}"/>
              </a:ext>
            </a:extLst>
          </p:cNvPr>
          <p:cNvSpPr>
            <a:spLocks noGrp="1"/>
          </p:cNvSpPr>
          <p:nvPr/>
        </p:nvSpPr>
        <p:spPr>
          <a:xfrm>
            <a:off x="914400" y="1200150"/>
            <a:ext cx="7239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P(A given B) means: restrict attention to B, then ask how often A occurs.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2000250" y="2152650"/>
          <a:ext cx="5143500" cy="131445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Poor 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poor sleep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t>High social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t>Lower social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0D4E685-B314-40E0-8707-1F92AA89D6B7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7696200" cy="45720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764872-0FF4-4329-B45A-811F9A9F8141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Among high-use students, what proportion report poor sleep?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Probability trees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EB690C-037D-43AA-B45E-BD0141F19F28}"/>
              </a:ext>
            </a:extLst>
          </p:cNvPr>
          <p:cNvSpPr>
            <a:spLocks noGrp="1"/>
          </p:cNvSpPr>
          <p:nvPr/>
        </p:nvSpPr>
        <p:spPr>
          <a:xfrm>
            <a:off x="1104900" y="1285875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1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FIRST BRANCH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10EC16-7E0E-448A-B284-4A642C79162D}"/>
              </a:ext>
            </a:extLst>
          </p:cNvPr>
          <p:cNvSpPr>
            <a:spLocks noGrp="1"/>
          </p:cNvSpPr>
          <p:nvPr/>
        </p:nvSpPr>
        <p:spPr>
          <a:xfrm>
            <a:off x="1104900" y="1609725"/>
            <a:ext cx="6858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Choose the first event or group.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CA317-04BC-472A-85D2-45FD6C044CE6}"/>
              </a:ext>
            </a:extLst>
          </p:cNvPr>
          <p:cNvSpPr>
            <a:spLocks noGrp="1"/>
          </p:cNvSpPr>
          <p:nvPr/>
        </p:nvSpPr>
        <p:spPr>
          <a:xfrm>
            <a:off x="1104900" y="2333625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100" b="1" i="0" dirty="0">
                <a:solidFill>
                  <a:srgbClr val="C99A3F"/>
                </a:solidFill>
                <a:latin typeface="Aptos"/>
                <a:ea typeface="Aptos"/>
                <a:cs typeface="Aptos"/>
              </a:rPr>
              <a:t>SECOND BRANCH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1A958A-4363-4999-84BA-F8A46AC722CF}"/>
              </a:ext>
            </a:extLst>
          </p:cNvPr>
          <p:cNvSpPr>
            <a:spLocks noGrp="1"/>
          </p:cNvSpPr>
          <p:nvPr/>
        </p:nvSpPr>
        <p:spPr>
          <a:xfrm>
            <a:off x="1104900" y="2657475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Condition on the first branch, then split into the next outcomes.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95FBDA-9EAE-4256-9257-BCE120FFC958}"/>
              </a:ext>
            </a:extLst>
          </p:cNvPr>
          <p:cNvSpPr>
            <a:spLocks noGrp="1"/>
          </p:cNvSpPr>
          <p:nvPr/>
        </p:nvSpPr>
        <p:spPr>
          <a:xfrm>
            <a:off x="1104900" y="3381375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A4573A"/>
                </a:solidFill>
                <a:latin typeface="Aptos"/>
                <a:ea typeface="Aptos"/>
                <a:cs typeface="Aptos"/>
              </a:defRPr>
            </a:pPr>
            <a:r>
              <a:rPr sz="1100" b="1" i="0">
                <a:solidFill>
                  <a:srgbClr val="A4573A"/>
                </a:solidFill>
                <a:latin typeface="Aptos"/>
                <a:ea typeface="Aptos"/>
                <a:cs typeface="Aptos"/>
              </a:rPr>
              <a:t>PATH PROBABILITY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807D3A-6336-48C9-8F17-F446A492767E}"/>
              </a:ext>
            </a:extLst>
          </p:cNvPr>
          <p:cNvSpPr>
            <a:spLocks noGrp="1"/>
          </p:cNvSpPr>
          <p:nvPr/>
        </p:nvSpPr>
        <p:spPr>
          <a:xfrm>
            <a:off x="1104900" y="3705225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Multiply along a path. Check that branches add to 1 at each split.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Rule choice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901662-9E59-4DB5-9EA5-8A2698CFAF19}"/>
              </a:ext>
            </a:extLst>
          </p:cNvPr>
          <p:cNvSpPr>
            <a:spLocks noGrp="1"/>
          </p:cNvSpPr>
          <p:nvPr/>
        </p:nvSpPr>
        <p:spPr>
          <a:xfrm>
            <a:off x="990600" y="13716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2E6F73"/>
                </a:solidFill>
                <a:latin typeface="Aptos"/>
                <a:ea typeface="Aptos"/>
                <a:cs typeface="Aptos"/>
              </a:rPr>
              <a:t>not A or none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F5B129-54BE-456B-B4DB-35ABB2793904}"/>
              </a:ext>
            </a:extLst>
          </p:cNvPr>
          <p:cNvSpPr>
            <a:spLocks noGrp="1"/>
          </p:cNvSpPr>
          <p:nvPr/>
        </p:nvSpPr>
        <p:spPr>
          <a:xfrm>
            <a:off x="990600" y="17526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complement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A66363-8D8C-458C-AE33-326410CF3B39}"/>
              </a:ext>
            </a:extLst>
          </p:cNvPr>
          <p:cNvSpPr>
            <a:spLocks noGrp="1"/>
          </p:cNvSpPr>
          <p:nvPr/>
        </p:nvSpPr>
        <p:spPr>
          <a:xfrm>
            <a:off x="3524250" y="13716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A and 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3D9DA4-5E14-48BF-A765-9E076384C63D}"/>
              </a:ext>
            </a:extLst>
          </p:cNvPr>
          <p:cNvSpPr>
            <a:spLocks noGrp="1"/>
          </p:cNvSpPr>
          <p:nvPr/>
        </p:nvSpPr>
        <p:spPr>
          <a:xfrm>
            <a:off x="3524250" y="17526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overlap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79A02C-B506-47EE-9583-C55483D65A75}"/>
              </a:ext>
            </a:extLst>
          </p:cNvPr>
          <p:cNvSpPr>
            <a:spLocks noGrp="1"/>
          </p:cNvSpPr>
          <p:nvPr/>
        </p:nvSpPr>
        <p:spPr>
          <a:xfrm>
            <a:off x="6057900" y="13716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A4573A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A4573A"/>
                </a:solidFill>
                <a:latin typeface="Aptos"/>
                <a:ea typeface="Aptos"/>
                <a:cs typeface="Aptos"/>
              </a:rPr>
              <a:t>A or 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509689-EE14-4D28-9C9B-FC3FE040CAE3}"/>
              </a:ext>
            </a:extLst>
          </p:cNvPr>
          <p:cNvSpPr>
            <a:spLocks noGrp="1"/>
          </p:cNvSpPr>
          <p:nvPr/>
        </p:nvSpPr>
        <p:spPr>
          <a:xfrm>
            <a:off x="6057900" y="17526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5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check</a:t>
            </a:r>
            <a:r>
              <a:rPr lang="zh-CN" altLang="en-US" sz="165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65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for</a:t>
            </a:r>
            <a:r>
              <a:rPr lang="zh-CN" altLang="en-US" sz="165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65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disjoint</a:t>
            </a:r>
            <a:r>
              <a:rPr lang="zh-CN" altLang="en-US" sz="165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65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and</a:t>
            </a:r>
            <a:r>
              <a:rPr lang="zh-CN" altLang="en-US" sz="165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65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overlap</a:t>
            </a:r>
            <a:endParaRPr sz="1650" b="1" i="0" dirty="0">
              <a:solidFill>
                <a:srgbClr val="18324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5A07DB-77B2-4636-8081-8D6676991BDF}"/>
              </a:ext>
            </a:extLst>
          </p:cNvPr>
          <p:cNvSpPr>
            <a:spLocks noGrp="1"/>
          </p:cNvSpPr>
          <p:nvPr/>
        </p:nvSpPr>
        <p:spPr>
          <a:xfrm>
            <a:off x="1695450" y="29527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given A or among 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7CAD67-90F1-4981-B08A-2F9055AFF97E}"/>
              </a:ext>
            </a:extLst>
          </p:cNvPr>
          <p:cNvSpPr>
            <a:spLocks noGrp="1"/>
          </p:cNvSpPr>
          <p:nvPr/>
        </p:nvSpPr>
        <p:spPr>
          <a:xfrm>
            <a:off x="1695450" y="33337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57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conditional denominator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14E40F-6722-4DA1-BB26-451C6D25A9FE}"/>
              </a:ext>
            </a:extLst>
          </p:cNvPr>
          <p:cNvSpPr>
            <a:spLocks noGrp="1"/>
          </p:cNvSpPr>
          <p:nvPr/>
        </p:nvSpPr>
        <p:spPr>
          <a:xfrm>
            <a:off x="5010150" y="29527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independent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A62743-AE0B-4592-8767-C38ECE3DDC53}"/>
              </a:ext>
            </a:extLst>
          </p:cNvPr>
          <p:cNvSpPr>
            <a:spLocks noGrp="1"/>
          </p:cNvSpPr>
          <p:nvPr/>
        </p:nvSpPr>
        <p:spPr>
          <a:xfrm>
            <a:off x="5010150" y="33337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575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multiplication</a:t>
            </a:r>
            <a:r>
              <a:rPr lang="zh-CN" altLang="en-US" sz="1575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575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rule</a:t>
            </a:r>
            <a:endParaRPr sz="1575" b="1" i="0" dirty="0">
              <a:solidFill>
                <a:srgbClr val="18324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DB7BBE1-AAF2-4277-887A-4BB30659436F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7696200" cy="83820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B2836F-0567-491A-BAF6-5FA72968AF14}"/>
              </a:ext>
            </a:extLst>
          </p:cNvPr>
          <p:cNvSpPr>
            <a:spLocks noGrp="1"/>
          </p:cNvSpPr>
          <p:nvPr/>
        </p:nvSpPr>
        <p:spPr>
          <a:xfrm>
            <a:off x="933450" y="3948113"/>
            <a:ext cx="72771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Read the event wording first. </a:t>
            </a:r>
            <a:r>
              <a:rPr lang="en-US" altLang="zh-CN"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Rewrite</a:t>
            </a:r>
            <a:r>
              <a:rPr lang="zh-CN" altLang="en-US"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the</a:t>
            </a:r>
            <a:r>
              <a:rPr lang="zh-CN" altLang="en-US"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wording</a:t>
            </a:r>
            <a:r>
              <a:rPr lang="zh-CN" altLang="en-US"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into</a:t>
            </a:r>
            <a:r>
              <a:rPr lang="zh-CN" altLang="en-US"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events.</a:t>
            </a:r>
            <a:r>
              <a:rPr lang="zh-CN" altLang="en-US"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The formula comes after the meaning.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20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Fast practice: households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BE2D2F-A50B-4098-89A4-3A099589B44E}"/>
              </a:ext>
            </a:extLst>
          </p:cNvPr>
          <p:cNvSpPr>
            <a:spLocks noGrp="1"/>
          </p:cNvSpPr>
          <p:nvPr/>
        </p:nvSpPr>
        <p:spPr>
          <a:xfrm>
            <a:off x="895350" y="123825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IN 100 HOUSEHOLDS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445B2-8041-46D1-A7E6-8B2596D9D537}"/>
              </a:ext>
            </a:extLst>
          </p:cNvPr>
          <p:cNvSpPr>
            <a:spLocks noGrp="1"/>
          </p:cNvSpPr>
          <p:nvPr/>
        </p:nvSpPr>
        <p:spPr>
          <a:xfrm>
            <a:off x="895350" y="1562100"/>
            <a:ext cx="2857500" cy="1162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45 have a car</a:t>
            </a:r>
          </a:p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30 have a cat</a:t>
            </a:r>
          </a:p>
          <a:p>
            <a:pPr algn="l">
              <a:defRPr sz="1500" b="1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15 have both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C7FE5-14C1-4CF3-92DA-10CCE7D2E4CB}"/>
              </a:ext>
            </a:extLst>
          </p:cNvPr>
          <p:cNvSpPr>
            <a:spLocks noGrp="1"/>
          </p:cNvSpPr>
          <p:nvPr/>
        </p:nvSpPr>
        <p:spPr>
          <a:xfrm>
            <a:off x="895350" y="2809875"/>
            <a:ext cx="3238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8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DO THIS FIRST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5D29CD-541E-4B84-A3E9-7A1057321A48}"/>
              </a:ext>
            </a:extLst>
          </p:cNvPr>
          <p:cNvSpPr>
            <a:spLocks noGrp="1"/>
          </p:cNvSpPr>
          <p:nvPr/>
        </p:nvSpPr>
        <p:spPr>
          <a:xfrm>
            <a:off x="895350" y="3133725"/>
            <a:ext cx="3238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Draw the Venn regions.</a:t>
            </a:r>
          </a:p>
          <a:p>
            <a:pPr algn="l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Find P(car or cat).</a:t>
            </a:r>
          </a:p>
          <a:p>
            <a:pPr algn="l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Find P(neither).</a:t>
            </a:r>
          </a:p>
          <a:p>
            <a:pPr algn="l">
              <a:defRPr sz="1350" b="0" i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Check independence.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553D8F4-098F-40FD-B8C5-9870EF55357F}"/>
              </a:ext>
            </a:extLst>
          </p:cNvPr>
          <p:cNvSpPr>
            <a:spLocks noGrp="1"/>
          </p:cNvSpPr>
          <p:nvPr/>
        </p:nvSpPr>
        <p:spPr>
          <a:xfrm>
            <a:off x="4810125" y="1562100"/>
            <a:ext cx="2185035" cy="1796415"/>
          </a:xfrm>
          <a:prstGeom prst="ellipse">
            <a:avLst/>
          </a:prstGeom>
          <a:solidFill>
            <a:srgbClr val="2E6F73">
              <a:alpha val="12000"/>
            </a:srgbClr>
          </a:solidFill>
          <a:ln w="22860">
            <a:solidFill>
              <a:srgbClr val="2E6F73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DD30FC-648C-4E93-9708-73EAC6993449}"/>
              </a:ext>
            </a:extLst>
          </p:cNvPr>
          <p:cNvSpPr>
            <a:spLocks noGrp="1"/>
          </p:cNvSpPr>
          <p:nvPr/>
        </p:nvSpPr>
        <p:spPr>
          <a:xfrm>
            <a:off x="5902643" y="1562100"/>
            <a:ext cx="2185035" cy="1796415"/>
          </a:xfrm>
          <a:prstGeom prst="ellipse">
            <a:avLst/>
          </a:prstGeom>
          <a:solidFill>
            <a:srgbClr val="C99A3F">
              <a:alpha val="12000"/>
            </a:srgbClr>
          </a:solidFill>
          <a:ln w="22860">
            <a:solidFill>
              <a:srgbClr val="C99A3F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7424E8-D6FC-4ADB-89D2-7DDD31483FDD}"/>
              </a:ext>
            </a:extLst>
          </p:cNvPr>
          <p:cNvSpPr>
            <a:spLocks noGrp="1"/>
          </p:cNvSpPr>
          <p:nvPr/>
        </p:nvSpPr>
        <p:spPr>
          <a:xfrm>
            <a:off x="5019675" y="12382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2E6F7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E6F73"/>
                </a:solidFill>
                <a:latin typeface="Aptos"/>
                <a:ea typeface="Aptos"/>
                <a:cs typeface="Aptos"/>
              </a:rPr>
              <a:t>cat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04620C-ACFC-49FE-A0C0-713E3B61D7C4}"/>
              </a:ext>
            </a:extLst>
          </p:cNvPr>
          <p:cNvSpPr>
            <a:spLocks noGrp="1"/>
          </p:cNvSpPr>
          <p:nvPr/>
        </p:nvSpPr>
        <p:spPr>
          <a:xfrm>
            <a:off x="6645593" y="12382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C99A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99A3F"/>
                </a:solidFill>
                <a:latin typeface="Aptos"/>
                <a:ea typeface="Aptos"/>
                <a:cs typeface="Aptos"/>
              </a:rPr>
              <a:t>car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17B4E8-3DCC-479E-A70E-E861D2224C61}"/>
              </a:ext>
            </a:extLst>
          </p:cNvPr>
          <p:cNvSpPr>
            <a:spLocks noGrp="1"/>
          </p:cNvSpPr>
          <p:nvPr/>
        </p:nvSpPr>
        <p:spPr>
          <a:xfrm>
            <a:off x="5400675" y="2381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F43EAF-0746-4950-B2D3-189E536E5525}"/>
              </a:ext>
            </a:extLst>
          </p:cNvPr>
          <p:cNvSpPr>
            <a:spLocks noGrp="1"/>
          </p:cNvSpPr>
          <p:nvPr/>
        </p:nvSpPr>
        <p:spPr>
          <a:xfrm>
            <a:off x="6131243" y="2381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B55CC4-8AFC-42F0-AB2E-249097B7CD16}"/>
              </a:ext>
            </a:extLst>
          </p:cNvPr>
          <p:cNvSpPr>
            <a:spLocks noGrp="1"/>
          </p:cNvSpPr>
          <p:nvPr/>
        </p:nvSpPr>
        <p:spPr>
          <a:xfrm>
            <a:off x="7521893" y="2381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981035B-6314-4DAB-B3B4-ED322C979B28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7696200" cy="45720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2248DB-E04E-434A-B134-4E42E4B4BCAD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72771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Answers: cat only 15, car only 30, both 15, neither 40. Not exactly independent.</a:t>
            </a: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4EA867-8723-4DB4-B450-AF5573FFDCB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79629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buNone/>
              <a:defRPr sz="165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Quiz 1 </a:t>
            </a:r>
            <a:r>
              <a:rPr lang="en-US" altLang="zh-CN" sz="165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Reminders</a:t>
            </a:r>
            <a:endParaRPr sz="1650" b="1" i="0" dirty="0">
              <a:solidFill>
                <a:srgbClr val="18324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85E1A-30B7-4E5F-B7E5-0D37435329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7962900" cy="19050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FBE37-4D5E-44FC-B105-B92E28E68DA9}"/>
              </a:ext>
            </a:extLst>
          </p:cNvPr>
          <p:cNvSpPr>
            <a:spLocks noGrp="1"/>
          </p:cNvSpPr>
          <p:nvPr/>
        </p:nvSpPr>
        <p:spPr>
          <a:xfrm>
            <a:off x="0" y="4819650"/>
            <a:ext cx="9144000" cy="47625"/>
          </a:xfrm>
          <a:prstGeom prst="rect">
            <a:avLst/>
          </a:prstGeom>
          <a:solidFill>
            <a:srgbClr val="00A9E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A13A2-B166-4260-A6B4-4E3D55738ED5}"/>
              </a:ext>
            </a:extLst>
          </p:cNvPr>
          <p:cNvSpPr>
            <a:spLocks noGrp="1"/>
          </p:cNvSpPr>
          <p:nvPr/>
        </p:nvSpPr>
        <p:spPr>
          <a:xfrm>
            <a:off x="266700" y="4895850"/>
            <a:ext cx="5334000" cy="180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D4F91"/>
                </a:solidFill>
                <a:latin typeface="Montserrat"/>
                <a:ea typeface="Montserrat"/>
                <a:cs typeface="Montserrat"/>
              </a:rPr>
              <a:t>COLUMBIA UNIVERSITY  ·  DEPARTMENT OF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ED9BE-D841-4129-BDE2-862C2BEB9CC6}"/>
              </a:ext>
            </a:extLst>
          </p:cNvPr>
          <p:cNvSpPr>
            <a:spLocks noGrp="1"/>
          </p:cNvSpPr>
          <p:nvPr/>
        </p:nvSpPr>
        <p:spPr>
          <a:xfrm>
            <a:off x="8439150" y="48958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r">
              <a:buNone/>
              <a:defRPr sz="600" b="0" i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F7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823E47-BC90-4D31-8798-BD764C8FDD65}"/>
              </a:ext>
            </a:extLst>
          </p:cNvPr>
          <p:cNvSpPr>
            <a:spLocks noGrp="1"/>
          </p:cNvSpPr>
          <p:nvPr/>
        </p:nvSpPr>
        <p:spPr>
          <a:xfrm>
            <a:off x="914400" y="1200150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83247"/>
                </a:solidFill>
                <a:latin typeface="Aptos"/>
                <a:ea typeface="Aptos"/>
                <a:cs typeface="Aptos"/>
              </a:rPr>
              <a:t>Quiz 1: Lectures 1–5 and OpenIntro Chapters 1–2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4054BC-3007-4D1D-A9BF-DF69BF084D8C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A4573A"/>
                </a:solidFill>
                <a:latin typeface="Aptos"/>
                <a:ea typeface="Aptos"/>
                <a:cs typeface="Aptos"/>
              </a:defRPr>
            </a:pPr>
            <a:r>
              <a:rPr b="1" i="0" dirty="0">
                <a:solidFill>
                  <a:srgbClr val="A4573A"/>
                </a:solidFill>
                <a:latin typeface="Aptos"/>
                <a:ea typeface="Aptos"/>
                <a:cs typeface="Aptos"/>
              </a:rPr>
              <a:t>Today’s probability material is not on Quiz 1.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8F67F56-EDD6-4920-8E98-A25A3E4C3CBC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7696200" cy="704850"/>
          </a:xfrm>
          <a:prstGeom prst="roundRect">
            <a:avLst>
              <a:gd name="adj" fmla="val 16667"/>
            </a:avLst>
          </a:prstGeom>
          <a:solidFill>
            <a:srgbClr val="F8F4EA"/>
          </a:solidFill>
          <a:ln w="8573">
            <a:solidFill>
              <a:srgbClr val="E0C98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9CFED4-6441-484A-9917-38AAB28CA943}"/>
              </a:ext>
            </a:extLst>
          </p:cNvPr>
          <p:cNvSpPr>
            <a:spLocks noGrp="1"/>
          </p:cNvSpPr>
          <p:nvPr/>
        </p:nvSpPr>
        <p:spPr>
          <a:xfrm>
            <a:off x="952500" y="3067049"/>
            <a:ext cx="7277100" cy="44053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63" b="1" i="0">
                <a:solidFill>
                  <a:srgbClr val="183247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Quiz 1 is paper-based, 15 minutes, at the end of lecture.</a:t>
            </a:r>
            <a:r>
              <a:rPr lang="zh-CN" altLang="en-US"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You</a:t>
            </a:r>
            <a:r>
              <a:rPr lang="zh-CN" altLang="en-US"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may</a:t>
            </a:r>
            <a:r>
              <a:rPr lang="zh-CN" altLang="en-US"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bring</a:t>
            </a:r>
            <a:r>
              <a:rPr lang="zh-CN" altLang="en-US"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600" b="1" i="0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on</a:t>
            </a:r>
            <a:r>
              <a:rPr lang="en-US" altLang="zh-CN" sz="160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e</a:t>
            </a:r>
            <a:r>
              <a:rPr lang="zh-CN" altLang="en-US" sz="160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60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single-sided</a:t>
            </a:r>
            <a:r>
              <a:rPr lang="zh-CN" altLang="en-US" sz="160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60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note.</a:t>
            </a:r>
            <a:r>
              <a:rPr lang="zh-CN" altLang="en-US" sz="1600" b="1" dirty="0">
                <a:solidFill>
                  <a:srgbClr val="183247"/>
                </a:solidFill>
                <a:latin typeface="Aptos"/>
                <a:ea typeface="Aptos"/>
                <a:cs typeface="Aptos"/>
              </a:rPr>
              <a:t> </a:t>
            </a:r>
            <a:endParaRPr sz="1600" b="1" i="0" dirty="0">
              <a:solidFill>
                <a:srgbClr val="18324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808184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1372</Words>
  <Application>Microsoft Macintosh PowerPoint</Application>
  <DocSecurity>0</DocSecurity>
  <PresentationFormat>On-screen Show (16:9)</PresentationFormat>
  <Paragraphs>309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Calibri</vt:lpstr>
      <vt:lpstr>Montserrat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 Zheng</cp:lastModifiedBy>
  <cp:revision>2</cp:revision>
  <dcterms:created xsi:type="dcterms:W3CDTF">2026-09-29T12:43:54Z</dcterms:created>
  <dcterms:modified xsi:type="dcterms:W3CDTF">2026-10-01T12:43:50Z</dcterms:modified>
</cp:coreProperties>
</file>