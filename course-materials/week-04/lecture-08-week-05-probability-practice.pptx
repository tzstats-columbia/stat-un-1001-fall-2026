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FF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/>
    <p:restoredTop sz="94643"/>
  </p:normalViewPr>
  <p:slideViewPr>
    <p:cSldViewPr snapToGrid="0">
      <p:cViewPr varScale="1">
        <p:scale>
          <a:sx n="142" d="100"/>
          <a:sy n="142" d="100"/>
        </p:scale>
        <p:origin x="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Lecture 7 revised as a probability-practice workshop. The opening Google Sheets demo is intentionally outside the slide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BE0D-F12E-0291-0CBF-2D212375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11EA0-B806-0F65-7144-78AD11C54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81FA6-A8ED-21DE-2650-217008BE2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gives the repeated reasoning routine for every practice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551E2-6545-E756-33A0-AA18B48480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7055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gives the repeated reasoning routine for every practice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OpenIntro</a:t>
            </a:r>
            <a:r>
              <a:rPr dirty="0"/>
              <a:t> Section 3.2 concepts in one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Connect Section 3.2 tree diagrams to multiplication and addition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Fictional teaching example inspired by collectible-card packs. Numbers are made up for class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Guide students from story to sample space and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Fictional screening example. The goal is joint, marginal, and conditional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Solve Practice 2 by naming conditional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Represent the same screening table as a probability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diagnostic example for base rates and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Practice 4 through natural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rcRect t="107" b="107"/>
          <a:stretch>
            <a:fillRect/>
          </a:stretch>
        </p:blipFill>
        <p:spPr>
          <a:xfrm>
            <a:off x="0" y="95250"/>
            <a:ext cx="9144000" cy="42576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F4AD8B-C505-4D7B-AB5E-B00A6E3D794A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7524750" cy="762000"/>
          </a:xfrm>
          <a:prstGeom prst="rect">
            <a:avLst/>
          </a:prstGeom>
          <a:solidFill>
            <a:srgbClr val="FFD579">
              <a:alpha val="49020"/>
            </a:srgbClr>
          </a:solidFill>
          <a:ln w="0">
            <a:noFill/>
          </a:ln>
        </p:spPr>
        <p:txBody>
          <a:bodyPr lIns="38100" tIns="19050" rIns="38100" bIns="19050" anchor="b">
            <a:noAutofit/>
          </a:bodyPr>
          <a:lstStyle/>
          <a:p>
            <a:pPr algn="l">
              <a:buNone/>
              <a:defRPr sz="21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4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practic</a:t>
            </a:r>
            <a:r>
              <a:rPr lang="en-US" altLang="zh-CN" sz="4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</a:t>
            </a:r>
            <a:endParaRPr sz="44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11F6C-A6A4-42C3-A2FF-E31273B8D207}"/>
              </a:ext>
            </a:extLst>
          </p:cNvPr>
          <p:cNvSpPr>
            <a:spLocks noGrp="1"/>
          </p:cNvSpPr>
          <p:nvPr/>
        </p:nvSpPr>
        <p:spPr>
          <a:xfrm>
            <a:off x="904875" y="3257550"/>
            <a:ext cx="7410450" cy="9525"/>
          </a:xfrm>
          <a:prstGeom prst="rect">
            <a:avLst/>
          </a:prstGeom>
          <a:solidFill>
            <a:srgbClr val="777777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02AAA-F1DC-4732-9928-FCE5D2349336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7543800" cy="781050"/>
          </a:xfrm>
          <a:prstGeom prst="rect">
            <a:avLst/>
          </a:prstGeom>
          <a:solidFill>
            <a:srgbClr val="0096FF">
              <a:alpha val="50980"/>
            </a:srgbClr>
          </a:solidFill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STAT UN 1001  ·  LECTURE </a:t>
            </a:r>
            <a:r>
              <a:rPr lang="en-US" altLang="zh-CN" sz="18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8</a:t>
            </a:r>
            <a:endParaRPr sz="1800" b="1" i="0" dirty="0">
              <a:solidFill>
                <a:schemeClr val="tx2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lang="en-US" altLang="zh-CN" b="1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October</a:t>
            </a:r>
            <a:r>
              <a:rPr lang="zh-CN" altLang="en-US" b="1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1st</a:t>
            </a:r>
            <a:r>
              <a:rPr sz="18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,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9FDD7-B6B6-4FD1-84DE-840A2CC6F311}"/>
              </a:ext>
            </a:extLst>
          </p:cNvPr>
          <p:cNvSpPr>
            <a:spLocks noGrp="1"/>
          </p:cNvSpPr>
          <p:nvPr/>
        </p:nvSpPr>
        <p:spPr>
          <a:xfrm>
            <a:off x="0" y="4752975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4420" y="4867275"/>
            <a:ext cx="15323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3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4D5A2-52D1-4D79-A772-1EDBC5AF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Thinking</a:t>
            </a:r>
            <a:endParaRPr sz="28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CE5B2-0F29-818E-F619-E070A7EF0F92}"/>
              </a:ext>
            </a:extLst>
          </p:cNvPr>
          <p:cNvSpPr txBox="1"/>
          <p:nvPr/>
        </p:nvSpPr>
        <p:spPr>
          <a:xfrm>
            <a:off x="590550" y="1073140"/>
            <a:ext cx="5174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observing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an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event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00FFFF"/>
                </a:highlight>
              </a:rPr>
              <a:t>chance</a:t>
            </a:r>
            <a:r>
              <a:rPr lang="zh-CN" altLang="en-US" dirty="0">
                <a:highlight>
                  <a:srgbClr val="00FFFF"/>
                </a:highlight>
              </a:rPr>
              <a:t> </a:t>
            </a:r>
            <a:r>
              <a:rPr lang="en-US" altLang="zh-CN" dirty="0">
                <a:highlight>
                  <a:srgbClr val="00FFFF"/>
                </a:highlight>
              </a:rPr>
              <a:t>process.</a:t>
            </a:r>
          </a:p>
          <a:p>
            <a:endParaRPr lang="en-US" dirty="0"/>
          </a:p>
          <a:p>
            <a:r>
              <a:rPr lang="en-US" altLang="zh-CN" dirty="0">
                <a:highlight>
                  <a:srgbClr val="00FFFF"/>
                </a:highlight>
              </a:rPr>
              <a:t>Chance</a:t>
            </a:r>
            <a:r>
              <a:rPr lang="zh-CN" altLang="en-US" dirty="0">
                <a:highlight>
                  <a:srgbClr val="00FFFF"/>
                </a:highlight>
              </a:rPr>
              <a:t> </a:t>
            </a:r>
            <a:r>
              <a:rPr lang="en-US" altLang="zh-CN" dirty="0">
                <a:highlight>
                  <a:srgbClr val="00FFFF"/>
                </a:highlight>
              </a:rPr>
              <a:t>process</a:t>
            </a:r>
            <a:r>
              <a:rPr lang="zh-CN" altLang="en-US" dirty="0"/>
              <a:t> </a:t>
            </a:r>
            <a:r>
              <a:rPr lang="en-US" altLang="zh-CN" dirty="0"/>
              <a:t>generates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00FF"/>
                </a:highlight>
              </a:rPr>
              <a:t>outcome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time.</a:t>
            </a:r>
          </a:p>
          <a:p>
            <a:endParaRPr lang="en-US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00FF"/>
                </a:highlight>
              </a:rPr>
              <a:t>outcome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00FF00"/>
                </a:highlight>
              </a:rPr>
              <a:t>sample</a:t>
            </a:r>
            <a:r>
              <a:rPr lang="zh-CN" altLang="en-US" dirty="0">
                <a:highlight>
                  <a:srgbClr val="00FF00"/>
                </a:highlight>
              </a:rPr>
              <a:t> </a:t>
            </a:r>
            <a:r>
              <a:rPr lang="en-US" altLang="zh-CN" dirty="0">
                <a:highlight>
                  <a:srgbClr val="00FF00"/>
                </a:highlight>
              </a:rPr>
              <a:t>space.</a:t>
            </a:r>
          </a:p>
          <a:p>
            <a:endParaRPr lang="en-US" dirty="0">
              <a:highlight>
                <a:srgbClr val="00FF00"/>
              </a:highlight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An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event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defined</a:t>
            </a:r>
            <a:r>
              <a:rPr lang="zh-CN" altLang="en-US" dirty="0"/>
              <a:t> </a:t>
            </a:r>
            <a:r>
              <a:rPr lang="en-US" altLang="zh-CN" i="1" dirty="0"/>
              <a:t>a</a:t>
            </a:r>
            <a:r>
              <a:rPr lang="zh-CN" altLang="en-US" i="1" dirty="0"/>
              <a:t> </a:t>
            </a:r>
            <a:r>
              <a:rPr lang="en-US" altLang="zh-CN" i="1" dirty="0"/>
              <a:t>description</a:t>
            </a:r>
            <a:r>
              <a:rPr lang="zh-CN" altLang="en-US" i="1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outcome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belongs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event.</a:t>
            </a:r>
          </a:p>
          <a:p>
            <a:endParaRPr lang="en-US" dirty="0"/>
          </a:p>
          <a:p>
            <a:r>
              <a:rPr lang="en-US" altLang="zh-CN" dirty="0"/>
              <a:t>According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description,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outcomes</a:t>
            </a:r>
            <a:r>
              <a:rPr lang="zh-CN" altLang="en-US" dirty="0"/>
              <a:t> </a:t>
            </a:r>
            <a:r>
              <a:rPr lang="en-US" altLang="zh-CN" dirty="0"/>
              <a:t>(a</a:t>
            </a:r>
            <a:r>
              <a:rPr lang="zh-CN" altLang="en-US" dirty="0"/>
              <a:t> </a:t>
            </a:r>
            <a:r>
              <a:rPr lang="en-US" altLang="zh-CN" dirty="0"/>
              <a:t>subset)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correspond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event.</a:t>
            </a:r>
            <a:endParaRPr lang="en-US" dirty="0"/>
          </a:p>
        </p:txBody>
      </p:sp>
      <p:pic>
        <p:nvPicPr>
          <p:cNvPr id="7" name="Picture 6" descr="Pokémon GO">
            <a:extLst>
              <a:ext uri="{FF2B5EF4-FFF2-40B4-BE49-F238E27FC236}">
                <a16:creationId xmlns:a16="http://schemas.microsoft.com/office/drawing/2014/main" id="{33E333C6-1661-D132-C3BC-AF6C9D7E0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58" y="1756229"/>
            <a:ext cx="2674892" cy="178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problem checklist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BD1981-E22C-43FC-8F3B-AF48D460746B}"/>
              </a:ext>
            </a:extLst>
          </p:cNvPr>
          <p:cNvSpPr>
            <a:spLocks noGrp="1"/>
          </p:cNvSpPr>
          <p:nvPr/>
        </p:nvSpPr>
        <p:spPr>
          <a:xfrm>
            <a:off x="1061258" y="1254443"/>
            <a:ext cx="333894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1. Chance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D42C86-2871-483C-B3A2-088280360C62}"/>
              </a:ext>
            </a:extLst>
          </p:cNvPr>
          <p:cNvSpPr>
            <a:spLocks noGrp="1"/>
          </p:cNvSpPr>
          <p:nvPr/>
        </p:nvSpPr>
        <p:spPr>
          <a:xfrm>
            <a:off x="1066800" y="1562100"/>
            <a:ext cx="2095500" cy="13335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8F2E2B-BA8E-46C8-86A2-8AE282F54EB7}"/>
              </a:ext>
            </a:extLst>
          </p:cNvPr>
          <p:cNvSpPr>
            <a:spLocks noGrp="1"/>
          </p:cNvSpPr>
          <p:nvPr/>
        </p:nvSpPr>
        <p:spPr>
          <a:xfrm>
            <a:off x="1061258" y="1797368"/>
            <a:ext cx="333894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2. Sample 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8746F0-7033-4B38-83E3-42E035D62283}"/>
              </a:ext>
            </a:extLst>
          </p:cNvPr>
          <p:cNvSpPr>
            <a:spLocks noGrp="1"/>
          </p:cNvSpPr>
          <p:nvPr/>
        </p:nvSpPr>
        <p:spPr>
          <a:xfrm>
            <a:off x="1066800" y="2105025"/>
            <a:ext cx="2095500" cy="13335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470040-773E-4655-8A49-054019155F4D}"/>
              </a:ext>
            </a:extLst>
          </p:cNvPr>
          <p:cNvSpPr>
            <a:spLocks noGrp="1"/>
          </p:cNvSpPr>
          <p:nvPr/>
        </p:nvSpPr>
        <p:spPr>
          <a:xfrm>
            <a:off x="1061258" y="2340293"/>
            <a:ext cx="333894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3. Event of interest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5D8299-8317-4C19-8783-4CCD3F14EAB8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2095500" cy="13335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DE223D-EEED-4A8D-8026-ACD81381A669}"/>
              </a:ext>
            </a:extLst>
          </p:cNvPr>
          <p:cNvSpPr>
            <a:spLocks noGrp="1"/>
          </p:cNvSpPr>
          <p:nvPr/>
        </p:nvSpPr>
        <p:spPr>
          <a:xfrm>
            <a:off x="1061258" y="2883218"/>
            <a:ext cx="333894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4. Probability sentence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3FD244-A1CC-4B69-88E4-DC3955DB6297}"/>
              </a:ext>
            </a:extLst>
          </p:cNvPr>
          <p:cNvSpPr>
            <a:spLocks noGrp="1"/>
          </p:cNvSpPr>
          <p:nvPr/>
        </p:nvSpPr>
        <p:spPr>
          <a:xfrm>
            <a:off x="1066800" y="3190875"/>
            <a:ext cx="2095500" cy="13335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C91925-174B-4AFC-92D4-C8133A40919E}"/>
              </a:ext>
            </a:extLst>
          </p:cNvPr>
          <p:cNvSpPr>
            <a:spLocks noGrp="1"/>
          </p:cNvSpPr>
          <p:nvPr/>
        </p:nvSpPr>
        <p:spPr>
          <a:xfrm>
            <a:off x="1061258" y="3426143"/>
            <a:ext cx="333894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5. Rule or strategy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307091-0BC5-435E-97CF-A98094283761}"/>
              </a:ext>
            </a:extLst>
          </p:cNvPr>
          <p:cNvSpPr>
            <a:spLocks noGrp="1"/>
          </p:cNvSpPr>
          <p:nvPr/>
        </p:nvSpPr>
        <p:spPr>
          <a:xfrm>
            <a:off x="4367992" y="2754629"/>
            <a:ext cx="3714750" cy="576263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We will write the sentence before computing the number.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Joint, marginal, conditional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23" name="Table 22"/>
          <p:cNvGraphicFramePr/>
          <p:nvPr>
            <p:extLst>
              <p:ext uri="{D42A27DB-BD31-4B8C-83A1-F6EECF244321}">
                <p14:modId xmlns:p14="http://schemas.microsoft.com/office/powerpoint/2010/main" val="1668862464"/>
              </p:ext>
            </p:extLst>
          </p:nvPr>
        </p:nvGraphicFramePr>
        <p:xfrm>
          <a:off x="914400" y="1238250"/>
          <a:ext cx="7334250" cy="2628900"/>
        </p:xfrm>
        <a:graphic>
          <a:graphicData uri="http://schemas.openxmlformats.org/drawingml/2006/table">
            <a:tbl>
              <a:tblPr/>
              <a:tblGrid>
                <a:gridCol w="244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Question type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Plain-language cue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Example probability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Both things happen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P(A and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Marginal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thing happens, ignoring the other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dirty="0"/>
                        <a:t>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thing happens among a restricted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P(A |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EE289CE-DE34-49B6-B6F2-AB3CC92C7860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READING </a:t>
            </a:r>
            <a:r>
              <a:rPr lang="en-US" altLang="zh-CN"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TIP</a:t>
            </a:r>
            <a:endParaRPr sz="2000" b="1" i="0" dirty="0">
              <a:solidFill>
                <a:srgbClr val="2E6F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65BA5B-AEBF-4469-B27C-575B215956DC}"/>
              </a:ext>
            </a:extLst>
          </p:cNvPr>
          <p:cNvSpPr>
            <a:spLocks noGrp="1"/>
          </p:cNvSpPr>
          <p:nvPr/>
        </p:nvSpPr>
        <p:spPr>
          <a:xfrm>
            <a:off x="2522764" y="3876675"/>
            <a:ext cx="6030686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Circle words like “and,” “or,” “given,” “among,” and “at least.” They often tell you the probability structure.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463298-19DC-4008-9878-017876285081}"/>
              </a:ext>
            </a:extLst>
          </p:cNvPr>
          <p:cNvSpPr>
            <a:spLocks noGrp="1"/>
          </p:cNvSpPr>
          <p:nvPr/>
        </p:nvSpPr>
        <p:spPr>
          <a:xfrm>
            <a:off x="914400" y="4442188"/>
            <a:ext cx="4497383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hardest part is often naming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tree logic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869CFF-6E89-4F92-A16F-02562508F51D}"/>
              </a:ext>
            </a:extLst>
          </p:cNvPr>
          <p:cNvSpPr>
            <a:spLocks noGrp="1"/>
          </p:cNvSpPr>
          <p:nvPr/>
        </p:nvSpPr>
        <p:spPr>
          <a:xfrm>
            <a:off x="590551" y="1119051"/>
            <a:ext cx="35926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BRANCH RULE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F4BA7-E38A-4C07-8D27-C249EF161BAC}"/>
              </a:ext>
            </a:extLst>
          </p:cNvPr>
          <p:cNvSpPr>
            <a:spLocks noGrp="1"/>
          </p:cNvSpPr>
          <p:nvPr/>
        </p:nvSpPr>
        <p:spPr>
          <a:xfrm>
            <a:off x="590550" y="1414326"/>
            <a:ext cx="4421777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Branches from the same split add to 1.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A2FBB1-04E1-449B-89CE-6D132F5AEF65}"/>
              </a:ext>
            </a:extLst>
          </p:cNvPr>
          <p:cNvSpPr>
            <a:spLocks noGrp="1"/>
          </p:cNvSpPr>
          <p:nvPr/>
        </p:nvSpPr>
        <p:spPr>
          <a:xfrm>
            <a:off x="590551" y="1928676"/>
            <a:ext cx="35926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0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PATH RULE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23872E-803B-45D6-BC4D-90A14EB5E95E}"/>
              </a:ext>
            </a:extLst>
          </p:cNvPr>
          <p:cNvSpPr>
            <a:spLocks noGrp="1"/>
          </p:cNvSpPr>
          <p:nvPr/>
        </p:nvSpPr>
        <p:spPr>
          <a:xfrm>
            <a:off x="590550" y="2223951"/>
            <a:ext cx="4421777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Multiply along a path to get a joint probability.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953246-19EA-4709-B18E-C76E1AFCF3C9}"/>
              </a:ext>
            </a:extLst>
          </p:cNvPr>
          <p:cNvSpPr>
            <a:spLocks noGrp="1"/>
          </p:cNvSpPr>
          <p:nvPr/>
        </p:nvSpPr>
        <p:spPr>
          <a:xfrm>
            <a:off x="590551" y="2738301"/>
            <a:ext cx="35926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0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EVENT RULE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FBD986-1684-41E8-8C55-2BD6484821BD}"/>
              </a:ext>
            </a:extLst>
          </p:cNvPr>
          <p:cNvSpPr>
            <a:spLocks noGrp="1"/>
          </p:cNvSpPr>
          <p:nvPr/>
        </p:nvSpPr>
        <p:spPr>
          <a:xfrm>
            <a:off x="590550" y="3033576"/>
            <a:ext cx="4421777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Add the path probabilities that satisfy the event.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2DCFD9-C95C-475C-8753-BAF53F892299}"/>
              </a:ext>
            </a:extLst>
          </p:cNvPr>
          <p:cNvSpPr>
            <a:spLocks noGrp="1"/>
          </p:cNvSpPr>
          <p:nvPr/>
        </p:nvSpPr>
        <p:spPr>
          <a:xfrm>
            <a:off x="5117308" y="1119051"/>
            <a:ext cx="314325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Start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A, P(A)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B, P(B | A)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  C, P(C | A and B)</a:t>
            </a:r>
          </a:p>
          <a:p>
            <a:endParaRPr sz="4800" b="0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Path probability: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P(A and B and C)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= P(A) x P(B | A) x P(C | A and B)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32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Practice 1: </a:t>
            </a:r>
            <a:r>
              <a:rPr sz="3200" b="1" i="0" dirty="0" err="1">
                <a:solidFill>
                  <a:srgbClr val="183247"/>
                </a:solidFill>
                <a:latin typeface="Aptos"/>
                <a:ea typeface="Aptos"/>
                <a:cs typeface="Aptos"/>
              </a:rPr>
              <a:t>Pokemon</a:t>
            </a:r>
            <a:r>
              <a:rPr sz="32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pack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70393A-557E-4282-8B90-FEAF4DE6BD74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7429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promotion says that each pack independently has a 1 in 20 chance of containing a rare card. A student buys 3 packs.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DCB720-CCFD-43FE-9288-2ED0B2A52F98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What is the probability that at least one of the 3 packs contains a rare card?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5ADF22-0465-44CB-B59C-F01FC13D85A7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First: describe the chance process in ordinary language.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 err="1">
                <a:solidFill>
                  <a:srgbClr val="183247"/>
                </a:solidFill>
                <a:latin typeface="Aptos"/>
                <a:ea typeface="Aptos"/>
                <a:cs typeface="Aptos"/>
              </a:rPr>
              <a:t>Pokemon</a:t>
            </a: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pack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A993AB-F758-40E9-91F6-F86DED2D630F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CHANCE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68EF6-ABF5-4F8D-BCB8-AEBB78A1C897}"/>
              </a:ext>
            </a:extLst>
          </p:cNvPr>
          <p:cNvSpPr>
            <a:spLocks noGrp="1"/>
          </p:cNvSpPr>
          <p:nvPr/>
        </p:nvSpPr>
        <p:spPr>
          <a:xfrm>
            <a:off x="838200" y="143827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Open 3 independent packs. Each pack can be Rare or Not rare.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229CFE-C28E-4E1B-8BFC-E550419BB7B5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SAMPLE 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99157C-877A-422B-A3B3-1DC31CB8C05A}"/>
              </a:ext>
            </a:extLst>
          </p:cNvPr>
          <p:cNvSpPr>
            <a:spLocks noGrp="1"/>
          </p:cNvSpPr>
          <p:nvPr/>
        </p:nvSpPr>
        <p:spPr>
          <a:xfrm>
            <a:off x="838200" y="22955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RRR, RRN, RNR, NRR, RNN, NRN, NNR, NNN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0862A-B4A0-488C-94B6-F84AF4D7D08D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3036E4-6D5C-4606-8220-2C33AFFFB2AC}"/>
              </a:ext>
            </a:extLst>
          </p:cNvPr>
          <p:cNvSpPr>
            <a:spLocks noGrp="1"/>
          </p:cNvSpPr>
          <p:nvPr/>
        </p:nvSpPr>
        <p:spPr>
          <a:xfrm>
            <a:off x="838200" y="30765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At least one rare card: all outcomes except NNN.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8DE20B-7548-4B52-88FB-B96442F0E183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 SENTENCE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A4E5A2-5D70-437A-A0FF-2FAFF34E4385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P(at least one rare in 3 packs) = 1 - P(no rare in 3 packs)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3681E6-9B99-48F5-BCC1-FE7A1FBDD801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Rule: complement. Answer: 1 - (19/20)^3 = 0.1426, about 14%.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Practice 2: Cognitive screening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130EB9-CD9A-4507-8A5D-3AF3343A588E}"/>
              </a:ext>
            </a:extLst>
          </p:cNvPr>
          <p:cNvSpPr>
            <a:spLocks noGrp="1"/>
          </p:cNvSpPr>
          <p:nvPr/>
        </p:nvSpPr>
        <p:spPr>
          <a:xfrm>
            <a:off x="828676" y="100012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In a campus pilot study, 120 volunteers take a short attention task and answer a sleep question.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1257300" y="1809750"/>
          <a:ext cx="6572252" cy="1463040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Typical 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t>Flagged by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t>Not 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A519C35-D098-4B1A-B17E-0193F33645C3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742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Find the marginal probability of low sleep, the joint probability of low sleep and flagged, and P(low sleep | flagged).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9629B5-FA4A-4847-B0E7-E6ACB09708FA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2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First: which probability uses all 120 volunteers as the denominator?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Cognitive screening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1C273-3CA0-4D35-8E38-F3B08DB51A51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35247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CHANCE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C0BF2E-3D6A-4F27-A8C5-86EE926905FC}"/>
              </a:ext>
            </a:extLst>
          </p:cNvPr>
          <p:cNvSpPr>
            <a:spLocks noGrp="1"/>
          </p:cNvSpPr>
          <p:nvPr/>
        </p:nvSpPr>
        <p:spPr>
          <a:xfrm>
            <a:off x="838200" y="1419225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Randomly select one volunteer from this pilot study.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4D03D3-C987-445F-8995-FF1A85ED4019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35247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SAMPLE 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43057C-94C9-4BA0-95C5-E1484E1537E1}"/>
              </a:ext>
            </a:extLst>
          </p:cNvPr>
          <p:cNvSpPr>
            <a:spLocks noGrp="1"/>
          </p:cNvSpPr>
          <p:nvPr/>
        </p:nvSpPr>
        <p:spPr>
          <a:xfrm>
            <a:off x="838200" y="2219325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120 volunteers, organized by task result and sleep report.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148B25-62B2-4ECE-B1A8-02F72ECA7408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3524794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 SENTENCES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1DAB4E-5609-420C-9F5A-39EA2CC3CD50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7239000" cy="1133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P(low sleep) = 40 / 120</a:t>
            </a:r>
          </a:p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P(low sleep and flagged) = 18 / 120</a:t>
            </a:r>
          </a:p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P(low sleep | flagged) = 18 / 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2C41F7-FF06-469C-8270-37A292804292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Marginal: 0.333. Joint: 0.150. Conditional: 0.600.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Cognitive screening tree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E00CD3-CC8A-4633-970E-769E16A39461}"/>
              </a:ext>
            </a:extLst>
          </p:cNvPr>
          <p:cNvSpPr>
            <a:spLocks noGrp="1"/>
          </p:cNvSpPr>
          <p:nvPr/>
        </p:nvSpPr>
        <p:spPr>
          <a:xfrm>
            <a:off x="857250" y="11620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One useful tree starts with task result, then splits by sleep report.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EC5CF-CA17-464E-A324-2D6DDD57C631}"/>
              </a:ext>
            </a:extLst>
          </p:cNvPr>
          <p:cNvSpPr>
            <a:spLocks noGrp="1"/>
          </p:cNvSpPr>
          <p:nvPr/>
        </p:nvSpPr>
        <p:spPr>
          <a:xfrm>
            <a:off x="1047750" y="1752600"/>
            <a:ext cx="390525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Volunteer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Flagged, 30/120 = 0.25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</a:t>
            </a:r>
            <a:r>
              <a:rPr lang="zh-CN" altLang="en-US"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</a:t>
            </a: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Low sleep, 18/30 = 0.60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</a:t>
            </a:r>
            <a:r>
              <a:rPr lang="zh-CN" altLang="en-US"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</a:t>
            </a: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Typical sleep, 12/30 = 0.40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Not flagged, 90/120 = 0.75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</a:t>
            </a:r>
            <a:r>
              <a:rPr lang="zh-CN" altLang="en-US"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</a:t>
            </a: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Low sleep, 22/90 = 0.244</a:t>
            </a:r>
          </a:p>
          <a:p>
            <a:pPr algn="l">
              <a:defRPr sz="1050" b="0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  </a:t>
            </a:r>
            <a:r>
              <a:rPr lang="zh-CN" altLang="en-US"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 </a:t>
            </a:r>
            <a:r>
              <a:rPr sz="2000" b="0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Typical sleep, 68/90 = 0.756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42363-EC2C-43F4-B32E-162EB4301133}"/>
              </a:ext>
            </a:extLst>
          </p:cNvPr>
          <p:cNvSpPr>
            <a:spLocks noGrp="1"/>
          </p:cNvSpPr>
          <p:nvPr/>
        </p:nvSpPr>
        <p:spPr>
          <a:xfrm>
            <a:off x="5333999" y="1962150"/>
            <a:ext cx="3034937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JOINT FROM ONE PATH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C14B82-FF29-4025-B183-5F04D235865D}"/>
              </a:ext>
            </a:extLst>
          </p:cNvPr>
          <p:cNvSpPr>
            <a:spLocks noGrp="1"/>
          </p:cNvSpPr>
          <p:nvPr/>
        </p:nvSpPr>
        <p:spPr>
          <a:xfrm>
            <a:off x="5334000" y="2257425"/>
            <a:ext cx="2857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P(flagged and low sleep) = P(flagged) x </a:t>
            </a:r>
            <a:br>
              <a:rPr lang="en-US"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</a:br>
            <a:r>
              <a:rPr lang="zh-CN" altLang="en-US"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  </a:t>
            </a: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P(low sleep | flagged)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0B6568-808C-4621-8F28-10D3BAC0FB3B}"/>
              </a:ext>
            </a:extLst>
          </p:cNvPr>
          <p:cNvSpPr>
            <a:spLocks noGrp="1"/>
          </p:cNvSpPr>
          <p:nvPr/>
        </p:nvSpPr>
        <p:spPr>
          <a:xfrm>
            <a:off x="5334000" y="35147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0.25 x 0.60 = 0.15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Practice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</a:t>
            </a: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: Quality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80D4BA-4E9B-40DE-B782-6E2A3F13DE58}"/>
              </a:ext>
            </a:extLst>
          </p:cNvPr>
          <p:cNvSpPr>
            <a:spLocks noGrp="1"/>
          </p:cNvSpPr>
          <p:nvPr/>
        </p:nvSpPr>
        <p:spPr>
          <a:xfrm>
            <a:off x="857250" y="1162049"/>
            <a:ext cx="7429500" cy="1057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company tests 1,000 devices before shipping. About 3% have a hidden defect. The test flags 90% of defective devices and falsely flags 8% of non-defective devices.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9474B-FA01-4AC5-B4AF-9F4845B2B9ED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If a device gets flagged, what is the probability that it truly has the defect?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85339A-D78D-4750-884B-E7A02B99FD6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HINT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D82F28-936D-451A-B670-A0B2562A7921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Use a table with expected counts out of 1,000 devices.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Quality check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25" name="Table 24"/>
          <p:cNvGraphicFramePr/>
          <p:nvPr>
            <p:extLst>
              <p:ext uri="{D42A27DB-BD31-4B8C-83A1-F6EECF244321}">
                <p14:modId xmlns:p14="http://schemas.microsoft.com/office/powerpoint/2010/main" val="3347777464"/>
              </p:ext>
            </p:extLst>
          </p:nvPr>
        </p:nvGraphicFramePr>
        <p:xfrm>
          <a:off x="1066800" y="1162050"/>
          <a:ext cx="7000876" cy="1828800"/>
        </p:xfrm>
        <a:graphic>
          <a:graphicData uri="http://schemas.openxmlformats.org/drawingml/2006/table">
            <a:tbl>
              <a:tblPr/>
              <a:tblGrid>
                <a:gridCol w="1750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Test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033907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True status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Flagged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Not flagged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Defective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Not defective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8E3945E-FD3B-419F-8F87-2514062A0055}"/>
              </a:ext>
            </a:extLst>
          </p:cNvPr>
          <p:cNvSpPr>
            <a:spLocks noGrp="1"/>
          </p:cNvSpPr>
          <p:nvPr/>
        </p:nvSpPr>
        <p:spPr>
          <a:xfrm>
            <a:off x="838199" y="3009900"/>
            <a:ext cx="3803469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 SENTENCE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163756-4B30-4624-ABA3-60219FA416E5}"/>
              </a:ext>
            </a:extLst>
          </p:cNvPr>
          <p:cNvSpPr>
            <a:spLocks noGrp="1"/>
          </p:cNvSpPr>
          <p:nvPr/>
        </p:nvSpPr>
        <p:spPr>
          <a:xfrm>
            <a:off x="838199" y="3305175"/>
            <a:ext cx="7962899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P(defective | flagged) = count(defective and flagged) / count(flagged)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9B3175-2E75-4A60-8A15-24274325BFF7}"/>
              </a:ext>
            </a:extLst>
          </p:cNvPr>
          <p:cNvSpPr>
            <a:spLocks noGrp="1"/>
          </p:cNvSpPr>
          <p:nvPr/>
        </p:nvSpPr>
        <p:spPr>
          <a:xfrm>
            <a:off x="838199" y="3714750"/>
            <a:ext cx="3803469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8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7EF68-1DBA-47D0-9E27-04C913A3DFE6}"/>
              </a:ext>
            </a:extLst>
          </p:cNvPr>
          <p:cNvSpPr>
            <a:spLocks noGrp="1"/>
          </p:cNvSpPr>
          <p:nvPr/>
        </p:nvSpPr>
        <p:spPr>
          <a:xfrm>
            <a:off x="838200" y="4010025"/>
            <a:ext cx="7844246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Conditional probability. Natural frequencies make the denominator visible.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F0A945-22A5-4552-8B58-92D335389A1D}"/>
              </a:ext>
            </a:extLst>
          </p:cNvPr>
          <p:cNvSpPr>
            <a:spLocks noGrp="1"/>
          </p:cNvSpPr>
          <p:nvPr/>
        </p:nvSpPr>
        <p:spPr>
          <a:xfrm>
            <a:off x="838199" y="43624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Answer: 27 / 105 = 0.257, about 26%.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1043</Words>
  <Application>Microsoft Macintosh PowerPoint</Application>
  <DocSecurity>0</DocSecurity>
  <PresentationFormat>On-screen Show (16:9)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Calibri</vt:lpstr>
      <vt:lpstr>Montserrat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 Zheng</cp:lastModifiedBy>
  <cp:revision>2</cp:revision>
  <dcterms:created xsi:type="dcterms:W3CDTF">2026-10-01T12:16:24Z</dcterms:created>
  <dcterms:modified xsi:type="dcterms:W3CDTF">2026-10-02T02:42:42Z</dcterms:modified>
</cp:coreProperties>
</file>