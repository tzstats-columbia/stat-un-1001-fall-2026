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43"/>
  </p:normalViewPr>
  <p:slideViewPr>
    <p:cSldViewPr snapToGrid="0">
      <p:cViewPr varScale="1">
        <p:scale>
          <a:sx n="124" d="100"/>
          <a:sy n="124" d="100"/>
        </p:scale>
        <p:origin x="168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Lecture 9 uses Week 05 flipped activity examples to focus on small-population sampling, replacement, and independence.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Repeated checklist for Week 05 practice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Introduce a concrete small-population example before comparing replacement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With replacement keeps the same population for each draw.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Without replacement changes the population after each draw.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Use the same small population to show how the first outcome changes the next probability.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Connect the Week 05 population-size practice question to everyday sampling.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Use Week 05 practice question 5 and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Compare Week 05 practice questions 7 and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Use Week 05 practice questions 11 through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Clarify a common confusion from Chapter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Three quick classify-and-explain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Connect today's lecture to the upcoming Chapter 3 quiz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 with a compact conceptual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/>
          <p:cNvPicPr>
            <a:picLocks noChangeAspect="1"/>
          </p:cNvPicPr>
          <p:nvPr/>
        </p:nvPicPr>
        <p:blipFill>
          <a:blip r:embed="rId3"/>
          <a:srcRect t="107" b="107"/>
          <a:stretch>
            <a:fillRect/>
          </a:stretch>
        </p:blipFill>
        <p:spPr>
          <a:xfrm>
            <a:off x="0" y="95250"/>
            <a:ext cx="9144000" cy="42576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CF4AD8B-C505-4D7B-AB5E-B00A6E3D794A}"/>
              </a:ext>
            </a:extLst>
          </p:cNvPr>
          <p:cNvSpPr>
            <a:spLocks noGrp="1"/>
          </p:cNvSpPr>
          <p:nvPr/>
        </p:nvSpPr>
        <p:spPr>
          <a:xfrm>
            <a:off x="819150" y="2019300"/>
            <a:ext cx="7524750" cy="762000"/>
          </a:xfrm>
          <a:prstGeom prst="rect">
            <a:avLst/>
          </a:prstGeom>
          <a:solidFill>
            <a:srgbClr val="FFD579">
              <a:alpha val="49020"/>
            </a:srgbClr>
          </a:solidFill>
          <a:ln w="0">
            <a:noFill/>
          </a:ln>
        </p:spPr>
        <p:txBody>
          <a:bodyPr lIns="38100" tIns="19050" rIns="38100" bIns="19050" anchor="b">
            <a:noAutofit/>
          </a:bodyPr>
          <a:lstStyle/>
          <a:p>
            <a:pPr algn="l">
              <a:buNone/>
              <a:defRPr sz="217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Sampling, replacement, and independence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411F6C-A6A4-42C3-A2FF-E31273B8D207}"/>
              </a:ext>
            </a:extLst>
          </p:cNvPr>
          <p:cNvSpPr>
            <a:spLocks noGrp="1"/>
          </p:cNvSpPr>
          <p:nvPr/>
        </p:nvSpPr>
        <p:spPr>
          <a:xfrm>
            <a:off x="904875" y="3257550"/>
            <a:ext cx="7410450" cy="9525"/>
          </a:xfrm>
          <a:prstGeom prst="rect">
            <a:avLst/>
          </a:prstGeom>
          <a:solidFill>
            <a:srgbClr val="777777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02AAA-F1DC-4732-9928-FCE5D2349336}"/>
              </a:ext>
            </a:extLst>
          </p:cNvPr>
          <p:cNvSpPr>
            <a:spLocks noGrp="1"/>
          </p:cNvSpPr>
          <p:nvPr/>
        </p:nvSpPr>
        <p:spPr>
          <a:xfrm>
            <a:off x="819150" y="3371850"/>
            <a:ext cx="7543800" cy="781050"/>
          </a:xfrm>
          <a:prstGeom prst="rect">
            <a:avLst/>
          </a:prstGeom>
          <a:solidFill>
            <a:srgbClr val="0096FF">
              <a:alpha val="50980"/>
            </a:srgbClr>
          </a:solidFill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buNone/>
              <a:defRPr sz="180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 dirty="0">
                <a:solidFill>
                  <a:schemeClr val="tx2"/>
                </a:solidFill>
                <a:latin typeface="Montserrat"/>
                <a:ea typeface="Montserrat"/>
                <a:cs typeface="Montserrat"/>
              </a:rPr>
              <a:t>STAT UN 1001  ·  LECTURE </a:t>
            </a:r>
            <a:r>
              <a:rPr lang="en-US" altLang="zh-CN" sz="2400" b="1" i="0" dirty="0">
                <a:solidFill>
                  <a:schemeClr val="tx2"/>
                </a:solidFill>
                <a:latin typeface="Montserrat"/>
                <a:ea typeface="Montserrat"/>
                <a:cs typeface="Montserrat"/>
              </a:rPr>
              <a:t>9</a:t>
            </a:r>
            <a:endParaRPr sz="2400" b="1" i="0" dirty="0">
              <a:solidFill>
                <a:schemeClr val="tx2"/>
              </a:solidFill>
              <a:latin typeface="Montserrat"/>
              <a:ea typeface="Montserrat"/>
              <a:cs typeface="Montserrat"/>
            </a:endParaRPr>
          </a:p>
          <a:p>
            <a:pPr algn="l">
              <a:buNone/>
              <a:defRPr sz="180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4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</a:rPr>
              <a:t>October </a:t>
            </a:r>
            <a:r>
              <a:rPr lang="en-US" altLang="zh-CN" sz="24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</a:rPr>
              <a:t>6th</a:t>
            </a:r>
            <a:r>
              <a:rPr sz="2400" b="1" i="0" dirty="0">
                <a:solidFill>
                  <a:schemeClr val="tx2"/>
                </a:solidFill>
                <a:latin typeface="Montserrat"/>
                <a:ea typeface="Montserrat"/>
                <a:cs typeface="Montserrat"/>
              </a:rPr>
              <a:t>, 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A9FDD7-B6B6-4FD1-84DE-840A2CC6F311}"/>
              </a:ext>
            </a:extLst>
          </p:cNvPr>
          <p:cNvSpPr>
            <a:spLocks noGrp="1"/>
          </p:cNvSpPr>
          <p:nvPr/>
        </p:nvSpPr>
        <p:spPr>
          <a:xfrm>
            <a:off x="0" y="4752975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pic>
        <p:nvPicPr>
          <p:cNvPr id="13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4420" y="4867275"/>
            <a:ext cx="1532334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531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784480-1ECF-B0CC-886C-260AD5C87893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The five-part setup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8E87F6-6249-C828-F323-5CD39ED005D3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99B164-BAEE-DDC0-8954-08E5496EE0B4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66075-4F4F-B25F-1758-702433D8D36D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49332-8C93-1ABC-A13C-5D5737581732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E09FFF-06EC-492F-8E5E-FBC0D94A0F21}"/>
              </a:ext>
            </a:extLst>
          </p:cNvPr>
          <p:cNvSpPr>
            <a:spLocks noGrp="1"/>
          </p:cNvSpPr>
          <p:nvPr/>
        </p:nvSpPr>
        <p:spPr>
          <a:xfrm>
            <a:off x="857250" y="116205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C99A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22736A-76F3-43F1-BAF1-5DC21C2E94F2}"/>
              </a:ext>
            </a:extLst>
          </p:cNvPr>
          <p:cNvSpPr>
            <a:spLocks noGrp="1"/>
          </p:cNvSpPr>
          <p:nvPr/>
        </p:nvSpPr>
        <p:spPr>
          <a:xfrm>
            <a:off x="1314450" y="114300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Chance process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169F41-2118-4E82-95E0-DD0C6C714680}"/>
              </a:ext>
            </a:extLst>
          </p:cNvPr>
          <p:cNvSpPr>
            <a:spLocks noGrp="1"/>
          </p:cNvSpPr>
          <p:nvPr/>
        </p:nvSpPr>
        <p:spPr>
          <a:xfrm>
            <a:off x="3619499" y="1143000"/>
            <a:ext cx="5349839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What random action repeats?</a:t>
            </a:r>
            <a:r>
              <a:rPr lang="zh-CN" altLang="en-US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b="0" i="0" dirty="0">
                <a:solidFill>
                  <a:srgbClr val="1E2A32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Is</a:t>
            </a:r>
            <a:r>
              <a:rPr lang="zh-CN" altLang="en-US" b="0" i="0" dirty="0">
                <a:solidFill>
                  <a:srgbClr val="1E2A32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 </a:t>
            </a:r>
            <a:r>
              <a:rPr lang="en-US" altLang="zh-CN" b="0" i="0" dirty="0">
                <a:solidFill>
                  <a:srgbClr val="1E2A32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it</a:t>
            </a:r>
            <a:r>
              <a:rPr lang="zh-CN" altLang="en-US" b="0" i="0" dirty="0">
                <a:solidFill>
                  <a:srgbClr val="1E2A32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 </a:t>
            </a:r>
            <a:r>
              <a:rPr lang="en-US" altLang="zh-CN" b="0" i="0" dirty="0">
                <a:solidFill>
                  <a:srgbClr val="1E2A32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the</a:t>
            </a:r>
            <a:r>
              <a:rPr lang="zh-CN" altLang="en-US" b="0" i="0" dirty="0">
                <a:solidFill>
                  <a:srgbClr val="1E2A32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 </a:t>
            </a:r>
            <a:r>
              <a:rPr lang="en-US" altLang="zh-CN" b="0" i="0" dirty="0">
                <a:solidFill>
                  <a:srgbClr val="1E2A32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same</a:t>
            </a:r>
            <a:r>
              <a:rPr lang="zh-CN" altLang="en-US" b="0" i="0" dirty="0">
                <a:solidFill>
                  <a:srgbClr val="1E2A32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 </a:t>
            </a:r>
            <a:r>
              <a:rPr lang="en-US" altLang="zh-CN" b="0" i="0" dirty="0">
                <a:solidFill>
                  <a:srgbClr val="1E2A32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process?</a:t>
            </a:r>
            <a:endParaRPr b="0" i="0" dirty="0">
              <a:solidFill>
                <a:srgbClr val="1E2A32"/>
              </a:solidFill>
              <a:highlight>
                <a:srgbClr val="FFFF00"/>
              </a:highlight>
              <a:latin typeface="Aptos"/>
              <a:ea typeface="Aptos"/>
              <a:cs typeface="Apto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76A9C1-DFE2-4994-AAF4-2B8D2E159300}"/>
              </a:ext>
            </a:extLst>
          </p:cNvPr>
          <p:cNvSpPr>
            <a:spLocks noGrp="1"/>
          </p:cNvSpPr>
          <p:nvPr/>
        </p:nvSpPr>
        <p:spPr>
          <a:xfrm>
            <a:off x="1314450" y="1504950"/>
            <a:ext cx="6572250" cy="14288"/>
          </a:xfrm>
          <a:prstGeom prst="rect">
            <a:avLst/>
          </a:prstGeom>
          <a:solidFill>
            <a:srgbClr val="D1D9DD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BFCC3C-3748-4EE0-A80D-3F238955A05C}"/>
              </a:ext>
            </a:extLst>
          </p:cNvPr>
          <p:cNvSpPr>
            <a:spLocks noGrp="1"/>
          </p:cNvSpPr>
          <p:nvPr/>
        </p:nvSpPr>
        <p:spPr>
          <a:xfrm>
            <a:off x="857250" y="17526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C99A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BF6B64-A546-416E-93B6-7E7FFF9986DB}"/>
              </a:ext>
            </a:extLst>
          </p:cNvPr>
          <p:cNvSpPr>
            <a:spLocks noGrp="1"/>
          </p:cNvSpPr>
          <p:nvPr/>
        </p:nvSpPr>
        <p:spPr>
          <a:xfrm>
            <a:off x="1314450" y="17335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Sample space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180D98-3B03-4C38-BC27-17AD66BDFD23}"/>
              </a:ext>
            </a:extLst>
          </p:cNvPr>
          <p:cNvSpPr>
            <a:spLocks noGrp="1"/>
          </p:cNvSpPr>
          <p:nvPr/>
        </p:nvSpPr>
        <p:spPr>
          <a:xfrm>
            <a:off x="3619500" y="1733550"/>
            <a:ext cx="4381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What outcomes could happen?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B6E305-B6FC-4D26-A3B3-54D29E7A578B}"/>
              </a:ext>
            </a:extLst>
          </p:cNvPr>
          <p:cNvSpPr>
            <a:spLocks noGrp="1"/>
          </p:cNvSpPr>
          <p:nvPr/>
        </p:nvSpPr>
        <p:spPr>
          <a:xfrm>
            <a:off x="1314450" y="2095500"/>
            <a:ext cx="6572250" cy="14288"/>
          </a:xfrm>
          <a:prstGeom prst="rect">
            <a:avLst/>
          </a:prstGeom>
          <a:solidFill>
            <a:srgbClr val="D1D9DD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196191-7CD5-401B-A3E7-8B0AD483A578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C99A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B13EEC-8B9E-4CBF-8AFA-969EEA232078}"/>
              </a:ext>
            </a:extLst>
          </p:cNvPr>
          <p:cNvSpPr>
            <a:spLocks noGrp="1"/>
          </p:cNvSpPr>
          <p:nvPr/>
        </p:nvSpPr>
        <p:spPr>
          <a:xfrm>
            <a:off x="1314450" y="232410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Event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640437-F33C-4976-AC87-B7198093EDB4}"/>
              </a:ext>
            </a:extLst>
          </p:cNvPr>
          <p:cNvSpPr>
            <a:spLocks noGrp="1"/>
          </p:cNvSpPr>
          <p:nvPr/>
        </p:nvSpPr>
        <p:spPr>
          <a:xfrm>
            <a:off x="3619500" y="2324100"/>
            <a:ext cx="4381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Which outcomes count?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95BAAB-1570-4403-98C7-1FF484075CC6}"/>
              </a:ext>
            </a:extLst>
          </p:cNvPr>
          <p:cNvSpPr>
            <a:spLocks noGrp="1"/>
          </p:cNvSpPr>
          <p:nvPr/>
        </p:nvSpPr>
        <p:spPr>
          <a:xfrm>
            <a:off x="1314450" y="2686050"/>
            <a:ext cx="6572250" cy="14288"/>
          </a:xfrm>
          <a:prstGeom prst="rect">
            <a:avLst/>
          </a:prstGeom>
          <a:solidFill>
            <a:srgbClr val="D1D9DD"/>
          </a:solidFill>
          <a:ln w="0">
            <a:noFill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F94313-011D-4E55-9CEB-80B9018903F7}"/>
              </a:ext>
            </a:extLst>
          </p:cNvPr>
          <p:cNvSpPr>
            <a:spLocks noGrp="1"/>
          </p:cNvSpPr>
          <p:nvPr/>
        </p:nvSpPr>
        <p:spPr>
          <a:xfrm>
            <a:off x="857250" y="2933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C99A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A6100D-29F0-4A25-9A5E-1CED9919B2DB}"/>
              </a:ext>
            </a:extLst>
          </p:cNvPr>
          <p:cNvSpPr>
            <a:spLocks noGrp="1"/>
          </p:cNvSpPr>
          <p:nvPr/>
        </p:nvSpPr>
        <p:spPr>
          <a:xfrm>
            <a:off x="1314449" y="2914650"/>
            <a:ext cx="2305049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Probability sentence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950836-9F3F-4700-9B23-01AB8C444DF7}"/>
              </a:ext>
            </a:extLst>
          </p:cNvPr>
          <p:cNvSpPr>
            <a:spLocks noGrp="1"/>
          </p:cNvSpPr>
          <p:nvPr/>
        </p:nvSpPr>
        <p:spPr>
          <a:xfrm>
            <a:off x="3619500" y="2914650"/>
            <a:ext cx="4381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What probability are we finding?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71B9C1-3D33-4409-BD78-1DCF04B8803E}"/>
              </a:ext>
            </a:extLst>
          </p:cNvPr>
          <p:cNvSpPr>
            <a:spLocks noGrp="1"/>
          </p:cNvSpPr>
          <p:nvPr/>
        </p:nvSpPr>
        <p:spPr>
          <a:xfrm>
            <a:off x="1314450" y="3276600"/>
            <a:ext cx="6572250" cy="14288"/>
          </a:xfrm>
          <a:prstGeom prst="rect">
            <a:avLst/>
          </a:prstGeom>
          <a:solidFill>
            <a:srgbClr val="D1D9DD"/>
          </a:solidFill>
          <a:ln w="0">
            <a:noFill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EC8AD5-4B70-40E6-A430-0F1451621E9F}"/>
              </a:ext>
            </a:extLst>
          </p:cNvPr>
          <p:cNvSpPr>
            <a:spLocks noGrp="1"/>
          </p:cNvSpPr>
          <p:nvPr/>
        </p:nvSpPr>
        <p:spPr>
          <a:xfrm>
            <a:off x="857250" y="3690938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C99A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732B7B7-B5AB-4F95-A15F-F80D5ED7EF31}"/>
              </a:ext>
            </a:extLst>
          </p:cNvPr>
          <p:cNvSpPr>
            <a:spLocks noGrp="1"/>
          </p:cNvSpPr>
          <p:nvPr/>
        </p:nvSpPr>
        <p:spPr>
          <a:xfrm>
            <a:off x="1314450" y="3671888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6C4752-1E6C-4CF1-A77A-C1216EB18279}"/>
              </a:ext>
            </a:extLst>
          </p:cNvPr>
          <p:cNvSpPr>
            <a:spLocks noGrp="1"/>
          </p:cNvSpPr>
          <p:nvPr/>
        </p:nvSpPr>
        <p:spPr>
          <a:xfrm>
            <a:off x="3619500" y="3671888"/>
            <a:ext cx="503134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Complement, multiplication, table, or tree?</a:t>
            </a:r>
          </a:p>
        </p:txBody>
      </p:sp>
    </p:spTree>
    <p:extLst>
      <p:ext uri="{BB962C8B-B14F-4D97-AF65-F5344CB8AC3E}">
        <p14:creationId xmlns:p14="http://schemas.microsoft.com/office/powerpoint/2010/main" val="923336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784480-1ECF-B0CC-886C-260AD5C87893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Small population 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8E87F6-6249-C828-F323-5CD39ED005D3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99B164-BAEE-DDC0-8954-08E5496EE0B4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66075-4F4F-B25F-1758-702433D8D36D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49332-8C93-1ABC-A13C-5D5737581732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273B5E-FD22-45D0-9FC7-A1143348CE01}"/>
              </a:ext>
            </a:extLst>
          </p:cNvPr>
          <p:cNvSpPr>
            <a:spLocks noGrp="1"/>
          </p:cNvSpPr>
          <p:nvPr/>
        </p:nvSpPr>
        <p:spPr>
          <a:xfrm>
            <a:off x="838200" y="1162050"/>
            <a:ext cx="7239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 study group has five practice cards. Two cards are probability, one is graphs, one is study design, and one is numerical summaries.</a:t>
            </a:r>
          </a:p>
        </p:txBody>
      </p:sp>
      <p:graphicFrame>
        <p:nvGraphicFramePr>
          <p:cNvPr id="25" name="Table 24"/>
          <p:cNvGraphicFramePr/>
          <p:nvPr/>
        </p:nvGraphicFramePr>
        <p:xfrm>
          <a:off x="1066800" y="2095500"/>
          <a:ext cx="6858000" cy="107823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t>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Prob.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Study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Summaries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5808DF99-4B51-46A6-A67C-94F840B714A8}"/>
              </a:ext>
            </a:extLst>
          </p:cNvPr>
          <p:cNvSpPr>
            <a:spLocks noGrp="1"/>
          </p:cNvSpPr>
          <p:nvPr/>
        </p:nvSpPr>
        <p:spPr>
          <a:xfrm>
            <a:off x="838200" y="335280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CF7CF9-2AC0-4857-A797-7FD1B38DCB2B}"/>
              </a:ext>
            </a:extLst>
          </p:cNvPr>
          <p:cNvSpPr>
            <a:spLocks noGrp="1"/>
          </p:cNvSpPr>
          <p:nvPr/>
        </p:nvSpPr>
        <p:spPr>
          <a:xfrm>
            <a:off x="838200" y="367665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If you draw two cards, what </a:t>
            </a:r>
            <a:r>
              <a:rPr b="0" i="0" dirty="0">
                <a:solidFill>
                  <a:srgbClr val="1E2A32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changes</a:t>
            </a: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 after the first draw?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858F75-5D89-4FB2-A771-EAD76AEAB9E7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The answer depends on </a:t>
            </a:r>
            <a:r>
              <a:rPr b="1" i="0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replacement</a:t>
            </a:r>
            <a:r>
              <a:rPr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3336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784480-1ECF-B0CC-886C-260AD5C87893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With replacement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8E87F6-6249-C828-F323-5CD39ED005D3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99B164-BAEE-DDC0-8954-08E5496EE0B4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66075-4F4F-B25F-1758-702433D8D36D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49332-8C93-1ABC-A13C-5D5737581732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E84284-3F21-4295-BFDD-4F0B4DF666A1}"/>
              </a:ext>
            </a:extLst>
          </p:cNvPr>
          <p:cNvSpPr>
            <a:spLocks noGrp="1"/>
          </p:cNvSpPr>
          <p:nvPr/>
        </p:nvSpPr>
        <p:spPr>
          <a:xfrm>
            <a:off x="838200" y="11239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WHAT HAPPENS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644AFB-6D02-45D8-86F2-F15529380351}"/>
              </a:ext>
            </a:extLst>
          </p:cNvPr>
          <p:cNvSpPr>
            <a:spLocks noGrp="1"/>
          </p:cNvSpPr>
          <p:nvPr/>
        </p:nvSpPr>
        <p:spPr>
          <a:xfrm>
            <a:off x="838200" y="1447800"/>
            <a:ext cx="723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Draw a card, record its topic, </a:t>
            </a:r>
            <a:r>
              <a:rPr b="1" i="0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put it back</a:t>
            </a: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, mix again, and draw the second card.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D08F68-E632-4A2F-AA4E-44EBBF076FAE}"/>
              </a:ext>
            </a:extLst>
          </p:cNvPr>
          <p:cNvSpPr>
            <a:spLocks noGrp="1"/>
          </p:cNvSpPr>
          <p:nvPr/>
        </p:nvSpPr>
        <p:spPr>
          <a:xfrm>
            <a:off x="838200" y="21526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PROBABILITY CONSEQUENCE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FA378C-671C-4BFD-A642-FB84A95A5BEA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7239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The second draw still has five possible cards. The chance of </a:t>
            </a:r>
            <a:r>
              <a:rPr lang="en-US" altLang="zh-CN" b="0" i="0" u="sng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the</a:t>
            </a:r>
            <a:r>
              <a:rPr lang="zh-CN" altLang="en-US" b="0" i="0" u="sng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 </a:t>
            </a:r>
            <a:r>
              <a:rPr b="0" i="1" u="sng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probability</a:t>
            </a:r>
            <a:r>
              <a:rPr b="0" i="0" u="sng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b="0" i="0" u="sng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card</a:t>
            </a:r>
            <a:r>
              <a:rPr lang="zh-CN" altLang="en-US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 </a:t>
            </a: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stays 2/5.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17C609-356E-4897-8146-B75F622EA112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INDEPENDENCE CONNECTION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8724D8-19AF-4A6E-9F86-3CC5D85C945F}"/>
              </a:ext>
            </a:extLst>
          </p:cNvPr>
          <p:cNvSpPr>
            <a:spLocks noGrp="1"/>
          </p:cNvSpPr>
          <p:nvPr/>
        </p:nvSpPr>
        <p:spPr>
          <a:xfrm>
            <a:off x="838200" y="3505200"/>
            <a:ext cx="7239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The first draw </a:t>
            </a:r>
            <a:r>
              <a:rPr b="1" i="0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does not change </a:t>
            </a:r>
            <a:r>
              <a:rPr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the probability for the second draw.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6D654B-5987-4756-92CC-BAF1B0D9FA79}"/>
              </a:ext>
            </a:extLst>
          </p:cNvPr>
          <p:cNvSpPr>
            <a:spLocks noGrp="1"/>
          </p:cNvSpPr>
          <p:nvPr/>
        </p:nvSpPr>
        <p:spPr>
          <a:xfrm>
            <a:off x="838200" y="4038600"/>
            <a:ext cx="72390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Everyday version: a playlist that allows repeats can play the same song again.</a:t>
            </a:r>
          </a:p>
        </p:txBody>
      </p:sp>
    </p:spTree>
    <p:extLst>
      <p:ext uri="{BB962C8B-B14F-4D97-AF65-F5344CB8AC3E}">
        <p14:creationId xmlns:p14="http://schemas.microsoft.com/office/powerpoint/2010/main" val="923336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784480-1ECF-B0CC-886C-260AD5C87893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Without replacement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8E87F6-6249-C828-F323-5CD39ED005D3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99B164-BAEE-DDC0-8954-08E5496EE0B4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66075-4F4F-B25F-1758-702433D8D36D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49332-8C93-1ABC-A13C-5D5737581732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0B86A6-1574-44B1-B114-DA0A7BBA8A3D}"/>
              </a:ext>
            </a:extLst>
          </p:cNvPr>
          <p:cNvSpPr>
            <a:spLocks noGrp="1"/>
          </p:cNvSpPr>
          <p:nvPr/>
        </p:nvSpPr>
        <p:spPr>
          <a:xfrm>
            <a:off x="838200" y="11239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WHAT HAPPENS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97192B-AC74-4C45-A2E9-740C78D01603}"/>
              </a:ext>
            </a:extLst>
          </p:cNvPr>
          <p:cNvSpPr>
            <a:spLocks noGrp="1"/>
          </p:cNvSpPr>
          <p:nvPr/>
        </p:nvSpPr>
        <p:spPr>
          <a:xfrm>
            <a:off x="838200" y="1447800"/>
            <a:ext cx="723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Draw a card, </a:t>
            </a:r>
            <a:r>
              <a:rPr b="1" i="0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keep it out</a:t>
            </a: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, then draw the second card from the four cards that remain.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C8A327-D75C-4729-8B94-057F01BDF5ED}"/>
              </a:ext>
            </a:extLst>
          </p:cNvPr>
          <p:cNvSpPr>
            <a:spLocks noGrp="1"/>
          </p:cNvSpPr>
          <p:nvPr/>
        </p:nvSpPr>
        <p:spPr>
          <a:xfrm>
            <a:off x="838200" y="21526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PROBABILITY CONSEQUENCE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CE7955-FAA8-444B-BB1D-F208EEC5D492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7239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The denominator changes from 5 to 4. The numerator may change too.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333523-3D4D-4696-8CC3-D901FC911282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INDEPENDENCE CONNECTION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5330FE-307F-4D0C-B3EF-47E26537CE08}"/>
              </a:ext>
            </a:extLst>
          </p:cNvPr>
          <p:cNvSpPr>
            <a:spLocks noGrp="1"/>
          </p:cNvSpPr>
          <p:nvPr/>
        </p:nvSpPr>
        <p:spPr>
          <a:xfrm>
            <a:off x="838200" y="3505200"/>
            <a:ext cx="7239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The first draw can </a:t>
            </a:r>
            <a:r>
              <a:rPr b="1" i="0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change</a:t>
            </a:r>
            <a:r>
              <a:rPr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the probability for the second draw.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E436A2-526E-4FD8-90FD-2B6616B10E26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Everyday version: a no-repeat playlist changes what can come next.</a:t>
            </a:r>
          </a:p>
        </p:txBody>
      </p:sp>
    </p:spTree>
    <p:extLst>
      <p:ext uri="{BB962C8B-B14F-4D97-AF65-F5344CB8AC3E}">
        <p14:creationId xmlns:p14="http://schemas.microsoft.com/office/powerpoint/2010/main" val="92333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784480-1ECF-B0CC-886C-260AD5C87893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Two second-draw probabilities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8E87F6-6249-C828-F323-5CD39ED005D3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99B164-BAEE-DDC0-8954-08E5496EE0B4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66075-4F4F-B25F-1758-702433D8D36D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49332-8C93-1ABC-A13C-5D5737581732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graphicFrame>
        <p:nvGraphicFramePr>
          <p:cNvPr id="23" name="Table 22"/>
          <p:cNvGraphicFramePr/>
          <p:nvPr>
            <p:extLst>
              <p:ext uri="{D42A27DB-BD31-4B8C-83A1-F6EECF244321}">
                <p14:modId xmlns:p14="http://schemas.microsoft.com/office/powerpoint/2010/main" val="2794080923"/>
              </p:ext>
            </p:extLst>
          </p:nvPr>
        </p:nvGraphicFramePr>
        <p:xfrm>
          <a:off x="838200" y="1028700"/>
          <a:ext cx="7600952" cy="2560320"/>
        </p:xfrm>
        <a:graphic>
          <a:graphicData uri="http://schemas.openxmlformats.org/drawingml/2006/table">
            <a:tbl>
              <a:tblPr/>
              <a:tblGrid>
                <a:gridCol w="1900238">
                  <a:extLst>
                    <a:ext uri="{9D8B030D-6E8A-4147-A177-3AD203B41FA5}">
                      <a16:colId xmlns:a16="http://schemas.microsoft.com/office/drawing/2014/main" val="2580155245"/>
                    </a:ext>
                  </a:extLst>
                </a:gridCol>
                <a:gridCol w="1761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r>
                        <a:rPr lang="en-US" altLang="zh-CN" dirty="0"/>
                        <a:t>Sampling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method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First draw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Cards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highlight>
                            <a:srgbClr val="FFFF00"/>
                          </a:highlight>
                        </a:rPr>
                        <a:t>P(second card is probability)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 rowSpan="2">
                  <a:txBody>
                    <a:bodyPr/>
                    <a:lstStyle/>
                    <a:p>
                      <a:r>
                        <a:rPr lang="en-US" altLang="zh-CN" dirty="0"/>
                        <a:t>Without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replacement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i="1" dirty="0"/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probability card among 4 cards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1/4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Not </a:t>
                      </a:r>
                      <a:r>
                        <a:rPr b="1" i="1" dirty="0"/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probability cards among 4 cards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2/4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With replacement</a:t>
                      </a:r>
                    </a:p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i="1" dirty="0">
                          <a:solidFill>
                            <a:srgbClr val="FF0000"/>
                          </a:solidFill>
                        </a:rPr>
                        <a:t>Any</a:t>
                      </a:r>
                      <a:r>
                        <a:rPr lang="zh-CN" altLang="en-US" i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i="1" dirty="0">
                          <a:solidFill>
                            <a:srgbClr val="FF0000"/>
                          </a:solidFill>
                        </a:rPr>
                        <a:t>card</a:t>
                      </a:r>
                      <a:endParaRPr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probability cards among 5 cards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2/5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BB243CC7-D438-4971-BB73-19B10AE72394}"/>
              </a:ext>
            </a:extLst>
          </p:cNvPr>
          <p:cNvSpPr>
            <a:spLocks noGrp="1"/>
          </p:cNvSpPr>
          <p:nvPr/>
        </p:nvSpPr>
        <p:spPr>
          <a:xfrm>
            <a:off x="838200" y="381381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MAIN INSIGHT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EC8358-46AF-4A58-8DD6-21F8042DD6B3}"/>
              </a:ext>
            </a:extLst>
          </p:cNvPr>
          <p:cNvSpPr>
            <a:spLocks noGrp="1"/>
          </p:cNvSpPr>
          <p:nvPr/>
        </p:nvSpPr>
        <p:spPr>
          <a:xfrm>
            <a:off x="2363056" y="3714750"/>
            <a:ext cx="5714144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Independence asks whether knowing the first outcome changes the probability of the next event.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5B3194-F4AD-49EA-89D7-BC48B176BD5C}"/>
              </a:ext>
            </a:extLst>
          </p:cNvPr>
          <p:cNvSpPr>
            <a:spLocks noGrp="1"/>
          </p:cNvSpPr>
          <p:nvPr/>
        </p:nvSpPr>
        <p:spPr>
          <a:xfrm>
            <a:off x="838200" y="4354830"/>
            <a:ext cx="76009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The same question can have different answers under different sampling rules.</a:t>
            </a:r>
          </a:p>
        </p:txBody>
      </p:sp>
    </p:spTree>
    <p:extLst>
      <p:ext uri="{BB962C8B-B14F-4D97-AF65-F5344CB8AC3E}">
        <p14:creationId xmlns:p14="http://schemas.microsoft.com/office/powerpoint/2010/main" val="923336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784480-1ECF-B0CC-886C-260AD5C87893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Small versus large populations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8E87F6-6249-C828-F323-5CD39ED005D3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99B164-BAEE-DDC0-8954-08E5496EE0B4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66075-4F4F-B25F-1758-702433D8D36D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49332-8C93-1ABC-A13C-5D5737581732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graphicFrame>
        <p:nvGraphicFramePr>
          <p:cNvPr id="23" name="Table 22"/>
          <p:cNvGraphicFramePr/>
          <p:nvPr>
            <p:extLst>
              <p:ext uri="{D42A27DB-BD31-4B8C-83A1-F6EECF244321}">
                <p14:modId xmlns:p14="http://schemas.microsoft.com/office/powerpoint/2010/main" val="1170996575"/>
              </p:ext>
            </p:extLst>
          </p:nvPr>
        </p:nvGraphicFramePr>
        <p:xfrm>
          <a:off x="953785" y="1107440"/>
          <a:ext cx="6858000" cy="176911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950">
                <a:tc>
                  <a:txBody>
                    <a:bodyPr/>
                    <a:lstStyle/>
                    <a:p>
                      <a:r>
                        <a:t>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Remove one 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Effect on next draw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t>15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1/15 of the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Large enough to notice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t>1,500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1/1,500 of the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Usually tiny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071D41B6-0B31-499F-8321-4EEFE3BC5270}"/>
              </a:ext>
            </a:extLst>
          </p:cNvPr>
          <p:cNvSpPr>
            <a:spLocks noGrp="1"/>
          </p:cNvSpPr>
          <p:nvPr/>
        </p:nvSpPr>
        <p:spPr>
          <a:xfrm>
            <a:off x="952500" y="30289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PRACTICAL READING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B0560E-1939-46B9-A3A7-7BD1655A866C}"/>
              </a:ext>
            </a:extLst>
          </p:cNvPr>
          <p:cNvSpPr>
            <a:spLocks noGrp="1"/>
          </p:cNvSpPr>
          <p:nvPr/>
        </p:nvSpPr>
        <p:spPr>
          <a:xfrm>
            <a:off x="952500" y="3352800"/>
            <a:ext cx="7239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Without replacement is not independent, but it can behave almost like independence when the population is huge compared with the sample.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5746EA-5F38-4368-BAC4-E816980F627A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72390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This is why </a:t>
            </a:r>
            <a:r>
              <a:rPr b="1" i="0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survey sampling </a:t>
            </a:r>
            <a:r>
              <a:rPr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often cares about sample size relative to population size.</a:t>
            </a:r>
          </a:p>
        </p:txBody>
      </p:sp>
    </p:spTree>
    <p:extLst>
      <p:ext uri="{BB962C8B-B14F-4D97-AF65-F5344CB8AC3E}">
        <p14:creationId xmlns:p14="http://schemas.microsoft.com/office/powerpoint/2010/main" val="923336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784480-1ECF-B0CC-886C-260AD5C87893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Dinner-party seating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8E87F6-6249-C828-F323-5CD39ED005D3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99B164-BAEE-DDC0-8954-08E5496EE0B4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66075-4F4F-B25F-1758-702433D8D36D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49332-8C93-1ABC-A13C-5D5737581732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DD9067-09B2-4D8E-950C-13F4C7856975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723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Eight people sit randomly around a round table. Your seat is fixed. You care whether Alex sits next to you.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AB6DFA-3ACE-42C1-BE03-7FF8AA235E1A}"/>
              </a:ext>
            </a:extLst>
          </p:cNvPr>
          <p:cNvSpPr>
            <a:spLocks noGrp="1"/>
          </p:cNvSpPr>
          <p:nvPr/>
        </p:nvSpPr>
        <p:spPr>
          <a:xfrm>
            <a:off x="838200" y="201930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CHANCE PROCESS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8909F6-2283-4FB5-BB38-73646C70837F}"/>
              </a:ext>
            </a:extLst>
          </p:cNvPr>
          <p:cNvSpPr>
            <a:spLocks noGrp="1"/>
          </p:cNvSpPr>
          <p:nvPr/>
        </p:nvSpPr>
        <p:spPr>
          <a:xfrm>
            <a:off x="838200" y="2343150"/>
            <a:ext cx="7239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Randomly assign the seven other people to the seven remaining seats.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E732C2-C1C8-43C5-86D7-05C568B63989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SAMPLE SPACE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352F2F-C17C-4CB0-A836-E21EE5D8E4D9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7239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There are 7 possible seats for Alex, not 8, because your seat is already occupied.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774E2A-2F89-4974-8628-389D1FE34FB3}"/>
              </a:ext>
            </a:extLst>
          </p:cNvPr>
          <p:cNvSpPr>
            <a:spLocks noGrp="1"/>
          </p:cNvSpPr>
          <p:nvPr/>
        </p:nvSpPr>
        <p:spPr>
          <a:xfrm>
            <a:off x="838200" y="38290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PROBABILITY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63006E-A5AF-4D5C-B986-CFC06D0AD1BC}"/>
              </a:ext>
            </a:extLst>
          </p:cNvPr>
          <p:cNvSpPr>
            <a:spLocks noGrp="1"/>
          </p:cNvSpPr>
          <p:nvPr/>
        </p:nvSpPr>
        <p:spPr>
          <a:xfrm>
            <a:off x="838200" y="415290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Two seats are next to you, so P(Alex sits next to you) = 2/7.</a:t>
            </a:r>
          </a:p>
        </p:txBody>
      </p:sp>
    </p:spTree>
    <p:extLst>
      <p:ext uri="{BB962C8B-B14F-4D97-AF65-F5344CB8AC3E}">
        <p14:creationId xmlns:p14="http://schemas.microsoft.com/office/powerpoint/2010/main" val="923336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784480-1ECF-B0CC-886C-260AD5C87893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Raffle rules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8E87F6-6249-C828-F323-5CD39ED005D3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99B164-BAEE-DDC0-8954-08E5496EE0B4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66075-4F4F-B25F-1758-702433D8D36D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49332-8C93-1ABC-A13C-5D5737581732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E0573A-2155-4A6A-AFDD-F7EACC912093}"/>
              </a:ext>
            </a:extLst>
          </p:cNvPr>
          <p:cNvSpPr>
            <a:spLocks noGrp="1"/>
          </p:cNvSpPr>
          <p:nvPr/>
        </p:nvSpPr>
        <p:spPr>
          <a:xfrm>
            <a:off x="838200" y="1162050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 raffle has 30 tickets and 7 prizes. You bought one ticket.</a:t>
            </a:r>
          </a:p>
        </p:txBody>
      </p:sp>
      <p:graphicFrame>
        <p:nvGraphicFramePr>
          <p:cNvPr id="23" name="Table 22"/>
          <p:cNvGraphicFramePr/>
          <p:nvPr/>
        </p:nvGraphicFramePr>
        <p:xfrm>
          <a:off x="1028700" y="1809750"/>
          <a:ext cx="7086600" cy="219456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r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repeats?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Your chance of at least one prize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t>Without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Seven different winning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t>With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Your ticket could be drawn on any prize draw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1 - (29/30)^7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B8135FF4-F147-41B8-ADE6-EB4556483273}"/>
              </a:ext>
            </a:extLst>
          </p:cNvPr>
          <p:cNvSpPr>
            <a:spLocks noGrp="1"/>
          </p:cNvSpPr>
          <p:nvPr/>
        </p:nvSpPr>
        <p:spPr>
          <a:xfrm>
            <a:off x="952500" y="417195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A raffle question is incomplete until we know the replacement rule.</a:t>
            </a:r>
          </a:p>
        </p:txBody>
      </p:sp>
    </p:spTree>
    <p:extLst>
      <p:ext uri="{BB962C8B-B14F-4D97-AF65-F5344CB8AC3E}">
        <p14:creationId xmlns:p14="http://schemas.microsoft.com/office/powerpoint/2010/main" val="923336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784480-1ECF-B0CC-886C-260AD5C87893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Socks and complements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8E87F6-6249-C828-F323-5CD39ED005D3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99B164-BAEE-DDC0-8954-08E5496EE0B4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66075-4F4F-B25F-1758-702433D8D36D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49332-8C93-1ABC-A13C-5D5737581732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CD8A9E-3D9E-4226-9013-6B51C7CA11A7}"/>
              </a:ext>
            </a:extLst>
          </p:cNvPr>
          <p:cNvSpPr>
            <a:spLocks noGrp="1"/>
          </p:cNvSpPr>
          <p:nvPr/>
        </p:nvSpPr>
        <p:spPr>
          <a:xfrm>
            <a:off x="838200" y="11620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Drawer: 4 blue socks, 5 gray socks, 3 black socks. You grab 2 socks </a:t>
            </a:r>
            <a:r>
              <a:rPr b="0" i="0" dirty="0">
                <a:solidFill>
                  <a:srgbClr val="1E2A32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without replacement.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AFFFA7-32DC-4BF2-96FC-53C0A8785D83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MATCHING SOCKS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5BBD35-D829-44B8-A420-17DF5FE15C00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The event includes blue-blue, gray-gray, or black-black.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494D81-5C40-455A-9747-5A9E2469671C}"/>
              </a:ext>
            </a:extLst>
          </p:cNvPr>
          <p:cNvSpPr>
            <a:spLocks noGrp="1"/>
          </p:cNvSpPr>
          <p:nvPr/>
        </p:nvSpPr>
        <p:spPr>
          <a:xfrm>
            <a:off x="838200" y="274320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AT LEAST ONE BLACK SOCK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D098B7-CA16-47DA-A62F-C3EFF099D01D}"/>
              </a:ext>
            </a:extLst>
          </p:cNvPr>
          <p:cNvSpPr>
            <a:spLocks noGrp="1"/>
          </p:cNvSpPr>
          <p:nvPr/>
        </p:nvSpPr>
        <p:spPr>
          <a:xfrm>
            <a:off x="838200" y="306705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The complement is no black socks.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C02CC7-C531-4056-8B43-DD2B6E927A25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TWO BLUE SOCKS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4E7D89-839E-4072-992B-0A83ABBC6236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723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The probability sentence is (4/12)(3/11). The second fraction changes because one blue sock has been removed.</a:t>
            </a:r>
          </a:p>
        </p:txBody>
      </p:sp>
    </p:spTree>
    <p:extLst>
      <p:ext uri="{BB962C8B-B14F-4D97-AF65-F5344CB8AC3E}">
        <p14:creationId xmlns:p14="http://schemas.microsoft.com/office/powerpoint/2010/main" val="923336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784480-1ECF-B0CC-886C-260AD5C87893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Independent is not the same as disjoint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8E87F6-6249-C828-F323-5CD39ED005D3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99B164-BAEE-DDC0-8954-08E5496EE0B4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66075-4F4F-B25F-1758-702433D8D36D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49332-8C93-1ABC-A13C-5D5737581732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graphicFrame>
        <p:nvGraphicFramePr>
          <p:cNvPr id="21" name="Table 20"/>
          <p:cNvGraphicFramePr/>
          <p:nvPr>
            <p:extLst>
              <p:ext uri="{D42A27DB-BD31-4B8C-83A1-F6EECF244321}">
                <p14:modId xmlns:p14="http://schemas.microsoft.com/office/powerpoint/2010/main" val="3722803780"/>
              </p:ext>
            </p:extLst>
          </p:nvPr>
        </p:nvGraphicFramePr>
        <p:xfrm>
          <a:off x="876300" y="1219200"/>
          <a:ext cx="7391400" cy="2689860"/>
        </p:xfrm>
        <a:graphic>
          <a:graphicData uri="http://schemas.openxmlformats.org/drawingml/2006/table">
            <a:tbl>
              <a:tblPr/>
              <a:tblGrid>
                <a:gridCol w="1589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7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 it 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Everyday wording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t>Disjoint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 both happen at once?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One lunch order cannot be both only soup and only salad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t>Overlapping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 both happen at once?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student can have an iPhone and an Apple computer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t>Independent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Does knowing one change the probability of the other?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 replacement rule can make repeated draws independent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99F1F8C5-6A03-4BB4-852F-C7179F6D7D41}"/>
              </a:ext>
            </a:extLst>
          </p:cNvPr>
          <p:cNvSpPr>
            <a:spLocks noGrp="1"/>
          </p:cNvSpPr>
          <p:nvPr/>
        </p:nvSpPr>
        <p:spPr>
          <a:xfrm>
            <a:off x="1028700" y="416433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Disjoint is about possibility. Independent is about information.</a:t>
            </a:r>
          </a:p>
        </p:txBody>
      </p:sp>
    </p:spTree>
    <p:extLst>
      <p:ext uri="{BB962C8B-B14F-4D97-AF65-F5344CB8AC3E}">
        <p14:creationId xmlns:p14="http://schemas.microsoft.com/office/powerpoint/2010/main" val="923336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784480-1ECF-B0CC-886C-260AD5C87893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In-class practice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8E87F6-6249-C828-F323-5CD39ED005D3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99B164-BAEE-DDC0-8954-08E5496EE0B4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66075-4F4F-B25F-1758-702433D8D36D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49332-8C93-1ABC-A13C-5D5737581732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BD3ED4-7203-49F1-A2F0-E9803D98E981}"/>
              </a:ext>
            </a:extLst>
          </p:cNvPr>
          <p:cNvSpPr>
            <a:spLocks noGrp="1"/>
          </p:cNvSpPr>
          <p:nvPr/>
        </p:nvSpPr>
        <p:spPr>
          <a:xfrm>
            <a:off x="590550" y="1143000"/>
            <a:ext cx="78486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For each situation, decide: with replacement, without replacement, or neither clear from the wording. Then say whether independence is reasonable.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717402-645A-4B75-A254-582B3B743660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F81BCA-A835-4B8A-A5D8-9CB52A21F139}"/>
              </a:ext>
            </a:extLst>
          </p:cNvPr>
          <p:cNvSpPr>
            <a:spLocks noGrp="1"/>
          </p:cNvSpPr>
          <p:nvPr/>
        </p:nvSpPr>
        <p:spPr>
          <a:xfrm>
            <a:off x="1181100" y="1970284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 music app shuffles five songs and allows repeats.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18B454-ECA7-40B5-A2FA-B15B58D325FB}"/>
              </a:ext>
            </a:extLst>
          </p:cNvPr>
          <p:cNvSpPr>
            <a:spLocks noGrp="1"/>
          </p:cNvSpPr>
          <p:nvPr/>
        </p:nvSpPr>
        <p:spPr>
          <a:xfrm>
            <a:off x="838200" y="270510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BA2BFC-65A6-4D44-8732-E2D03DE039E8}"/>
              </a:ext>
            </a:extLst>
          </p:cNvPr>
          <p:cNvSpPr>
            <a:spLocks noGrp="1"/>
          </p:cNvSpPr>
          <p:nvPr/>
        </p:nvSpPr>
        <p:spPr>
          <a:xfrm>
            <a:off x="1181100" y="2695575"/>
            <a:ext cx="629891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 TA draws three student names from a hat and does not put names back.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977CAA-BA68-4F58-9E8D-B418F5BBCAF0}"/>
              </a:ext>
            </a:extLst>
          </p:cNvPr>
          <p:cNvSpPr>
            <a:spLocks noGrp="1"/>
          </p:cNvSpPr>
          <p:nvPr/>
        </p:nvSpPr>
        <p:spPr>
          <a:xfrm>
            <a:off x="838200" y="350520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90AA22-2860-4464-A628-F77D43C250A2}"/>
              </a:ext>
            </a:extLst>
          </p:cNvPr>
          <p:cNvSpPr>
            <a:spLocks noGrp="1"/>
          </p:cNvSpPr>
          <p:nvPr/>
        </p:nvSpPr>
        <p:spPr>
          <a:xfrm>
            <a:off x="1143000" y="3509962"/>
            <a:ext cx="6858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 website shows survey respondents one of two versions, but the assignment algorithm is not described.</a:t>
            </a:r>
          </a:p>
        </p:txBody>
      </p:sp>
    </p:spTree>
    <p:extLst>
      <p:ext uri="{BB962C8B-B14F-4D97-AF65-F5344CB8AC3E}">
        <p14:creationId xmlns:p14="http://schemas.microsoft.com/office/powerpoint/2010/main" val="923336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784480-1ECF-B0CC-886C-260AD5C87893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Good</a:t>
            </a:r>
            <a:r>
              <a:rPr lang="zh-CN" altLang="en-US"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habits</a:t>
            </a:r>
            <a:r>
              <a:rPr lang="zh-CN" altLang="en-US"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for</a:t>
            </a:r>
            <a:r>
              <a:rPr lang="zh-CN" altLang="en-US"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working</a:t>
            </a:r>
            <a:r>
              <a:rPr lang="zh-CN" altLang="en-US"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out</a:t>
            </a:r>
            <a:r>
              <a:rPr lang="zh-CN" altLang="en-US"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28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problems</a:t>
            </a:r>
            <a:endParaRPr sz="2800" b="1" i="0" dirty="0">
              <a:solidFill>
                <a:srgbClr val="18324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8E87F6-6249-C828-F323-5CD39ED005D3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99B164-BAEE-DDC0-8954-08E5496EE0B4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66075-4F4F-B25F-1758-702433D8D36D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49332-8C93-1ABC-A13C-5D5737581732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816F60-337A-4690-89C5-A5E09A2BCE9A}"/>
              </a:ext>
            </a:extLst>
          </p:cNvPr>
          <p:cNvSpPr>
            <a:spLocks noGrp="1"/>
          </p:cNvSpPr>
          <p:nvPr/>
        </p:nvSpPr>
        <p:spPr>
          <a:xfrm>
            <a:off x="838200" y="11620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BEFORE CALCULATING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563B49-2FF9-4AAA-B855-ED2D37EE7D5F}"/>
              </a:ext>
            </a:extLst>
          </p:cNvPr>
          <p:cNvSpPr>
            <a:spLocks noGrp="1"/>
          </p:cNvSpPr>
          <p:nvPr/>
        </p:nvSpPr>
        <p:spPr>
          <a:xfrm>
            <a:off x="838200" y="1485900"/>
            <a:ext cx="7239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Name the chance process, sample space, event, and denominator.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C75E9C-2153-496D-86E6-6011C73DC009}"/>
              </a:ext>
            </a:extLst>
          </p:cNvPr>
          <p:cNvSpPr>
            <a:spLocks noGrp="1"/>
          </p:cNvSpPr>
          <p:nvPr/>
        </p:nvSpPr>
        <p:spPr>
          <a:xfrm>
            <a:off x="838200" y="214312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BEFORE MULTIPLYING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AA30EF-090D-401D-8A02-6EF3F308674A}"/>
              </a:ext>
            </a:extLst>
          </p:cNvPr>
          <p:cNvSpPr>
            <a:spLocks noGrp="1"/>
          </p:cNvSpPr>
          <p:nvPr/>
        </p:nvSpPr>
        <p:spPr>
          <a:xfrm>
            <a:off x="838200" y="2466975"/>
            <a:ext cx="7239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Ask whether the next stage uses the same population or a changed population.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A88B14-FD85-40BA-9B78-D78A792992FD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BEFORE ASSUMING INDEPENDENCE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453F37-2108-4C81-9081-A9A1733BADC9}"/>
              </a:ext>
            </a:extLst>
          </p:cNvPr>
          <p:cNvSpPr>
            <a:spLocks noGrp="1"/>
          </p:cNvSpPr>
          <p:nvPr/>
        </p:nvSpPr>
        <p:spPr>
          <a:xfrm>
            <a:off x="838200" y="3695700"/>
            <a:ext cx="7239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Ask whether knowing one outcome changes the probability of another.</a:t>
            </a:r>
          </a:p>
        </p:txBody>
      </p:sp>
    </p:spTree>
    <p:extLst>
      <p:ext uri="{BB962C8B-B14F-4D97-AF65-F5344CB8AC3E}">
        <p14:creationId xmlns:p14="http://schemas.microsoft.com/office/powerpoint/2010/main" val="923336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784480-1ECF-B0CC-886C-260AD5C87893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8E87F6-6249-C828-F323-5CD39ED005D3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99B164-BAEE-DDC0-8954-08E5496EE0B4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66075-4F4F-B25F-1758-702433D8D36D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49332-8C93-1ABC-A13C-5D5737581732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3FDE77-659C-475C-BA9A-1367E41C5340}"/>
              </a:ext>
            </a:extLst>
          </p:cNvPr>
          <p:cNvSpPr>
            <a:spLocks noGrp="1"/>
          </p:cNvSpPr>
          <p:nvPr/>
        </p:nvSpPr>
        <p:spPr>
          <a:xfrm>
            <a:off x="838200" y="1238250"/>
            <a:ext cx="7239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Probability is not just calculation. It is a way to describe how a </a:t>
            </a:r>
            <a:r>
              <a:rPr lang="en-US" altLang="zh-CN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random</a:t>
            </a:r>
            <a:r>
              <a:rPr lang="zh-CN" altLang="en-US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process </a:t>
            </a:r>
            <a:r>
              <a:rPr lang="en-US" altLang="zh-CN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unfolds</a:t>
            </a:r>
            <a:r>
              <a:rPr lang="zh-CN" altLang="en-US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and</a:t>
            </a:r>
            <a:r>
              <a:rPr lang="zh-CN" altLang="en-US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repeats.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497224-3EEE-46E0-B725-12AA1B1BD2D2}"/>
              </a:ext>
            </a:extLst>
          </p:cNvPr>
          <p:cNvSpPr>
            <a:spLocks noGrp="1"/>
          </p:cNvSpPr>
          <p:nvPr/>
        </p:nvSpPr>
        <p:spPr>
          <a:xfrm>
            <a:off x="838200" y="209550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WITH REPLACEMENT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5A0151-1F87-42B3-9922-FD347A9A52F2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The process resets.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E9E69F-9296-405E-ABB7-6BA7616436DA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WITHOUT REPLACEMENT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E5F1A9-C09A-44BC-A21E-03073DA27F24}"/>
              </a:ext>
            </a:extLst>
          </p:cNvPr>
          <p:cNvSpPr>
            <a:spLocks noGrp="1"/>
          </p:cNvSpPr>
          <p:nvPr/>
        </p:nvSpPr>
        <p:spPr>
          <a:xfrm>
            <a:off x="838199" y="3276600"/>
            <a:ext cx="6014663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The process remembers what has already happened.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D80313-88F4-4B05-88FA-3803FCE0197B}"/>
              </a:ext>
            </a:extLst>
          </p:cNvPr>
          <p:cNvSpPr>
            <a:spLocks noGrp="1"/>
          </p:cNvSpPr>
          <p:nvPr/>
        </p:nvSpPr>
        <p:spPr>
          <a:xfrm>
            <a:off x="838200" y="381000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INDEPENDENCE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C719C3-DF6A-479F-8F76-8CBD72E10E7E}"/>
              </a:ext>
            </a:extLst>
          </p:cNvPr>
          <p:cNvSpPr>
            <a:spLocks noGrp="1"/>
          </p:cNvSpPr>
          <p:nvPr/>
        </p:nvSpPr>
        <p:spPr>
          <a:xfrm>
            <a:off x="838200" y="4133850"/>
            <a:ext cx="6867418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Knowing one event does not change the probability of the other.</a:t>
            </a:r>
          </a:p>
        </p:txBody>
      </p:sp>
    </p:spTree>
    <p:extLst>
      <p:ext uri="{BB962C8B-B14F-4D97-AF65-F5344CB8AC3E}">
        <p14:creationId xmlns:p14="http://schemas.microsoft.com/office/powerpoint/2010/main" val="9233360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2904</TotalTime>
  <Words>1118</Words>
  <Application>Microsoft Macintosh PowerPoint</Application>
  <DocSecurity>0</DocSecurity>
  <PresentationFormat>On-screen Show (16:9)</PresentationFormat>
  <Paragraphs>189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Calibri</vt:lpstr>
      <vt:lpstr>Montserrat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Tian Zheng</cp:lastModifiedBy>
  <cp:revision>2</cp:revision>
  <dcterms:created xsi:type="dcterms:W3CDTF">2026-10-06T12:27:08Z</dcterms:created>
  <dcterms:modified xsi:type="dcterms:W3CDTF">2026-10-08T13:10:37Z</dcterms:modified>
</cp:coreProperties>
</file>