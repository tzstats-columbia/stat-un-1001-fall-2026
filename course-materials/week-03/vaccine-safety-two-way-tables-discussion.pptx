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d8c84262884996" /><Relationship Type="http://schemas.openxmlformats.org/officeDocument/2006/relationships/extended-properties" Target="/docProps/app.xml" Id="Rd1280dc5b5574b5e" /><Relationship Type="http://schemas.openxmlformats.org/officeDocument/2006/relationships/officeDocument" Target="/ppt/presentation.xml" Id="R4484bef4112d40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d7043e1c8744c2"/>
  </p:sldMasterIdLst>
  <p:notesMasterIdLst>
    <p:notesMasterId xmlns:r="http://schemas.openxmlformats.org/officeDocument/2006/relationships" r:id="Rce39cb53a910482d"/>
  </p:notesMasterIdLst>
  <p:sldIdLst>
    <p:sldId xmlns:r="http://schemas.openxmlformats.org/officeDocument/2006/relationships" id="256" r:id="R132a4fccce7c4bca"/>
    <p:sldId xmlns:r="http://schemas.openxmlformats.org/officeDocument/2006/relationships" id="257" r:id="R8d56f00ccd784cc1"/>
    <p:sldId xmlns:r="http://schemas.openxmlformats.org/officeDocument/2006/relationships" id="258" r:id="R1560af11c9994747"/>
    <p:sldId xmlns:r="http://schemas.openxmlformats.org/officeDocument/2006/relationships" id="259" r:id="R16060827907045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1a0b7087d64f94" /><Relationship Type="http://schemas.openxmlformats.org/officeDocument/2006/relationships/slideMaster" Target="/ppt/slideMasters/slideMaster1.xml" Id="R10d7043e1c8744c2" /><Relationship Type="http://schemas.openxmlformats.org/officeDocument/2006/relationships/notesMaster" Target="/ppt/notesMasters/notesMaster1.xml" Id="Rce39cb53a910482d" /><Relationship Type="http://schemas.openxmlformats.org/officeDocument/2006/relationships/presProps" Target="/ppt/presProps.xml" Id="R47e9a9ad5cb24bd4" /><Relationship Type="http://schemas.openxmlformats.org/officeDocument/2006/relationships/tableStyles" Target="/ppt/tableStyles.xml" Id="R11e53265745d4a73" /><Relationship Type="http://schemas.openxmlformats.org/officeDocument/2006/relationships/slide" Target="/ppt/slides/slide1.xml" Id="R132a4fccce7c4bca" /><Relationship Type="http://schemas.openxmlformats.org/officeDocument/2006/relationships/slide" Target="/ppt/slides/slide2.xml" Id="R8d56f00ccd784cc1" /><Relationship Type="http://schemas.openxmlformats.org/officeDocument/2006/relationships/slide" Target="/ppt/slides/slide3.xml" Id="R1560af11c9994747" /><Relationship Type="http://schemas.openxmlformats.org/officeDocument/2006/relationships/slide" Target="/ppt/slides/slide4.xml" Id="R16060827907045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778d94195f40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STAT UN 1001">
      <a:dk1>
        <a:srgbClr val="000000"/>
      </a:dk1>
      <a:lt1>
        <a:srgbClr val="FFFFFF"/>
      </a:lt1>
      <a:dk2>
        <a:srgbClr val="17324D"/>
      </a:dk2>
      <a:lt2>
        <a:srgbClr val="EDF4F7"/>
      </a:lt2>
      <a:accent1>
        <a:srgbClr val="2E6F9E"/>
      </a:accent1>
      <a:accent2>
        <a:srgbClr val="2A8C82"/>
      </a:accent2>
      <a:accent3>
        <a:srgbClr val="E3A72F"/>
      </a:accent3>
      <a:accent4>
        <a:srgbClr val="B64B4B"/>
      </a:accent4>
      <a:accent5>
        <a:srgbClr val="7768AE"/>
      </a:accent5>
      <a:accent6>
        <a:srgbClr val="6B8F3E"/>
      </a:accent6>
      <a:hlink>
        <a:srgbClr val="2E6F9E"/>
      </a:hlink>
      <a:folHlink>
        <a:srgbClr val="7768A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AT UN 1001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dba3fb6cbc4760" /><Relationship Type="http://schemas.openxmlformats.org/officeDocument/2006/relationships/notesMaster" Target="/ppt/notesMasters/notesMaster1.xml" Id="Ra2eb4a54ae1448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e423b814d349b7" /><Relationship Type="http://schemas.openxmlformats.org/officeDocument/2006/relationships/notesMaster" Target="/ppt/notesMasters/notesMaster1.xml" Id="R83894a37b61940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3f99f1cd8347b2" /><Relationship Type="http://schemas.openxmlformats.org/officeDocument/2006/relationships/notesMaster" Target="/ppt/notesMasters/notesMaster1.xml" Id="Rca54b4c154234d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b5a7b892c5434f" /><Relationship Type="http://schemas.openxmlformats.org/officeDocument/2006/relationships/notesMaster" Target="/ppt/notesMasters/notesMaster1.xml" Id="R41c0ed7de8ef4d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https://www.bmj.com/content/394/bmj-2026-100806 ; Context on VAERS: https://www.cdc.gov/vaccine-safety-systems/vaers/</a:t>
            </a:r>
          </a:p>
          <a:p xmlns:a="http://schemas.openxmlformats.org/drawingml/2006/main">
            <a:r>
              <a:t>Teaching note: Present the article as an investigation into signal detection. A VAERS report is not proof that a vaccine caused an event.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Hypothetical counts developed for instruction; they are not VAERS estimates. PRR here is the ratio of two conditional proportions: P(Event X | Vaccine A report) / P(Event X | established-vaccine report). Ask students to identify cases, variables, values, and margins.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Hypothetical counts developed for instruction; they are not VAERS estimates. The BMJ investigation describes the real-world statistical phenomenon as masking. Source: https://www.bmj.com/content/394/bmj-2026-100806.full.pdf</a:t>
            </a:r>
          </a:p>
          <a:p xmlns:a="http://schemas.openxmlformats.org/drawingml/2006/main">
            <a:r>
              <a:t>Ask students to calculate the pooled comparison proportion before revealing 4.6% and 1.09.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prompt: Before interpreting an association, ask what exactly is in the comparison group and therefore what question the statistic answers. A stronger analysis could compare each new vaccine with a prespecified established baseline, stratify on relevant variables, and corroborate patterns in active surveillance or population-based data. CDC VAERS limitations: https://www.cdc.gov/vaccine-safety-systems/vaers/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0597dc612c44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dad44daf6c47cb" /><Relationship Type="http://schemas.openxmlformats.org/officeDocument/2006/relationships/slideLayout" Target="/ppt/slideLayouts/slideLayout1.xml" Id="R3251159799834b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51159799834b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STAT UN 1001">
      <a:dk1>
        <a:srgbClr val="000000"/>
      </a:dk1>
      <a:lt1>
        <a:srgbClr val="FFFFFF"/>
      </a:lt1>
      <a:dk2>
        <a:srgbClr val="17324D"/>
      </a:dk2>
      <a:lt2>
        <a:srgbClr val="EDF4F7"/>
      </a:lt2>
      <a:accent1>
        <a:srgbClr val="2E6F9E"/>
      </a:accent1>
      <a:accent2>
        <a:srgbClr val="2A8C82"/>
      </a:accent2>
      <a:accent3>
        <a:srgbClr val="E3A72F"/>
      </a:accent3>
      <a:accent4>
        <a:srgbClr val="B64B4B"/>
      </a:accent4>
      <a:accent5>
        <a:srgbClr val="7768AE"/>
      </a:accent5>
      <a:accent6>
        <a:srgbClr val="6B8F3E"/>
      </a:accent6>
      <a:hlink>
        <a:srgbClr val="2E6F9E"/>
      </a:hlink>
      <a:folHlink>
        <a:srgbClr val="7768A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AT UN 1001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33121df024c26" /><Relationship Type="http://schemas.openxmlformats.org/officeDocument/2006/relationships/notesSlide" Target="/ppt/notesSlides/notesSlide1.xml" Id="R2adbb3fc58f741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7986d5af544a8" /><Relationship Type="http://schemas.openxmlformats.org/officeDocument/2006/relationships/notesSlide" Target="/ppt/notesSlides/notesSlide2.xml" Id="R96d116b6016c4e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cbd2f80f34ba3" /><Relationship Type="http://schemas.openxmlformats.org/officeDocument/2006/relationships/notesSlide" Target="/ppt/notesSlides/notesSlide3.xml" Id="Rb4b2ab23a92749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2470e9b0b46f2" /><Relationship Type="http://schemas.openxmlformats.org/officeDocument/2006/relationships/notesSlide" Target="/ppt/notesSlides/notesSlide4.xml" Id="R0b46b0d0307e4b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9C227-28AF-42F1-8383-A7B22E4A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8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8443E-D9D2-4EB6-808E-9850F510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8C82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A8C82"/>
                </a:solidFill>
                <a:latin typeface="Montserrat"/>
                <a:ea typeface="Montserrat"/>
                <a:cs typeface="Montserrat"/>
              </a:rPr>
              <a:t>NEWS STORY · SEPTEMBER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F6DBD-5447-4AB5-94C4-6F64F3E2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When the comparison group changes, the question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85991-60D1-4BDF-85B6-61C8E511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8EDB5-3E94-4332-9573-D065A585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373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536373"/>
                </a:solidFill>
                <a:latin typeface="Montserrat"/>
                <a:ea typeface="Montserrat"/>
                <a:cs typeface="Montserrat"/>
              </a:rPr>
              <a:t>STAT UN 1001 · Two-way tables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41588-DB3B-47CC-B9C6-9A99F3BF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37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536373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782AB-B93A-452B-82DE-A133C435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2DA62-83D8-4F94-8BD9-C81DFFD1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288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F9E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E6F9E"/>
                </a:solidFill>
                <a:latin typeface="Montserrat"/>
                <a:ea typeface="Montserrat"/>
                <a:cs typeface="Montserrat"/>
              </a:rPr>
              <a:t>THE BMJ · INVESTIGATION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E3AB9-E387-45F6-9A31-E1C81761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6477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A vaccine-safety algorithm lost sensitivity when reports for the two new mRNA vaccines came to dominate the database.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FF305-41F5-4611-82C8-02901581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647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373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536373"/>
                </a:solidFill>
                <a:latin typeface="Montserrat"/>
                <a:ea typeface="Montserrat"/>
                <a:cs typeface="Montserrat"/>
              </a:rPr>
              <a:t>More than 90% of roughly 1.1 million first-year VAERS reports concerned the mRNA covid vaccines, according to the investigation.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D5616-4915-415F-8DD3-8C9F38F2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373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536373"/>
                </a:solidFill>
                <a:latin typeface="Montserrat"/>
                <a:ea typeface="Montserrat"/>
                <a:cs typeface="Montserrat"/>
              </a:rPr>
              <a:t>Source: David Willman, The BMJ, 16 Sep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84243-1BC7-4EA3-BD82-91194657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3257550" cy="38481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C78E01-B697-4592-9B8D-B2132D30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4785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3A72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E3A72F"/>
                </a:solidFill>
                <a:latin typeface="Montserrat"/>
                <a:ea typeface="Montserrat"/>
                <a:cs typeface="Montserrat"/>
              </a:rPr>
              <a:t>Start here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9F7C0-C012-4C0C-8051-07D4E85B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431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17212B"/>
                </a:solidFill>
                <a:latin typeface="Montserrat"/>
                <a:ea typeface="Montserrat"/>
                <a:cs typeface="Montserrat"/>
              </a:rPr>
              <a:t>What is a VAERS case?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327E63-8421-4D42-85BC-D530FEEE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62250"/>
            <a:ext cx="2647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373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536373"/>
                </a:solidFill>
                <a:latin typeface="Montserrat"/>
                <a:ea typeface="Montserrat"/>
                <a:cs typeface="Montserrat"/>
              </a:rPr>
              <a:t>A submitted report of an event after vaccination—not a randomly sampled vaccinated person.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B857AB-BF78-43A1-8717-85B00EBE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4810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17212B"/>
                </a:solidFill>
                <a:latin typeface="Montserrat"/>
                <a:ea typeface="Montserrat"/>
                <a:cs typeface="Montserrat"/>
              </a:rPr>
              <a:t>What can a signal 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1CDBF8-CA23-447F-9ED2-F4F73173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48150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373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536373"/>
                </a:solidFill>
                <a:latin typeface="Montserrat"/>
                <a:ea typeface="Montserrat"/>
                <a:cs typeface="Montserrat"/>
              </a:rPr>
              <a:t>Flag a pattern for further study. It does not, by itself, establish causation.</a:t>
            </a:r>
          </a:p>
        </p:txBody>
      </p:sp>
    </p:spTree>
    <p:extLst>
      <p:ext uri="{BB962C8B-B14F-4D97-AF65-F5344CB8AC3E}">
        <p14:creationId xmlns:p14="http://schemas.microsoft.com/office/powerpoint/2010/main" val="42400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3128D-1CB9-4989-A7BA-DD5D8B0E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8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00370-87B4-4510-94ED-BB71EBCF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8C82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A8C82"/>
                </a:solidFill>
                <a:latin typeface="Montserrat"/>
                <a:ea typeface="Montserrat"/>
                <a:cs typeface="Montserrat"/>
              </a:rPr>
              <a:t>HYPOTHETICAL TEACHING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7BB93-A36D-4177-8F22-E41D9D1F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Scenario 1: compare Vaccine A with an established 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B39F2-D456-4753-A422-3C0465A5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8FA1A-5742-4528-9E95-73073C59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373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536373"/>
                </a:solidFill>
                <a:latin typeface="Montserrat"/>
                <a:ea typeface="Montserrat"/>
                <a:cs typeface="Montserrat"/>
              </a:rPr>
              <a:t>STAT UN 1001 · Two-way tables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334AF-3BC4-4642-8D8F-03BB86A7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37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536373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FF72F-340A-480F-8E52-0AC12311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6373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536373"/>
                </a:solidFill>
                <a:latin typeface="Montserrat"/>
                <a:ea typeface="Montserrat"/>
                <a:cs typeface="Montserrat"/>
              </a:rPr>
              <a:t>Reported outcome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8096250" cy="2038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47900"/>
                <a:gridCol w="1238250"/>
                <a:gridCol w="1809750"/>
                <a:gridCol w="1238250"/>
                <a:gridCol w="1562100"/>
              </a:tblGrid>
              <a:tr h="679450">
                <a:tc>
                  <a:txBody>
                    <a:bodyPr/>
                    <a:lstStyle/>
                    <a:p>
                      <a:r>
                        <a:t>Vaccine group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Event 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Other events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Event X proportion</a:t>
                      </a:r>
                    </a:p>
                  </a:txBody>
                  <a:tcPr marL="91440" marR="91440" marT="45720" marB="45720"/>
                </a:tc>
              </a:tr>
              <a:tr h="6794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212B"/>
                          </a:solidFill>
                          <a:latin typeface="Montserrat"/>
                          <a:ea typeface="Montserrat"/>
                          <a:cs typeface="Montserrat"/>
                        </a:rPr>
                        <a:t>Vaccine A</a:t>
                      </a:r>
                    </a:p>
                  </a:txBody>
                  <a:tcPr marL="76200" marR="76200" marT="47625" marB="47625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5%</a:t>
                      </a:r>
                    </a:p>
                  </a:txBody>
                  <a:tcPr marL="91440" marR="91440" marT="45720" marB="45720">
                    <a:solidFill>
                      <a:srgbClr val="FFF8E8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212B"/>
                          </a:solidFill>
                          <a:latin typeface="Montserrat"/>
                          <a:ea typeface="Montserrat"/>
                          <a:cs typeface="Montserrat"/>
                        </a:rPr>
                        <a:t>Established vaccines</a:t>
                      </a:r>
                    </a:p>
                  </a:txBody>
                  <a:tcPr marL="76200" marR="76200" marT="47625" marB="47625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8,910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1%</a:t>
                      </a:r>
                    </a:p>
                  </a:txBody>
                  <a:tcPr marL="91440" marR="91440" marT="45720" marB="45720">
                    <a:solidFill>
                      <a:srgbClr val="DDF1EC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73F14-01EB-4DC2-A3F3-CA724C87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52600"/>
            <a:ext cx="24193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B851FE-18D2-434E-8850-8EAE19DB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431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3A72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E3A72F"/>
                </a:solidFill>
                <a:latin typeface="Montserrat"/>
                <a:ea typeface="Montserrat"/>
                <a:cs typeface="Montserrat"/>
              </a:rPr>
              <a:t>PRR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21358-806F-46FA-9FD0-CC05C534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812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5% ÷ 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39C7B-E85A-4A91-9AF3-F9D21039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765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= 5.0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2F583-21F1-44F9-9123-86ABA271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08204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2F82E-FFB6-4D01-81F6-0FFB5FB0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719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8C82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2A8C82"/>
                </a:solidFill>
                <a:latin typeface="Montserrat"/>
                <a:ea typeface="Montserrat"/>
                <a:cs typeface="Montserrat"/>
              </a:rPr>
              <a:t>Question answered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0A785-60E3-42B1-8B94-3FE89267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95825"/>
            <a:ext cx="9867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72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Does Vaccine A stand out relative to the reporting pattern for established vaccines?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58F666-94B2-44CB-BEB0-05C3AC64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986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373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36373"/>
                </a:solidFill>
                <a:latin typeface="Montserrat"/>
                <a:ea typeface="Montserrat"/>
                <a:cs typeface="Montserrat"/>
              </a:rPr>
              <a:t>The cases here are reports; 5% is not the risk among all vaccinated people.</a:t>
            </a:r>
          </a:p>
        </p:txBody>
      </p:sp>
    </p:spTree>
    <p:extLst>
      <p:ext uri="{BB962C8B-B14F-4D97-AF65-F5344CB8AC3E}">
        <p14:creationId xmlns:p14="http://schemas.microsoft.com/office/powerpoint/2010/main" val="10492067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35204-A3D0-436F-A967-4925BF84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8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39450-C6ED-469B-A6D5-C824598D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8C82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A8C82"/>
                </a:solidFill>
                <a:latin typeface="Montserrat"/>
                <a:ea typeface="Montserrat"/>
                <a:cs typeface="Montserrat"/>
              </a:rPr>
              <a:t>SAME 5% FOR VACCINE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69094-2430-4A0E-9D8E-9C3DB355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Scenario 2: another new vaccine dominates “everyone else”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FF1E7-425B-42EE-94AB-2DB46464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48A37-E77B-4354-AB8B-C5912A68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373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536373"/>
                </a:solidFill>
                <a:latin typeface="Montserrat"/>
                <a:ea typeface="Montserrat"/>
                <a:cs typeface="Montserrat"/>
              </a:rPr>
              <a:t>STAT UN 1001 · Two-way tables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1942D-495F-480A-A9AF-FA8AD943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37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536373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8096250" cy="2609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47900"/>
                <a:gridCol w="1238250"/>
                <a:gridCol w="1809750"/>
                <a:gridCol w="1238250"/>
                <a:gridCol w="1562100"/>
              </a:tblGrid>
              <a:tr h="652463">
                <a:tc>
                  <a:txBody>
                    <a:bodyPr/>
                    <a:lstStyle/>
                    <a:p>
                      <a:r>
                        <a:t>Vaccine group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Event 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Other events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Event X proportion</a:t>
                      </a:r>
                    </a:p>
                  </a:txBody>
                  <a:tcPr marL="91440" marR="91440" marT="45720" marB="45720"/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212B"/>
                          </a:solidFill>
                          <a:latin typeface="Montserrat"/>
                          <a:ea typeface="Montserrat"/>
                          <a:cs typeface="Montserrat"/>
                        </a:rPr>
                        <a:t>Vaccine A</a:t>
                      </a:r>
                    </a:p>
                  </a:txBody>
                  <a:tcPr marL="76200" marR="76200" marT="47625" marB="47625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4,750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5%</a:t>
                      </a:r>
                    </a:p>
                  </a:txBody>
                  <a:tcPr marL="91440" marR="91440" marT="45720" marB="45720">
                    <a:solidFill>
                      <a:srgbClr val="FFF8E8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212B"/>
                          </a:solidFill>
                          <a:latin typeface="Montserrat"/>
                          <a:ea typeface="Montserrat"/>
                          <a:cs typeface="Montserrat"/>
                        </a:rPr>
                        <a:t>New Vaccine A2</a:t>
                      </a:r>
                    </a:p>
                  </a:txBody>
                  <a:tcPr marL="76200" marR="76200" marT="47625" marB="47625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4,275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4,500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5%</a:t>
                      </a:r>
                    </a:p>
                  </a:txBody>
                  <a:tcPr marL="91440" marR="91440" marT="45720" marB="45720">
                    <a:solidFill>
                      <a:srgbClr val="FFF8E8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212B"/>
                          </a:solidFill>
                          <a:latin typeface="Montserrat"/>
                          <a:ea typeface="Montserrat"/>
                          <a:cs typeface="Montserrat"/>
                        </a:rPr>
                        <a:t>Older vaccines</a:t>
                      </a:r>
                    </a:p>
                  </a:txBody>
                  <a:tcPr marL="76200" marR="76200" marT="47625" marB="47625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1%</a:t>
                      </a:r>
                    </a:p>
                  </a:txBody>
                  <a:tcPr marL="91440" marR="91440" marT="45720" marB="45720">
                    <a:solidFill>
                      <a:srgbClr val="DDF1EC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8EFB1-C10A-49F5-BCCA-D8B84CD8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8115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3B7FF-8860-4AC0-BB73-757DF0B5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3A72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E3A72F"/>
                </a:solidFill>
                <a:latin typeface="Montserrat"/>
                <a:ea typeface="Montserrat"/>
                <a:cs typeface="Montserrat"/>
              </a:rPr>
              <a:t>“Everyone else”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1ADB9-D38E-4EFA-B924-6C1508BB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71700"/>
            <a:ext cx="1885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(225 + 5)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────────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(4,500 + 500)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FEA8A-30E1-41F6-A047-18E8297D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0040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= 4.6%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A3FDB-5A01-46A0-B786-396C23A5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385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76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PRR = 5% ÷ 4.6% = 1.09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CAEA58-5851-4473-8850-F38E12C8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4000D-C5A5-4FE9-82B8-6CCE35F6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3A72F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E3A72F"/>
                </a:solidFill>
                <a:latin typeface="Montserrat"/>
                <a:ea typeface="Montserrat"/>
                <a:cs typeface="Montserrat"/>
              </a:rPr>
              <a:t>What changed?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62F80-9117-4B26-8197-467A2A6E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Not Vaccine A's 5%. The comparison group changed—from an older baseline to a pool dominated by Vaccine A2.</a:t>
            </a:r>
          </a:p>
        </p:txBody>
      </p:sp>
    </p:spTree>
    <p:extLst>
      <p:ext uri="{BB962C8B-B14F-4D97-AF65-F5344CB8AC3E}">
        <p14:creationId xmlns:p14="http://schemas.microsoft.com/office/powerpoint/2010/main" val="9557468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B75455-52E5-4ABD-B02E-C487FF4D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8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D895C-613A-46E3-8D0F-79C2A1B8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8C82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A8C82"/>
                </a:solidFill>
                <a:latin typeface="Montserrat"/>
                <a:ea typeface="Montserrat"/>
                <a:cs typeface="Montserrat"/>
              </a:rPr>
              <a:t>INTERPRET, THEN REDESIGN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EFE9E-3E23-4B50-95B2-807E5D62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A statistic is an answer—but to which question?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4D6E5-2AC4-4B9E-BDC2-CFB3274A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4CE7C-DEEE-4D96-8231-0B8B1256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373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536373"/>
                </a:solidFill>
                <a:latin typeface="Montserrat"/>
                <a:ea typeface="Montserrat"/>
                <a:cs typeface="Montserrat"/>
              </a:rPr>
              <a:t>STAT UN 1001 · Two-way tables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B8F9D-4B6C-46AB-8C68-A8D3C6C7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37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536373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58204-5AB3-4CE4-8EBA-4CC9CEA0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0065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535A3-0DEA-46F8-8D01-251B54E0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9070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A8C82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2A8C82"/>
                </a:solidFill>
                <a:latin typeface="Montserrat"/>
                <a:ea typeface="Montserrat"/>
                <a:cs typeface="Montserrat"/>
              </a:rPr>
              <a:t>Interpret the association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E7991-B347-44E0-9454-D79C9D55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36373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536373"/>
                </a:solidFill>
                <a:latin typeface="Montserrat"/>
                <a:ea typeface="Montserrat"/>
                <a:cs typeface="Montserrat"/>
              </a:rPr>
              <a:t>PRR ≈ 1 says: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7FD13-63DD-40EF-8F42-F118BF82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4629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3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Vaccine A and this particular comparison group look similar in the reporting database.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81DB7-5E51-4367-9D40-1980924C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36373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536373"/>
                </a:solidFill>
                <a:latin typeface="Montserrat"/>
                <a:ea typeface="Montserrat"/>
                <a:cs typeface="Montserrat"/>
              </a:rPr>
              <a:t>It does not say: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11D44B-B284-4B7F-B4BC-663E67FF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4629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64B4B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B64B4B"/>
                </a:solidFill>
                <a:latin typeface="Montserrat"/>
                <a:ea typeface="Montserrat"/>
                <a:cs typeface="Montserrat"/>
              </a:rPr>
              <a:t>Both match an established baseline—or that no causal risk exists.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453210-6BC0-4F1B-A2EE-8F148B12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531495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516EE-1DBE-4FE7-A0DB-B17CEA02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3A72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E3A72F"/>
                </a:solidFill>
                <a:latin typeface="Montserrat"/>
                <a:ea typeface="Montserrat"/>
                <a:cs typeface="Montserrat"/>
              </a:rPr>
              <a:t>Redesign the comparison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1E27C6-4164-498E-BF7A-E9E728C1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050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3A72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F827A-92E2-4F88-AC76-5869C4F1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050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94944-6C28-4E41-9C97-9BD06A0D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860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21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17212B"/>
                </a:solidFill>
                <a:latin typeface="Montserrat"/>
                <a:ea typeface="Montserrat"/>
                <a:cs typeface="Montserrat"/>
              </a:rPr>
              <a:t>What population-level question do we want to answer?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F3D6D2-8D5D-4607-92BF-D3C9890B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3A72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1CC09-0523-4DCB-B5D7-0F3A154D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858EC8-66CC-4D84-BA69-D618CE91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527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83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7212B"/>
                </a:solidFill>
                <a:latin typeface="Montserrat"/>
                <a:ea typeface="Montserrat"/>
                <a:cs typeface="Montserrat"/>
              </a:rPr>
              <a:t>Which reports belong in a meaningful baseline group?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4BADCE-BFBC-4DE0-8237-6F39C248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3A72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104B67-0768-460A-9797-8E5E8012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F7BA53-DB44-45D3-B5A2-6275253E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195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7212B"/>
                </a:solidFill>
                <a:latin typeface="Montserrat"/>
                <a:ea typeface="Montserrat"/>
                <a:cs typeface="Montserrat"/>
              </a:rPr>
              <a:t>Should we stratify by age, sex, or time period?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BD5BF1-91EC-4FAC-A939-263EAEC7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053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3A72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2BDB04-CA53-4A2F-B8EF-CA71839F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053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F2C80F-DCE9-4584-B19E-4E222EC4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862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0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7212B"/>
                </a:solidFill>
                <a:latin typeface="Montserrat"/>
                <a:ea typeface="Montserrat"/>
                <a:cs typeface="Montserrat"/>
              </a:rPr>
              <a:t>What other surveillance data could corroborate a signal?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736DD3-5BE6-4707-9A54-29CE12A4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Discussion: Write one sentence stating the question answered by each table.</a:t>
            </a:r>
          </a:p>
        </p:txBody>
      </p:sp>
    </p:spTree>
    <p:extLst>
      <p:ext uri="{BB962C8B-B14F-4D97-AF65-F5344CB8AC3E}">
        <p14:creationId xmlns:p14="http://schemas.microsoft.com/office/powerpoint/2010/main" val="316260393"/>
      </p:ext>
    </p:extLst>
  </p:cSld>
</p:sld>
</file>

<file path=ppt/theme/theme1.xml><?xml version="1.0" encoding="utf-8"?>
<a:theme xmlns:a="http://schemas.openxmlformats.org/drawingml/2006/main" name="ChatGPT">
  <a:themeElements>
    <a:clrScheme name="STAT UN 1001">
      <a:dk1>
        <a:srgbClr val="000000"/>
      </a:dk1>
      <a:lt1>
        <a:srgbClr val="FFFFFF"/>
      </a:lt1>
      <a:dk2>
        <a:srgbClr val="17324D"/>
      </a:dk2>
      <a:lt2>
        <a:srgbClr val="EDF4F7"/>
      </a:lt2>
      <a:accent1>
        <a:srgbClr val="2E6F9E"/>
      </a:accent1>
      <a:accent2>
        <a:srgbClr val="2A8C82"/>
      </a:accent2>
      <a:accent3>
        <a:srgbClr val="E3A72F"/>
      </a:accent3>
      <a:accent4>
        <a:srgbClr val="B64B4B"/>
      </a:accent4>
      <a:accent5>
        <a:srgbClr val="7768AE"/>
      </a:accent5>
      <a:accent6>
        <a:srgbClr val="6B8F3E"/>
      </a:accent6>
      <a:hlink>
        <a:srgbClr val="2E6F9E"/>
      </a:hlink>
      <a:folHlink>
        <a:srgbClr val="7768A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AT UN 1001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2026-09-20T16:42:46.6650000Z</dcterms:created>
  <dcterms:modified xsi:type="dcterms:W3CDTF">2026-09-20T16:42:46.6650000Z</dcterms:modified>
</coreProperties>
</file>