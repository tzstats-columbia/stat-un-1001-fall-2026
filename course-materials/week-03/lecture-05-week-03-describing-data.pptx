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E6E9"/>
    <a:srgbClr val="00D3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3"/>
  </p:normalViewPr>
  <p:slideViewPr>
    <p:cSldViewPr snapToGrid="0">
      <p:cViewPr varScale="1">
        <p:scale>
          <a:sx n="154" d="100"/>
          <a:sy n="154" d="100"/>
        </p:scale>
        <p:origin x="5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Opening slide. Today consolidates all Chapter 2 concepts so Thursday can focus on project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minute. Tell students the class will work from their own preparation quiz. Thursday introduces no new Chapter 2 material.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Aggregate results only: 63 practice submissions and 62 anonymous check-ins. Avoid naming or identifying students.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Ask students to classify each panel and explain what changes in plot C. Correct: A. The changing slope or curvature makes C nonlinear. Questions 1 and 2 adapted from </a:t>
            </a:r>
            <a:r>
              <a:rPr dirty="0" err="1"/>
              <a:t>OpenIntro</a:t>
            </a:r>
            <a:r>
              <a:rPr dirty="0"/>
              <a:t> Chapter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minute. Correct classification: A positive linear, B negative linear, C nonlinear, D no clear association.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Ask for n first, then give 30 seconds for the five-number calculation. Correct: n is the number of observations; mean =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Ask: if a dataset has 100 rows and five variables, what is n when averaging one variable? Answer: 100 observed values, assuming no missing values.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minutes. Poll Q5 first, then Q6. Correct: sum = 5 cases coded 1; mean = 5/8 = 0.625, the proportion coded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Six students chose total cases = 8 for the sum. Stress that each 1 contributes one to the count.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minutes. Ask pairs to place 7.5 and 10.0 before counting. Correct: A, 3, 3, 2. The most common incorrect answer was 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Name the boundary convention before drawing the histogram. Different software may use a different endpoint convention, but no observation should enter two bins.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minutes. Q8 answer: Pair C. Q9 answer: orange has a larger mean and SD because of 15. Ask students to mark the median and the middle 50% rather than judging only total range.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Nine students reversed the effect of the large high value on mean and spread.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minutes. Correct: A. Thirteen students selected B. Ask students to identify the two halves before taking either quartile.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State the course convention explicitly: for an odd number of values, exclude the overall median before finding Q1 and Q3.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 minutes. Begin with the two datasets. Ask which has more spread before naming variance. Explain why deviations are squared, why SD returns to the original units, and give only the intuition for n − 1. Distinguish SD from standard error.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Correct: A to 2, B to 3, C to 1. Ask for evidence from symmetry, whisker lengths, middle-half width, and outliers.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Q12 correct definition: a prominent peak or concentration. A distribution may be unimodal, bimodal, or multimodal.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minutes. Correct: A. Build cumulative counts from left to right. The long right tail pulls the mean above the median.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Link this to resistance: the median and IQR resist extreme values more than the mean and SD.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Correct: A. A log transformation changes the scale, not the cases. It helps when positive values span orders of magnitude.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Ask what remains unchanged: the cases and their ordering. Ask what changes: spacing and interpretation of equal distances.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minutes. Have the class count one cell at a time. Correct: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Check that the four cells sum to eight. Name the two variables and their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minutes. Q16: among individual applications, the proportion from applicants with a mortgage. Q17: among mortgage applications, the proportion that were individual. Ask 'among whom?' twice.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minutes. Ask students to translate both fractions into a sentence. Reversing the condition changes the question.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Correct: A. Conditional proportions differ, so the variables are associated in this sample. Counts alone do not support causation or broad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Correct: A. Treatment survival = 24/30 = 80%; control survival = 15/30 = 50%. Random assignment supports a causal treatment comparison, subject to ordinary study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minutes. Correct: A. Route A has a lower median and narrower distribution. A complete comparison addresses center, spread, shape, and unusual observations.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minute. Collect responses verbally, on paper, or through the usual class channel. Invite remaining questions to office hours. Attribution: </a:t>
            </a:r>
            <a:r>
              <a:rPr dirty="0" err="1"/>
              <a:t>OpenIntro</a:t>
            </a:r>
            <a:r>
              <a:rPr dirty="0"/>
              <a:t> Statistics, 4th edition, Chapter 2, CC BY-SA 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 https://</a:t>
            </a:r>
            <a:r>
              <a:rPr dirty="0" err="1"/>
              <a:t>www.bmj.com</a:t>
            </a:r>
            <a:r>
              <a:rPr dirty="0"/>
              <a:t>/content/394/bmj-2026-100806 ; Context on VAERS: https://</a:t>
            </a:r>
            <a:r>
              <a:rPr dirty="0" err="1"/>
              <a:t>www.cdc.gov</a:t>
            </a:r>
            <a:r>
              <a:rPr dirty="0"/>
              <a:t>/vaccine-safety-systems/</a:t>
            </a:r>
            <a:r>
              <a:rPr dirty="0" err="1"/>
              <a:t>vaers</a:t>
            </a:r>
            <a:r>
              <a:rPr dirty="0"/>
              <a:t>/</a:t>
            </a:r>
          </a:p>
          <a:p>
            <a:r>
              <a:rPr dirty="0"/>
              <a:t>Teaching note: Present the article as an investigation into signal detection. A VAERS report is not proof that a vaccine caused an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Hypothetical counts developed for instruction; they are not VAERS estimates. PRR here is the ratio of two conditional proportions: P(Event X | Vaccine A report) / P(Event X | established-vaccine report). Ask students to identify cases, variables, values, and margins.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Hypothetical counts developed for instruction; they are not VAERS estimates. The BMJ investigation describes the real-world statistical phenomenon as masking. Source: https://</a:t>
            </a:r>
            <a:r>
              <a:rPr dirty="0" err="1"/>
              <a:t>www.bmj.com</a:t>
            </a:r>
            <a:r>
              <a:rPr dirty="0"/>
              <a:t>/content/394/bmj-2026-100806.full.pdf</a:t>
            </a:r>
          </a:p>
          <a:p>
            <a:r>
              <a:rPr dirty="0"/>
              <a:t>Ask students to calculate the pooled comparison proportion before revealing 4.6% and 1.09.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Closing prompt: Before interpreting an association, ask what exactly is in the comparison group and therefore what question the statistic answers. A stronger analysis could compare each new vaccine with a prespecified established baseline, stratify on relevant variables, and corroborate patterns in active surveillance or population-based data. CDC VAERS limitations: https://</a:t>
            </a:r>
            <a:r>
              <a:rPr dirty="0" err="1"/>
              <a:t>www.cdc.gov</a:t>
            </a:r>
            <a:r>
              <a:rPr dirty="0"/>
              <a:t>/vaccine-safety-systems/</a:t>
            </a:r>
            <a:r>
              <a:rPr dirty="0" err="1"/>
              <a:t>vaers</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107" b="107"/>
          <a:stretch>
            <a:fillRect/>
          </a:stretch>
        </p:blipFill>
        <p:spPr>
          <a:xfrm>
            <a:off x="0" y="95250"/>
            <a:ext cx="9144000" cy="4257675"/>
          </a:xfrm>
          <a:prstGeom prst="rect">
            <a:avLst/>
          </a:prstGeom>
        </p:spPr>
      </p:pic>
      <p:sp>
        <p:nvSpPr>
          <p:cNvPr id="2" name="Rectangle 1">
            <a:extLst>
              <a:ext uri="{FF2B5EF4-FFF2-40B4-BE49-F238E27FC236}">
                <a16:creationId xmlns:a16="http://schemas.microsoft.com/office/drawing/2014/main" id="{4CF4AD8B-C505-4D7B-AB5E-B00A6E3D794A}"/>
              </a:ext>
            </a:extLst>
          </p:cNvPr>
          <p:cNvSpPr>
            <a:spLocks noGrp="1"/>
          </p:cNvSpPr>
          <p:nvPr/>
        </p:nvSpPr>
        <p:spPr>
          <a:xfrm>
            <a:off x="819150" y="2019300"/>
            <a:ext cx="7524750" cy="762000"/>
          </a:xfrm>
          <a:prstGeom prst="rect">
            <a:avLst/>
          </a:prstGeom>
          <a:noFill/>
          <a:ln w="0">
            <a:noFill/>
          </a:ln>
        </p:spPr>
        <p:txBody>
          <a:bodyPr lIns="38100" tIns="19050" rIns="38100" bIns="19050" anchor="b">
            <a:normAutofit/>
          </a:bodyPr>
          <a:lstStyle/>
          <a:p>
            <a:pPr algn="l">
              <a:defRPr sz="3300" b="1" i="0">
                <a:solidFill>
                  <a:srgbClr val="2D2D2D"/>
                </a:solidFill>
                <a:latin typeface="Montserrat"/>
                <a:ea typeface="Montserrat"/>
                <a:cs typeface="Montserrat"/>
              </a:defRPr>
            </a:pPr>
            <a:r>
              <a:rPr sz="3300" b="1" i="0">
                <a:solidFill>
                  <a:srgbClr val="2D2D2D"/>
                </a:solidFill>
                <a:latin typeface="Montserrat"/>
                <a:ea typeface="Montserrat"/>
                <a:cs typeface="Montserrat"/>
              </a:rPr>
              <a:t>Describing and visualizing data</a:t>
            </a:r>
          </a:p>
        </p:txBody>
      </p:sp>
      <p:sp>
        <p:nvSpPr>
          <p:cNvPr id="3" name="Rectangle 2">
            <a:extLst>
              <a:ext uri="{FF2B5EF4-FFF2-40B4-BE49-F238E27FC236}">
                <a16:creationId xmlns:a16="http://schemas.microsoft.com/office/drawing/2014/main" id="{6C411F6C-A6A4-42C3-A2FF-E31273B8D207}"/>
              </a:ext>
            </a:extLst>
          </p:cNvPr>
          <p:cNvSpPr>
            <a:spLocks noGrp="1"/>
          </p:cNvSpPr>
          <p:nvPr/>
        </p:nvSpPr>
        <p:spPr>
          <a:xfrm>
            <a:off x="904875" y="3257550"/>
            <a:ext cx="7410450" cy="9525"/>
          </a:xfrm>
          <a:prstGeom prst="rect">
            <a:avLst/>
          </a:prstGeom>
          <a:solidFill>
            <a:srgbClr val="777777"/>
          </a:solidFill>
          <a:ln w="0">
            <a:noFill/>
          </a:ln>
        </p:spPr>
      </p:sp>
      <p:sp>
        <p:nvSpPr>
          <p:cNvPr id="4" name="Rectangle 3">
            <a:extLst>
              <a:ext uri="{FF2B5EF4-FFF2-40B4-BE49-F238E27FC236}">
                <a16:creationId xmlns:a16="http://schemas.microsoft.com/office/drawing/2014/main" id="{3C302AAA-F1DC-4732-9928-FCE5D2349336}"/>
              </a:ext>
            </a:extLst>
          </p:cNvPr>
          <p:cNvSpPr>
            <a:spLocks noGrp="1"/>
          </p:cNvSpPr>
          <p:nvPr/>
        </p:nvSpPr>
        <p:spPr>
          <a:xfrm>
            <a:off x="819150" y="3371850"/>
            <a:ext cx="7543800" cy="781050"/>
          </a:xfrm>
          <a:prstGeom prst="rect">
            <a:avLst/>
          </a:prstGeom>
          <a:solidFill>
            <a:srgbClr val="B3E6E9">
              <a:alpha val="29020"/>
            </a:srgbClr>
          </a:solidFill>
          <a:ln w="0">
            <a:noFill/>
          </a:ln>
        </p:spPr>
        <p:txBody>
          <a:bodyPr lIns="38100" tIns="19050" rIns="38100" bIns="19050" anchor="t">
            <a:normAutofit/>
          </a:bodyPr>
          <a:lstStyle/>
          <a:p>
            <a:pPr algn="l">
              <a:defRPr sz="1800" b="1" i="0">
                <a:solidFill>
                  <a:srgbClr val="2D2D2D"/>
                </a:solidFill>
                <a:latin typeface="Montserrat"/>
                <a:ea typeface="Montserrat"/>
                <a:cs typeface="Montserrat"/>
              </a:defRPr>
            </a:pPr>
            <a:r>
              <a:rPr sz="1800" b="1" i="0" dirty="0">
                <a:solidFill>
                  <a:srgbClr val="2D2D2D"/>
                </a:solidFill>
                <a:latin typeface="Montserrat"/>
                <a:ea typeface="Montserrat"/>
                <a:cs typeface="Montserrat"/>
              </a:rPr>
              <a:t>STAT UN 1001  ·  LECTURE 5</a:t>
            </a:r>
          </a:p>
          <a:p>
            <a:pPr algn="l">
              <a:defRPr sz="1800" b="1" i="0">
                <a:solidFill>
                  <a:srgbClr val="2D2D2D"/>
                </a:solidFill>
                <a:latin typeface="Montserrat"/>
                <a:ea typeface="Montserrat"/>
                <a:cs typeface="Montserrat"/>
              </a:defRPr>
            </a:pPr>
            <a:r>
              <a:rPr sz="1800" b="1" i="0" dirty="0">
                <a:solidFill>
                  <a:srgbClr val="2D2D2D"/>
                </a:solidFill>
                <a:latin typeface="Montserrat"/>
                <a:ea typeface="Montserrat"/>
                <a:cs typeface="Montserrat"/>
              </a:rPr>
              <a:t>SEPTEMBER 22, 2026</a:t>
            </a:r>
          </a:p>
        </p:txBody>
      </p:sp>
      <p:sp>
        <p:nvSpPr>
          <p:cNvPr id="5" name="Rectangle 4">
            <a:extLst>
              <a:ext uri="{FF2B5EF4-FFF2-40B4-BE49-F238E27FC236}">
                <a16:creationId xmlns:a16="http://schemas.microsoft.com/office/drawing/2014/main" id="{0FA9FDD7-B6B6-4FD1-84DE-840A2CC6F311}"/>
              </a:ext>
            </a:extLst>
          </p:cNvPr>
          <p:cNvSpPr>
            <a:spLocks noGrp="1"/>
          </p:cNvSpPr>
          <p:nvPr/>
        </p:nvSpPr>
        <p:spPr>
          <a:xfrm>
            <a:off x="0" y="4752975"/>
            <a:ext cx="9144000" cy="47625"/>
          </a:xfrm>
          <a:prstGeom prst="rect">
            <a:avLst/>
          </a:prstGeom>
          <a:solidFill>
            <a:srgbClr val="00A9E0"/>
          </a:solidFill>
          <a:ln w="0">
            <a:noFill/>
          </a:ln>
        </p:spPr>
      </p:sp>
      <p:pic>
        <p:nvPicPr>
          <p:cNvPr id="12" name="Picture 11"/>
          <p:cNvPicPr>
            <a:picLocks noChangeAspect="1"/>
          </p:cNvPicPr>
          <p:nvPr/>
        </p:nvPicPr>
        <p:blipFill>
          <a:blip r:embed="rId4"/>
          <a:stretch/>
        </p:blipFill>
        <p:spPr>
          <a:xfrm>
            <a:off x="124420" y="4867275"/>
            <a:ext cx="1532334" cy="228600"/>
          </a:xfrm>
          <a:prstGeom prst="rect">
            <a:avLst/>
          </a:prstGeom>
        </p:spPr>
      </p:pic>
    </p:spTree>
    <p:extLst>
      <p:ext uri="{BB962C8B-B14F-4D97-AF65-F5344CB8AC3E}">
        <p14:creationId xmlns:p14="http://schemas.microsoft.com/office/powerpoint/2010/main" val="767531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54EA867-8723-4DB4-B450-AF5573FFDCBE}"/>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lang="en-US" sz="2850" b="1" i="0" dirty="0">
                <a:solidFill>
                  <a:srgbClr val="2D2D2D"/>
                </a:solidFill>
                <a:latin typeface="Montserrat"/>
                <a:ea typeface="Montserrat"/>
                <a:cs typeface="Montserrat"/>
              </a:rPr>
              <a:t>Week 3</a:t>
            </a:r>
            <a:r>
              <a:rPr sz="2850" b="1" i="0" dirty="0">
                <a:solidFill>
                  <a:srgbClr val="2D2D2D"/>
                </a:solidFill>
                <a:latin typeface="Montserrat"/>
                <a:ea typeface="Montserrat"/>
                <a:cs typeface="Montserrat"/>
              </a:rPr>
              <a:t> plan</a:t>
            </a:r>
          </a:p>
        </p:txBody>
      </p:sp>
      <p:sp>
        <p:nvSpPr>
          <p:cNvPr id="2" name="Rectangle 1">
            <a:extLst>
              <a:ext uri="{FF2B5EF4-FFF2-40B4-BE49-F238E27FC236}">
                <a16:creationId xmlns:a16="http://schemas.microsoft.com/office/drawing/2014/main" id="{2C885E1A-30B7-4E5F-B7E5-0D37435329EE}"/>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556FBE37-4D5E-44FC-B105-B92E28E68DA9}"/>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736A13A2-B166-4260-A6B4-4E3D55738ED5}"/>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821ED9BE-D841-4129-BDE2-862C2BEB9CC6}"/>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02</a:t>
            </a:r>
          </a:p>
        </p:txBody>
      </p:sp>
      <p:sp>
        <p:nvSpPr>
          <p:cNvPr id="8" name="Rectangle 7">
            <a:extLst>
              <a:ext uri="{FF2B5EF4-FFF2-40B4-BE49-F238E27FC236}">
                <a16:creationId xmlns:a16="http://schemas.microsoft.com/office/drawing/2014/main" id="{6EB57868-06EE-48D2-AC73-55F081ED6975}"/>
              </a:ext>
            </a:extLst>
          </p:cNvPr>
          <p:cNvSpPr>
            <a:spLocks noGrp="1"/>
          </p:cNvSpPr>
          <p:nvPr/>
        </p:nvSpPr>
        <p:spPr>
          <a:xfrm>
            <a:off x="838200" y="1166812"/>
            <a:ext cx="2095500" cy="247650"/>
          </a:xfrm>
          <a:prstGeom prst="rect">
            <a:avLst/>
          </a:prstGeom>
          <a:noFill/>
          <a:ln w="0">
            <a:noFill/>
          </a:ln>
        </p:spPr>
        <p:txBody>
          <a:bodyPr lIns="38100" tIns="19050" rIns="38100" bIns="19050" anchor="t">
            <a:normAutofit/>
          </a:bodyPr>
          <a:lstStyle/>
          <a:p>
            <a:pPr algn="l">
              <a:defRPr sz="1275" b="1" i="0">
                <a:solidFill>
                  <a:srgbClr val="00A9E0"/>
                </a:solidFill>
                <a:latin typeface="Montserrat"/>
                <a:ea typeface="Montserrat"/>
                <a:cs typeface="Montserrat"/>
              </a:defRPr>
            </a:pPr>
            <a:r>
              <a:rPr sz="1275" b="1" i="0" dirty="0">
                <a:solidFill>
                  <a:srgbClr val="00A9E0"/>
                </a:solidFill>
                <a:latin typeface="Montserrat"/>
                <a:ea typeface="Montserrat"/>
                <a:cs typeface="Montserrat"/>
              </a:rPr>
              <a:t>NUMERICAL DATA</a:t>
            </a:r>
          </a:p>
        </p:txBody>
      </p:sp>
      <p:sp>
        <p:nvSpPr>
          <p:cNvPr id="9" name="Rectangle 8">
            <a:extLst>
              <a:ext uri="{FF2B5EF4-FFF2-40B4-BE49-F238E27FC236}">
                <a16:creationId xmlns:a16="http://schemas.microsoft.com/office/drawing/2014/main" id="{B7C35C18-86D2-4618-8445-14A56D75916E}"/>
              </a:ext>
            </a:extLst>
          </p:cNvPr>
          <p:cNvSpPr>
            <a:spLocks noGrp="1"/>
          </p:cNvSpPr>
          <p:nvPr/>
        </p:nvSpPr>
        <p:spPr>
          <a:xfrm>
            <a:off x="838200" y="1462087"/>
            <a:ext cx="7048500" cy="514350"/>
          </a:xfrm>
          <a:prstGeom prst="rect">
            <a:avLst/>
          </a:prstGeom>
          <a:noFill/>
          <a:ln w="0">
            <a:noFill/>
          </a:ln>
        </p:spPr>
        <p:txBody>
          <a:bodyPr lIns="38100" tIns="19050" rIns="38100" bIns="19050" anchor="t">
            <a:normAutofit fontScale="99206" lnSpcReduction="10000"/>
          </a:bodyPr>
          <a:lstStyle/>
          <a:p>
            <a:pPr algn="l">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Mean notation, 0/1 variables, bins, quartiles, variance, standard deviation, shape, and transformations</a:t>
            </a:r>
          </a:p>
        </p:txBody>
      </p:sp>
      <p:sp>
        <p:nvSpPr>
          <p:cNvPr id="10" name="Rectangle 9">
            <a:extLst>
              <a:ext uri="{FF2B5EF4-FFF2-40B4-BE49-F238E27FC236}">
                <a16:creationId xmlns:a16="http://schemas.microsoft.com/office/drawing/2014/main" id="{8E7CD057-D0F5-4D22-85E4-99A279C7EB05}"/>
              </a:ext>
            </a:extLst>
          </p:cNvPr>
          <p:cNvSpPr>
            <a:spLocks noGrp="1"/>
          </p:cNvSpPr>
          <p:nvPr/>
        </p:nvSpPr>
        <p:spPr>
          <a:xfrm>
            <a:off x="838200" y="2245519"/>
            <a:ext cx="2286000" cy="247650"/>
          </a:xfrm>
          <a:prstGeom prst="rect">
            <a:avLst/>
          </a:prstGeom>
          <a:noFill/>
          <a:ln w="0">
            <a:noFill/>
          </a:ln>
        </p:spPr>
        <p:txBody>
          <a:bodyPr lIns="38100" tIns="19050" rIns="38100" bIns="19050" anchor="t">
            <a:normAutofit/>
          </a:bodyPr>
          <a:lstStyle/>
          <a:p>
            <a:pPr algn="l">
              <a:defRPr sz="1275" b="1" i="0">
                <a:solidFill>
                  <a:srgbClr val="00A9E0"/>
                </a:solidFill>
                <a:latin typeface="Montserrat"/>
                <a:ea typeface="Montserrat"/>
                <a:cs typeface="Montserrat"/>
              </a:defRPr>
            </a:pPr>
            <a:r>
              <a:rPr sz="1275" b="1" i="0" dirty="0">
                <a:solidFill>
                  <a:srgbClr val="00A9E0"/>
                </a:solidFill>
                <a:latin typeface="Montserrat"/>
                <a:ea typeface="Montserrat"/>
                <a:cs typeface="Montserrat"/>
              </a:rPr>
              <a:t>CATEGORICAL DATA</a:t>
            </a:r>
          </a:p>
        </p:txBody>
      </p:sp>
      <p:sp>
        <p:nvSpPr>
          <p:cNvPr id="11" name="Rectangle 10">
            <a:extLst>
              <a:ext uri="{FF2B5EF4-FFF2-40B4-BE49-F238E27FC236}">
                <a16:creationId xmlns:a16="http://schemas.microsoft.com/office/drawing/2014/main" id="{C05EC506-7BB4-40A6-A14B-E95F27CD2DFC}"/>
              </a:ext>
            </a:extLst>
          </p:cNvPr>
          <p:cNvSpPr>
            <a:spLocks noGrp="1"/>
          </p:cNvSpPr>
          <p:nvPr/>
        </p:nvSpPr>
        <p:spPr>
          <a:xfrm>
            <a:off x="838200" y="2540794"/>
            <a:ext cx="7048500" cy="457200"/>
          </a:xfrm>
          <a:prstGeom prst="rect">
            <a:avLst/>
          </a:prstGeom>
          <a:noFill/>
          <a:ln w="0">
            <a:noFill/>
          </a:ln>
        </p:spPr>
        <p:txBody>
          <a:bodyPr lIns="38100" tIns="19050" rIns="38100" bIns="19050" anchor="t">
            <a:normAutofit fontScale="92500" lnSpcReduction="10000"/>
          </a:bodyPr>
          <a:lstStyle/>
          <a:p>
            <a:pPr algn="l">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Contingency tables, conditional proportions, association, and comparison</a:t>
            </a:r>
          </a:p>
        </p:txBody>
      </p:sp>
      <p:sp>
        <p:nvSpPr>
          <p:cNvPr id="12" name="Rectangle 11">
            <a:extLst>
              <a:ext uri="{FF2B5EF4-FFF2-40B4-BE49-F238E27FC236}">
                <a16:creationId xmlns:a16="http://schemas.microsoft.com/office/drawing/2014/main" id="{171773D2-D0A2-464C-8864-D92BDB756431}"/>
              </a:ext>
            </a:extLst>
          </p:cNvPr>
          <p:cNvSpPr>
            <a:spLocks noGrp="1"/>
          </p:cNvSpPr>
          <p:nvPr/>
        </p:nvSpPr>
        <p:spPr>
          <a:xfrm>
            <a:off x="838200" y="4324350"/>
            <a:ext cx="7048500" cy="266700"/>
          </a:xfrm>
          <a:prstGeom prst="rect">
            <a:avLst/>
          </a:prstGeom>
          <a:noFill/>
          <a:ln w="0">
            <a:noFill/>
          </a:ln>
        </p:spPr>
        <p:txBody>
          <a:bodyPr lIns="38100" tIns="19050" rIns="38100" bIns="19050" anchor="t">
            <a:normAutofit/>
          </a:bodyPr>
          <a:lstStyle/>
          <a:p>
            <a:pPr algn="l">
              <a:defRPr sz="1350" b="1" i="0">
                <a:solidFill>
                  <a:srgbClr val="3E8853"/>
                </a:solidFill>
                <a:latin typeface="Montserrat"/>
                <a:ea typeface="Montserrat"/>
                <a:cs typeface="Montserrat"/>
              </a:defRPr>
            </a:pPr>
            <a:r>
              <a:rPr sz="1350" b="1" i="0" dirty="0">
                <a:solidFill>
                  <a:srgbClr val="3E8853"/>
                </a:solidFill>
                <a:latin typeface="Montserrat"/>
                <a:ea typeface="Montserrat"/>
                <a:cs typeface="Montserrat"/>
              </a:rPr>
              <a:t>Thursday: project discussion and work session</a:t>
            </a:r>
          </a:p>
        </p:txBody>
      </p:sp>
      <p:sp>
        <p:nvSpPr>
          <p:cNvPr id="16" name="Rectangle 15">
            <a:extLst>
              <a:ext uri="{FF2B5EF4-FFF2-40B4-BE49-F238E27FC236}">
                <a16:creationId xmlns:a16="http://schemas.microsoft.com/office/drawing/2014/main" id="{6A51552E-01BC-F9FE-E084-D93B603F188B}"/>
              </a:ext>
            </a:extLst>
          </p:cNvPr>
          <p:cNvSpPr>
            <a:spLocks noGrp="1"/>
          </p:cNvSpPr>
          <p:nvPr/>
        </p:nvSpPr>
        <p:spPr>
          <a:xfrm>
            <a:off x="838199" y="3224213"/>
            <a:ext cx="2802775" cy="247650"/>
          </a:xfrm>
          <a:prstGeom prst="rect">
            <a:avLst/>
          </a:prstGeom>
          <a:noFill/>
          <a:ln w="0">
            <a:noFill/>
          </a:ln>
        </p:spPr>
        <p:txBody>
          <a:bodyPr lIns="38100" tIns="19050" rIns="38100" bIns="19050" anchor="t">
            <a:normAutofit/>
          </a:bodyPr>
          <a:lstStyle/>
          <a:p>
            <a:pPr algn="l">
              <a:defRPr sz="1275" b="1" i="0">
                <a:solidFill>
                  <a:srgbClr val="00A9E0"/>
                </a:solidFill>
                <a:latin typeface="Montserrat"/>
                <a:ea typeface="Montserrat"/>
                <a:cs typeface="Montserrat"/>
              </a:defRPr>
            </a:pPr>
            <a:r>
              <a:rPr lang="en-US" sz="1275" b="1" i="0" dirty="0">
                <a:solidFill>
                  <a:srgbClr val="00A9E0"/>
                </a:solidFill>
                <a:latin typeface="Montserrat"/>
                <a:ea typeface="Montserrat"/>
                <a:cs typeface="Montserrat"/>
              </a:rPr>
              <a:t>Interpreting Graphs (Figures)</a:t>
            </a:r>
            <a:endParaRPr sz="1275" b="1" i="0" dirty="0">
              <a:solidFill>
                <a:srgbClr val="00A9E0"/>
              </a:solidFill>
              <a:latin typeface="Montserrat"/>
              <a:ea typeface="Montserrat"/>
              <a:cs typeface="Montserrat"/>
            </a:endParaRPr>
          </a:p>
        </p:txBody>
      </p:sp>
      <p:sp>
        <p:nvSpPr>
          <p:cNvPr id="17" name="Rectangle 16">
            <a:extLst>
              <a:ext uri="{FF2B5EF4-FFF2-40B4-BE49-F238E27FC236}">
                <a16:creationId xmlns:a16="http://schemas.microsoft.com/office/drawing/2014/main" id="{010F059D-7D53-80A4-86C7-CA2E2E60EB82}"/>
              </a:ext>
            </a:extLst>
          </p:cNvPr>
          <p:cNvSpPr>
            <a:spLocks noGrp="1"/>
          </p:cNvSpPr>
          <p:nvPr/>
        </p:nvSpPr>
        <p:spPr>
          <a:xfrm>
            <a:off x="838200" y="3519488"/>
            <a:ext cx="7048500" cy="457200"/>
          </a:xfrm>
          <a:prstGeom prst="rect">
            <a:avLst/>
          </a:prstGeom>
          <a:noFill/>
          <a:ln w="0">
            <a:noFill/>
          </a:ln>
        </p:spPr>
        <p:txBody>
          <a:bodyPr lIns="38100" tIns="19050" rIns="38100" bIns="19050" anchor="t">
            <a:normAutofit/>
          </a:bodyPr>
          <a:lstStyle/>
          <a:p>
            <a:pPr algn="l">
              <a:defRPr sz="1575" b="0" i="0">
                <a:solidFill>
                  <a:srgbClr val="2D2D2D"/>
                </a:solidFill>
                <a:latin typeface="Montserrat"/>
                <a:ea typeface="Montserrat"/>
                <a:cs typeface="Montserrat"/>
              </a:defRPr>
            </a:pPr>
            <a:r>
              <a:rPr lang="en-US" sz="1575" b="0" i="0" dirty="0">
                <a:solidFill>
                  <a:srgbClr val="2D2D2D"/>
                </a:solidFill>
                <a:latin typeface="Montserrat"/>
                <a:ea typeface="Montserrat"/>
                <a:cs typeface="Montserrat"/>
              </a:rPr>
              <a:t>Bar plot, histogram, boxplot, scatterplots, other plots in the book</a:t>
            </a:r>
            <a:endParaRPr sz="1575" b="0" i="0" dirty="0">
              <a:solidFill>
                <a:srgbClr val="2D2D2D"/>
              </a:solidFill>
              <a:latin typeface="Montserrat"/>
              <a:ea typeface="Montserrat"/>
              <a:cs typeface="Montserrat"/>
            </a:endParaRPr>
          </a:p>
        </p:txBody>
      </p:sp>
    </p:spTree>
    <p:extLst>
      <p:ext uri="{BB962C8B-B14F-4D97-AF65-F5344CB8AC3E}">
        <p14:creationId xmlns:p14="http://schemas.microsoft.com/office/powerpoint/2010/main" val="2080818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27C6B09-482D-461C-AF57-2FC4211709BB}"/>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What the flipped activity showed</a:t>
            </a:r>
          </a:p>
        </p:txBody>
      </p:sp>
      <p:sp>
        <p:nvSpPr>
          <p:cNvPr id="2" name="Rectangle 1">
            <a:extLst>
              <a:ext uri="{FF2B5EF4-FFF2-40B4-BE49-F238E27FC236}">
                <a16:creationId xmlns:a16="http://schemas.microsoft.com/office/drawing/2014/main" id="{3A6B4401-DCBC-4F43-A621-45609A60B7B8}"/>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9E6E2AFB-4AAD-4901-8379-C7D97C77669A}"/>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E293ADCB-4878-42F7-871D-4D2B3D8374D3}"/>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5C01E30-9F76-4EA6-9007-F515C1BACB67}"/>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03</a:t>
            </a:r>
          </a:p>
        </p:txBody>
      </p:sp>
      <p:sp>
        <p:nvSpPr>
          <p:cNvPr id="6" name="Rectangle 5">
            <a:extLst>
              <a:ext uri="{FF2B5EF4-FFF2-40B4-BE49-F238E27FC236}">
                <a16:creationId xmlns:a16="http://schemas.microsoft.com/office/drawing/2014/main" id="{DC5DC0CC-8461-45E4-8B2E-EC8DAFBBAE2D}"/>
              </a:ext>
            </a:extLst>
          </p:cNvPr>
          <p:cNvSpPr>
            <a:spLocks noGrp="1"/>
          </p:cNvSpPr>
          <p:nvPr/>
        </p:nvSpPr>
        <p:spPr>
          <a:xfrm>
            <a:off x="904875" y="1257300"/>
            <a:ext cx="3429000" cy="36195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Binned counts</a:t>
            </a:r>
          </a:p>
        </p:txBody>
      </p:sp>
      <p:sp>
        <p:nvSpPr>
          <p:cNvPr id="7" name="Rectangle 6">
            <a:extLst>
              <a:ext uri="{FF2B5EF4-FFF2-40B4-BE49-F238E27FC236}">
                <a16:creationId xmlns:a16="http://schemas.microsoft.com/office/drawing/2014/main" id="{653E8375-2866-4D3A-ACAC-DF451765CD79}"/>
              </a:ext>
            </a:extLst>
          </p:cNvPr>
          <p:cNvSpPr>
            <a:spLocks noGrp="1"/>
          </p:cNvSpPr>
          <p:nvPr/>
        </p:nvSpPr>
        <p:spPr>
          <a:xfrm>
            <a:off x="4762500" y="1228725"/>
            <a:ext cx="1428750" cy="419100"/>
          </a:xfrm>
          <a:prstGeom prst="rect">
            <a:avLst/>
          </a:prstGeom>
          <a:noFill/>
          <a:ln w="0">
            <a:noFill/>
          </a:ln>
        </p:spPr>
        <p:txBody>
          <a:bodyPr lIns="38100" tIns="19050" rIns="38100" bIns="19050" anchor="t">
            <a:normAutofit/>
          </a:bodyPr>
          <a:lstStyle/>
          <a:p>
            <a:pPr algn="r">
              <a:defRPr sz="2400" b="1" i="0">
                <a:solidFill>
                  <a:srgbClr val="C74634"/>
                </a:solidFill>
                <a:latin typeface="Montserrat"/>
                <a:ea typeface="Montserrat"/>
                <a:cs typeface="Montserrat"/>
              </a:defRPr>
            </a:pPr>
            <a:r>
              <a:rPr sz="2400" b="1" i="0">
                <a:solidFill>
                  <a:srgbClr val="C74634"/>
                </a:solidFill>
                <a:latin typeface="Montserrat"/>
                <a:ea typeface="Montserrat"/>
                <a:cs typeface="Montserrat"/>
              </a:rPr>
              <a:t>61.9%</a:t>
            </a:r>
          </a:p>
        </p:txBody>
      </p:sp>
      <p:sp>
        <p:nvSpPr>
          <p:cNvPr id="8" name="Rectangle 7">
            <a:extLst>
              <a:ext uri="{FF2B5EF4-FFF2-40B4-BE49-F238E27FC236}">
                <a16:creationId xmlns:a16="http://schemas.microsoft.com/office/drawing/2014/main" id="{6627403E-D303-4258-B2CA-E1601CFD7C64}"/>
              </a:ext>
            </a:extLst>
          </p:cNvPr>
          <p:cNvSpPr>
            <a:spLocks noGrp="1"/>
          </p:cNvSpPr>
          <p:nvPr/>
        </p:nvSpPr>
        <p:spPr>
          <a:xfrm>
            <a:off x="904875" y="1666875"/>
            <a:ext cx="5286375" cy="9525"/>
          </a:xfrm>
          <a:prstGeom prst="rect">
            <a:avLst/>
          </a:prstGeom>
          <a:solidFill>
            <a:srgbClr val="C9D8E0"/>
          </a:solidFill>
          <a:ln w="0">
            <a:noFill/>
          </a:ln>
        </p:spPr>
      </p:sp>
      <p:sp>
        <p:nvSpPr>
          <p:cNvPr id="9" name="Rectangle 8">
            <a:extLst>
              <a:ext uri="{FF2B5EF4-FFF2-40B4-BE49-F238E27FC236}">
                <a16:creationId xmlns:a16="http://schemas.microsoft.com/office/drawing/2014/main" id="{8C6A3636-EE79-4028-BF70-88BF2D922EC8}"/>
              </a:ext>
            </a:extLst>
          </p:cNvPr>
          <p:cNvSpPr>
            <a:spLocks noGrp="1"/>
          </p:cNvSpPr>
          <p:nvPr/>
        </p:nvSpPr>
        <p:spPr>
          <a:xfrm>
            <a:off x="904875" y="1905000"/>
            <a:ext cx="3429000" cy="36195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Quartiles</a:t>
            </a:r>
          </a:p>
        </p:txBody>
      </p:sp>
      <p:sp>
        <p:nvSpPr>
          <p:cNvPr id="10" name="Rectangle 9">
            <a:extLst>
              <a:ext uri="{FF2B5EF4-FFF2-40B4-BE49-F238E27FC236}">
                <a16:creationId xmlns:a16="http://schemas.microsoft.com/office/drawing/2014/main" id="{B8DED07F-C7CE-4FF1-A9A9-9269D0214156}"/>
              </a:ext>
            </a:extLst>
          </p:cNvPr>
          <p:cNvSpPr>
            <a:spLocks noGrp="1"/>
          </p:cNvSpPr>
          <p:nvPr/>
        </p:nvSpPr>
        <p:spPr>
          <a:xfrm>
            <a:off x="4762500" y="1876425"/>
            <a:ext cx="1428750" cy="419100"/>
          </a:xfrm>
          <a:prstGeom prst="rect">
            <a:avLst/>
          </a:prstGeom>
          <a:noFill/>
          <a:ln w="0">
            <a:noFill/>
          </a:ln>
        </p:spPr>
        <p:txBody>
          <a:bodyPr lIns="38100" tIns="19050" rIns="38100" bIns="19050" anchor="t">
            <a:normAutofit/>
          </a:bodyPr>
          <a:lstStyle/>
          <a:p>
            <a:pPr algn="r">
              <a:defRPr sz="2400" b="1" i="0">
                <a:solidFill>
                  <a:srgbClr val="C74634"/>
                </a:solidFill>
                <a:latin typeface="Montserrat"/>
                <a:ea typeface="Montserrat"/>
                <a:cs typeface="Montserrat"/>
              </a:defRPr>
            </a:pPr>
            <a:r>
              <a:rPr sz="2400" b="1" i="0">
                <a:solidFill>
                  <a:srgbClr val="C74634"/>
                </a:solidFill>
                <a:latin typeface="Montserrat"/>
                <a:ea typeface="Montserrat"/>
                <a:cs typeface="Montserrat"/>
              </a:rPr>
              <a:t>73.0%</a:t>
            </a:r>
          </a:p>
        </p:txBody>
      </p:sp>
      <p:sp>
        <p:nvSpPr>
          <p:cNvPr id="11" name="Rectangle 10">
            <a:extLst>
              <a:ext uri="{FF2B5EF4-FFF2-40B4-BE49-F238E27FC236}">
                <a16:creationId xmlns:a16="http://schemas.microsoft.com/office/drawing/2014/main" id="{F8D66652-1134-49ED-97BA-7EC1C4ED752E}"/>
              </a:ext>
            </a:extLst>
          </p:cNvPr>
          <p:cNvSpPr>
            <a:spLocks noGrp="1"/>
          </p:cNvSpPr>
          <p:nvPr/>
        </p:nvSpPr>
        <p:spPr>
          <a:xfrm>
            <a:off x="904875" y="2314575"/>
            <a:ext cx="5286375" cy="9525"/>
          </a:xfrm>
          <a:prstGeom prst="rect">
            <a:avLst/>
          </a:prstGeom>
          <a:solidFill>
            <a:srgbClr val="C9D8E0"/>
          </a:solidFill>
          <a:ln w="0">
            <a:noFill/>
          </a:ln>
        </p:spPr>
      </p:sp>
      <p:sp>
        <p:nvSpPr>
          <p:cNvPr id="12" name="Rectangle 11">
            <a:extLst>
              <a:ext uri="{FF2B5EF4-FFF2-40B4-BE49-F238E27FC236}">
                <a16:creationId xmlns:a16="http://schemas.microsoft.com/office/drawing/2014/main" id="{C9AC371B-EE6E-40A3-9D70-3A69A813D80E}"/>
              </a:ext>
            </a:extLst>
          </p:cNvPr>
          <p:cNvSpPr>
            <a:spLocks noGrp="1"/>
          </p:cNvSpPr>
          <p:nvPr/>
        </p:nvSpPr>
        <p:spPr>
          <a:xfrm>
            <a:off x="904875" y="2552700"/>
            <a:ext cx="3429000" cy="36195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Column proportion</a:t>
            </a:r>
          </a:p>
        </p:txBody>
      </p:sp>
      <p:sp>
        <p:nvSpPr>
          <p:cNvPr id="13" name="Rectangle 12">
            <a:extLst>
              <a:ext uri="{FF2B5EF4-FFF2-40B4-BE49-F238E27FC236}">
                <a16:creationId xmlns:a16="http://schemas.microsoft.com/office/drawing/2014/main" id="{8F28283F-A246-402C-B6AD-36266D781A65}"/>
              </a:ext>
            </a:extLst>
          </p:cNvPr>
          <p:cNvSpPr>
            <a:spLocks noGrp="1"/>
          </p:cNvSpPr>
          <p:nvPr/>
        </p:nvSpPr>
        <p:spPr>
          <a:xfrm>
            <a:off x="4762500" y="2524125"/>
            <a:ext cx="1428750" cy="419100"/>
          </a:xfrm>
          <a:prstGeom prst="rect">
            <a:avLst/>
          </a:prstGeom>
          <a:noFill/>
          <a:ln w="0">
            <a:noFill/>
          </a:ln>
        </p:spPr>
        <p:txBody>
          <a:bodyPr lIns="38100" tIns="19050" rIns="38100" bIns="19050" anchor="t">
            <a:normAutofit/>
          </a:bodyPr>
          <a:lstStyle/>
          <a:p>
            <a:pPr algn="r">
              <a:defRPr sz="2400" b="1" i="0">
                <a:solidFill>
                  <a:srgbClr val="2D2D2D"/>
                </a:solidFill>
                <a:latin typeface="Montserrat"/>
                <a:ea typeface="Montserrat"/>
                <a:cs typeface="Montserrat"/>
              </a:defRPr>
            </a:pPr>
            <a:r>
              <a:rPr sz="2400" b="1" i="0">
                <a:solidFill>
                  <a:srgbClr val="2D2D2D"/>
                </a:solidFill>
                <a:latin typeface="Montserrat"/>
                <a:ea typeface="Montserrat"/>
                <a:cs typeface="Montserrat"/>
              </a:rPr>
              <a:t>76.2%</a:t>
            </a:r>
          </a:p>
        </p:txBody>
      </p:sp>
      <p:sp>
        <p:nvSpPr>
          <p:cNvPr id="14" name="Rectangle 13">
            <a:extLst>
              <a:ext uri="{FF2B5EF4-FFF2-40B4-BE49-F238E27FC236}">
                <a16:creationId xmlns:a16="http://schemas.microsoft.com/office/drawing/2014/main" id="{1443764D-01F5-4FEE-A4E8-0E79C52B382E}"/>
              </a:ext>
            </a:extLst>
          </p:cNvPr>
          <p:cNvSpPr>
            <a:spLocks noGrp="1"/>
          </p:cNvSpPr>
          <p:nvPr/>
        </p:nvSpPr>
        <p:spPr>
          <a:xfrm>
            <a:off x="904875" y="2962275"/>
            <a:ext cx="5286375" cy="9525"/>
          </a:xfrm>
          <a:prstGeom prst="rect">
            <a:avLst/>
          </a:prstGeom>
          <a:solidFill>
            <a:srgbClr val="C9D8E0"/>
          </a:solidFill>
          <a:ln w="0">
            <a:noFill/>
          </a:ln>
        </p:spPr>
      </p:sp>
      <p:sp>
        <p:nvSpPr>
          <p:cNvPr id="15" name="Rectangle 14">
            <a:extLst>
              <a:ext uri="{FF2B5EF4-FFF2-40B4-BE49-F238E27FC236}">
                <a16:creationId xmlns:a16="http://schemas.microsoft.com/office/drawing/2014/main" id="{C8452732-12C8-4391-A684-97E3F70BBFEA}"/>
              </a:ext>
            </a:extLst>
          </p:cNvPr>
          <p:cNvSpPr>
            <a:spLocks noGrp="1"/>
          </p:cNvSpPr>
          <p:nvPr/>
        </p:nvSpPr>
        <p:spPr>
          <a:xfrm>
            <a:off x="904875" y="3200400"/>
            <a:ext cx="3429000" cy="36195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Row proportion</a:t>
            </a:r>
          </a:p>
        </p:txBody>
      </p:sp>
      <p:sp>
        <p:nvSpPr>
          <p:cNvPr id="16" name="Rectangle 15">
            <a:extLst>
              <a:ext uri="{FF2B5EF4-FFF2-40B4-BE49-F238E27FC236}">
                <a16:creationId xmlns:a16="http://schemas.microsoft.com/office/drawing/2014/main" id="{1B7B79D2-CD9E-4FE3-8752-819930F435E8}"/>
              </a:ext>
            </a:extLst>
          </p:cNvPr>
          <p:cNvSpPr>
            <a:spLocks noGrp="1"/>
          </p:cNvSpPr>
          <p:nvPr/>
        </p:nvSpPr>
        <p:spPr>
          <a:xfrm>
            <a:off x="4762500" y="3171825"/>
            <a:ext cx="1428750" cy="419100"/>
          </a:xfrm>
          <a:prstGeom prst="rect">
            <a:avLst/>
          </a:prstGeom>
          <a:noFill/>
          <a:ln w="0">
            <a:noFill/>
          </a:ln>
        </p:spPr>
        <p:txBody>
          <a:bodyPr lIns="38100" tIns="19050" rIns="38100" bIns="19050" anchor="t">
            <a:normAutofit/>
          </a:bodyPr>
          <a:lstStyle/>
          <a:p>
            <a:pPr algn="r">
              <a:defRPr sz="2400" b="1" i="0">
                <a:solidFill>
                  <a:srgbClr val="2D2D2D"/>
                </a:solidFill>
                <a:latin typeface="Montserrat"/>
                <a:ea typeface="Montserrat"/>
                <a:cs typeface="Montserrat"/>
              </a:defRPr>
            </a:pPr>
            <a:r>
              <a:rPr sz="2400" b="1" i="0">
                <a:solidFill>
                  <a:srgbClr val="2D2D2D"/>
                </a:solidFill>
                <a:latin typeface="Montserrat"/>
                <a:ea typeface="Montserrat"/>
                <a:cs typeface="Montserrat"/>
              </a:rPr>
              <a:t>77.8%</a:t>
            </a:r>
          </a:p>
        </p:txBody>
      </p:sp>
      <p:sp>
        <p:nvSpPr>
          <p:cNvPr id="17" name="Rectangle 16">
            <a:extLst>
              <a:ext uri="{FF2B5EF4-FFF2-40B4-BE49-F238E27FC236}">
                <a16:creationId xmlns:a16="http://schemas.microsoft.com/office/drawing/2014/main" id="{03F4789D-0C11-4079-832F-E16C2C96B2ED}"/>
              </a:ext>
            </a:extLst>
          </p:cNvPr>
          <p:cNvSpPr>
            <a:spLocks noGrp="1"/>
          </p:cNvSpPr>
          <p:nvPr/>
        </p:nvSpPr>
        <p:spPr>
          <a:xfrm>
            <a:off x="904875" y="3609975"/>
            <a:ext cx="5286375" cy="9525"/>
          </a:xfrm>
          <a:prstGeom prst="rect">
            <a:avLst/>
          </a:prstGeom>
          <a:solidFill>
            <a:srgbClr val="C9D8E0"/>
          </a:solidFill>
          <a:ln w="0">
            <a:noFill/>
          </a:ln>
        </p:spPr>
      </p:sp>
      <p:sp>
        <p:nvSpPr>
          <p:cNvPr id="18" name="Rectangle 17">
            <a:extLst>
              <a:ext uri="{FF2B5EF4-FFF2-40B4-BE49-F238E27FC236}">
                <a16:creationId xmlns:a16="http://schemas.microsoft.com/office/drawing/2014/main" id="{307FAC35-62D1-4485-9DD5-2C71BC078108}"/>
              </a:ext>
            </a:extLst>
          </p:cNvPr>
          <p:cNvSpPr>
            <a:spLocks noGrp="1"/>
          </p:cNvSpPr>
          <p:nvPr/>
        </p:nvSpPr>
        <p:spPr>
          <a:xfrm>
            <a:off x="904875" y="3848100"/>
            <a:ext cx="3429000" cy="36195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0/1 sum</a:t>
            </a:r>
          </a:p>
        </p:txBody>
      </p:sp>
      <p:sp>
        <p:nvSpPr>
          <p:cNvPr id="19" name="Rectangle 18">
            <a:extLst>
              <a:ext uri="{FF2B5EF4-FFF2-40B4-BE49-F238E27FC236}">
                <a16:creationId xmlns:a16="http://schemas.microsoft.com/office/drawing/2014/main" id="{ED85B410-A624-45F8-A526-33F5E38F0B70}"/>
              </a:ext>
            </a:extLst>
          </p:cNvPr>
          <p:cNvSpPr>
            <a:spLocks noGrp="1"/>
          </p:cNvSpPr>
          <p:nvPr/>
        </p:nvSpPr>
        <p:spPr>
          <a:xfrm>
            <a:off x="4762500" y="3819525"/>
            <a:ext cx="1428750" cy="419100"/>
          </a:xfrm>
          <a:prstGeom prst="rect">
            <a:avLst/>
          </a:prstGeom>
          <a:noFill/>
          <a:ln w="0">
            <a:noFill/>
          </a:ln>
        </p:spPr>
        <p:txBody>
          <a:bodyPr lIns="38100" tIns="19050" rIns="38100" bIns="19050" anchor="t">
            <a:normAutofit/>
          </a:bodyPr>
          <a:lstStyle/>
          <a:p>
            <a:pPr algn="r">
              <a:defRPr sz="2400" b="1" i="0">
                <a:solidFill>
                  <a:srgbClr val="2D2D2D"/>
                </a:solidFill>
                <a:latin typeface="Montserrat"/>
                <a:ea typeface="Montserrat"/>
                <a:cs typeface="Montserrat"/>
              </a:defRPr>
            </a:pPr>
            <a:r>
              <a:rPr sz="2400" b="1" i="0">
                <a:solidFill>
                  <a:srgbClr val="2D2D2D"/>
                </a:solidFill>
                <a:latin typeface="Montserrat"/>
                <a:ea typeface="Montserrat"/>
                <a:cs typeface="Montserrat"/>
              </a:rPr>
              <a:t>81.0%</a:t>
            </a:r>
          </a:p>
        </p:txBody>
      </p:sp>
      <p:sp>
        <p:nvSpPr>
          <p:cNvPr id="20" name="Rectangle 19">
            <a:extLst>
              <a:ext uri="{FF2B5EF4-FFF2-40B4-BE49-F238E27FC236}">
                <a16:creationId xmlns:a16="http://schemas.microsoft.com/office/drawing/2014/main" id="{BE3FEF61-5996-4B5A-84C6-904CA497DECA}"/>
              </a:ext>
            </a:extLst>
          </p:cNvPr>
          <p:cNvSpPr>
            <a:spLocks noGrp="1"/>
          </p:cNvSpPr>
          <p:nvPr/>
        </p:nvSpPr>
        <p:spPr>
          <a:xfrm>
            <a:off x="904875" y="4257675"/>
            <a:ext cx="5286375" cy="9525"/>
          </a:xfrm>
          <a:prstGeom prst="rect">
            <a:avLst/>
          </a:prstGeom>
          <a:solidFill>
            <a:srgbClr val="C9D8E0"/>
          </a:solidFill>
          <a:ln w="0">
            <a:noFill/>
          </a:ln>
        </p:spPr>
      </p:sp>
      <p:sp>
        <p:nvSpPr>
          <p:cNvPr id="21" name="Rectangle 20">
            <a:extLst>
              <a:ext uri="{FF2B5EF4-FFF2-40B4-BE49-F238E27FC236}">
                <a16:creationId xmlns:a16="http://schemas.microsoft.com/office/drawing/2014/main" id="{E9C99F02-ACF9-4DE4-A2C3-472D741DB792}"/>
              </a:ext>
            </a:extLst>
          </p:cNvPr>
          <p:cNvSpPr>
            <a:spLocks noGrp="1"/>
          </p:cNvSpPr>
          <p:nvPr/>
        </p:nvSpPr>
        <p:spPr>
          <a:xfrm>
            <a:off x="6810375" y="1714500"/>
            <a:ext cx="1428750" cy="514350"/>
          </a:xfrm>
          <a:prstGeom prst="rect">
            <a:avLst/>
          </a:prstGeom>
          <a:noFill/>
          <a:ln w="0">
            <a:noFill/>
          </a:ln>
        </p:spPr>
        <p:txBody>
          <a:bodyPr lIns="38100" tIns="19050" rIns="38100" bIns="19050" anchor="t">
            <a:normAutofit fontScale="92593"/>
          </a:bodyPr>
          <a:lstStyle/>
          <a:p>
            <a:pPr algn="ctr">
              <a:defRPr sz="3375" b="1" i="0">
                <a:solidFill>
                  <a:srgbClr val="C74634"/>
                </a:solidFill>
                <a:latin typeface="Montserrat"/>
                <a:ea typeface="Montserrat"/>
                <a:cs typeface="Montserrat"/>
              </a:defRPr>
            </a:pPr>
            <a:r>
              <a:rPr sz="3375" b="1" i="0">
                <a:solidFill>
                  <a:srgbClr val="C74634"/>
                </a:solidFill>
                <a:latin typeface="Montserrat"/>
                <a:ea typeface="Montserrat"/>
                <a:cs typeface="Montserrat"/>
              </a:rPr>
              <a:t>38.7%</a:t>
            </a:r>
          </a:p>
        </p:txBody>
      </p:sp>
      <p:sp>
        <p:nvSpPr>
          <p:cNvPr id="22" name="Rectangle 21">
            <a:extLst>
              <a:ext uri="{FF2B5EF4-FFF2-40B4-BE49-F238E27FC236}">
                <a16:creationId xmlns:a16="http://schemas.microsoft.com/office/drawing/2014/main" id="{002C46AF-93F0-4E4F-BFF3-CEAAF858B3BA}"/>
              </a:ext>
            </a:extLst>
          </p:cNvPr>
          <p:cNvSpPr>
            <a:spLocks noGrp="1"/>
          </p:cNvSpPr>
          <p:nvPr/>
        </p:nvSpPr>
        <p:spPr>
          <a:xfrm>
            <a:off x="6667500" y="2324100"/>
            <a:ext cx="1714500" cy="1066800"/>
          </a:xfrm>
          <a:prstGeom prst="rect">
            <a:avLst/>
          </a:prstGeom>
          <a:noFill/>
          <a:ln w="0">
            <a:noFill/>
          </a:ln>
        </p:spPr>
        <p:txBody>
          <a:bodyPr lIns="38100" tIns="19050" rIns="38100" bIns="19050" anchor="t">
            <a:normAutofit fontScale="87671" lnSpcReduction="10000"/>
          </a:bodyPr>
          <a:lstStyle/>
          <a:p>
            <a:pPr algn="ctr">
              <a:defRPr sz="1425" b="0" i="0">
                <a:solidFill>
                  <a:srgbClr val="2D2D2D"/>
                </a:solidFill>
                <a:latin typeface="Montserrat"/>
                <a:ea typeface="Montserrat"/>
                <a:cs typeface="Montserrat"/>
              </a:defRPr>
            </a:pPr>
            <a:r>
              <a:rPr sz="1425" b="0" i="0" dirty="0">
                <a:solidFill>
                  <a:srgbClr val="2D2D2D"/>
                </a:solidFill>
                <a:latin typeface="Montserrat"/>
                <a:ea typeface="Montserrat"/>
                <a:cs typeface="Montserrat"/>
              </a:rPr>
              <a:t>reported some uncertainty about frequency tables, contingency tables, or conditional proportions</a:t>
            </a:r>
          </a:p>
        </p:txBody>
      </p:sp>
    </p:spTree>
    <p:extLst>
      <p:ext uri="{BB962C8B-B14F-4D97-AF65-F5344CB8AC3E}">
        <p14:creationId xmlns:p14="http://schemas.microsoft.com/office/powerpoint/2010/main" val="2059546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E908F1-552B-47E9-9D29-675CF6BACA70}"/>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questions 1–2 | Association</a:t>
            </a:r>
          </a:p>
        </p:txBody>
      </p:sp>
      <p:sp>
        <p:nvSpPr>
          <p:cNvPr id="2" name="Rectangle 1">
            <a:extLst>
              <a:ext uri="{FF2B5EF4-FFF2-40B4-BE49-F238E27FC236}">
                <a16:creationId xmlns:a16="http://schemas.microsoft.com/office/drawing/2014/main" id="{3FF5BD02-F68C-469C-84D8-35D033498C2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0CF3A386-7F24-41E4-9299-3EC408CD6039}"/>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72423DF-0EA7-4AAD-B41D-F27B0C876E2D}"/>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DD52C916-183E-40AE-B850-5D5B91B44748}"/>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04</a:t>
            </a:r>
          </a:p>
        </p:txBody>
      </p:sp>
      <p:pic>
        <p:nvPicPr>
          <p:cNvPr id="15" name="Picture 14"/>
          <p:cNvPicPr>
            <a:picLocks noChangeAspect="1"/>
          </p:cNvPicPr>
          <p:nvPr/>
        </p:nvPicPr>
        <p:blipFill>
          <a:blip r:embed="rId3"/>
          <a:stretch/>
        </p:blipFill>
        <p:spPr>
          <a:xfrm>
            <a:off x="1084714" y="1162050"/>
            <a:ext cx="3964672" cy="3000375"/>
          </a:xfrm>
          <a:prstGeom prst="rect">
            <a:avLst/>
          </a:prstGeom>
        </p:spPr>
      </p:pic>
      <p:sp>
        <p:nvSpPr>
          <p:cNvPr id="7" name="Rectangle 6">
            <a:extLst>
              <a:ext uri="{FF2B5EF4-FFF2-40B4-BE49-F238E27FC236}">
                <a16:creationId xmlns:a16="http://schemas.microsoft.com/office/drawing/2014/main" id="{5A71F83C-5C0D-44C9-BC49-36EA1D8EFBBB}"/>
              </a:ext>
            </a:extLst>
          </p:cNvPr>
          <p:cNvSpPr>
            <a:spLocks noGrp="1"/>
          </p:cNvSpPr>
          <p:nvPr/>
        </p:nvSpPr>
        <p:spPr>
          <a:xfrm>
            <a:off x="5343182" y="1190625"/>
            <a:ext cx="3134068" cy="381000"/>
          </a:xfrm>
          <a:prstGeom prst="rect">
            <a:avLst/>
          </a:prstGeom>
          <a:noFill/>
          <a:ln w="0">
            <a:noFill/>
          </a:ln>
        </p:spPr>
        <p:txBody>
          <a:bodyPr lIns="38100" tIns="19050" rIns="38100" bIns="19050" anchor="t">
            <a:normAutofit fontScale="86207"/>
          </a:bodyPr>
          <a:lstStyle/>
          <a:p>
            <a:pPr algn="l">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Which classification is correct?</a:t>
            </a:r>
          </a:p>
        </p:txBody>
      </p:sp>
      <p:sp>
        <p:nvSpPr>
          <p:cNvPr id="8" name="Rectangle 7">
            <a:extLst>
              <a:ext uri="{FF2B5EF4-FFF2-40B4-BE49-F238E27FC236}">
                <a16:creationId xmlns:a16="http://schemas.microsoft.com/office/drawing/2014/main" id="{8A99E8A6-55DC-4A72-8127-4E68ADAF4F2C}"/>
              </a:ext>
            </a:extLst>
          </p:cNvPr>
          <p:cNvSpPr>
            <a:spLocks noGrp="1"/>
          </p:cNvSpPr>
          <p:nvPr/>
        </p:nvSpPr>
        <p:spPr>
          <a:xfrm>
            <a:off x="5336772" y="1676400"/>
            <a:ext cx="3188104" cy="2095500"/>
          </a:xfrm>
          <a:prstGeom prst="rect">
            <a:avLst/>
          </a:prstGeom>
          <a:noFill/>
          <a:ln w="0">
            <a:noFill/>
          </a:ln>
        </p:spPr>
        <p:txBody>
          <a:bodyPr lIns="47625" tIns="19050" rIns="47625" bIns="19050" anchor="t">
            <a:normAutofit/>
          </a:bodyPr>
          <a:lstStyle/>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A. </a:t>
            </a:r>
            <a:r>
              <a:rPr sz="1275" b="0" dirty="0">
                <a:solidFill>
                  <a:srgbClr val="2D2D2D"/>
                </a:solidFill>
                <a:latin typeface="Montserrat"/>
                <a:ea typeface="Montserrat"/>
                <a:cs typeface="Montserrat"/>
              </a:rPr>
              <a:t>A positive linear, B negative linear, C nonlinear, D no clear association</a:t>
            </a:r>
          </a:p>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B. </a:t>
            </a:r>
            <a:r>
              <a:rPr sz="1275" b="0" dirty="0">
                <a:solidFill>
                  <a:srgbClr val="2D2D2D"/>
                </a:solidFill>
                <a:latin typeface="Montserrat"/>
                <a:ea typeface="Montserrat"/>
                <a:cs typeface="Montserrat"/>
              </a:rPr>
              <a:t>A negative linear, B positive linear, C no association, D nonlinear</a:t>
            </a:r>
          </a:p>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C. </a:t>
            </a:r>
            <a:r>
              <a:rPr sz="1275" b="0" dirty="0">
                <a:solidFill>
                  <a:srgbClr val="2D2D2D"/>
                </a:solidFill>
                <a:latin typeface="Montserrat"/>
                <a:ea typeface="Montserrat"/>
                <a:cs typeface="Montserrat"/>
              </a:rPr>
              <a:t>A and B nonlinear, C and D linear</a:t>
            </a:r>
          </a:p>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D. </a:t>
            </a:r>
            <a:r>
              <a:rPr sz="1275" b="0" dirty="0">
                <a:solidFill>
                  <a:srgbClr val="2D2D2D"/>
                </a:solidFill>
                <a:latin typeface="Montserrat"/>
                <a:ea typeface="Montserrat"/>
                <a:cs typeface="Montserrat"/>
              </a:rPr>
              <a:t>All four show positive linear association</a:t>
            </a:r>
          </a:p>
        </p:txBody>
      </p:sp>
      <p:sp>
        <p:nvSpPr>
          <p:cNvPr id="9" name="Rectangle 8">
            <a:extLst>
              <a:ext uri="{FF2B5EF4-FFF2-40B4-BE49-F238E27FC236}">
                <a16:creationId xmlns:a16="http://schemas.microsoft.com/office/drawing/2014/main" id="{E12BD50E-C49A-4D51-8DED-7B2F516DEFAD}"/>
              </a:ext>
            </a:extLst>
          </p:cNvPr>
          <p:cNvSpPr>
            <a:spLocks noGrp="1"/>
          </p:cNvSpPr>
          <p:nvPr/>
        </p:nvSpPr>
        <p:spPr>
          <a:xfrm>
            <a:off x="5715000" y="3943350"/>
            <a:ext cx="2762250" cy="323850"/>
          </a:xfrm>
          <a:prstGeom prst="rect">
            <a:avLst/>
          </a:prstGeom>
          <a:noFill/>
          <a:ln w="0">
            <a:noFill/>
          </a:ln>
        </p:spPr>
        <p:txBody>
          <a:bodyPr lIns="38100" tIns="19050" rIns="38100" bIns="19050" anchor="t">
            <a:normAutofit fontScale="83422" lnSpcReduction="10000"/>
          </a:bodyPr>
          <a:lstStyle/>
          <a:p>
            <a:pPr algn="l">
              <a:defRPr sz="1500" b="1" i="0">
                <a:solidFill>
                  <a:srgbClr val="C74634"/>
                </a:solidFill>
                <a:latin typeface="Montserrat"/>
                <a:ea typeface="Montserrat"/>
                <a:cs typeface="Montserrat"/>
              </a:defRPr>
            </a:pPr>
            <a:r>
              <a:rPr sz="1500" b="1" i="0">
                <a:solidFill>
                  <a:srgbClr val="C74634"/>
                </a:solidFill>
                <a:latin typeface="Montserrat"/>
                <a:ea typeface="Montserrat"/>
                <a:cs typeface="Montserrat"/>
              </a:rPr>
              <a:t>What makes plot C nonlinear?</a:t>
            </a:r>
          </a:p>
        </p:txBody>
      </p:sp>
    </p:spTree>
    <p:extLst>
      <p:ext uri="{BB962C8B-B14F-4D97-AF65-F5344CB8AC3E}">
        <p14:creationId xmlns:p14="http://schemas.microsoft.com/office/powerpoint/2010/main" val="1068496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CEE4296-354B-4F73-AFE7-7E62DFA0E53C}"/>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Association and nonlinearity</a:t>
            </a:r>
          </a:p>
        </p:txBody>
      </p:sp>
      <p:sp>
        <p:nvSpPr>
          <p:cNvPr id="2" name="Rectangle 1">
            <a:extLst>
              <a:ext uri="{FF2B5EF4-FFF2-40B4-BE49-F238E27FC236}">
                <a16:creationId xmlns:a16="http://schemas.microsoft.com/office/drawing/2014/main" id="{62D36EF3-9610-471C-A453-6FCFED1BED3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1FC1E78B-27C5-42FB-A83A-8928384391DB}"/>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512CB1A-1AE0-48DC-932D-5B8DC987D56A}"/>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E9A36C5-42DB-4D57-A1BD-20A025471A12}"/>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05</a:t>
            </a:r>
          </a:p>
        </p:txBody>
      </p:sp>
      <p:pic>
        <p:nvPicPr>
          <p:cNvPr id="16" name="Picture 15"/>
          <p:cNvPicPr>
            <a:picLocks noChangeAspect="1"/>
          </p:cNvPicPr>
          <p:nvPr/>
        </p:nvPicPr>
        <p:blipFill>
          <a:blip r:embed="rId3"/>
          <a:stretch/>
        </p:blipFill>
        <p:spPr>
          <a:xfrm>
            <a:off x="666750" y="1246406"/>
            <a:ext cx="4524375" cy="2860237"/>
          </a:xfrm>
          <a:prstGeom prst="rect">
            <a:avLst/>
          </a:prstGeom>
        </p:spPr>
      </p:pic>
      <p:sp>
        <p:nvSpPr>
          <p:cNvPr id="7" name="Rectangle 6">
            <a:extLst>
              <a:ext uri="{FF2B5EF4-FFF2-40B4-BE49-F238E27FC236}">
                <a16:creationId xmlns:a16="http://schemas.microsoft.com/office/drawing/2014/main" id="{55D78215-B006-4F0D-8F2E-3DE1537D827F}"/>
              </a:ext>
            </a:extLst>
          </p:cNvPr>
          <p:cNvSpPr>
            <a:spLocks noGrp="1"/>
          </p:cNvSpPr>
          <p:nvPr/>
        </p:nvSpPr>
        <p:spPr>
          <a:xfrm>
            <a:off x="5572125" y="1352550"/>
            <a:ext cx="2952750" cy="64770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A straight line assumes a nearly constant slope.</a:t>
            </a:r>
          </a:p>
        </p:txBody>
      </p:sp>
      <p:sp>
        <p:nvSpPr>
          <p:cNvPr id="8" name="Rectangle 7">
            <a:extLst>
              <a:ext uri="{FF2B5EF4-FFF2-40B4-BE49-F238E27FC236}">
                <a16:creationId xmlns:a16="http://schemas.microsoft.com/office/drawing/2014/main" id="{5AA9EF7E-0C2C-48F9-A74E-3B64CD48AB15}"/>
              </a:ext>
            </a:extLst>
          </p:cNvPr>
          <p:cNvSpPr>
            <a:spLocks noGrp="1"/>
          </p:cNvSpPr>
          <p:nvPr/>
        </p:nvSpPr>
        <p:spPr>
          <a:xfrm>
            <a:off x="5572125" y="2247900"/>
            <a:ext cx="2952750" cy="1066800"/>
          </a:xfrm>
          <a:prstGeom prst="rect">
            <a:avLst/>
          </a:prstGeom>
          <a:noFill/>
          <a:ln w="0">
            <a:noFill/>
          </a:ln>
        </p:spPr>
        <p:txBody>
          <a:bodyPr lIns="38100" tIns="19050" rIns="38100" bIns="19050" anchor="t">
            <a:normAutofit/>
          </a:bodyPr>
          <a:lstStyle/>
          <a:p>
            <a:pPr algn="l">
              <a:defRPr sz="1650" b="0" i="0">
                <a:solidFill>
                  <a:srgbClr val="2D2D2D"/>
                </a:solidFill>
                <a:latin typeface="Montserrat"/>
                <a:ea typeface="Montserrat"/>
                <a:cs typeface="Montserrat"/>
              </a:defRPr>
            </a:pPr>
            <a:r>
              <a:rPr sz="1650" b="0" i="0">
                <a:solidFill>
                  <a:srgbClr val="2D2D2D"/>
                </a:solidFill>
                <a:latin typeface="Montserrat"/>
                <a:ea typeface="Montserrat"/>
                <a:cs typeface="Montserrat"/>
              </a:rPr>
              <a:t>The pattern decreases steeply at first and then flattens. Its slope changes across the x-axis.</a:t>
            </a:r>
          </a:p>
        </p:txBody>
      </p:sp>
      <p:sp>
        <p:nvSpPr>
          <p:cNvPr id="9" name="Rectangle 8">
            <a:extLst>
              <a:ext uri="{FF2B5EF4-FFF2-40B4-BE49-F238E27FC236}">
                <a16:creationId xmlns:a16="http://schemas.microsoft.com/office/drawing/2014/main" id="{8AE83871-5B3B-450C-8CA9-DBFC1ADD646B}"/>
              </a:ext>
            </a:extLst>
          </p:cNvPr>
          <p:cNvSpPr>
            <a:spLocks noGrp="1"/>
          </p:cNvSpPr>
          <p:nvPr/>
        </p:nvSpPr>
        <p:spPr>
          <a:xfrm>
            <a:off x="5572125" y="3667125"/>
            <a:ext cx="2952750" cy="400050"/>
          </a:xfrm>
          <a:prstGeom prst="rect">
            <a:avLst/>
          </a:prstGeom>
          <a:noFill/>
          <a:ln w="0">
            <a:noFill/>
          </a:ln>
        </p:spPr>
        <p:txBody>
          <a:bodyPr lIns="38100" tIns="19050" rIns="38100" bIns="19050" anchor="t">
            <a:normAutofit fontScale="86257" lnSpcReduction="20000"/>
          </a:bodyPr>
          <a:lstStyle/>
          <a:p>
            <a:pPr algn="l">
              <a:defRPr sz="1650" b="1" i="0">
                <a:solidFill>
                  <a:srgbClr val="3E8853"/>
                </a:solidFill>
                <a:latin typeface="Montserrat"/>
                <a:ea typeface="Montserrat"/>
                <a:cs typeface="Montserrat"/>
              </a:defRPr>
            </a:pPr>
            <a:r>
              <a:rPr sz="1650" b="1" i="0">
                <a:solidFill>
                  <a:srgbClr val="3E8853"/>
                </a:solidFill>
                <a:latin typeface="Montserrat"/>
                <a:ea typeface="Montserrat"/>
                <a:cs typeface="Montserrat"/>
              </a:rPr>
              <a:t>Strong association can be nonlinear.</a:t>
            </a:r>
          </a:p>
        </p:txBody>
      </p:sp>
      <p:sp>
        <p:nvSpPr>
          <p:cNvPr id="10" name="Rectangle 9">
            <a:extLst>
              <a:ext uri="{FF2B5EF4-FFF2-40B4-BE49-F238E27FC236}">
                <a16:creationId xmlns:a16="http://schemas.microsoft.com/office/drawing/2014/main" id="{BD188A55-C042-4A7A-9368-F293AD2ADE16}"/>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3E8853"/>
                </a:solidFill>
                <a:latin typeface="Montserrat"/>
                <a:ea typeface="Montserrat"/>
                <a:cs typeface="Montserrat"/>
              </a:defRPr>
            </a:pPr>
            <a:r>
              <a:rPr sz="1200" b="1" i="0">
                <a:solidFill>
                  <a:srgbClr val="3E8853"/>
                </a:solidFill>
                <a:latin typeface="Montserrat"/>
                <a:ea typeface="Montserrat"/>
                <a:cs typeface="Montserrat"/>
              </a:rPr>
              <a:t>Q1: 96.8% correct</a:t>
            </a:r>
          </a:p>
        </p:txBody>
      </p:sp>
    </p:spTree>
    <p:extLst>
      <p:ext uri="{BB962C8B-B14F-4D97-AF65-F5344CB8AC3E}">
        <p14:creationId xmlns:p14="http://schemas.microsoft.com/office/powerpoint/2010/main" val="433095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54483AC-B848-4DAC-B317-9273DD23B5FA}"/>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questions 3–4 | The mean</a:t>
            </a:r>
          </a:p>
        </p:txBody>
      </p:sp>
      <p:sp>
        <p:nvSpPr>
          <p:cNvPr id="2" name="Rectangle 1">
            <a:extLst>
              <a:ext uri="{FF2B5EF4-FFF2-40B4-BE49-F238E27FC236}">
                <a16:creationId xmlns:a16="http://schemas.microsoft.com/office/drawing/2014/main" id="{F1C924F7-0A5F-4146-B0C7-59B296025E88}"/>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8B6C8FB7-3A94-4D50-B4A4-9C0B4A814A67}"/>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5B282CE7-756A-45DC-9414-C2F701AFBDAE}"/>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76160F14-C1CA-42F6-A97C-E8FEDF850B5A}"/>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06</a:t>
            </a:r>
          </a:p>
        </p:txBody>
      </p:sp>
      <p:sp>
        <p:nvSpPr>
          <p:cNvPr id="6" name="Rectangle 5">
            <a:extLst>
              <a:ext uri="{FF2B5EF4-FFF2-40B4-BE49-F238E27FC236}">
                <a16:creationId xmlns:a16="http://schemas.microsoft.com/office/drawing/2014/main" id="{966E2C87-1BB0-439E-8CCC-4FC9AA22044F}"/>
              </a:ext>
            </a:extLst>
          </p:cNvPr>
          <p:cNvSpPr>
            <a:spLocks noGrp="1"/>
          </p:cNvSpPr>
          <p:nvPr/>
        </p:nvSpPr>
        <p:spPr>
          <a:xfrm>
            <a:off x="781050" y="1219200"/>
            <a:ext cx="7572375" cy="514350"/>
          </a:xfrm>
          <a:prstGeom prst="rect">
            <a:avLst/>
          </a:prstGeom>
          <a:noFill/>
          <a:ln w="0">
            <a:noFill/>
          </a:ln>
        </p:spPr>
        <p:txBody>
          <a:bodyPr lIns="38100" tIns="19050" rIns="38100" bIns="19050" anchor="t">
            <a:normAutofit/>
          </a:bodyPr>
          <a:lstStyle/>
          <a:p>
            <a:pPr algn="ctr">
              <a:defRPr sz="2100" b="1" i="0">
                <a:solidFill>
                  <a:srgbClr val="2D2D2D"/>
                </a:solidFill>
                <a:latin typeface="Montserrat"/>
                <a:ea typeface="Montserrat"/>
                <a:cs typeface="Montserrat"/>
              </a:defRPr>
            </a:pPr>
            <a:r>
              <a:rPr sz="2100" b="1" i="0" dirty="0">
                <a:solidFill>
                  <a:srgbClr val="2D2D2D"/>
                </a:solidFill>
                <a:latin typeface="Montserrat"/>
                <a:ea typeface="Montserrat"/>
                <a:cs typeface="Montserrat"/>
              </a:rPr>
              <a:t>In x̄ = (x₁ + x₂ + … + xₙ) / n, what does n represent?</a:t>
            </a:r>
          </a:p>
        </p:txBody>
      </p:sp>
      <p:sp>
        <p:nvSpPr>
          <p:cNvPr id="7" name="Rectangle 6">
            <a:extLst>
              <a:ext uri="{FF2B5EF4-FFF2-40B4-BE49-F238E27FC236}">
                <a16:creationId xmlns:a16="http://schemas.microsoft.com/office/drawing/2014/main" id="{739DCAEC-60E7-4FA7-ACEA-16CD981C3966}"/>
              </a:ext>
            </a:extLst>
          </p:cNvPr>
          <p:cNvSpPr>
            <a:spLocks noGrp="1"/>
          </p:cNvSpPr>
          <p:nvPr/>
        </p:nvSpPr>
        <p:spPr>
          <a:xfrm>
            <a:off x="2047875" y="1952625"/>
            <a:ext cx="5143500" cy="1666875"/>
          </a:xfrm>
          <a:prstGeom prst="rect">
            <a:avLst/>
          </a:prstGeom>
          <a:noFill/>
          <a:ln w="0">
            <a:noFill/>
          </a:ln>
        </p:spPr>
        <p:txBody>
          <a:bodyPr lIns="47625" tIns="19050" rIns="47625" bIns="19050" anchor="t">
            <a:normAutofit/>
          </a:bodyPr>
          <a:lstStyle/>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A. </a:t>
            </a:r>
            <a:r>
              <a:rPr sz="1500" b="0">
                <a:solidFill>
                  <a:srgbClr val="2D2D2D"/>
                </a:solidFill>
                <a:latin typeface="Montserrat"/>
                <a:ea typeface="Montserrat"/>
                <a:cs typeface="Montserrat"/>
              </a:rPr>
              <a:t>The number of observations in the sample</a:t>
            </a:r>
          </a:p>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B. </a:t>
            </a:r>
            <a:r>
              <a:rPr sz="1500" b="0">
                <a:solidFill>
                  <a:srgbClr val="2D2D2D"/>
                </a:solidFill>
                <a:latin typeface="Montserrat"/>
                <a:ea typeface="Montserrat"/>
                <a:cs typeface="Montserrat"/>
              </a:rPr>
              <a:t>The numerical value of the final observation</a:t>
            </a:r>
          </a:p>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C. </a:t>
            </a:r>
            <a:r>
              <a:rPr sz="1500" b="0">
                <a:solidFill>
                  <a:srgbClr val="2D2D2D"/>
                </a:solidFill>
                <a:latin typeface="Montserrat"/>
                <a:ea typeface="Montserrat"/>
                <a:cs typeface="Montserrat"/>
              </a:rPr>
              <a:t>The population mean</a:t>
            </a:r>
          </a:p>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D. </a:t>
            </a:r>
            <a:r>
              <a:rPr sz="1500" b="0">
                <a:solidFill>
                  <a:srgbClr val="2D2D2D"/>
                </a:solidFill>
                <a:latin typeface="Montserrat"/>
                <a:ea typeface="Montserrat"/>
                <a:cs typeface="Montserrat"/>
              </a:rPr>
              <a:t>The number of variables in every data set</a:t>
            </a:r>
          </a:p>
        </p:txBody>
      </p:sp>
      <p:sp>
        <p:nvSpPr>
          <p:cNvPr id="8" name="Rectangle 7">
            <a:extLst>
              <a:ext uri="{FF2B5EF4-FFF2-40B4-BE49-F238E27FC236}">
                <a16:creationId xmlns:a16="http://schemas.microsoft.com/office/drawing/2014/main" id="{ADB7E995-64B0-4B12-ADC2-E52F168D6DCB}"/>
              </a:ext>
            </a:extLst>
          </p:cNvPr>
          <p:cNvSpPr>
            <a:spLocks noGrp="1"/>
          </p:cNvSpPr>
          <p:nvPr/>
        </p:nvSpPr>
        <p:spPr>
          <a:xfrm>
            <a:off x="1524000" y="3733800"/>
            <a:ext cx="6096000" cy="9525"/>
          </a:xfrm>
          <a:prstGeom prst="rect">
            <a:avLst/>
          </a:prstGeom>
          <a:solidFill>
            <a:srgbClr val="C9D8E0"/>
          </a:solidFill>
          <a:ln w="0">
            <a:noFill/>
          </a:ln>
        </p:spPr>
      </p:sp>
      <p:sp>
        <p:nvSpPr>
          <p:cNvPr id="9" name="Rectangle 8">
            <a:extLst>
              <a:ext uri="{FF2B5EF4-FFF2-40B4-BE49-F238E27FC236}">
                <a16:creationId xmlns:a16="http://schemas.microsoft.com/office/drawing/2014/main" id="{FFE83E07-B55F-44B2-8A6C-1A560916FF10}"/>
              </a:ext>
            </a:extLst>
          </p:cNvPr>
          <p:cNvSpPr>
            <a:spLocks noGrp="1"/>
          </p:cNvSpPr>
          <p:nvPr/>
        </p:nvSpPr>
        <p:spPr>
          <a:xfrm>
            <a:off x="2000250" y="3943350"/>
            <a:ext cx="5143500" cy="400050"/>
          </a:xfrm>
          <a:prstGeom prst="rect">
            <a:avLst/>
          </a:prstGeom>
          <a:noFill/>
          <a:ln w="0">
            <a:noFill/>
          </a:ln>
        </p:spPr>
        <p:txBody>
          <a:bodyPr lIns="38100" tIns="19050" rIns="38100" bIns="19050" anchor="t">
            <a:normAutofit/>
          </a:bodyPr>
          <a:lstStyle/>
          <a:p>
            <a:pPr algn="ctr">
              <a:defRPr sz="1950" b="1" i="0">
                <a:solidFill>
                  <a:srgbClr val="C74634"/>
                </a:solidFill>
                <a:latin typeface="Montserrat"/>
                <a:ea typeface="Montserrat"/>
                <a:cs typeface="Montserrat"/>
              </a:defRPr>
            </a:pPr>
            <a:r>
              <a:rPr sz="1950" b="1" i="0">
                <a:solidFill>
                  <a:srgbClr val="C74634"/>
                </a:solidFill>
                <a:latin typeface="Montserrat"/>
                <a:ea typeface="Montserrat"/>
                <a:cs typeface="Montserrat"/>
              </a:rPr>
              <a:t>Compute the mean of 1, 2, 1, 2, 4.</a:t>
            </a:r>
          </a:p>
        </p:txBody>
      </p:sp>
      <p:sp>
        <p:nvSpPr>
          <p:cNvPr id="11" name="TextBox 10">
            <a:extLst>
              <a:ext uri="{FF2B5EF4-FFF2-40B4-BE49-F238E27FC236}">
                <a16:creationId xmlns:a16="http://schemas.microsoft.com/office/drawing/2014/main" id="{109BE73D-D820-3A02-8D47-65615AD73D7D}"/>
              </a:ext>
            </a:extLst>
          </p:cNvPr>
          <p:cNvSpPr txBox="1"/>
          <p:nvPr/>
        </p:nvSpPr>
        <p:spPr>
          <a:xfrm>
            <a:off x="6783186" y="1643777"/>
            <a:ext cx="2252749" cy="2585323"/>
          </a:xfrm>
          <a:prstGeom prst="rect">
            <a:avLst/>
          </a:prstGeom>
          <a:noFill/>
        </p:spPr>
        <p:txBody>
          <a:bodyPr wrap="square" rtlCol="0">
            <a:spAutoFit/>
          </a:bodyPr>
          <a:lstStyle/>
          <a:p>
            <a:r>
              <a:rPr lang="en-US" dirty="0">
                <a:highlight>
                  <a:srgbClr val="FFFF00"/>
                </a:highlight>
              </a:rPr>
              <a:t>X is the variable name; </a:t>
            </a:r>
          </a:p>
          <a:p>
            <a:endParaRPr lang="en-US" dirty="0">
              <a:highlight>
                <a:srgbClr val="FFFF00"/>
              </a:highlight>
            </a:endParaRPr>
          </a:p>
          <a:p>
            <a:r>
              <a:rPr lang="en-US" dirty="0">
                <a:solidFill>
                  <a:srgbClr val="2D2D2D"/>
                </a:solidFill>
                <a:highlight>
                  <a:srgbClr val="FFFF00"/>
                </a:highlight>
                <a:ea typeface="Montserrat"/>
                <a:cs typeface="Montserrat"/>
              </a:rPr>
              <a:t>x₁ is the first value for case #1</a:t>
            </a:r>
          </a:p>
          <a:p>
            <a:endParaRPr lang="en-US" dirty="0">
              <a:solidFill>
                <a:srgbClr val="2D2D2D"/>
              </a:solidFill>
              <a:highlight>
                <a:srgbClr val="FFFF00"/>
              </a:highlight>
            </a:endParaRPr>
          </a:p>
          <a:p>
            <a:r>
              <a:rPr lang="en-US" dirty="0">
                <a:solidFill>
                  <a:srgbClr val="2D2D2D"/>
                </a:solidFill>
                <a:highlight>
                  <a:srgbClr val="FFFF00"/>
                </a:highlight>
              </a:rPr>
              <a:t>Mean is a summary of all observed values of this variable</a:t>
            </a:r>
            <a:endParaRPr lang="en-US" dirty="0">
              <a:highlight>
                <a:srgbClr val="FFFF00"/>
              </a:highlight>
            </a:endParaRPr>
          </a:p>
        </p:txBody>
      </p:sp>
    </p:spTree>
    <p:extLst>
      <p:ext uri="{BB962C8B-B14F-4D97-AF65-F5344CB8AC3E}">
        <p14:creationId xmlns:p14="http://schemas.microsoft.com/office/powerpoint/2010/main" val="1198607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F314642-4628-4294-AD63-0AA49E388FB1}"/>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Mean notation in one example</a:t>
            </a:r>
          </a:p>
        </p:txBody>
      </p:sp>
      <p:sp>
        <p:nvSpPr>
          <p:cNvPr id="2" name="Rectangle 1">
            <a:extLst>
              <a:ext uri="{FF2B5EF4-FFF2-40B4-BE49-F238E27FC236}">
                <a16:creationId xmlns:a16="http://schemas.microsoft.com/office/drawing/2014/main" id="{3AF21A49-B2CE-4CC4-87EF-892BC7974A5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CC82A9D9-559D-46EC-BE03-97BEA4C2D0C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0942242-AC66-4A4F-B39D-CE46CCB2D21F}"/>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DEAD73C5-95F2-469A-A0F7-76153656EFD6}"/>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07</a:t>
            </a:r>
          </a:p>
        </p:txBody>
      </p:sp>
      <p:sp>
        <p:nvSpPr>
          <p:cNvPr id="6" name="Rectangle 5">
            <a:extLst>
              <a:ext uri="{FF2B5EF4-FFF2-40B4-BE49-F238E27FC236}">
                <a16:creationId xmlns:a16="http://schemas.microsoft.com/office/drawing/2014/main" id="{B4A11650-3F9C-49C5-8C35-E065E337C2F5}"/>
              </a:ext>
            </a:extLst>
          </p:cNvPr>
          <p:cNvSpPr>
            <a:spLocks noGrp="1"/>
          </p:cNvSpPr>
          <p:nvPr/>
        </p:nvSpPr>
        <p:spPr>
          <a:xfrm>
            <a:off x="1047750" y="1447800"/>
            <a:ext cx="3143250" cy="476250"/>
          </a:xfrm>
          <a:prstGeom prst="rect">
            <a:avLst/>
          </a:prstGeom>
          <a:noFill/>
          <a:ln w="0">
            <a:noFill/>
          </a:ln>
        </p:spPr>
        <p:txBody>
          <a:bodyPr lIns="38100" tIns="19050" rIns="38100" bIns="19050" anchor="t">
            <a:normAutofit/>
          </a:bodyPr>
          <a:lstStyle/>
          <a:p>
            <a:pPr algn="ctr">
              <a:defRPr sz="2400" b="1" i="0">
                <a:solidFill>
                  <a:srgbClr val="1D4F91"/>
                </a:solidFill>
                <a:latin typeface="Montserrat"/>
                <a:ea typeface="Montserrat"/>
                <a:cs typeface="Montserrat"/>
              </a:defRPr>
            </a:pPr>
            <a:r>
              <a:rPr sz="2400" b="1" i="0">
                <a:solidFill>
                  <a:srgbClr val="1D4F91"/>
                </a:solidFill>
                <a:latin typeface="Montserrat"/>
                <a:ea typeface="Montserrat"/>
                <a:cs typeface="Montserrat"/>
              </a:rPr>
              <a:t>x₁ + x₂ + … + xₙ</a:t>
            </a:r>
          </a:p>
        </p:txBody>
      </p:sp>
      <p:sp>
        <p:nvSpPr>
          <p:cNvPr id="7" name="Rectangle 6">
            <a:extLst>
              <a:ext uri="{FF2B5EF4-FFF2-40B4-BE49-F238E27FC236}">
                <a16:creationId xmlns:a16="http://schemas.microsoft.com/office/drawing/2014/main" id="{8D7D0B0A-2F13-47C1-BD64-2727083FAD51}"/>
              </a:ext>
            </a:extLst>
          </p:cNvPr>
          <p:cNvSpPr>
            <a:spLocks noGrp="1"/>
          </p:cNvSpPr>
          <p:nvPr/>
        </p:nvSpPr>
        <p:spPr>
          <a:xfrm>
            <a:off x="1047750" y="2000250"/>
            <a:ext cx="3143250" cy="323850"/>
          </a:xfrm>
          <a:prstGeom prst="rect">
            <a:avLst/>
          </a:prstGeom>
          <a:noFill/>
          <a:ln w="0">
            <a:noFill/>
          </a:ln>
        </p:spPr>
        <p:txBody>
          <a:bodyPr lIns="38100" tIns="19050" rIns="38100" bIns="19050" anchor="t">
            <a:normAutofit/>
          </a:bodyPr>
          <a:lstStyle/>
          <a:p>
            <a:pPr algn="ctr">
              <a:defRPr sz="1425" b="0" i="0">
                <a:solidFill>
                  <a:srgbClr val="5F6B73"/>
                </a:solidFill>
                <a:latin typeface="Montserrat"/>
                <a:ea typeface="Montserrat"/>
                <a:cs typeface="Montserrat"/>
              </a:defRPr>
            </a:pPr>
            <a:r>
              <a:rPr sz="1425" b="0" i="0">
                <a:solidFill>
                  <a:srgbClr val="5F6B73"/>
                </a:solidFill>
                <a:latin typeface="Montserrat"/>
                <a:ea typeface="Montserrat"/>
                <a:cs typeface="Montserrat"/>
              </a:rPr>
              <a:t>the observed values</a:t>
            </a:r>
          </a:p>
        </p:txBody>
      </p:sp>
      <p:sp>
        <p:nvSpPr>
          <p:cNvPr id="8" name="Rectangle 7">
            <a:extLst>
              <a:ext uri="{FF2B5EF4-FFF2-40B4-BE49-F238E27FC236}">
                <a16:creationId xmlns:a16="http://schemas.microsoft.com/office/drawing/2014/main" id="{2C716B3B-C086-4C35-9B3D-41010FC05583}"/>
              </a:ext>
            </a:extLst>
          </p:cNvPr>
          <p:cNvSpPr>
            <a:spLocks noGrp="1"/>
          </p:cNvSpPr>
          <p:nvPr/>
        </p:nvSpPr>
        <p:spPr>
          <a:xfrm>
            <a:off x="4953000" y="1447800"/>
            <a:ext cx="2095500" cy="476250"/>
          </a:xfrm>
          <a:prstGeom prst="rect">
            <a:avLst/>
          </a:prstGeom>
          <a:noFill/>
          <a:ln w="0">
            <a:noFill/>
          </a:ln>
        </p:spPr>
        <p:txBody>
          <a:bodyPr lIns="38100" tIns="19050" rIns="38100" bIns="19050" anchor="t">
            <a:normAutofit/>
          </a:bodyPr>
          <a:lstStyle/>
          <a:p>
            <a:pPr algn="ctr">
              <a:defRPr sz="2700" b="1" i="0">
                <a:solidFill>
                  <a:srgbClr val="C74634"/>
                </a:solidFill>
                <a:latin typeface="Montserrat"/>
                <a:ea typeface="Montserrat"/>
                <a:cs typeface="Montserrat"/>
              </a:defRPr>
            </a:pPr>
            <a:r>
              <a:rPr sz="2700" b="1" i="0">
                <a:solidFill>
                  <a:srgbClr val="C74634"/>
                </a:solidFill>
                <a:latin typeface="Montserrat"/>
                <a:ea typeface="Montserrat"/>
                <a:cs typeface="Montserrat"/>
              </a:rPr>
              <a:t>n</a:t>
            </a:r>
          </a:p>
        </p:txBody>
      </p:sp>
      <p:sp>
        <p:nvSpPr>
          <p:cNvPr id="9" name="Rectangle 8">
            <a:extLst>
              <a:ext uri="{FF2B5EF4-FFF2-40B4-BE49-F238E27FC236}">
                <a16:creationId xmlns:a16="http://schemas.microsoft.com/office/drawing/2014/main" id="{12174685-43E5-4532-92BA-88ECADA51C4C}"/>
              </a:ext>
            </a:extLst>
          </p:cNvPr>
          <p:cNvSpPr>
            <a:spLocks noGrp="1"/>
          </p:cNvSpPr>
          <p:nvPr/>
        </p:nvSpPr>
        <p:spPr>
          <a:xfrm>
            <a:off x="4572000" y="2000250"/>
            <a:ext cx="2857500" cy="323850"/>
          </a:xfrm>
          <a:prstGeom prst="rect">
            <a:avLst/>
          </a:prstGeom>
          <a:noFill/>
          <a:ln w="0">
            <a:noFill/>
          </a:ln>
        </p:spPr>
        <p:txBody>
          <a:bodyPr lIns="38100" tIns="19050" rIns="38100" bIns="19050" anchor="t">
            <a:normAutofit/>
          </a:bodyPr>
          <a:lstStyle/>
          <a:p>
            <a:pPr algn="ctr">
              <a:defRPr sz="1425" b="0" i="0">
                <a:solidFill>
                  <a:srgbClr val="5F6B73"/>
                </a:solidFill>
                <a:latin typeface="Montserrat"/>
                <a:ea typeface="Montserrat"/>
                <a:cs typeface="Montserrat"/>
              </a:defRPr>
            </a:pPr>
            <a:r>
              <a:rPr sz="1425" b="0" i="0">
                <a:solidFill>
                  <a:srgbClr val="5F6B73"/>
                </a:solidFill>
                <a:latin typeface="Montserrat"/>
                <a:ea typeface="Montserrat"/>
                <a:cs typeface="Montserrat"/>
              </a:rPr>
              <a:t>the number of observations</a:t>
            </a:r>
          </a:p>
        </p:txBody>
      </p:sp>
      <p:sp>
        <p:nvSpPr>
          <p:cNvPr id="10" name="Rectangle 9">
            <a:extLst>
              <a:ext uri="{FF2B5EF4-FFF2-40B4-BE49-F238E27FC236}">
                <a16:creationId xmlns:a16="http://schemas.microsoft.com/office/drawing/2014/main" id="{BD7AB294-B325-478E-B984-C13DAEA3F052}"/>
              </a:ext>
            </a:extLst>
          </p:cNvPr>
          <p:cNvSpPr>
            <a:spLocks noGrp="1"/>
          </p:cNvSpPr>
          <p:nvPr/>
        </p:nvSpPr>
        <p:spPr>
          <a:xfrm>
            <a:off x="952500" y="2619375"/>
            <a:ext cx="7239000" cy="9525"/>
          </a:xfrm>
          <a:prstGeom prst="rect">
            <a:avLst/>
          </a:prstGeom>
          <a:solidFill>
            <a:srgbClr val="C9D8E0"/>
          </a:solidFill>
          <a:ln w="0">
            <a:noFill/>
          </a:ln>
        </p:spPr>
      </p:sp>
      <p:sp>
        <p:nvSpPr>
          <p:cNvPr id="11" name="Rectangle 10">
            <a:extLst>
              <a:ext uri="{FF2B5EF4-FFF2-40B4-BE49-F238E27FC236}">
                <a16:creationId xmlns:a16="http://schemas.microsoft.com/office/drawing/2014/main" id="{5118E6E9-C02B-4E5C-8052-F0113CEA3B12}"/>
              </a:ext>
            </a:extLst>
          </p:cNvPr>
          <p:cNvSpPr>
            <a:spLocks noGrp="1"/>
          </p:cNvSpPr>
          <p:nvPr/>
        </p:nvSpPr>
        <p:spPr>
          <a:xfrm>
            <a:off x="1333500" y="2952750"/>
            <a:ext cx="6477000" cy="428625"/>
          </a:xfrm>
          <a:prstGeom prst="rect">
            <a:avLst/>
          </a:prstGeom>
          <a:noFill/>
          <a:ln w="0">
            <a:noFill/>
          </a:ln>
        </p:spPr>
        <p:txBody>
          <a:bodyPr lIns="38100" tIns="19050" rIns="38100" bIns="19050" anchor="t">
            <a:normAutofit/>
          </a:bodyPr>
          <a:lstStyle/>
          <a:p>
            <a:pPr algn="ctr">
              <a:defRPr sz="2250" b="1" i="0">
                <a:solidFill>
                  <a:srgbClr val="2D2D2D"/>
                </a:solidFill>
                <a:latin typeface="Montserrat"/>
                <a:ea typeface="Montserrat"/>
                <a:cs typeface="Montserrat"/>
              </a:defRPr>
            </a:pPr>
            <a:r>
              <a:rPr sz="2250" b="1" i="0">
                <a:solidFill>
                  <a:srgbClr val="2D2D2D"/>
                </a:solidFill>
                <a:latin typeface="Montserrat"/>
                <a:ea typeface="Montserrat"/>
                <a:cs typeface="Montserrat"/>
              </a:rPr>
              <a:t>1 + 2 + 1 + 2 + 4 = 10</a:t>
            </a:r>
          </a:p>
        </p:txBody>
      </p:sp>
      <p:sp>
        <p:nvSpPr>
          <p:cNvPr id="12" name="Rectangle 11">
            <a:extLst>
              <a:ext uri="{FF2B5EF4-FFF2-40B4-BE49-F238E27FC236}">
                <a16:creationId xmlns:a16="http://schemas.microsoft.com/office/drawing/2014/main" id="{9532D11C-DFB5-4101-BC00-691C093E727C}"/>
              </a:ext>
            </a:extLst>
          </p:cNvPr>
          <p:cNvSpPr>
            <a:spLocks noGrp="1"/>
          </p:cNvSpPr>
          <p:nvPr/>
        </p:nvSpPr>
        <p:spPr>
          <a:xfrm>
            <a:off x="2381250" y="3571875"/>
            <a:ext cx="4381500" cy="533400"/>
          </a:xfrm>
          <a:prstGeom prst="rect">
            <a:avLst/>
          </a:prstGeom>
          <a:noFill/>
          <a:ln w="0">
            <a:noFill/>
          </a:ln>
        </p:spPr>
        <p:txBody>
          <a:bodyPr lIns="38100" tIns="19050" rIns="38100" bIns="19050" anchor="t">
            <a:normAutofit/>
          </a:bodyPr>
          <a:lstStyle/>
          <a:p>
            <a:pPr algn="ctr">
              <a:defRPr sz="3000" b="1" i="0">
                <a:solidFill>
                  <a:srgbClr val="3E8853"/>
                </a:solidFill>
                <a:latin typeface="Montserrat"/>
                <a:ea typeface="Montserrat"/>
                <a:cs typeface="Montserrat"/>
              </a:defRPr>
            </a:pPr>
            <a:r>
              <a:rPr sz="3000" b="1" i="0">
                <a:solidFill>
                  <a:srgbClr val="3E8853"/>
                </a:solidFill>
                <a:latin typeface="Montserrat"/>
                <a:ea typeface="Montserrat"/>
                <a:cs typeface="Montserrat"/>
              </a:rPr>
              <a:t>10 / 5 = 2</a:t>
            </a:r>
          </a:p>
        </p:txBody>
      </p:sp>
      <p:sp>
        <p:nvSpPr>
          <p:cNvPr id="13" name="Rectangle 12">
            <a:extLst>
              <a:ext uri="{FF2B5EF4-FFF2-40B4-BE49-F238E27FC236}">
                <a16:creationId xmlns:a16="http://schemas.microsoft.com/office/drawing/2014/main" id="{F1561B92-7DF5-48E4-B1F7-7CE235155AF8}"/>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Q3: 84.1% correct</a:t>
            </a:r>
          </a:p>
        </p:txBody>
      </p:sp>
    </p:spTree>
    <p:extLst>
      <p:ext uri="{BB962C8B-B14F-4D97-AF65-F5344CB8AC3E}">
        <p14:creationId xmlns:p14="http://schemas.microsoft.com/office/powerpoint/2010/main" val="1284887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AC57F0E-F472-44E8-986C-EF76A6DFEC12}"/>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questions 5–6 | A 0/1 variable</a:t>
            </a:r>
          </a:p>
        </p:txBody>
      </p:sp>
      <p:sp>
        <p:nvSpPr>
          <p:cNvPr id="2" name="Rectangle 1">
            <a:extLst>
              <a:ext uri="{FF2B5EF4-FFF2-40B4-BE49-F238E27FC236}">
                <a16:creationId xmlns:a16="http://schemas.microsoft.com/office/drawing/2014/main" id="{60406875-611A-4F7A-835A-28144695EA3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169A5EF-9966-43EB-AECA-9509847215D6}"/>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4C7463A3-5468-49C6-8490-D07B7C07B43C}"/>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7E4DE91-AE89-4AE5-83D6-80F18D8DD987}"/>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08</a:t>
            </a:r>
          </a:p>
        </p:txBody>
      </p:sp>
      <p:sp>
        <p:nvSpPr>
          <p:cNvPr id="6" name="Rectangle 5">
            <a:extLst>
              <a:ext uri="{FF2B5EF4-FFF2-40B4-BE49-F238E27FC236}">
                <a16:creationId xmlns:a16="http://schemas.microsoft.com/office/drawing/2014/main" id="{A181FA73-B5F9-448E-A6A0-222F2FDD7D8F}"/>
              </a:ext>
            </a:extLst>
          </p:cNvPr>
          <p:cNvSpPr>
            <a:spLocks noGrp="1"/>
          </p:cNvSpPr>
          <p:nvPr/>
        </p:nvSpPr>
        <p:spPr>
          <a:xfrm>
            <a:off x="781050" y="1219200"/>
            <a:ext cx="2857500" cy="304800"/>
          </a:xfrm>
          <a:prstGeom prst="rect">
            <a:avLst/>
          </a:prstGeom>
          <a:noFill/>
          <a:ln w="0">
            <a:noFill/>
          </a:ln>
        </p:spPr>
        <p:txBody>
          <a:bodyPr lIns="38100" tIns="19050" rIns="38100" bIns="19050" anchor="t">
            <a:normAutofit/>
          </a:bodyPr>
          <a:lstStyle/>
          <a:p>
            <a:pPr algn="l">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Eight service requests</a:t>
            </a:r>
          </a:p>
        </p:txBody>
      </p:sp>
      <p:sp>
        <p:nvSpPr>
          <p:cNvPr id="7" name="Rectangle 6">
            <a:extLst>
              <a:ext uri="{FF2B5EF4-FFF2-40B4-BE49-F238E27FC236}">
                <a16:creationId xmlns:a16="http://schemas.microsoft.com/office/drawing/2014/main" id="{D72A1FDA-36C1-4F01-B925-446F7621F061}"/>
              </a:ext>
            </a:extLst>
          </p:cNvPr>
          <p:cNvSpPr>
            <a:spLocks noGrp="1"/>
          </p:cNvSpPr>
          <p:nvPr/>
        </p:nvSpPr>
        <p:spPr>
          <a:xfrm>
            <a:off x="781050" y="1600200"/>
            <a:ext cx="4762500" cy="476250"/>
          </a:xfrm>
          <a:prstGeom prst="rect">
            <a:avLst/>
          </a:prstGeom>
          <a:noFill/>
          <a:ln w="0">
            <a:noFill/>
          </a:ln>
        </p:spPr>
        <p:txBody>
          <a:bodyPr lIns="38100" tIns="19050" rIns="38100" bIns="19050" anchor="t">
            <a:normAutofit/>
          </a:bodyPr>
          <a:lstStyle/>
          <a:p>
            <a:pPr algn="l">
              <a:defRPr sz="2550" b="1" i="0">
                <a:solidFill>
                  <a:srgbClr val="2D2D2D"/>
                </a:solidFill>
                <a:latin typeface="Montserrat"/>
                <a:ea typeface="Montserrat"/>
                <a:cs typeface="Montserrat"/>
              </a:defRPr>
            </a:pPr>
            <a:r>
              <a:rPr sz="2550" b="1" i="0">
                <a:solidFill>
                  <a:srgbClr val="2D2D2D"/>
                </a:solidFill>
                <a:latin typeface="Montserrat"/>
                <a:ea typeface="Montserrat"/>
                <a:cs typeface="Montserrat"/>
              </a:rPr>
              <a:t>1, 0, 1, 1, 0, 0, 1, 1</a:t>
            </a:r>
          </a:p>
        </p:txBody>
      </p:sp>
      <p:sp>
        <p:nvSpPr>
          <p:cNvPr id="8" name="Rectangle 7">
            <a:extLst>
              <a:ext uri="{FF2B5EF4-FFF2-40B4-BE49-F238E27FC236}">
                <a16:creationId xmlns:a16="http://schemas.microsoft.com/office/drawing/2014/main" id="{FA898720-A2B4-40F9-B852-A71F7D203195}"/>
              </a:ext>
            </a:extLst>
          </p:cNvPr>
          <p:cNvSpPr>
            <a:spLocks noGrp="1"/>
          </p:cNvSpPr>
          <p:nvPr/>
        </p:nvSpPr>
        <p:spPr>
          <a:xfrm>
            <a:off x="781050" y="2152650"/>
            <a:ext cx="5752754" cy="400050"/>
          </a:xfrm>
          <a:prstGeom prst="rect">
            <a:avLst/>
          </a:prstGeom>
          <a:noFill/>
          <a:ln w="0">
            <a:noFill/>
          </a:ln>
        </p:spPr>
        <p:txBody>
          <a:bodyPr lIns="38100" tIns="19050" rIns="38100" bIns="19050" anchor="t">
            <a:normAutofit/>
          </a:bodyPr>
          <a:lstStyle/>
          <a:p>
            <a:pPr algn="l">
              <a:defRPr sz="1500" b="0" i="0">
                <a:solidFill>
                  <a:srgbClr val="2D2D2D"/>
                </a:solidFill>
                <a:latin typeface="Montserrat"/>
                <a:ea typeface="Montserrat"/>
                <a:cs typeface="Montserrat"/>
              </a:defRPr>
            </a:pPr>
            <a:r>
              <a:rPr sz="1500" b="0" i="0" dirty="0">
                <a:solidFill>
                  <a:srgbClr val="2D2D2D"/>
                </a:solidFill>
                <a:latin typeface="Montserrat"/>
                <a:ea typeface="Montserrat"/>
                <a:cs typeface="Montserrat"/>
              </a:rPr>
              <a:t>1 means resolved within one day. 0 means otherwise.</a:t>
            </a:r>
          </a:p>
        </p:txBody>
      </p:sp>
      <p:sp>
        <p:nvSpPr>
          <p:cNvPr id="9" name="Rectangle 8">
            <a:extLst>
              <a:ext uri="{FF2B5EF4-FFF2-40B4-BE49-F238E27FC236}">
                <a16:creationId xmlns:a16="http://schemas.microsoft.com/office/drawing/2014/main" id="{F6427DAC-CABD-40FB-827A-A1688C1857E1}"/>
              </a:ext>
            </a:extLst>
          </p:cNvPr>
          <p:cNvSpPr>
            <a:spLocks noGrp="1"/>
          </p:cNvSpPr>
          <p:nvPr/>
        </p:nvSpPr>
        <p:spPr>
          <a:xfrm>
            <a:off x="781050" y="2905125"/>
            <a:ext cx="3524250" cy="342900"/>
          </a:xfrm>
          <a:prstGeom prst="rect">
            <a:avLst/>
          </a:prstGeom>
          <a:noFill/>
          <a:ln w="0">
            <a:noFill/>
          </a:ln>
        </p:spPr>
        <p:txBody>
          <a:bodyPr lIns="38100" tIns="19050" rIns="38100" bIns="19050" anchor="t">
            <a:normAutofit fontScale="76473" lnSpcReduction="20000"/>
          </a:bodyPr>
          <a:lstStyle/>
          <a:p>
            <a:pPr algn="l">
              <a:defRPr sz="1800" b="1" i="0">
                <a:solidFill>
                  <a:srgbClr val="C74634"/>
                </a:solidFill>
                <a:latin typeface="Montserrat"/>
                <a:ea typeface="Montserrat"/>
                <a:cs typeface="Montserrat"/>
              </a:defRPr>
            </a:pPr>
            <a:r>
              <a:rPr sz="1800" b="1" i="0">
                <a:solidFill>
                  <a:srgbClr val="C74634"/>
                </a:solidFill>
                <a:latin typeface="Montserrat"/>
                <a:ea typeface="Montserrat"/>
                <a:cs typeface="Montserrat"/>
              </a:rPr>
              <a:t>Q5. What does the sum represent?</a:t>
            </a:r>
          </a:p>
        </p:txBody>
      </p:sp>
      <p:sp>
        <p:nvSpPr>
          <p:cNvPr id="10" name="Rectangle 9">
            <a:extLst>
              <a:ext uri="{FF2B5EF4-FFF2-40B4-BE49-F238E27FC236}">
                <a16:creationId xmlns:a16="http://schemas.microsoft.com/office/drawing/2014/main" id="{A9394A8B-F35E-4F83-A4C0-64F5252CE352}"/>
              </a:ext>
            </a:extLst>
          </p:cNvPr>
          <p:cNvSpPr>
            <a:spLocks noGrp="1"/>
          </p:cNvSpPr>
          <p:nvPr/>
        </p:nvSpPr>
        <p:spPr>
          <a:xfrm>
            <a:off x="781050" y="3333750"/>
            <a:ext cx="3810000" cy="1257300"/>
          </a:xfrm>
          <a:prstGeom prst="rect">
            <a:avLst/>
          </a:prstGeom>
          <a:noFill/>
          <a:ln w="0">
            <a:noFill/>
          </a:ln>
        </p:spPr>
        <p:txBody>
          <a:bodyPr lIns="47625" tIns="19050" rIns="47625" bIns="19050" anchor="t">
            <a:normAutofit/>
          </a:bodyPr>
          <a:lstStyle/>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A. </a:t>
            </a:r>
            <a:r>
              <a:rPr sz="1200" b="0">
                <a:solidFill>
                  <a:srgbClr val="2D2D2D"/>
                </a:solidFill>
                <a:latin typeface="Montserrat"/>
                <a:ea typeface="Montserrat"/>
                <a:cs typeface="Montserrat"/>
              </a:rPr>
              <a:t>The number resolved within one day: 5</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B. </a:t>
            </a:r>
            <a:r>
              <a:rPr sz="1200" b="0">
                <a:solidFill>
                  <a:srgbClr val="2D2D2D"/>
                </a:solidFill>
                <a:latin typeface="Montserrat"/>
                <a:ea typeface="Montserrat"/>
                <a:cs typeface="Montserrat"/>
              </a:rPr>
              <a:t>The number not resolved: 3</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C. </a:t>
            </a:r>
            <a:r>
              <a:rPr sz="1200" b="0">
                <a:solidFill>
                  <a:srgbClr val="2D2D2D"/>
                </a:solidFill>
                <a:latin typeface="Montserrat"/>
                <a:ea typeface="Montserrat"/>
                <a:cs typeface="Montserrat"/>
              </a:rPr>
              <a:t>The total number of requests: 8</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D. </a:t>
            </a:r>
            <a:r>
              <a:rPr sz="1200" b="0">
                <a:solidFill>
                  <a:srgbClr val="2D2D2D"/>
                </a:solidFill>
                <a:latin typeface="Montserrat"/>
                <a:ea typeface="Montserrat"/>
                <a:cs typeface="Montserrat"/>
              </a:rPr>
              <a:t>The average resolution time: 5</a:t>
            </a:r>
          </a:p>
        </p:txBody>
      </p:sp>
      <p:sp>
        <p:nvSpPr>
          <p:cNvPr id="11" name="Rectangle 10">
            <a:extLst>
              <a:ext uri="{FF2B5EF4-FFF2-40B4-BE49-F238E27FC236}">
                <a16:creationId xmlns:a16="http://schemas.microsoft.com/office/drawing/2014/main" id="{44892E87-F2B5-4BF2-AE71-9F9F4BAB8EED}"/>
              </a:ext>
            </a:extLst>
          </p:cNvPr>
          <p:cNvSpPr>
            <a:spLocks noGrp="1"/>
          </p:cNvSpPr>
          <p:nvPr/>
        </p:nvSpPr>
        <p:spPr>
          <a:xfrm>
            <a:off x="5048250" y="2905125"/>
            <a:ext cx="3333750" cy="342900"/>
          </a:xfrm>
          <a:prstGeom prst="rect">
            <a:avLst/>
          </a:prstGeom>
          <a:noFill/>
          <a:ln w="0">
            <a:noFill/>
          </a:ln>
        </p:spPr>
        <p:txBody>
          <a:bodyPr lIns="38100" tIns="19050" rIns="38100" bIns="19050" anchor="t">
            <a:normAutofit fontScale="68527" lnSpcReduction="20000"/>
          </a:bodyPr>
          <a:lstStyle/>
          <a:p>
            <a:pPr algn="l">
              <a:defRPr sz="1800" b="1" i="0">
                <a:solidFill>
                  <a:srgbClr val="C74634"/>
                </a:solidFill>
                <a:latin typeface="Montserrat"/>
                <a:ea typeface="Montserrat"/>
                <a:cs typeface="Montserrat"/>
              </a:defRPr>
            </a:pPr>
            <a:r>
              <a:rPr sz="1800" b="1" i="0">
                <a:solidFill>
                  <a:srgbClr val="C74634"/>
                </a:solidFill>
                <a:latin typeface="Montserrat"/>
                <a:ea typeface="Montserrat"/>
                <a:cs typeface="Montserrat"/>
              </a:rPr>
              <a:t>Q6. What does the mean represent?</a:t>
            </a:r>
          </a:p>
        </p:txBody>
      </p:sp>
      <p:sp>
        <p:nvSpPr>
          <p:cNvPr id="12" name="Rectangle 11">
            <a:extLst>
              <a:ext uri="{FF2B5EF4-FFF2-40B4-BE49-F238E27FC236}">
                <a16:creationId xmlns:a16="http://schemas.microsoft.com/office/drawing/2014/main" id="{BB314D12-A59E-413E-9344-F3322818D7D8}"/>
              </a:ext>
            </a:extLst>
          </p:cNvPr>
          <p:cNvSpPr>
            <a:spLocks noGrp="1"/>
          </p:cNvSpPr>
          <p:nvPr/>
        </p:nvSpPr>
        <p:spPr>
          <a:xfrm>
            <a:off x="5048250" y="3333750"/>
            <a:ext cx="3333750" cy="1257300"/>
          </a:xfrm>
          <a:prstGeom prst="rect">
            <a:avLst/>
          </a:prstGeom>
          <a:noFill/>
          <a:ln w="0">
            <a:noFill/>
          </a:ln>
        </p:spPr>
        <p:txBody>
          <a:bodyPr lIns="47625" tIns="19050" rIns="47625" bIns="19050" anchor="t">
            <a:normAutofit/>
          </a:bodyPr>
          <a:lstStyle/>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A. </a:t>
            </a:r>
            <a:r>
              <a:rPr sz="1200" b="0">
                <a:solidFill>
                  <a:srgbClr val="2D2D2D"/>
                </a:solidFill>
                <a:latin typeface="Montserrat"/>
                <a:ea typeface="Montserrat"/>
                <a:cs typeface="Montserrat"/>
              </a:rPr>
              <a:t>5/8 = 0.625, the proportion coded 1</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B. </a:t>
            </a:r>
            <a:r>
              <a:rPr sz="1200" b="0">
                <a:solidFill>
                  <a:srgbClr val="2D2D2D"/>
                </a:solidFill>
                <a:latin typeface="Montserrat"/>
                <a:ea typeface="Montserrat"/>
                <a:cs typeface="Montserrat"/>
              </a:rPr>
              <a:t>3/8 = 0.375, the proportion coded 1</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C. </a:t>
            </a:r>
            <a:r>
              <a:rPr sz="1200" b="0">
                <a:solidFill>
                  <a:srgbClr val="2D2D2D"/>
                </a:solidFill>
                <a:latin typeface="Montserrat"/>
                <a:ea typeface="Montserrat"/>
                <a:cs typeface="Montserrat"/>
              </a:rPr>
              <a:t>5, the average number of days</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D. </a:t>
            </a:r>
            <a:r>
              <a:rPr sz="1200" b="0">
                <a:solidFill>
                  <a:srgbClr val="2D2D2D"/>
                </a:solidFill>
                <a:latin typeface="Montserrat"/>
                <a:ea typeface="Montserrat"/>
                <a:cs typeface="Montserrat"/>
              </a:rPr>
              <a:t>8/5 = 1.6, requests per day</a:t>
            </a:r>
          </a:p>
        </p:txBody>
      </p:sp>
      <p:sp>
        <p:nvSpPr>
          <p:cNvPr id="14" name="TextBox 13">
            <a:extLst>
              <a:ext uri="{FF2B5EF4-FFF2-40B4-BE49-F238E27FC236}">
                <a16:creationId xmlns:a16="http://schemas.microsoft.com/office/drawing/2014/main" id="{79F97E3F-4C53-D12D-1038-46B8A5C651D9}"/>
              </a:ext>
            </a:extLst>
          </p:cNvPr>
          <p:cNvSpPr txBox="1"/>
          <p:nvPr/>
        </p:nvSpPr>
        <p:spPr>
          <a:xfrm>
            <a:off x="6715125" y="1334577"/>
            <a:ext cx="1055097" cy="923330"/>
          </a:xfrm>
          <a:prstGeom prst="rect">
            <a:avLst/>
          </a:prstGeom>
          <a:noFill/>
        </p:spPr>
        <p:txBody>
          <a:bodyPr wrap="none" rtlCol="0">
            <a:spAutoFit/>
          </a:bodyPr>
          <a:lstStyle/>
          <a:p>
            <a:r>
              <a:rPr lang="en-US" dirty="0">
                <a:highlight>
                  <a:srgbClr val="FFFF00"/>
                </a:highlight>
              </a:rPr>
              <a:t>Cases?</a:t>
            </a:r>
          </a:p>
          <a:p>
            <a:r>
              <a:rPr lang="en-US" dirty="0">
                <a:highlight>
                  <a:srgbClr val="FFFF00"/>
                </a:highlight>
              </a:rPr>
              <a:t>Variable?</a:t>
            </a:r>
          </a:p>
          <a:p>
            <a:r>
              <a:rPr lang="en-US" dirty="0">
                <a:highlight>
                  <a:srgbClr val="FFFF00"/>
                </a:highlight>
              </a:rPr>
              <a:t>Values?</a:t>
            </a:r>
          </a:p>
        </p:txBody>
      </p:sp>
    </p:spTree>
    <p:extLst>
      <p:ext uri="{BB962C8B-B14F-4D97-AF65-F5344CB8AC3E}">
        <p14:creationId xmlns:p14="http://schemas.microsoft.com/office/powerpoint/2010/main" val="1587427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127C763-FF96-4E29-BE96-178022E7F112}"/>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The 0/1 indicator rule</a:t>
            </a:r>
          </a:p>
        </p:txBody>
      </p:sp>
      <p:sp>
        <p:nvSpPr>
          <p:cNvPr id="2" name="Rectangle 1">
            <a:extLst>
              <a:ext uri="{FF2B5EF4-FFF2-40B4-BE49-F238E27FC236}">
                <a16:creationId xmlns:a16="http://schemas.microsoft.com/office/drawing/2014/main" id="{CD1F74BC-393C-4CBC-A294-1C51412D4546}"/>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5B6598BE-9E05-4B02-961E-C06EB867516F}"/>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8A285805-BFFA-4719-8508-80B3CBB1FFF1}"/>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27466002-0DD2-4271-B60E-3AA9EC43584D}"/>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09</a:t>
            </a:r>
          </a:p>
        </p:txBody>
      </p:sp>
      <p:sp>
        <p:nvSpPr>
          <p:cNvPr id="6" name="Rectangle 5">
            <a:extLst>
              <a:ext uri="{FF2B5EF4-FFF2-40B4-BE49-F238E27FC236}">
                <a16:creationId xmlns:a16="http://schemas.microsoft.com/office/drawing/2014/main" id="{5115282F-FDBC-48C8-BF4E-1A134A38916E}"/>
              </a:ext>
            </a:extLst>
          </p:cNvPr>
          <p:cNvSpPr>
            <a:spLocks noGrp="1"/>
          </p:cNvSpPr>
          <p:nvPr/>
        </p:nvSpPr>
        <p:spPr>
          <a:xfrm>
            <a:off x="904875" y="1333500"/>
            <a:ext cx="7334250" cy="476250"/>
          </a:xfrm>
          <a:prstGeom prst="rect">
            <a:avLst/>
          </a:prstGeom>
          <a:noFill/>
          <a:ln w="0">
            <a:noFill/>
          </a:ln>
        </p:spPr>
        <p:txBody>
          <a:bodyPr lIns="38100" tIns="19050" rIns="38100" bIns="19050" anchor="t">
            <a:normAutofit/>
          </a:bodyPr>
          <a:lstStyle/>
          <a:p>
            <a:pPr algn="ctr">
              <a:defRPr sz="2400" b="1" i="0">
                <a:solidFill>
                  <a:srgbClr val="2D2D2D"/>
                </a:solidFill>
                <a:latin typeface="Montserrat"/>
                <a:ea typeface="Montserrat"/>
                <a:cs typeface="Montserrat"/>
              </a:defRPr>
            </a:pPr>
            <a:r>
              <a:rPr sz="2400" b="1" i="0">
                <a:solidFill>
                  <a:srgbClr val="2D2D2D"/>
                </a:solidFill>
                <a:latin typeface="Montserrat"/>
                <a:ea typeface="Montserrat"/>
                <a:cs typeface="Montserrat"/>
              </a:rPr>
              <a:t>1 + 0 + 1 + 1 + 0 + 0 + 1 + 1</a:t>
            </a:r>
          </a:p>
        </p:txBody>
      </p:sp>
      <p:sp>
        <p:nvSpPr>
          <p:cNvPr id="7" name="Rectangle 6">
            <a:extLst>
              <a:ext uri="{FF2B5EF4-FFF2-40B4-BE49-F238E27FC236}">
                <a16:creationId xmlns:a16="http://schemas.microsoft.com/office/drawing/2014/main" id="{AFC73642-29E7-44BD-886F-C37E4392D54A}"/>
              </a:ext>
            </a:extLst>
          </p:cNvPr>
          <p:cNvSpPr>
            <a:spLocks noGrp="1"/>
          </p:cNvSpPr>
          <p:nvPr/>
        </p:nvSpPr>
        <p:spPr>
          <a:xfrm>
            <a:off x="1428750" y="2238375"/>
            <a:ext cx="2000250" cy="304800"/>
          </a:xfrm>
          <a:prstGeom prst="rect">
            <a:avLst/>
          </a:prstGeom>
          <a:noFill/>
          <a:ln w="0">
            <a:noFill/>
          </a:ln>
        </p:spPr>
        <p:txBody>
          <a:bodyPr lIns="38100" tIns="19050" rIns="38100" bIns="19050" anchor="t">
            <a:normAutofit/>
          </a:bodyPr>
          <a:lstStyle/>
          <a:p>
            <a:pPr algn="ctr">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SUM</a:t>
            </a:r>
          </a:p>
        </p:txBody>
      </p:sp>
      <p:sp>
        <p:nvSpPr>
          <p:cNvPr id="8" name="Rectangle 7">
            <a:extLst>
              <a:ext uri="{FF2B5EF4-FFF2-40B4-BE49-F238E27FC236}">
                <a16:creationId xmlns:a16="http://schemas.microsoft.com/office/drawing/2014/main" id="{0F28B7AF-26E2-49A3-B896-D633A0F2AEF5}"/>
              </a:ext>
            </a:extLst>
          </p:cNvPr>
          <p:cNvSpPr>
            <a:spLocks noGrp="1"/>
          </p:cNvSpPr>
          <p:nvPr/>
        </p:nvSpPr>
        <p:spPr>
          <a:xfrm>
            <a:off x="1428750" y="2590800"/>
            <a:ext cx="2000250" cy="571500"/>
          </a:xfrm>
          <a:prstGeom prst="rect">
            <a:avLst/>
          </a:prstGeom>
          <a:noFill/>
          <a:ln w="0">
            <a:noFill/>
          </a:ln>
        </p:spPr>
        <p:txBody>
          <a:bodyPr lIns="38100" tIns="19050" rIns="38100" bIns="19050" anchor="t">
            <a:normAutofit fontScale="97222"/>
          </a:bodyPr>
          <a:lstStyle/>
          <a:p>
            <a:pPr algn="ctr">
              <a:defRPr sz="3600" b="1" i="0">
                <a:solidFill>
                  <a:srgbClr val="3E8853"/>
                </a:solidFill>
                <a:latin typeface="Montserrat"/>
                <a:ea typeface="Montserrat"/>
                <a:cs typeface="Montserrat"/>
              </a:defRPr>
            </a:pPr>
            <a:r>
              <a:rPr sz="3600" b="1" i="0" dirty="0">
                <a:solidFill>
                  <a:srgbClr val="3E8853"/>
                </a:solidFill>
                <a:latin typeface="Montserrat"/>
                <a:ea typeface="Montserrat"/>
                <a:cs typeface="Montserrat"/>
              </a:rPr>
              <a:t>5</a:t>
            </a:r>
          </a:p>
        </p:txBody>
      </p:sp>
      <p:sp>
        <p:nvSpPr>
          <p:cNvPr id="9" name="Rectangle 8">
            <a:extLst>
              <a:ext uri="{FF2B5EF4-FFF2-40B4-BE49-F238E27FC236}">
                <a16:creationId xmlns:a16="http://schemas.microsoft.com/office/drawing/2014/main" id="{8CEDD189-95B6-4D43-A616-E157E71D8486}"/>
              </a:ext>
            </a:extLst>
          </p:cNvPr>
          <p:cNvSpPr>
            <a:spLocks noGrp="1"/>
          </p:cNvSpPr>
          <p:nvPr/>
        </p:nvSpPr>
        <p:spPr>
          <a:xfrm>
            <a:off x="1143000" y="3257550"/>
            <a:ext cx="2571750" cy="381000"/>
          </a:xfrm>
          <a:prstGeom prst="rect">
            <a:avLst/>
          </a:prstGeom>
          <a:noFill/>
          <a:ln w="0">
            <a:noFill/>
          </a:ln>
        </p:spPr>
        <p:txBody>
          <a:bodyPr lIns="38100" tIns="19050" rIns="38100" bIns="19050" anchor="t">
            <a:normAutofit/>
          </a:bodyPr>
          <a:lstStyle/>
          <a:p>
            <a:pPr algn="ctr">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number of cases coded 1</a:t>
            </a:r>
          </a:p>
        </p:txBody>
      </p:sp>
      <p:sp>
        <p:nvSpPr>
          <p:cNvPr id="10" name="Rectangle 9">
            <a:extLst>
              <a:ext uri="{FF2B5EF4-FFF2-40B4-BE49-F238E27FC236}">
                <a16:creationId xmlns:a16="http://schemas.microsoft.com/office/drawing/2014/main" id="{24D89871-04FC-45A9-BE0B-D854B5D3D45D}"/>
              </a:ext>
            </a:extLst>
          </p:cNvPr>
          <p:cNvSpPr>
            <a:spLocks noGrp="1"/>
          </p:cNvSpPr>
          <p:nvPr/>
        </p:nvSpPr>
        <p:spPr>
          <a:xfrm>
            <a:off x="5715000" y="2238375"/>
            <a:ext cx="2000250" cy="304800"/>
          </a:xfrm>
          <a:prstGeom prst="rect">
            <a:avLst/>
          </a:prstGeom>
          <a:noFill/>
          <a:ln w="0">
            <a:noFill/>
          </a:ln>
        </p:spPr>
        <p:txBody>
          <a:bodyPr lIns="38100" tIns="19050" rIns="38100" bIns="19050" anchor="t">
            <a:normAutofit/>
          </a:bodyPr>
          <a:lstStyle/>
          <a:p>
            <a:pPr algn="ctr">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MEAN</a:t>
            </a:r>
          </a:p>
        </p:txBody>
      </p:sp>
      <p:sp>
        <p:nvSpPr>
          <p:cNvPr id="11" name="Rectangle 10">
            <a:extLst>
              <a:ext uri="{FF2B5EF4-FFF2-40B4-BE49-F238E27FC236}">
                <a16:creationId xmlns:a16="http://schemas.microsoft.com/office/drawing/2014/main" id="{2E60F2A1-9CCA-41D1-AB36-6740AF8D8D1D}"/>
              </a:ext>
            </a:extLst>
          </p:cNvPr>
          <p:cNvSpPr>
            <a:spLocks noGrp="1"/>
          </p:cNvSpPr>
          <p:nvPr/>
        </p:nvSpPr>
        <p:spPr>
          <a:xfrm>
            <a:off x="5143500" y="2590800"/>
            <a:ext cx="3143250" cy="571500"/>
          </a:xfrm>
          <a:prstGeom prst="rect">
            <a:avLst/>
          </a:prstGeom>
          <a:noFill/>
          <a:ln w="0">
            <a:noFill/>
          </a:ln>
        </p:spPr>
        <p:txBody>
          <a:bodyPr lIns="38100" tIns="19050" rIns="38100" bIns="19050" anchor="t">
            <a:normAutofit/>
          </a:bodyPr>
          <a:lstStyle/>
          <a:p>
            <a:pPr algn="ctr">
              <a:defRPr sz="3225" b="1" i="0">
                <a:solidFill>
                  <a:srgbClr val="3E8853"/>
                </a:solidFill>
                <a:latin typeface="Montserrat"/>
                <a:ea typeface="Montserrat"/>
                <a:cs typeface="Montserrat"/>
              </a:defRPr>
            </a:pPr>
            <a:r>
              <a:rPr sz="3225" b="1" i="0">
                <a:solidFill>
                  <a:srgbClr val="3E8853"/>
                </a:solidFill>
                <a:latin typeface="Montserrat"/>
                <a:ea typeface="Montserrat"/>
                <a:cs typeface="Montserrat"/>
              </a:rPr>
              <a:t>5/8 = 0.625</a:t>
            </a:r>
          </a:p>
        </p:txBody>
      </p:sp>
      <p:sp>
        <p:nvSpPr>
          <p:cNvPr id="12" name="Rectangle 11">
            <a:extLst>
              <a:ext uri="{FF2B5EF4-FFF2-40B4-BE49-F238E27FC236}">
                <a16:creationId xmlns:a16="http://schemas.microsoft.com/office/drawing/2014/main" id="{9E1096EA-50B9-486E-B195-B7CC36CCC854}"/>
              </a:ext>
            </a:extLst>
          </p:cNvPr>
          <p:cNvSpPr>
            <a:spLocks noGrp="1"/>
          </p:cNvSpPr>
          <p:nvPr/>
        </p:nvSpPr>
        <p:spPr>
          <a:xfrm>
            <a:off x="5334000" y="3257550"/>
            <a:ext cx="2762250" cy="381000"/>
          </a:xfrm>
          <a:prstGeom prst="rect">
            <a:avLst/>
          </a:prstGeom>
          <a:noFill/>
          <a:ln w="0">
            <a:noFill/>
          </a:ln>
        </p:spPr>
        <p:txBody>
          <a:bodyPr lIns="38100" tIns="19050" rIns="38100" bIns="19050" anchor="t">
            <a:normAutofit/>
          </a:bodyPr>
          <a:lstStyle/>
          <a:p>
            <a:pPr algn="ctr">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fraction of cases coded 1</a:t>
            </a:r>
          </a:p>
        </p:txBody>
      </p:sp>
      <p:sp>
        <p:nvSpPr>
          <p:cNvPr id="13" name="Rectangle 12">
            <a:extLst>
              <a:ext uri="{FF2B5EF4-FFF2-40B4-BE49-F238E27FC236}">
                <a16:creationId xmlns:a16="http://schemas.microsoft.com/office/drawing/2014/main" id="{99C02E8F-0C15-4F3B-81C3-45A6FBAE9A7B}"/>
              </a:ext>
            </a:extLst>
          </p:cNvPr>
          <p:cNvSpPr>
            <a:spLocks noGrp="1"/>
          </p:cNvSpPr>
          <p:nvPr/>
        </p:nvSpPr>
        <p:spPr>
          <a:xfrm>
            <a:off x="1714500" y="3876675"/>
            <a:ext cx="6572250" cy="533400"/>
          </a:xfrm>
          <a:prstGeom prst="rect">
            <a:avLst/>
          </a:prstGeom>
          <a:noFill/>
          <a:ln w="0">
            <a:noFill/>
          </a:ln>
        </p:spPr>
        <p:txBody>
          <a:bodyPr lIns="38100" tIns="19050" rIns="38100" bIns="19050" anchor="t">
            <a:normAutofit lnSpcReduction="10000"/>
          </a:bodyPr>
          <a:lstStyle/>
          <a:p>
            <a:pPr algn="ctr">
              <a:defRPr sz="1650" b="1" i="0">
                <a:solidFill>
                  <a:srgbClr val="C74634"/>
                </a:solidFill>
                <a:latin typeface="Montserrat"/>
                <a:ea typeface="Montserrat"/>
                <a:cs typeface="Montserrat"/>
              </a:defRPr>
            </a:pPr>
            <a:r>
              <a:rPr sz="1650" b="1" i="0" dirty="0">
                <a:solidFill>
                  <a:srgbClr val="C74634"/>
                </a:solidFill>
                <a:latin typeface="Montserrat"/>
                <a:ea typeface="Montserrat"/>
                <a:cs typeface="Montserrat"/>
              </a:rPr>
              <a:t>The</a:t>
            </a:r>
            <a:r>
              <a:rPr lang="en-US" sz="1650" b="1" i="0" dirty="0">
                <a:solidFill>
                  <a:srgbClr val="C74634"/>
                </a:solidFill>
                <a:latin typeface="Montserrat"/>
                <a:ea typeface="Montserrat"/>
                <a:cs typeface="Montserrat"/>
              </a:rPr>
              <a:t> key is to understand what the</a:t>
            </a:r>
            <a:r>
              <a:rPr sz="1650" b="1" i="0" dirty="0">
                <a:solidFill>
                  <a:srgbClr val="C74634"/>
                </a:solidFill>
                <a:latin typeface="Montserrat"/>
                <a:ea typeface="Montserrat"/>
                <a:cs typeface="Montserrat"/>
              </a:rPr>
              <a:t> denominator </a:t>
            </a:r>
            <a:r>
              <a:rPr lang="en-US" sz="1650" b="1" i="0" dirty="0">
                <a:solidFill>
                  <a:srgbClr val="C74634"/>
                </a:solidFill>
                <a:latin typeface="Montserrat"/>
                <a:ea typeface="Montserrat"/>
                <a:cs typeface="Montserrat"/>
              </a:rPr>
              <a:t>should be</a:t>
            </a:r>
            <a:r>
              <a:rPr sz="1650" b="1" i="0" dirty="0">
                <a:solidFill>
                  <a:srgbClr val="C74634"/>
                </a:solidFill>
                <a:latin typeface="Montserrat"/>
                <a:ea typeface="Montserrat"/>
                <a:cs typeface="Montserrat"/>
              </a:rPr>
              <a:t>: </a:t>
            </a:r>
            <a:r>
              <a:rPr lang="en-US" sz="1650" b="1" i="0" dirty="0">
                <a:solidFill>
                  <a:srgbClr val="C74634"/>
                </a:solidFill>
                <a:latin typeface="Montserrat"/>
                <a:ea typeface="Montserrat"/>
                <a:cs typeface="Montserrat"/>
              </a:rPr>
              <a:t>a mean of what </a:t>
            </a:r>
            <a:r>
              <a:rPr lang="en-US" sz="1650" b="1" dirty="0">
                <a:solidFill>
                  <a:srgbClr val="0070C0"/>
                </a:solidFill>
                <a:latin typeface="Montserrat"/>
                <a:ea typeface="Montserrat"/>
                <a:cs typeface="Montserrat"/>
              </a:rPr>
              <a:t>values</a:t>
            </a:r>
            <a:r>
              <a:rPr lang="en-US" sz="1650" b="1" dirty="0">
                <a:solidFill>
                  <a:srgbClr val="C74634"/>
                </a:solidFill>
                <a:latin typeface="Montserrat"/>
                <a:ea typeface="Montserrat"/>
                <a:cs typeface="Montserrat"/>
              </a:rPr>
              <a:t> </a:t>
            </a:r>
            <a:r>
              <a:rPr sz="1650" b="1" i="0" dirty="0">
                <a:solidFill>
                  <a:srgbClr val="C74634"/>
                </a:solidFill>
                <a:latin typeface="Montserrat"/>
                <a:ea typeface="Montserrat"/>
                <a:cs typeface="Montserrat"/>
              </a:rPr>
              <a:t>among which </a:t>
            </a:r>
            <a:r>
              <a:rPr sz="1650" b="1" i="0" dirty="0">
                <a:solidFill>
                  <a:srgbClr val="0070C0"/>
                </a:solidFill>
                <a:latin typeface="Montserrat"/>
                <a:ea typeface="Montserrat"/>
                <a:cs typeface="Montserrat"/>
              </a:rPr>
              <a:t>cases</a:t>
            </a:r>
            <a:r>
              <a:rPr sz="1650" b="1" i="0" dirty="0">
                <a:solidFill>
                  <a:srgbClr val="C74634"/>
                </a:solidFill>
                <a:latin typeface="Montserrat"/>
                <a:ea typeface="Montserrat"/>
                <a:cs typeface="Montserrat"/>
              </a:rPr>
              <a:t>?</a:t>
            </a:r>
          </a:p>
        </p:txBody>
      </p:sp>
      <p:sp>
        <p:nvSpPr>
          <p:cNvPr id="14" name="Rectangle 13">
            <a:extLst>
              <a:ext uri="{FF2B5EF4-FFF2-40B4-BE49-F238E27FC236}">
                <a16:creationId xmlns:a16="http://schemas.microsoft.com/office/drawing/2014/main" id="{99342C3E-5CD9-4EEB-B931-538E25EB2F08}"/>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Q5: 81.0% correct</a:t>
            </a:r>
          </a:p>
        </p:txBody>
      </p:sp>
    </p:spTree>
    <p:extLst>
      <p:ext uri="{BB962C8B-B14F-4D97-AF65-F5344CB8AC3E}">
        <p14:creationId xmlns:p14="http://schemas.microsoft.com/office/powerpoint/2010/main" val="106493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1008BAB-E652-42FB-B053-CB761D32D2A9}"/>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7 | Create binned counts</a:t>
            </a:r>
          </a:p>
        </p:txBody>
      </p:sp>
      <p:sp>
        <p:nvSpPr>
          <p:cNvPr id="2" name="Rectangle 1">
            <a:extLst>
              <a:ext uri="{FF2B5EF4-FFF2-40B4-BE49-F238E27FC236}">
                <a16:creationId xmlns:a16="http://schemas.microsoft.com/office/drawing/2014/main" id="{647CD0DB-26EF-414B-842A-5FBFD1FD8289}"/>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11FEF62B-22ED-4A95-AB76-615918FF623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686A09E1-767D-4D11-9C7C-43BAA2D41401}"/>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F7A084AE-5CDD-4B04-AFF2-1DA215C2828E}"/>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10</a:t>
            </a:r>
          </a:p>
        </p:txBody>
      </p:sp>
      <p:sp>
        <p:nvSpPr>
          <p:cNvPr id="6" name="Rectangle 5">
            <a:extLst>
              <a:ext uri="{FF2B5EF4-FFF2-40B4-BE49-F238E27FC236}">
                <a16:creationId xmlns:a16="http://schemas.microsoft.com/office/drawing/2014/main" id="{EF27B658-7F24-44D2-A40F-069FBEE7BD46}"/>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61.9% correct</a:t>
            </a:r>
          </a:p>
        </p:txBody>
      </p:sp>
      <p:sp>
        <p:nvSpPr>
          <p:cNvPr id="7" name="Rectangle 6">
            <a:extLst>
              <a:ext uri="{FF2B5EF4-FFF2-40B4-BE49-F238E27FC236}">
                <a16:creationId xmlns:a16="http://schemas.microsoft.com/office/drawing/2014/main" id="{57EE0B2E-E409-4014-B8A2-430FF845477F}"/>
              </a:ext>
            </a:extLst>
          </p:cNvPr>
          <p:cNvSpPr>
            <a:spLocks noGrp="1"/>
          </p:cNvSpPr>
          <p:nvPr/>
        </p:nvSpPr>
        <p:spPr>
          <a:xfrm>
            <a:off x="762000" y="1219200"/>
            <a:ext cx="1143000" cy="285750"/>
          </a:xfrm>
          <a:prstGeom prst="rect">
            <a:avLst/>
          </a:prstGeom>
          <a:noFill/>
          <a:ln w="0">
            <a:noFill/>
          </a:ln>
        </p:spPr>
        <p:txBody>
          <a:bodyPr lIns="38100" tIns="19050" rIns="38100" bIns="19050" anchor="t">
            <a:normAutofit/>
          </a:bodyPr>
          <a:lstStyle/>
          <a:p>
            <a:pPr algn="l">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Values</a:t>
            </a:r>
          </a:p>
        </p:txBody>
      </p:sp>
      <p:sp>
        <p:nvSpPr>
          <p:cNvPr id="8" name="Rectangle 7">
            <a:extLst>
              <a:ext uri="{FF2B5EF4-FFF2-40B4-BE49-F238E27FC236}">
                <a16:creationId xmlns:a16="http://schemas.microsoft.com/office/drawing/2014/main" id="{58C11D28-2A26-4D96-A68C-92FCE2EBA450}"/>
              </a:ext>
            </a:extLst>
          </p:cNvPr>
          <p:cNvSpPr>
            <a:spLocks noGrp="1"/>
          </p:cNvSpPr>
          <p:nvPr/>
        </p:nvSpPr>
        <p:spPr>
          <a:xfrm>
            <a:off x="762000" y="1581150"/>
            <a:ext cx="7620000" cy="400050"/>
          </a:xfrm>
          <a:prstGeom prst="rect">
            <a:avLst/>
          </a:prstGeom>
          <a:noFill/>
          <a:ln w="0">
            <a:noFill/>
          </a:ln>
        </p:spPr>
        <p:txBody>
          <a:bodyPr lIns="38100" tIns="19050" rIns="38100" bIns="19050" anchor="t">
            <a:normAutofit/>
          </a:bodyPr>
          <a:lstStyle/>
          <a:p>
            <a:pPr algn="l">
              <a:defRPr sz="1875" b="1" i="0">
                <a:solidFill>
                  <a:srgbClr val="2D2D2D"/>
                </a:solidFill>
                <a:latin typeface="Montserrat"/>
                <a:ea typeface="Montserrat"/>
                <a:cs typeface="Montserrat"/>
              </a:defRPr>
            </a:pPr>
            <a:r>
              <a:rPr sz="1875" b="1" i="0" dirty="0">
                <a:solidFill>
                  <a:srgbClr val="2D2D2D"/>
                </a:solidFill>
                <a:latin typeface="Montserrat"/>
                <a:ea typeface="Montserrat"/>
                <a:cs typeface="Montserrat"/>
              </a:rPr>
              <a:t>5.2, 7.4, </a:t>
            </a:r>
            <a:r>
              <a:rPr sz="1875" b="1" i="0" dirty="0">
                <a:solidFill>
                  <a:srgbClr val="2D2D2D"/>
                </a:solidFill>
                <a:highlight>
                  <a:srgbClr val="FFFF00"/>
                </a:highlight>
                <a:latin typeface="Montserrat"/>
                <a:ea typeface="Montserrat"/>
                <a:cs typeface="Montserrat"/>
              </a:rPr>
              <a:t>7.5</a:t>
            </a:r>
            <a:r>
              <a:rPr sz="1875" b="1" i="0" dirty="0">
                <a:solidFill>
                  <a:srgbClr val="2D2D2D"/>
                </a:solidFill>
                <a:latin typeface="Montserrat"/>
                <a:ea typeface="Montserrat"/>
                <a:cs typeface="Montserrat"/>
              </a:rPr>
              <a:t>, 8.1, 9.9, </a:t>
            </a:r>
            <a:r>
              <a:rPr sz="1875" b="1" i="0" dirty="0">
                <a:solidFill>
                  <a:srgbClr val="2D2D2D"/>
                </a:solidFill>
                <a:highlight>
                  <a:srgbClr val="FFFF00"/>
                </a:highlight>
                <a:latin typeface="Montserrat"/>
                <a:ea typeface="Montserrat"/>
                <a:cs typeface="Montserrat"/>
              </a:rPr>
              <a:t>10.0</a:t>
            </a:r>
            <a:r>
              <a:rPr sz="1875" b="1" i="0" dirty="0">
                <a:solidFill>
                  <a:srgbClr val="2D2D2D"/>
                </a:solidFill>
                <a:latin typeface="Montserrat"/>
                <a:ea typeface="Montserrat"/>
                <a:cs typeface="Montserrat"/>
              </a:rPr>
              <a:t>, 10.8, 12.5</a:t>
            </a:r>
          </a:p>
        </p:txBody>
      </p:sp>
      <p:sp>
        <p:nvSpPr>
          <p:cNvPr id="9" name="Rectangle 8">
            <a:extLst>
              <a:ext uri="{FF2B5EF4-FFF2-40B4-BE49-F238E27FC236}">
                <a16:creationId xmlns:a16="http://schemas.microsoft.com/office/drawing/2014/main" id="{10B5375D-6BCB-430A-AD9E-936DBF49E5F4}"/>
              </a:ext>
            </a:extLst>
          </p:cNvPr>
          <p:cNvSpPr>
            <a:spLocks noGrp="1"/>
          </p:cNvSpPr>
          <p:nvPr/>
        </p:nvSpPr>
        <p:spPr>
          <a:xfrm>
            <a:off x="762000" y="2190750"/>
            <a:ext cx="1143000" cy="285750"/>
          </a:xfrm>
          <a:prstGeom prst="rect">
            <a:avLst/>
          </a:prstGeom>
          <a:noFill/>
          <a:ln w="0">
            <a:noFill/>
          </a:ln>
        </p:spPr>
        <p:txBody>
          <a:bodyPr lIns="38100" tIns="19050" rIns="38100" bIns="19050" anchor="t">
            <a:normAutofit/>
          </a:bodyPr>
          <a:lstStyle/>
          <a:p>
            <a:pPr algn="l">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Bins</a:t>
            </a:r>
          </a:p>
        </p:txBody>
      </p:sp>
      <p:sp>
        <p:nvSpPr>
          <p:cNvPr id="10" name="Rectangle 9">
            <a:extLst>
              <a:ext uri="{FF2B5EF4-FFF2-40B4-BE49-F238E27FC236}">
                <a16:creationId xmlns:a16="http://schemas.microsoft.com/office/drawing/2014/main" id="{9B1A4EBE-4FF0-401F-84DF-ED61DC5C5CD3}"/>
              </a:ext>
            </a:extLst>
          </p:cNvPr>
          <p:cNvSpPr>
            <a:spLocks noGrp="1"/>
          </p:cNvSpPr>
          <p:nvPr/>
        </p:nvSpPr>
        <p:spPr>
          <a:xfrm>
            <a:off x="762000" y="2552700"/>
            <a:ext cx="7620000" cy="400050"/>
          </a:xfrm>
          <a:prstGeom prst="rect">
            <a:avLst/>
          </a:prstGeom>
          <a:noFill/>
          <a:ln w="0">
            <a:noFill/>
          </a:ln>
        </p:spPr>
        <p:txBody>
          <a:bodyPr lIns="38100" tIns="19050" rIns="38100" bIns="19050" anchor="t">
            <a:normAutofit/>
          </a:bodyPr>
          <a:lstStyle/>
          <a:p>
            <a:pPr algn="l">
              <a:defRPr sz="1875" b="1" i="0">
                <a:solidFill>
                  <a:srgbClr val="2D2D2D"/>
                </a:solidFill>
                <a:latin typeface="Montserrat"/>
                <a:ea typeface="Montserrat"/>
                <a:cs typeface="Montserrat"/>
              </a:defRPr>
            </a:pPr>
            <a:r>
              <a:rPr sz="1875" b="1" i="0">
                <a:solidFill>
                  <a:srgbClr val="2D2D2D"/>
                </a:solidFill>
                <a:latin typeface="Montserrat"/>
                <a:ea typeface="Montserrat"/>
                <a:cs typeface="Montserrat"/>
              </a:rPr>
              <a:t>5.0–7.5      7.5–10.0      10.0–12.5</a:t>
            </a:r>
          </a:p>
        </p:txBody>
      </p:sp>
      <p:sp>
        <p:nvSpPr>
          <p:cNvPr id="11" name="Rectangle 10">
            <a:extLst>
              <a:ext uri="{FF2B5EF4-FFF2-40B4-BE49-F238E27FC236}">
                <a16:creationId xmlns:a16="http://schemas.microsoft.com/office/drawing/2014/main" id="{2A77B29A-B390-4FCF-8B67-DE4F5C3B625F}"/>
              </a:ext>
            </a:extLst>
          </p:cNvPr>
          <p:cNvSpPr>
            <a:spLocks noGrp="1"/>
          </p:cNvSpPr>
          <p:nvPr/>
        </p:nvSpPr>
        <p:spPr>
          <a:xfrm>
            <a:off x="762000" y="3105150"/>
            <a:ext cx="7620000" cy="419100"/>
          </a:xfrm>
          <a:prstGeom prst="rect">
            <a:avLst/>
          </a:prstGeom>
          <a:noFill/>
          <a:ln w="0">
            <a:noFill/>
          </a:ln>
        </p:spPr>
        <p:txBody>
          <a:bodyPr lIns="38100" tIns="19050" rIns="38100" bIns="19050" anchor="t">
            <a:normAutofit fontScale="92500"/>
          </a:bodyPr>
          <a:lstStyle/>
          <a:p>
            <a:pPr algn="l">
              <a:defRPr sz="1725" b="1" i="0">
                <a:solidFill>
                  <a:srgbClr val="C74634"/>
                </a:solidFill>
                <a:latin typeface="Montserrat"/>
                <a:ea typeface="Montserrat"/>
                <a:cs typeface="Montserrat"/>
              </a:defRPr>
            </a:pPr>
            <a:r>
              <a:rPr sz="1725" b="1" i="0">
                <a:solidFill>
                  <a:srgbClr val="C74634"/>
                </a:solidFill>
                <a:latin typeface="Montserrat"/>
                <a:ea typeface="Montserrat"/>
                <a:cs typeface="Montserrat"/>
              </a:rPr>
              <a:t>Place a boundary value in the lower bin. What are the three counts?</a:t>
            </a:r>
          </a:p>
        </p:txBody>
      </p:sp>
      <p:sp>
        <p:nvSpPr>
          <p:cNvPr id="12" name="Rectangle 11">
            <a:extLst>
              <a:ext uri="{FF2B5EF4-FFF2-40B4-BE49-F238E27FC236}">
                <a16:creationId xmlns:a16="http://schemas.microsoft.com/office/drawing/2014/main" id="{3CB62324-E488-425A-BC0E-7E6CD9DFB410}"/>
              </a:ext>
            </a:extLst>
          </p:cNvPr>
          <p:cNvSpPr>
            <a:spLocks noGrp="1"/>
          </p:cNvSpPr>
          <p:nvPr/>
        </p:nvSpPr>
        <p:spPr>
          <a:xfrm>
            <a:off x="2571750" y="3667125"/>
            <a:ext cx="4000500" cy="952500"/>
          </a:xfrm>
          <a:prstGeom prst="rect">
            <a:avLst/>
          </a:prstGeom>
          <a:noFill/>
          <a:ln w="0">
            <a:noFill/>
          </a:ln>
        </p:spPr>
        <p:txBody>
          <a:bodyPr lIns="47625" tIns="19050" rIns="47625" bIns="19050" anchor="t">
            <a:normAutofit fontScale="81667" lnSpcReduction="20000"/>
          </a:bodyPr>
          <a:lstStyle/>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A. </a:t>
            </a:r>
            <a:r>
              <a:rPr sz="1500" b="0">
                <a:solidFill>
                  <a:srgbClr val="2D2D2D"/>
                </a:solidFill>
                <a:latin typeface="Montserrat"/>
                <a:ea typeface="Montserrat"/>
                <a:cs typeface="Montserrat"/>
              </a:rPr>
              <a:t>3, 3, 2</a:t>
            </a:r>
          </a:p>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B. </a:t>
            </a:r>
            <a:r>
              <a:rPr sz="1500" b="0">
                <a:solidFill>
                  <a:srgbClr val="2D2D2D"/>
                </a:solidFill>
                <a:latin typeface="Montserrat"/>
                <a:ea typeface="Montserrat"/>
                <a:cs typeface="Montserrat"/>
              </a:rPr>
              <a:t>2, 3, 3</a:t>
            </a:r>
          </a:p>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C. </a:t>
            </a:r>
            <a:r>
              <a:rPr sz="1500" b="0">
                <a:solidFill>
                  <a:srgbClr val="2D2D2D"/>
                </a:solidFill>
                <a:latin typeface="Montserrat"/>
                <a:ea typeface="Montserrat"/>
                <a:cs typeface="Montserrat"/>
              </a:rPr>
              <a:t>2, 2, 4</a:t>
            </a:r>
          </a:p>
          <a:p>
            <a:pPr>
              <a:spcAft>
                <a:spcPts val="800"/>
              </a:spcAft>
              <a:defRPr sz="1500">
                <a:solidFill>
                  <a:srgbClr val="2D2D2D"/>
                </a:solidFill>
                <a:latin typeface="Montserrat"/>
                <a:ea typeface="Montserrat"/>
                <a:cs typeface="Montserrat"/>
              </a:defRPr>
            </a:pPr>
            <a:r>
              <a:rPr sz="1500" b="1">
                <a:solidFill>
                  <a:srgbClr val="2D2D2D"/>
                </a:solidFill>
                <a:latin typeface="Montserrat"/>
                <a:ea typeface="Montserrat"/>
                <a:cs typeface="Montserrat"/>
              </a:rPr>
              <a:t>D. </a:t>
            </a:r>
            <a:r>
              <a:rPr sz="1500" b="0">
                <a:solidFill>
                  <a:srgbClr val="2D2D2D"/>
                </a:solidFill>
                <a:latin typeface="Montserrat"/>
                <a:ea typeface="Montserrat"/>
                <a:cs typeface="Montserrat"/>
              </a:rPr>
              <a:t>3, 2, 3</a:t>
            </a:r>
          </a:p>
        </p:txBody>
      </p:sp>
      <p:sp>
        <p:nvSpPr>
          <p:cNvPr id="14" name="TextBox 13">
            <a:extLst>
              <a:ext uri="{FF2B5EF4-FFF2-40B4-BE49-F238E27FC236}">
                <a16:creationId xmlns:a16="http://schemas.microsoft.com/office/drawing/2014/main" id="{2236C2D4-0A5E-6958-32D1-10E069821CF6}"/>
              </a:ext>
            </a:extLst>
          </p:cNvPr>
          <p:cNvSpPr txBox="1"/>
          <p:nvPr/>
        </p:nvSpPr>
        <p:spPr>
          <a:xfrm>
            <a:off x="6603770" y="1881485"/>
            <a:ext cx="2044930" cy="923330"/>
          </a:xfrm>
          <a:prstGeom prst="rect">
            <a:avLst/>
          </a:prstGeom>
          <a:noFill/>
        </p:spPr>
        <p:txBody>
          <a:bodyPr wrap="square" rtlCol="0">
            <a:spAutoFit/>
          </a:bodyPr>
          <a:lstStyle/>
          <a:p>
            <a:r>
              <a:rPr lang="en-US" dirty="0">
                <a:highlight>
                  <a:srgbClr val="FFFF00"/>
                </a:highlight>
              </a:rPr>
              <a:t>This is confusing. Will avoid in the future.</a:t>
            </a:r>
          </a:p>
        </p:txBody>
      </p:sp>
    </p:spTree>
    <p:extLst>
      <p:ext uri="{BB962C8B-B14F-4D97-AF65-F5344CB8AC3E}">
        <p14:creationId xmlns:p14="http://schemas.microsoft.com/office/powerpoint/2010/main" val="1618006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D3A0304-46B8-4CD7-AC92-03077A71E419}"/>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Boundary values determine the counts</a:t>
            </a:r>
          </a:p>
        </p:txBody>
      </p:sp>
      <p:sp>
        <p:nvSpPr>
          <p:cNvPr id="2" name="Rectangle 1">
            <a:extLst>
              <a:ext uri="{FF2B5EF4-FFF2-40B4-BE49-F238E27FC236}">
                <a16:creationId xmlns:a16="http://schemas.microsoft.com/office/drawing/2014/main" id="{45B047C2-1C0D-4BC9-8FB9-D4AD4DC3AE4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9ACAA73-4DC7-408E-9AF5-7A64F91CE747}"/>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8212494F-902A-4709-98A0-D10A557E1B82}"/>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515519E-7A13-4B44-9A15-3383F8F1D9AE}"/>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11</a:t>
            </a:r>
          </a:p>
        </p:txBody>
      </p:sp>
      <p:sp>
        <p:nvSpPr>
          <p:cNvPr id="6" name="Rectangle 5">
            <a:extLst>
              <a:ext uri="{FF2B5EF4-FFF2-40B4-BE49-F238E27FC236}">
                <a16:creationId xmlns:a16="http://schemas.microsoft.com/office/drawing/2014/main" id="{86D7D03D-B9C6-4AD0-9BF3-B3468A6CCC5C}"/>
              </a:ext>
            </a:extLst>
          </p:cNvPr>
          <p:cNvSpPr>
            <a:spLocks noGrp="1"/>
          </p:cNvSpPr>
          <p:nvPr/>
        </p:nvSpPr>
        <p:spPr>
          <a:xfrm>
            <a:off x="742950" y="1304925"/>
            <a:ext cx="2286000" cy="361950"/>
          </a:xfrm>
          <a:prstGeom prst="rect">
            <a:avLst/>
          </a:prstGeom>
          <a:noFill/>
          <a:ln w="0">
            <a:noFill/>
          </a:ln>
        </p:spPr>
        <p:txBody>
          <a:bodyPr lIns="38100" tIns="19050" rIns="38100" bIns="19050" anchor="t">
            <a:normAutofit/>
          </a:bodyPr>
          <a:lstStyle/>
          <a:p>
            <a:pPr algn="ctr">
              <a:defRPr sz="1950" b="1" i="0">
                <a:solidFill>
                  <a:srgbClr val="1D4F91"/>
                </a:solidFill>
                <a:latin typeface="Montserrat"/>
                <a:ea typeface="Montserrat"/>
                <a:cs typeface="Montserrat"/>
              </a:defRPr>
            </a:pPr>
            <a:r>
              <a:rPr sz="1950" b="1" i="0">
                <a:solidFill>
                  <a:srgbClr val="1D4F91"/>
                </a:solidFill>
                <a:latin typeface="Montserrat"/>
                <a:ea typeface="Montserrat"/>
                <a:cs typeface="Montserrat"/>
              </a:rPr>
              <a:t>5.0–7.5</a:t>
            </a:r>
          </a:p>
        </p:txBody>
      </p:sp>
      <p:sp>
        <p:nvSpPr>
          <p:cNvPr id="7" name="Rectangle 6">
            <a:extLst>
              <a:ext uri="{FF2B5EF4-FFF2-40B4-BE49-F238E27FC236}">
                <a16:creationId xmlns:a16="http://schemas.microsoft.com/office/drawing/2014/main" id="{A7F5E1EA-47BB-49F3-BCB8-95BFE08119AF}"/>
              </a:ext>
            </a:extLst>
          </p:cNvPr>
          <p:cNvSpPr>
            <a:spLocks noGrp="1"/>
          </p:cNvSpPr>
          <p:nvPr/>
        </p:nvSpPr>
        <p:spPr>
          <a:xfrm>
            <a:off x="3429000" y="1304925"/>
            <a:ext cx="2286000" cy="361950"/>
          </a:xfrm>
          <a:prstGeom prst="rect">
            <a:avLst/>
          </a:prstGeom>
          <a:noFill/>
          <a:ln w="0">
            <a:noFill/>
          </a:ln>
        </p:spPr>
        <p:txBody>
          <a:bodyPr lIns="38100" tIns="19050" rIns="38100" bIns="19050" anchor="t">
            <a:normAutofit/>
          </a:bodyPr>
          <a:lstStyle/>
          <a:p>
            <a:pPr algn="ctr">
              <a:defRPr sz="1950" b="1" i="0">
                <a:solidFill>
                  <a:srgbClr val="1D4F91"/>
                </a:solidFill>
                <a:latin typeface="Montserrat"/>
                <a:ea typeface="Montserrat"/>
                <a:cs typeface="Montserrat"/>
              </a:defRPr>
            </a:pPr>
            <a:r>
              <a:rPr sz="1950" b="1" i="0">
                <a:solidFill>
                  <a:srgbClr val="1D4F91"/>
                </a:solidFill>
                <a:latin typeface="Montserrat"/>
                <a:ea typeface="Montserrat"/>
                <a:cs typeface="Montserrat"/>
              </a:rPr>
              <a:t>7.5–10.0</a:t>
            </a:r>
          </a:p>
        </p:txBody>
      </p:sp>
      <p:sp>
        <p:nvSpPr>
          <p:cNvPr id="8" name="Rectangle 7">
            <a:extLst>
              <a:ext uri="{FF2B5EF4-FFF2-40B4-BE49-F238E27FC236}">
                <a16:creationId xmlns:a16="http://schemas.microsoft.com/office/drawing/2014/main" id="{812E6A53-974D-46E8-B4F3-A88E26A00747}"/>
              </a:ext>
            </a:extLst>
          </p:cNvPr>
          <p:cNvSpPr>
            <a:spLocks noGrp="1"/>
          </p:cNvSpPr>
          <p:nvPr/>
        </p:nvSpPr>
        <p:spPr>
          <a:xfrm>
            <a:off x="6115050" y="1304925"/>
            <a:ext cx="2286000" cy="361950"/>
          </a:xfrm>
          <a:prstGeom prst="rect">
            <a:avLst/>
          </a:prstGeom>
          <a:noFill/>
          <a:ln w="0">
            <a:noFill/>
          </a:ln>
        </p:spPr>
        <p:txBody>
          <a:bodyPr lIns="38100" tIns="19050" rIns="38100" bIns="19050" anchor="t">
            <a:normAutofit/>
          </a:bodyPr>
          <a:lstStyle/>
          <a:p>
            <a:pPr algn="ctr">
              <a:defRPr sz="1950" b="1" i="0">
                <a:solidFill>
                  <a:srgbClr val="1D4F91"/>
                </a:solidFill>
                <a:latin typeface="Montserrat"/>
                <a:ea typeface="Montserrat"/>
                <a:cs typeface="Montserrat"/>
              </a:defRPr>
            </a:pPr>
            <a:r>
              <a:rPr sz="1950" b="1" i="0">
                <a:solidFill>
                  <a:srgbClr val="1D4F91"/>
                </a:solidFill>
                <a:latin typeface="Montserrat"/>
                <a:ea typeface="Montserrat"/>
                <a:cs typeface="Montserrat"/>
              </a:rPr>
              <a:t>10.0–12.5</a:t>
            </a:r>
          </a:p>
        </p:txBody>
      </p:sp>
      <p:sp>
        <p:nvSpPr>
          <p:cNvPr id="9" name="Rectangle 8">
            <a:extLst>
              <a:ext uri="{FF2B5EF4-FFF2-40B4-BE49-F238E27FC236}">
                <a16:creationId xmlns:a16="http://schemas.microsoft.com/office/drawing/2014/main" id="{DEBE0176-397E-468E-A7B5-E1401C6E3CEA}"/>
              </a:ext>
            </a:extLst>
          </p:cNvPr>
          <p:cNvSpPr>
            <a:spLocks noGrp="1"/>
          </p:cNvSpPr>
          <p:nvPr/>
        </p:nvSpPr>
        <p:spPr>
          <a:xfrm>
            <a:off x="742950" y="1952625"/>
            <a:ext cx="2286000" cy="523875"/>
          </a:xfrm>
          <a:prstGeom prst="rect">
            <a:avLst/>
          </a:prstGeom>
          <a:noFill/>
          <a:ln w="0">
            <a:noFill/>
          </a:ln>
        </p:spPr>
        <p:txBody>
          <a:bodyPr lIns="38100" tIns="19050" rIns="38100" bIns="19050" anchor="t">
            <a:normAutofit/>
          </a:bodyPr>
          <a:lstStyle/>
          <a:p>
            <a:pPr algn="ctr">
              <a:defRPr sz="1875" b="1" i="0">
                <a:solidFill>
                  <a:srgbClr val="2D2D2D"/>
                </a:solidFill>
                <a:latin typeface="Montserrat"/>
                <a:ea typeface="Montserrat"/>
                <a:cs typeface="Montserrat"/>
              </a:defRPr>
            </a:pPr>
            <a:r>
              <a:rPr sz="1875" b="1" i="0">
                <a:solidFill>
                  <a:srgbClr val="2D2D2D"/>
                </a:solidFill>
                <a:latin typeface="Montserrat"/>
                <a:ea typeface="Montserrat"/>
                <a:cs typeface="Montserrat"/>
              </a:rPr>
              <a:t>5.2   7.4   7.5</a:t>
            </a:r>
          </a:p>
        </p:txBody>
      </p:sp>
      <p:sp>
        <p:nvSpPr>
          <p:cNvPr id="10" name="Rectangle 9">
            <a:extLst>
              <a:ext uri="{FF2B5EF4-FFF2-40B4-BE49-F238E27FC236}">
                <a16:creationId xmlns:a16="http://schemas.microsoft.com/office/drawing/2014/main" id="{2EA8C580-8F34-4B87-BDCA-663D6EBC1E61}"/>
              </a:ext>
            </a:extLst>
          </p:cNvPr>
          <p:cNvSpPr>
            <a:spLocks noGrp="1"/>
          </p:cNvSpPr>
          <p:nvPr/>
        </p:nvSpPr>
        <p:spPr>
          <a:xfrm>
            <a:off x="3429000" y="1952625"/>
            <a:ext cx="2286000" cy="523875"/>
          </a:xfrm>
          <a:prstGeom prst="rect">
            <a:avLst/>
          </a:prstGeom>
          <a:noFill/>
          <a:ln w="0">
            <a:noFill/>
          </a:ln>
        </p:spPr>
        <p:txBody>
          <a:bodyPr lIns="38100" tIns="19050" rIns="38100" bIns="19050" anchor="t">
            <a:normAutofit/>
          </a:bodyPr>
          <a:lstStyle/>
          <a:p>
            <a:pPr algn="ctr">
              <a:defRPr sz="1875" b="1" i="0">
                <a:solidFill>
                  <a:srgbClr val="2D2D2D"/>
                </a:solidFill>
                <a:latin typeface="Montserrat"/>
                <a:ea typeface="Montserrat"/>
                <a:cs typeface="Montserrat"/>
              </a:defRPr>
            </a:pPr>
            <a:r>
              <a:rPr sz="1875" b="1" i="0">
                <a:solidFill>
                  <a:srgbClr val="2D2D2D"/>
                </a:solidFill>
                <a:latin typeface="Montserrat"/>
                <a:ea typeface="Montserrat"/>
                <a:cs typeface="Montserrat"/>
              </a:rPr>
              <a:t>8.1   9.9   10.0</a:t>
            </a:r>
          </a:p>
        </p:txBody>
      </p:sp>
      <p:sp>
        <p:nvSpPr>
          <p:cNvPr id="11" name="Rectangle 10">
            <a:extLst>
              <a:ext uri="{FF2B5EF4-FFF2-40B4-BE49-F238E27FC236}">
                <a16:creationId xmlns:a16="http://schemas.microsoft.com/office/drawing/2014/main" id="{704B704B-74B8-40F1-A3D8-E8672EEDBD87}"/>
              </a:ext>
            </a:extLst>
          </p:cNvPr>
          <p:cNvSpPr>
            <a:spLocks noGrp="1"/>
          </p:cNvSpPr>
          <p:nvPr/>
        </p:nvSpPr>
        <p:spPr>
          <a:xfrm>
            <a:off x="6115050" y="1952625"/>
            <a:ext cx="2286000" cy="523875"/>
          </a:xfrm>
          <a:prstGeom prst="rect">
            <a:avLst/>
          </a:prstGeom>
          <a:noFill/>
          <a:ln w="0">
            <a:noFill/>
          </a:ln>
        </p:spPr>
        <p:txBody>
          <a:bodyPr lIns="38100" tIns="19050" rIns="38100" bIns="19050" anchor="t">
            <a:normAutofit/>
          </a:bodyPr>
          <a:lstStyle/>
          <a:p>
            <a:pPr algn="ctr">
              <a:defRPr sz="1875" b="1" i="0">
                <a:solidFill>
                  <a:srgbClr val="2D2D2D"/>
                </a:solidFill>
                <a:latin typeface="Montserrat"/>
                <a:ea typeface="Montserrat"/>
                <a:cs typeface="Montserrat"/>
              </a:defRPr>
            </a:pPr>
            <a:r>
              <a:rPr sz="1875" b="1" i="0">
                <a:solidFill>
                  <a:srgbClr val="2D2D2D"/>
                </a:solidFill>
                <a:latin typeface="Montserrat"/>
                <a:ea typeface="Montserrat"/>
                <a:cs typeface="Montserrat"/>
              </a:rPr>
              <a:t>10.8   12.5</a:t>
            </a:r>
          </a:p>
        </p:txBody>
      </p:sp>
      <p:sp>
        <p:nvSpPr>
          <p:cNvPr id="12" name="Rectangle 11">
            <a:extLst>
              <a:ext uri="{FF2B5EF4-FFF2-40B4-BE49-F238E27FC236}">
                <a16:creationId xmlns:a16="http://schemas.microsoft.com/office/drawing/2014/main" id="{20F34EC6-5ED3-4B3E-ABDB-BAE6FFE61889}"/>
              </a:ext>
            </a:extLst>
          </p:cNvPr>
          <p:cNvSpPr>
            <a:spLocks noGrp="1"/>
          </p:cNvSpPr>
          <p:nvPr/>
        </p:nvSpPr>
        <p:spPr>
          <a:xfrm>
            <a:off x="952500" y="2724150"/>
            <a:ext cx="7239000" cy="19050"/>
          </a:xfrm>
          <a:prstGeom prst="rect">
            <a:avLst/>
          </a:prstGeom>
          <a:solidFill>
            <a:srgbClr val="C9D8E0"/>
          </a:solidFill>
          <a:ln w="0">
            <a:noFill/>
          </a:ln>
        </p:spPr>
      </p:sp>
      <p:sp>
        <p:nvSpPr>
          <p:cNvPr id="13" name="Rectangle 12">
            <a:extLst>
              <a:ext uri="{FF2B5EF4-FFF2-40B4-BE49-F238E27FC236}">
                <a16:creationId xmlns:a16="http://schemas.microsoft.com/office/drawing/2014/main" id="{68D03D9B-7E76-46A7-81BC-4313FF9653AF}"/>
              </a:ext>
            </a:extLst>
          </p:cNvPr>
          <p:cNvSpPr>
            <a:spLocks noGrp="1"/>
          </p:cNvSpPr>
          <p:nvPr/>
        </p:nvSpPr>
        <p:spPr>
          <a:xfrm>
            <a:off x="1238250" y="2990850"/>
            <a:ext cx="1333500" cy="666750"/>
          </a:xfrm>
          <a:prstGeom prst="rect">
            <a:avLst/>
          </a:prstGeom>
          <a:noFill/>
          <a:ln w="0">
            <a:noFill/>
          </a:ln>
        </p:spPr>
        <p:txBody>
          <a:bodyPr lIns="38100" tIns="19050" rIns="38100" bIns="19050" anchor="t">
            <a:normAutofit fontScale="98214"/>
          </a:bodyPr>
          <a:lstStyle/>
          <a:p>
            <a:pPr algn="ctr">
              <a:defRPr sz="4200" b="1" i="0">
                <a:solidFill>
                  <a:srgbClr val="3E8853"/>
                </a:solidFill>
                <a:latin typeface="Montserrat"/>
                <a:ea typeface="Montserrat"/>
                <a:cs typeface="Montserrat"/>
              </a:defRPr>
            </a:pPr>
            <a:r>
              <a:rPr sz="4200" b="1" i="0">
                <a:solidFill>
                  <a:srgbClr val="3E8853"/>
                </a:solidFill>
                <a:latin typeface="Montserrat"/>
                <a:ea typeface="Montserrat"/>
                <a:cs typeface="Montserrat"/>
              </a:rPr>
              <a:t>3</a:t>
            </a:r>
          </a:p>
        </p:txBody>
      </p:sp>
      <p:sp>
        <p:nvSpPr>
          <p:cNvPr id="14" name="Rectangle 13">
            <a:extLst>
              <a:ext uri="{FF2B5EF4-FFF2-40B4-BE49-F238E27FC236}">
                <a16:creationId xmlns:a16="http://schemas.microsoft.com/office/drawing/2014/main" id="{C04A5EC4-73BD-4741-8BD6-FECFC10481E9}"/>
              </a:ext>
            </a:extLst>
          </p:cNvPr>
          <p:cNvSpPr>
            <a:spLocks noGrp="1"/>
          </p:cNvSpPr>
          <p:nvPr/>
        </p:nvSpPr>
        <p:spPr>
          <a:xfrm>
            <a:off x="3905250" y="2990850"/>
            <a:ext cx="1333500" cy="666750"/>
          </a:xfrm>
          <a:prstGeom prst="rect">
            <a:avLst/>
          </a:prstGeom>
          <a:noFill/>
          <a:ln w="0">
            <a:noFill/>
          </a:ln>
        </p:spPr>
        <p:txBody>
          <a:bodyPr lIns="38100" tIns="19050" rIns="38100" bIns="19050" anchor="t">
            <a:normAutofit fontScale="98214"/>
          </a:bodyPr>
          <a:lstStyle/>
          <a:p>
            <a:pPr algn="ctr">
              <a:defRPr sz="4200" b="1" i="0">
                <a:solidFill>
                  <a:srgbClr val="3E8853"/>
                </a:solidFill>
                <a:latin typeface="Montserrat"/>
                <a:ea typeface="Montserrat"/>
                <a:cs typeface="Montserrat"/>
              </a:defRPr>
            </a:pPr>
            <a:r>
              <a:rPr sz="4200" b="1" i="0">
                <a:solidFill>
                  <a:srgbClr val="3E8853"/>
                </a:solidFill>
                <a:latin typeface="Montserrat"/>
                <a:ea typeface="Montserrat"/>
                <a:cs typeface="Montserrat"/>
              </a:rPr>
              <a:t>3</a:t>
            </a:r>
          </a:p>
        </p:txBody>
      </p:sp>
      <p:sp>
        <p:nvSpPr>
          <p:cNvPr id="15" name="Rectangle 14">
            <a:extLst>
              <a:ext uri="{FF2B5EF4-FFF2-40B4-BE49-F238E27FC236}">
                <a16:creationId xmlns:a16="http://schemas.microsoft.com/office/drawing/2014/main" id="{DEDED6E4-2FF7-44E9-AB47-B904C084C879}"/>
              </a:ext>
            </a:extLst>
          </p:cNvPr>
          <p:cNvSpPr>
            <a:spLocks noGrp="1"/>
          </p:cNvSpPr>
          <p:nvPr/>
        </p:nvSpPr>
        <p:spPr>
          <a:xfrm>
            <a:off x="6572250" y="2990850"/>
            <a:ext cx="1333500" cy="666750"/>
          </a:xfrm>
          <a:prstGeom prst="rect">
            <a:avLst/>
          </a:prstGeom>
          <a:noFill/>
          <a:ln w="0">
            <a:noFill/>
          </a:ln>
        </p:spPr>
        <p:txBody>
          <a:bodyPr lIns="38100" tIns="19050" rIns="38100" bIns="19050" anchor="t">
            <a:normAutofit fontScale="98214"/>
          </a:bodyPr>
          <a:lstStyle/>
          <a:p>
            <a:pPr algn="ctr">
              <a:defRPr sz="4200" b="1" i="0">
                <a:solidFill>
                  <a:srgbClr val="3E8853"/>
                </a:solidFill>
                <a:latin typeface="Montserrat"/>
                <a:ea typeface="Montserrat"/>
                <a:cs typeface="Montserrat"/>
              </a:defRPr>
            </a:pPr>
            <a:r>
              <a:rPr sz="4200" b="1" i="0">
                <a:solidFill>
                  <a:srgbClr val="3E8853"/>
                </a:solidFill>
                <a:latin typeface="Montserrat"/>
                <a:ea typeface="Montserrat"/>
                <a:cs typeface="Montserrat"/>
              </a:rPr>
              <a:t>2</a:t>
            </a:r>
          </a:p>
        </p:txBody>
      </p:sp>
      <p:sp>
        <p:nvSpPr>
          <p:cNvPr id="16" name="Rectangle 15">
            <a:extLst>
              <a:ext uri="{FF2B5EF4-FFF2-40B4-BE49-F238E27FC236}">
                <a16:creationId xmlns:a16="http://schemas.microsoft.com/office/drawing/2014/main" id="{4458E346-A1CD-4C9A-8253-A4870D0A7FF1}"/>
              </a:ext>
            </a:extLst>
          </p:cNvPr>
          <p:cNvSpPr>
            <a:spLocks noGrp="1"/>
          </p:cNvSpPr>
          <p:nvPr/>
        </p:nvSpPr>
        <p:spPr>
          <a:xfrm>
            <a:off x="1190625" y="3981450"/>
            <a:ext cx="6762750" cy="457200"/>
          </a:xfrm>
          <a:prstGeom prst="rect">
            <a:avLst/>
          </a:prstGeom>
          <a:noFill/>
          <a:ln w="0">
            <a:noFill/>
          </a:ln>
        </p:spPr>
        <p:txBody>
          <a:bodyPr lIns="38100" tIns="19050" rIns="38100" bIns="19050" anchor="t">
            <a:normAutofit fontScale="87302" lnSpcReduction="10000"/>
          </a:bodyPr>
          <a:lstStyle/>
          <a:p>
            <a:pPr algn="ctr">
              <a:defRPr sz="1575" b="1" i="0">
                <a:solidFill>
                  <a:srgbClr val="C74634"/>
                </a:solidFill>
                <a:latin typeface="Montserrat"/>
                <a:ea typeface="Montserrat"/>
                <a:cs typeface="Montserrat"/>
              </a:defRPr>
            </a:pPr>
            <a:r>
              <a:rPr sz="1575" b="1" i="0">
                <a:solidFill>
                  <a:srgbClr val="C74634"/>
                </a:solidFill>
                <a:latin typeface="Montserrat"/>
                <a:ea typeface="Montserrat"/>
                <a:cs typeface="Montserrat"/>
              </a:rPr>
              <a:t>A histogram begins with a counting rule that assigns every observation to one bin.</a:t>
            </a:r>
          </a:p>
        </p:txBody>
      </p:sp>
    </p:spTree>
    <p:extLst>
      <p:ext uri="{BB962C8B-B14F-4D97-AF65-F5344CB8AC3E}">
        <p14:creationId xmlns:p14="http://schemas.microsoft.com/office/powerpoint/2010/main" val="13851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CC02BA4-A4DD-4F7D-B50B-7D6697AFBF55}"/>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questions 8–9 | Center and spread</a:t>
            </a:r>
          </a:p>
        </p:txBody>
      </p:sp>
      <p:sp>
        <p:nvSpPr>
          <p:cNvPr id="2" name="Rectangle 1">
            <a:extLst>
              <a:ext uri="{FF2B5EF4-FFF2-40B4-BE49-F238E27FC236}">
                <a16:creationId xmlns:a16="http://schemas.microsoft.com/office/drawing/2014/main" id="{61D38E44-51B7-431E-808B-7E01A1E06AA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B8233563-9272-4AD3-B9BA-41382A688B8A}"/>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6D31439-BDA1-4D12-9B2A-ACDF0F3F72CB}"/>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84F48CBF-F629-4DB2-9D11-46C31B6EE138}"/>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12</a:t>
            </a:r>
          </a:p>
        </p:txBody>
      </p:sp>
      <p:pic>
        <p:nvPicPr>
          <p:cNvPr id="16" name="Picture 15"/>
          <p:cNvPicPr>
            <a:picLocks noChangeAspect="1"/>
          </p:cNvPicPr>
          <p:nvPr/>
        </p:nvPicPr>
        <p:blipFill>
          <a:blip r:embed="rId3"/>
          <a:stretch/>
        </p:blipFill>
        <p:spPr>
          <a:xfrm>
            <a:off x="1528068" y="1104900"/>
            <a:ext cx="3839965" cy="3381375"/>
          </a:xfrm>
          <a:prstGeom prst="rect">
            <a:avLst/>
          </a:prstGeom>
        </p:spPr>
      </p:pic>
      <p:sp>
        <p:nvSpPr>
          <p:cNvPr id="7" name="Rectangle 6">
            <a:extLst>
              <a:ext uri="{FF2B5EF4-FFF2-40B4-BE49-F238E27FC236}">
                <a16:creationId xmlns:a16="http://schemas.microsoft.com/office/drawing/2014/main" id="{2EAE3951-6581-4145-B6CF-7D7143E0C56F}"/>
              </a:ext>
            </a:extLst>
          </p:cNvPr>
          <p:cNvSpPr>
            <a:spLocks noGrp="1"/>
          </p:cNvSpPr>
          <p:nvPr/>
        </p:nvSpPr>
        <p:spPr>
          <a:xfrm>
            <a:off x="6572250" y="1257300"/>
            <a:ext cx="666750" cy="285750"/>
          </a:xfrm>
          <a:prstGeom prst="rect">
            <a:avLst/>
          </a:prstGeom>
          <a:noFill/>
          <a:ln w="0">
            <a:noFill/>
          </a:ln>
        </p:spPr>
        <p:txBody>
          <a:bodyPr lIns="38100" tIns="19050" rIns="38100" bIns="19050" anchor="t">
            <a:normAutofit/>
          </a:bodyPr>
          <a:lstStyle/>
          <a:p>
            <a:pPr algn="l">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Q8</a:t>
            </a:r>
          </a:p>
        </p:txBody>
      </p:sp>
      <p:sp>
        <p:nvSpPr>
          <p:cNvPr id="8" name="Rectangle 7">
            <a:extLst>
              <a:ext uri="{FF2B5EF4-FFF2-40B4-BE49-F238E27FC236}">
                <a16:creationId xmlns:a16="http://schemas.microsoft.com/office/drawing/2014/main" id="{1222DE30-628B-4A76-A0DC-CB38628B28A1}"/>
              </a:ext>
            </a:extLst>
          </p:cNvPr>
          <p:cNvSpPr>
            <a:spLocks noGrp="1"/>
          </p:cNvSpPr>
          <p:nvPr/>
        </p:nvSpPr>
        <p:spPr>
          <a:xfrm>
            <a:off x="6572250" y="1571625"/>
            <a:ext cx="1952625" cy="742950"/>
          </a:xfrm>
          <a:prstGeom prst="rect">
            <a:avLst/>
          </a:prstGeom>
          <a:noFill/>
          <a:ln w="0">
            <a:noFill/>
          </a:ln>
        </p:spPr>
        <p:txBody>
          <a:bodyPr lIns="38100" tIns="19050" rIns="38100" bIns="19050" anchor="t">
            <a:normAutofit fontScale="92500"/>
          </a:bodyPr>
          <a:lstStyle/>
          <a:p>
            <a:pPr algn="l">
              <a:defRPr sz="1500" b="1" i="0">
                <a:solidFill>
                  <a:srgbClr val="2D2D2D"/>
                </a:solidFill>
                <a:latin typeface="Montserrat"/>
                <a:ea typeface="Montserrat"/>
                <a:cs typeface="Montserrat"/>
              </a:defRPr>
            </a:pPr>
            <a:r>
              <a:rPr sz="1500" b="1" i="0" dirty="0">
                <a:solidFill>
                  <a:srgbClr val="2D2D2D"/>
                </a:solidFill>
                <a:latin typeface="Montserrat"/>
                <a:ea typeface="Montserrat"/>
                <a:cs typeface="Montserrat"/>
              </a:rPr>
              <a:t>Which pair has equal medians and a larger </a:t>
            </a:r>
            <a:r>
              <a:rPr lang="en-US" altLang="zh-CN" sz="1500" b="1" i="0" dirty="0">
                <a:solidFill>
                  <a:srgbClr val="2D2D2D"/>
                </a:solidFill>
                <a:latin typeface="Montserrat"/>
                <a:ea typeface="Montserrat"/>
                <a:cs typeface="Montserrat"/>
              </a:rPr>
              <a:t>blue</a:t>
            </a:r>
            <a:r>
              <a:rPr lang="zh-CN" altLang="en-US" sz="1500" b="1" i="0" dirty="0">
                <a:solidFill>
                  <a:srgbClr val="2D2D2D"/>
                </a:solidFill>
                <a:latin typeface="Montserrat"/>
                <a:ea typeface="Montserrat"/>
                <a:cs typeface="Montserrat"/>
              </a:rPr>
              <a:t> </a:t>
            </a:r>
            <a:r>
              <a:rPr sz="1500" b="1" i="0" dirty="0">
                <a:solidFill>
                  <a:srgbClr val="2D2D2D"/>
                </a:solidFill>
                <a:latin typeface="Montserrat"/>
                <a:ea typeface="Montserrat"/>
                <a:cs typeface="Montserrat"/>
              </a:rPr>
              <a:t>IQR?</a:t>
            </a:r>
          </a:p>
        </p:txBody>
      </p:sp>
      <p:sp>
        <p:nvSpPr>
          <p:cNvPr id="9" name="Rectangle 8">
            <a:extLst>
              <a:ext uri="{FF2B5EF4-FFF2-40B4-BE49-F238E27FC236}">
                <a16:creationId xmlns:a16="http://schemas.microsoft.com/office/drawing/2014/main" id="{AE68309E-C9E1-4849-8EB3-94CB051C5389}"/>
              </a:ext>
            </a:extLst>
          </p:cNvPr>
          <p:cNvSpPr>
            <a:spLocks noGrp="1"/>
          </p:cNvSpPr>
          <p:nvPr/>
        </p:nvSpPr>
        <p:spPr>
          <a:xfrm>
            <a:off x="6572250" y="2686050"/>
            <a:ext cx="666750" cy="285750"/>
          </a:xfrm>
          <a:prstGeom prst="rect">
            <a:avLst/>
          </a:prstGeom>
          <a:noFill/>
          <a:ln w="0">
            <a:noFill/>
          </a:ln>
        </p:spPr>
        <p:txBody>
          <a:bodyPr lIns="38100" tIns="19050" rIns="38100" bIns="19050" anchor="t">
            <a:normAutofit/>
          </a:bodyPr>
          <a:lstStyle/>
          <a:p>
            <a:pPr algn="l">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Q9</a:t>
            </a:r>
          </a:p>
        </p:txBody>
      </p:sp>
      <p:sp>
        <p:nvSpPr>
          <p:cNvPr id="10" name="Rectangle 9">
            <a:extLst>
              <a:ext uri="{FF2B5EF4-FFF2-40B4-BE49-F238E27FC236}">
                <a16:creationId xmlns:a16="http://schemas.microsoft.com/office/drawing/2014/main" id="{15992616-9222-4029-84E7-0756D3D1E990}"/>
              </a:ext>
            </a:extLst>
          </p:cNvPr>
          <p:cNvSpPr>
            <a:spLocks noGrp="1"/>
          </p:cNvSpPr>
          <p:nvPr/>
        </p:nvSpPr>
        <p:spPr>
          <a:xfrm>
            <a:off x="6572250" y="3000375"/>
            <a:ext cx="1952625" cy="876300"/>
          </a:xfrm>
          <a:prstGeom prst="rect">
            <a:avLst/>
          </a:prstGeom>
          <a:noFill/>
          <a:ln w="0">
            <a:noFill/>
          </a:ln>
        </p:spPr>
        <p:txBody>
          <a:bodyPr lIns="38100" tIns="19050" rIns="38100" bIns="19050" anchor="t">
            <a:normAutofit fontScale="91667" lnSpcReduction="10000"/>
          </a:bodyPr>
          <a:lstStyle/>
          <a:p>
            <a:pPr algn="l">
              <a:defRPr sz="1500" b="1" i="0">
                <a:solidFill>
                  <a:srgbClr val="2D2D2D"/>
                </a:solidFill>
                <a:latin typeface="Montserrat"/>
                <a:ea typeface="Montserrat"/>
                <a:cs typeface="Montserrat"/>
              </a:defRPr>
            </a:pPr>
            <a:r>
              <a:rPr sz="1500" b="1" i="0">
                <a:solidFill>
                  <a:srgbClr val="2D2D2D"/>
                </a:solidFill>
                <a:latin typeface="Montserrat"/>
                <a:ea typeface="Montserrat"/>
                <a:cs typeface="Montserrat"/>
              </a:rPr>
              <a:t>For Pair A, which color has the larger mean and standard deviation?</a:t>
            </a:r>
          </a:p>
        </p:txBody>
      </p:sp>
    </p:spTree>
    <p:extLst>
      <p:ext uri="{BB962C8B-B14F-4D97-AF65-F5344CB8AC3E}">
        <p14:creationId xmlns:p14="http://schemas.microsoft.com/office/powerpoint/2010/main" val="61945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DF48AFB-6F9A-44C3-A044-B32CBDF5EB1F}"/>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Center and spread answer</a:t>
            </a:r>
          </a:p>
        </p:txBody>
      </p:sp>
      <p:sp>
        <p:nvSpPr>
          <p:cNvPr id="2" name="Rectangle 1">
            <a:extLst>
              <a:ext uri="{FF2B5EF4-FFF2-40B4-BE49-F238E27FC236}">
                <a16:creationId xmlns:a16="http://schemas.microsoft.com/office/drawing/2014/main" id="{217E8A88-B8F3-4AE2-B975-5EE8E75D97D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6E54CE1D-5E4E-4496-8B5F-1DCD78D6C9F4}"/>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50D70BE4-B446-4956-89A2-B5DD9AE47FAD}"/>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C3883554-037B-4155-8F37-25C85E17F8AC}"/>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13</a:t>
            </a:r>
          </a:p>
        </p:txBody>
      </p:sp>
      <p:pic>
        <p:nvPicPr>
          <p:cNvPr id="17" name="Picture 16"/>
          <p:cNvPicPr>
            <a:picLocks noChangeAspect="1"/>
          </p:cNvPicPr>
          <p:nvPr/>
        </p:nvPicPr>
        <p:blipFill>
          <a:blip r:embed="rId3"/>
          <a:stretch/>
        </p:blipFill>
        <p:spPr>
          <a:xfrm>
            <a:off x="1528068" y="1104900"/>
            <a:ext cx="3839965" cy="3381375"/>
          </a:xfrm>
          <a:prstGeom prst="rect">
            <a:avLst/>
          </a:prstGeom>
        </p:spPr>
      </p:pic>
      <p:sp>
        <p:nvSpPr>
          <p:cNvPr id="7" name="Rectangle 6">
            <a:extLst>
              <a:ext uri="{FF2B5EF4-FFF2-40B4-BE49-F238E27FC236}">
                <a16:creationId xmlns:a16="http://schemas.microsoft.com/office/drawing/2014/main" id="{ED7D33FF-53FD-4DB1-8E33-3C8F5A052FDF}"/>
              </a:ext>
            </a:extLst>
          </p:cNvPr>
          <p:cNvSpPr>
            <a:spLocks noGrp="1"/>
          </p:cNvSpPr>
          <p:nvPr/>
        </p:nvSpPr>
        <p:spPr>
          <a:xfrm>
            <a:off x="6572250" y="1285875"/>
            <a:ext cx="1905000" cy="400050"/>
          </a:xfrm>
          <a:prstGeom prst="rect">
            <a:avLst/>
          </a:prstGeom>
          <a:noFill/>
          <a:ln w="0">
            <a:noFill/>
          </a:ln>
        </p:spPr>
        <p:txBody>
          <a:bodyPr lIns="38100" tIns="19050" rIns="38100" bIns="19050" anchor="t">
            <a:normAutofit/>
          </a:bodyPr>
          <a:lstStyle/>
          <a:p>
            <a:pPr algn="l">
              <a:defRPr sz="2025" b="1" i="0">
                <a:solidFill>
                  <a:srgbClr val="3E8853"/>
                </a:solidFill>
                <a:latin typeface="Montserrat"/>
                <a:ea typeface="Montserrat"/>
                <a:cs typeface="Montserrat"/>
              </a:defRPr>
            </a:pPr>
            <a:r>
              <a:rPr sz="2025" b="1" i="0">
                <a:solidFill>
                  <a:srgbClr val="3E8853"/>
                </a:solidFill>
                <a:latin typeface="Montserrat"/>
                <a:ea typeface="Montserrat"/>
                <a:cs typeface="Montserrat"/>
              </a:rPr>
              <a:t>Q8: Pair C</a:t>
            </a:r>
          </a:p>
        </p:txBody>
      </p:sp>
      <p:sp>
        <p:nvSpPr>
          <p:cNvPr id="8" name="Rectangle 7">
            <a:extLst>
              <a:ext uri="{FF2B5EF4-FFF2-40B4-BE49-F238E27FC236}">
                <a16:creationId xmlns:a16="http://schemas.microsoft.com/office/drawing/2014/main" id="{4545A3FE-808A-42F8-A625-DD99FDE634BD}"/>
              </a:ext>
            </a:extLst>
          </p:cNvPr>
          <p:cNvSpPr>
            <a:spLocks noGrp="1"/>
          </p:cNvSpPr>
          <p:nvPr/>
        </p:nvSpPr>
        <p:spPr>
          <a:xfrm>
            <a:off x="6572250" y="1790700"/>
            <a:ext cx="1952625" cy="857250"/>
          </a:xfrm>
          <a:prstGeom prst="rect">
            <a:avLst/>
          </a:prstGeom>
          <a:noFill/>
          <a:ln w="0">
            <a:noFill/>
          </a:ln>
        </p:spPr>
        <p:txBody>
          <a:bodyPr lIns="38100" tIns="19050" rIns="38100" bIns="19050" anchor="t">
            <a:normAutofit/>
          </a:bodyPr>
          <a:lstStyle/>
          <a:p>
            <a:pPr algn="l">
              <a:defRPr sz="1425" b="0" i="0">
                <a:solidFill>
                  <a:srgbClr val="2D2D2D"/>
                </a:solidFill>
                <a:latin typeface="Montserrat"/>
                <a:ea typeface="Montserrat"/>
                <a:cs typeface="Montserrat"/>
              </a:defRPr>
            </a:pPr>
            <a:r>
              <a:rPr sz="1425" b="0" i="0">
                <a:solidFill>
                  <a:srgbClr val="2D2D2D"/>
                </a:solidFill>
                <a:latin typeface="Montserrat"/>
                <a:ea typeface="Montserrat"/>
                <a:cs typeface="Montserrat"/>
              </a:rPr>
              <a:t>Both medians are 5. Blue has the wider middle 50%.</a:t>
            </a:r>
          </a:p>
        </p:txBody>
      </p:sp>
      <p:sp>
        <p:nvSpPr>
          <p:cNvPr id="9" name="Rectangle 8">
            <a:extLst>
              <a:ext uri="{FF2B5EF4-FFF2-40B4-BE49-F238E27FC236}">
                <a16:creationId xmlns:a16="http://schemas.microsoft.com/office/drawing/2014/main" id="{401A2805-C4A1-43EA-A8FB-CDF5FA367F57}"/>
              </a:ext>
            </a:extLst>
          </p:cNvPr>
          <p:cNvSpPr>
            <a:spLocks noGrp="1"/>
          </p:cNvSpPr>
          <p:nvPr/>
        </p:nvSpPr>
        <p:spPr>
          <a:xfrm>
            <a:off x="6572250" y="3028950"/>
            <a:ext cx="1905000" cy="400050"/>
          </a:xfrm>
          <a:prstGeom prst="rect">
            <a:avLst/>
          </a:prstGeom>
          <a:noFill/>
          <a:ln w="0">
            <a:noFill/>
          </a:ln>
        </p:spPr>
        <p:txBody>
          <a:bodyPr lIns="38100" tIns="19050" rIns="38100" bIns="19050" anchor="t">
            <a:normAutofit/>
          </a:bodyPr>
          <a:lstStyle/>
          <a:p>
            <a:pPr algn="l">
              <a:defRPr sz="2025" b="1" i="0">
                <a:solidFill>
                  <a:srgbClr val="3E8853"/>
                </a:solidFill>
                <a:latin typeface="Montserrat"/>
                <a:ea typeface="Montserrat"/>
                <a:cs typeface="Montserrat"/>
              </a:defRPr>
            </a:pPr>
            <a:r>
              <a:rPr sz="2025" b="1" i="0">
                <a:solidFill>
                  <a:srgbClr val="3E8853"/>
                </a:solidFill>
                <a:latin typeface="Montserrat"/>
                <a:ea typeface="Montserrat"/>
                <a:cs typeface="Montserrat"/>
              </a:rPr>
              <a:t>Q9: Orange</a:t>
            </a:r>
          </a:p>
        </p:txBody>
      </p:sp>
      <p:sp>
        <p:nvSpPr>
          <p:cNvPr id="10" name="Rectangle 9">
            <a:extLst>
              <a:ext uri="{FF2B5EF4-FFF2-40B4-BE49-F238E27FC236}">
                <a16:creationId xmlns:a16="http://schemas.microsoft.com/office/drawing/2014/main" id="{CD8E09B9-8F5A-4556-BE82-A6544B2FE6E6}"/>
              </a:ext>
            </a:extLst>
          </p:cNvPr>
          <p:cNvSpPr>
            <a:spLocks noGrp="1"/>
          </p:cNvSpPr>
          <p:nvPr/>
        </p:nvSpPr>
        <p:spPr>
          <a:xfrm>
            <a:off x="6572250" y="3533775"/>
            <a:ext cx="1952625" cy="952500"/>
          </a:xfrm>
          <a:prstGeom prst="rect">
            <a:avLst/>
          </a:prstGeom>
          <a:noFill/>
          <a:ln w="0">
            <a:noFill/>
          </a:ln>
        </p:spPr>
        <p:txBody>
          <a:bodyPr lIns="38100" tIns="19050" rIns="38100" bIns="19050" anchor="t">
            <a:normAutofit fontScale="91329" lnSpcReduction="10000"/>
          </a:bodyPr>
          <a:lstStyle/>
          <a:p>
            <a:pPr algn="l">
              <a:defRPr sz="1425" b="0" i="0">
                <a:solidFill>
                  <a:srgbClr val="2D2D2D"/>
                </a:solidFill>
                <a:latin typeface="Montserrat"/>
                <a:ea typeface="Montserrat"/>
                <a:cs typeface="Montserrat"/>
              </a:defRPr>
            </a:pPr>
            <a:r>
              <a:rPr sz="1425" b="0" i="0">
                <a:solidFill>
                  <a:srgbClr val="2D2D2D"/>
                </a:solidFill>
                <a:latin typeface="Montserrat"/>
                <a:ea typeface="Montserrat"/>
                <a:cs typeface="Montserrat"/>
              </a:rPr>
              <a:t>The value 15 moves the mean right and increases the distances from the mean.</a:t>
            </a:r>
          </a:p>
        </p:txBody>
      </p:sp>
      <p:sp>
        <p:nvSpPr>
          <p:cNvPr id="11" name="Rectangle 10">
            <a:extLst>
              <a:ext uri="{FF2B5EF4-FFF2-40B4-BE49-F238E27FC236}">
                <a16:creationId xmlns:a16="http://schemas.microsoft.com/office/drawing/2014/main" id="{4821F9FB-867F-4A57-8421-4AFD1A7439F9}"/>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Q9: 81.0% correct</a:t>
            </a:r>
          </a:p>
        </p:txBody>
      </p:sp>
    </p:spTree>
    <p:extLst>
      <p:ext uri="{BB962C8B-B14F-4D97-AF65-F5344CB8AC3E}">
        <p14:creationId xmlns:p14="http://schemas.microsoft.com/office/powerpoint/2010/main" val="1894671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63B6860-BE39-4704-B888-8A6D892CD1C5}"/>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13 | Median and quartiles</a:t>
            </a:r>
          </a:p>
        </p:txBody>
      </p:sp>
      <p:sp>
        <p:nvSpPr>
          <p:cNvPr id="2" name="Rectangle 1">
            <a:extLst>
              <a:ext uri="{FF2B5EF4-FFF2-40B4-BE49-F238E27FC236}">
                <a16:creationId xmlns:a16="http://schemas.microsoft.com/office/drawing/2014/main" id="{06E95D85-81B8-4613-851C-AE0D04E416D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A57811F5-1AE0-48E9-BBFF-C55356DCA0BC}"/>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418A6B3B-C79A-4377-A235-93A4481E15C2}"/>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9CC17B7-5816-40FC-9A0B-C92CF1F1CDC6}"/>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14</a:t>
            </a:r>
          </a:p>
        </p:txBody>
      </p:sp>
      <p:sp>
        <p:nvSpPr>
          <p:cNvPr id="6" name="Rectangle 5">
            <a:extLst>
              <a:ext uri="{FF2B5EF4-FFF2-40B4-BE49-F238E27FC236}">
                <a16:creationId xmlns:a16="http://schemas.microsoft.com/office/drawing/2014/main" id="{6974D674-7CA4-412C-BD80-EA806DADF528}"/>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73.0% correct</a:t>
            </a:r>
          </a:p>
        </p:txBody>
      </p:sp>
      <p:sp>
        <p:nvSpPr>
          <p:cNvPr id="7" name="Rectangle 6">
            <a:extLst>
              <a:ext uri="{FF2B5EF4-FFF2-40B4-BE49-F238E27FC236}">
                <a16:creationId xmlns:a16="http://schemas.microsoft.com/office/drawing/2014/main" id="{B9C07ECC-6467-4D3D-8643-6BBA4B61823F}"/>
              </a:ext>
            </a:extLst>
          </p:cNvPr>
          <p:cNvSpPr>
            <a:spLocks noGrp="1"/>
          </p:cNvSpPr>
          <p:nvPr/>
        </p:nvSpPr>
        <p:spPr>
          <a:xfrm>
            <a:off x="857250" y="1266825"/>
            <a:ext cx="2095500" cy="266700"/>
          </a:xfrm>
          <a:prstGeom prst="rect">
            <a:avLst/>
          </a:prstGeom>
          <a:noFill/>
          <a:ln w="0">
            <a:noFill/>
          </a:ln>
        </p:spPr>
        <p:txBody>
          <a:bodyPr lIns="38100" tIns="19050" rIns="38100" bIns="19050" anchor="t">
            <a:normAutofit/>
          </a:bodyPr>
          <a:lstStyle/>
          <a:p>
            <a:pPr algn="l">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Ordered values</a:t>
            </a:r>
          </a:p>
        </p:txBody>
      </p:sp>
      <p:sp>
        <p:nvSpPr>
          <p:cNvPr id="8" name="Rectangle 7">
            <a:extLst>
              <a:ext uri="{FF2B5EF4-FFF2-40B4-BE49-F238E27FC236}">
                <a16:creationId xmlns:a16="http://schemas.microsoft.com/office/drawing/2014/main" id="{AAD43E24-74A6-4EF9-8975-AB5A28A5CF3D}"/>
              </a:ext>
            </a:extLst>
          </p:cNvPr>
          <p:cNvSpPr>
            <a:spLocks noGrp="1"/>
          </p:cNvSpPr>
          <p:nvPr/>
        </p:nvSpPr>
        <p:spPr>
          <a:xfrm>
            <a:off x="857250" y="1685925"/>
            <a:ext cx="7429500" cy="571500"/>
          </a:xfrm>
          <a:prstGeom prst="rect">
            <a:avLst/>
          </a:prstGeom>
          <a:noFill/>
          <a:ln w="0">
            <a:noFill/>
          </a:ln>
        </p:spPr>
        <p:txBody>
          <a:bodyPr lIns="38100" tIns="19050" rIns="38100" bIns="19050" anchor="t">
            <a:normAutofit/>
          </a:bodyPr>
          <a:lstStyle/>
          <a:p>
            <a:pPr algn="ctr">
              <a:defRPr sz="2700" b="1" i="0">
                <a:solidFill>
                  <a:srgbClr val="2D2D2D"/>
                </a:solidFill>
                <a:latin typeface="Montserrat"/>
                <a:ea typeface="Montserrat"/>
                <a:cs typeface="Montserrat"/>
              </a:defRPr>
            </a:pPr>
            <a:r>
              <a:rPr sz="2700" b="1" i="0">
                <a:solidFill>
                  <a:srgbClr val="2D2D2D"/>
                </a:solidFill>
                <a:latin typeface="Montserrat"/>
                <a:ea typeface="Montserrat"/>
                <a:cs typeface="Montserrat"/>
              </a:rPr>
              <a:t>1   2   3   4   5   6   7   8   9</a:t>
            </a:r>
          </a:p>
        </p:txBody>
      </p:sp>
      <p:sp>
        <p:nvSpPr>
          <p:cNvPr id="9" name="Rectangle 8">
            <a:extLst>
              <a:ext uri="{FF2B5EF4-FFF2-40B4-BE49-F238E27FC236}">
                <a16:creationId xmlns:a16="http://schemas.microsoft.com/office/drawing/2014/main" id="{54566680-748C-47D9-875C-C1669F5C2BF0}"/>
              </a:ext>
            </a:extLst>
          </p:cNvPr>
          <p:cNvSpPr>
            <a:spLocks noGrp="1"/>
          </p:cNvSpPr>
          <p:nvPr/>
        </p:nvSpPr>
        <p:spPr>
          <a:xfrm>
            <a:off x="952500" y="2505075"/>
            <a:ext cx="7239000" cy="590550"/>
          </a:xfrm>
          <a:prstGeom prst="rect">
            <a:avLst/>
          </a:prstGeom>
          <a:noFill/>
          <a:ln w="0">
            <a:noFill/>
          </a:ln>
        </p:spPr>
        <p:txBody>
          <a:bodyPr lIns="38100" tIns="19050" rIns="38100" bIns="19050" anchor="t">
            <a:normAutofit/>
          </a:bodyPr>
          <a:lstStyle/>
          <a:p>
            <a:pPr algn="ctr">
              <a:defRPr sz="1800" b="1" i="0">
                <a:solidFill>
                  <a:srgbClr val="2D2D2D"/>
                </a:solidFill>
                <a:latin typeface="Montserrat"/>
                <a:ea typeface="Montserrat"/>
                <a:cs typeface="Montserrat"/>
              </a:defRPr>
            </a:pPr>
            <a:r>
              <a:rPr sz="1800" b="1" i="0">
                <a:solidFill>
                  <a:srgbClr val="2D2D2D"/>
                </a:solidFill>
                <a:latin typeface="Montserrat"/>
                <a:ea typeface="Montserrat"/>
                <a:cs typeface="Montserrat"/>
              </a:rPr>
              <a:t>Exclude the median when finding the lower and upper quartiles. What are the median, Q1, and Q3?</a:t>
            </a:r>
          </a:p>
        </p:txBody>
      </p:sp>
      <p:sp>
        <p:nvSpPr>
          <p:cNvPr id="10" name="Rectangle 9">
            <a:extLst>
              <a:ext uri="{FF2B5EF4-FFF2-40B4-BE49-F238E27FC236}">
                <a16:creationId xmlns:a16="http://schemas.microsoft.com/office/drawing/2014/main" id="{0B6657D8-17F3-4D84-955E-5059E00DAB98}"/>
              </a:ext>
            </a:extLst>
          </p:cNvPr>
          <p:cNvSpPr>
            <a:spLocks noGrp="1"/>
          </p:cNvSpPr>
          <p:nvPr/>
        </p:nvSpPr>
        <p:spPr>
          <a:xfrm>
            <a:off x="2095500" y="3352800"/>
            <a:ext cx="4953000" cy="1257300"/>
          </a:xfrm>
          <a:prstGeom prst="rect">
            <a:avLst/>
          </a:prstGeom>
          <a:noFill/>
          <a:ln w="0">
            <a:noFill/>
          </a:ln>
        </p:spPr>
        <p:txBody>
          <a:bodyPr lIns="47625" tIns="19050" rIns="47625" bIns="19050" anchor="t">
            <a:normAutofit/>
          </a:bodyPr>
          <a:lstStyle/>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A. </a:t>
            </a:r>
            <a:r>
              <a:rPr sz="1425" b="0">
                <a:solidFill>
                  <a:srgbClr val="2D2D2D"/>
                </a:solidFill>
                <a:latin typeface="Montserrat"/>
                <a:ea typeface="Montserrat"/>
                <a:cs typeface="Montserrat"/>
              </a:rPr>
              <a:t>Median = 5, Q1 = 2.5, Q3 = 7.5</a:t>
            </a:r>
          </a:p>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B. </a:t>
            </a:r>
            <a:r>
              <a:rPr sz="1425" b="0">
                <a:solidFill>
                  <a:srgbClr val="2D2D2D"/>
                </a:solidFill>
                <a:latin typeface="Montserrat"/>
                <a:ea typeface="Montserrat"/>
                <a:cs typeface="Montserrat"/>
              </a:rPr>
              <a:t>Median = 5, Q1 = 3, Q3 = 7</a:t>
            </a:r>
          </a:p>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C. </a:t>
            </a:r>
            <a:r>
              <a:rPr sz="1425" b="0">
                <a:solidFill>
                  <a:srgbClr val="2D2D2D"/>
                </a:solidFill>
                <a:latin typeface="Montserrat"/>
                <a:ea typeface="Montserrat"/>
                <a:cs typeface="Montserrat"/>
              </a:rPr>
              <a:t>Median = 4.5, Q1 = 2, Q3 = 8</a:t>
            </a:r>
          </a:p>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D. </a:t>
            </a:r>
            <a:r>
              <a:rPr sz="1425" b="0">
                <a:solidFill>
                  <a:srgbClr val="2D2D2D"/>
                </a:solidFill>
                <a:latin typeface="Montserrat"/>
                <a:ea typeface="Montserrat"/>
                <a:cs typeface="Montserrat"/>
              </a:rPr>
              <a:t>Median = 5, Q1 = 1, Q3 = 9</a:t>
            </a:r>
          </a:p>
        </p:txBody>
      </p:sp>
      <p:sp>
        <p:nvSpPr>
          <p:cNvPr id="12" name="TextBox 11">
            <a:extLst>
              <a:ext uri="{FF2B5EF4-FFF2-40B4-BE49-F238E27FC236}">
                <a16:creationId xmlns:a16="http://schemas.microsoft.com/office/drawing/2014/main" id="{23C8ED7D-46A0-35B5-136D-75B0F71269EF}"/>
              </a:ext>
            </a:extLst>
          </p:cNvPr>
          <p:cNvSpPr txBox="1"/>
          <p:nvPr/>
        </p:nvSpPr>
        <p:spPr>
          <a:xfrm>
            <a:off x="6442364" y="3516284"/>
            <a:ext cx="2281394" cy="369332"/>
          </a:xfrm>
          <a:prstGeom prst="rect">
            <a:avLst/>
          </a:prstGeom>
          <a:noFill/>
        </p:spPr>
        <p:txBody>
          <a:bodyPr wrap="none" rtlCol="0">
            <a:spAutoFit/>
          </a:bodyPr>
          <a:lstStyle/>
          <a:p>
            <a:r>
              <a:rPr lang="en-US" dirty="0">
                <a:highlight>
                  <a:srgbClr val="FFFF00"/>
                </a:highlight>
              </a:rPr>
              <a:t>It is like cutting a cake.</a:t>
            </a:r>
          </a:p>
        </p:txBody>
      </p:sp>
    </p:spTree>
    <p:extLst>
      <p:ext uri="{BB962C8B-B14F-4D97-AF65-F5344CB8AC3E}">
        <p14:creationId xmlns:p14="http://schemas.microsoft.com/office/powerpoint/2010/main" val="409136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5742874-2601-42E0-AB65-F35E86B415AB}"/>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Quartiles are medians of the two halves</a:t>
            </a:r>
          </a:p>
        </p:txBody>
      </p:sp>
      <p:sp>
        <p:nvSpPr>
          <p:cNvPr id="2" name="Rectangle 1">
            <a:extLst>
              <a:ext uri="{FF2B5EF4-FFF2-40B4-BE49-F238E27FC236}">
                <a16:creationId xmlns:a16="http://schemas.microsoft.com/office/drawing/2014/main" id="{18B61B29-E08D-470D-BC83-7898FEA2CF0F}"/>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1CF3C3B7-7BBF-4453-B717-5695A722217F}"/>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9B7669C5-5BB6-41F6-97CE-ECF01F822373}"/>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B15354B2-32F3-4F52-A635-E127FE761BA7}"/>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15</a:t>
            </a:r>
          </a:p>
        </p:txBody>
      </p:sp>
      <p:sp>
        <p:nvSpPr>
          <p:cNvPr id="6" name="Rectangle 5">
            <a:extLst>
              <a:ext uri="{FF2B5EF4-FFF2-40B4-BE49-F238E27FC236}">
                <a16:creationId xmlns:a16="http://schemas.microsoft.com/office/drawing/2014/main" id="{DF3FD782-A87D-494C-866F-3F90F0D95395}"/>
              </a:ext>
            </a:extLst>
          </p:cNvPr>
          <p:cNvSpPr>
            <a:spLocks noGrp="1"/>
          </p:cNvSpPr>
          <p:nvPr/>
        </p:nvSpPr>
        <p:spPr>
          <a:xfrm>
            <a:off x="666750" y="1428750"/>
            <a:ext cx="2857500" cy="476250"/>
          </a:xfrm>
          <a:prstGeom prst="rect">
            <a:avLst/>
          </a:prstGeom>
          <a:noFill/>
          <a:ln w="0">
            <a:noFill/>
          </a:ln>
        </p:spPr>
        <p:txBody>
          <a:bodyPr lIns="38100" tIns="19050" rIns="38100" bIns="19050" anchor="t">
            <a:normAutofit/>
          </a:bodyPr>
          <a:lstStyle/>
          <a:p>
            <a:pPr algn="ctr">
              <a:defRPr sz="2325" b="1" i="0">
                <a:solidFill>
                  <a:srgbClr val="1D4F91"/>
                </a:solidFill>
                <a:latin typeface="Montserrat"/>
                <a:ea typeface="Montserrat"/>
                <a:cs typeface="Montserrat"/>
              </a:defRPr>
            </a:pPr>
            <a:r>
              <a:rPr sz="2325" b="1" i="0">
                <a:solidFill>
                  <a:srgbClr val="1D4F91"/>
                </a:solidFill>
                <a:latin typeface="Montserrat"/>
                <a:ea typeface="Montserrat"/>
                <a:cs typeface="Montserrat"/>
              </a:rPr>
              <a:t>1   2   3   4</a:t>
            </a:r>
          </a:p>
        </p:txBody>
      </p:sp>
      <p:sp>
        <p:nvSpPr>
          <p:cNvPr id="7" name="Rectangle 6">
            <a:extLst>
              <a:ext uri="{FF2B5EF4-FFF2-40B4-BE49-F238E27FC236}">
                <a16:creationId xmlns:a16="http://schemas.microsoft.com/office/drawing/2014/main" id="{637A5C1B-24AA-414D-BC33-06596D7F35C9}"/>
              </a:ext>
            </a:extLst>
          </p:cNvPr>
          <p:cNvSpPr>
            <a:spLocks noGrp="1"/>
          </p:cNvSpPr>
          <p:nvPr/>
        </p:nvSpPr>
        <p:spPr>
          <a:xfrm>
            <a:off x="4095750" y="1428750"/>
            <a:ext cx="952500" cy="476250"/>
          </a:xfrm>
          <a:prstGeom prst="rect">
            <a:avLst/>
          </a:prstGeom>
          <a:noFill/>
          <a:ln w="0">
            <a:noFill/>
          </a:ln>
        </p:spPr>
        <p:txBody>
          <a:bodyPr lIns="38100" tIns="19050" rIns="38100" bIns="19050" anchor="t">
            <a:normAutofit/>
          </a:bodyPr>
          <a:lstStyle/>
          <a:p>
            <a:pPr algn="ctr">
              <a:defRPr sz="2700" b="1" i="0">
                <a:solidFill>
                  <a:srgbClr val="C74634"/>
                </a:solidFill>
                <a:latin typeface="Montserrat"/>
                <a:ea typeface="Montserrat"/>
                <a:cs typeface="Montserrat"/>
              </a:defRPr>
            </a:pPr>
            <a:r>
              <a:rPr sz="2700" b="1" i="0">
                <a:solidFill>
                  <a:srgbClr val="C74634"/>
                </a:solidFill>
                <a:latin typeface="Montserrat"/>
                <a:ea typeface="Montserrat"/>
                <a:cs typeface="Montserrat"/>
              </a:rPr>
              <a:t>5</a:t>
            </a:r>
          </a:p>
        </p:txBody>
      </p:sp>
      <p:sp>
        <p:nvSpPr>
          <p:cNvPr id="8" name="Rectangle 7">
            <a:extLst>
              <a:ext uri="{FF2B5EF4-FFF2-40B4-BE49-F238E27FC236}">
                <a16:creationId xmlns:a16="http://schemas.microsoft.com/office/drawing/2014/main" id="{D6B82410-D3F8-4B87-8292-807BEFE4F7F5}"/>
              </a:ext>
            </a:extLst>
          </p:cNvPr>
          <p:cNvSpPr>
            <a:spLocks noGrp="1"/>
          </p:cNvSpPr>
          <p:nvPr/>
        </p:nvSpPr>
        <p:spPr>
          <a:xfrm>
            <a:off x="5619750" y="1428750"/>
            <a:ext cx="2857500" cy="476250"/>
          </a:xfrm>
          <a:prstGeom prst="rect">
            <a:avLst/>
          </a:prstGeom>
          <a:noFill/>
          <a:ln w="0">
            <a:noFill/>
          </a:ln>
        </p:spPr>
        <p:txBody>
          <a:bodyPr lIns="38100" tIns="19050" rIns="38100" bIns="19050" anchor="t">
            <a:normAutofit/>
          </a:bodyPr>
          <a:lstStyle/>
          <a:p>
            <a:pPr algn="ctr">
              <a:defRPr sz="2325" b="1" i="0">
                <a:solidFill>
                  <a:srgbClr val="1D4F91"/>
                </a:solidFill>
                <a:latin typeface="Montserrat"/>
                <a:ea typeface="Montserrat"/>
                <a:cs typeface="Montserrat"/>
              </a:defRPr>
            </a:pPr>
            <a:r>
              <a:rPr sz="2325" b="1" i="0">
                <a:solidFill>
                  <a:srgbClr val="1D4F91"/>
                </a:solidFill>
                <a:latin typeface="Montserrat"/>
                <a:ea typeface="Montserrat"/>
                <a:cs typeface="Montserrat"/>
              </a:rPr>
              <a:t>6   7   8   9</a:t>
            </a:r>
          </a:p>
        </p:txBody>
      </p:sp>
      <p:sp>
        <p:nvSpPr>
          <p:cNvPr id="9" name="Rectangle 8">
            <a:extLst>
              <a:ext uri="{FF2B5EF4-FFF2-40B4-BE49-F238E27FC236}">
                <a16:creationId xmlns:a16="http://schemas.microsoft.com/office/drawing/2014/main" id="{AEBEBC05-5250-445C-B78C-BA819AF40FFC}"/>
              </a:ext>
            </a:extLst>
          </p:cNvPr>
          <p:cNvSpPr>
            <a:spLocks noGrp="1"/>
          </p:cNvSpPr>
          <p:nvPr/>
        </p:nvSpPr>
        <p:spPr>
          <a:xfrm>
            <a:off x="952500" y="1981200"/>
            <a:ext cx="2286000" cy="266700"/>
          </a:xfrm>
          <a:prstGeom prst="rect">
            <a:avLst/>
          </a:prstGeom>
          <a:noFill/>
          <a:ln w="0">
            <a:noFill/>
          </a:ln>
        </p:spPr>
        <p:txBody>
          <a:bodyPr lIns="38100" tIns="19050" rIns="38100" bIns="19050" anchor="t">
            <a:normAutofit/>
          </a:bodyPr>
          <a:lstStyle/>
          <a:p>
            <a:pPr algn="ctr">
              <a:defRPr sz="1350" b="0" i="0">
                <a:solidFill>
                  <a:srgbClr val="5F6B73"/>
                </a:solidFill>
                <a:latin typeface="Montserrat"/>
                <a:ea typeface="Montserrat"/>
                <a:cs typeface="Montserrat"/>
              </a:defRPr>
            </a:pPr>
            <a:r>
              <a:rPr sz="1350" b="0" i="0">
                <a:solidFill>
                  <a:srgbClr val="5F6B73"/>
                </a:solidFill>
                <a:latin typeface="Montserrat"/>
                <a:ea typeface="Montserrat"/>
                <a:cs typeface="Montserrat"/>
              </a:rPr>
              <a:t>lower half</a:t>
            </a:r>
          </a:p>
        </p:txBody>
      </p:sp>
      <p:sp>
        <p:nvSpPr>
          <p:cNvPr id="10" name="Rectangle 9">
            <a:extLst>
              <a:ext uri="{FF2B5EF4-FFF2-40B4-BE49-F238E27FC236}">
                <a16:creationId xmlns:a16="http://schemas.microsoft.com/office/drawing/2014/main" id="{B37F91F8-F7FF-4EB7-A6F1-5AF8E1DF0D29}"/>
              </a:ext>
            </a:extLst>
          </p:cNvPr>
          <p:cNvSpPr>
            <a:spLocks noGrp="1"/>
          </p:cNvSpPr>
          <p:nvPr/>
        </p:nvSpPr>
        <p:spPr>
          <a:xfrm>
            <a:off x="4095750" y="1981200"/>
            <a:ext cx="952500" cy="266700"/>
          </a:xfrm>
          <a:prstGeom prst="rect">
            <a:avLst/>
          </a:prstGeom>
          <a:noFill/>
          <a:ln w="0">
            <a:noFill/>
          </a:ln>
        </p:spPr>
        <p:txBody>
          <a:bodyPr lIns="38100" tIns="19050" rIns="38100" bIns="19050" anchor="t">
            <a:normAutofit/>
          </a:bodyPr>
          <a:lstStyle/>
          <a:p>
            <a:pPr algn="ctr">
              <a:defRPr sz="1350" b="0" i="0">
                <a:solidFill>
                  <a:srgbClr val="5F6B73"/>
                </a:solidFill>
                <a:latin typeface="Montserrat"/>
                <a:ea typeface="Montserrat"/>
                <a:cs typeface="Montserrat"/>
              </a:defRPr>
            </a:pPr>
            <a:r>
              <a:rPr sz="1350" b="0" i="0">
                <a:solidFill>
                  <a:srgbClr val="5F6B73"/>
                </a:solidFill>
                <a:latin typeface="Montserrat"/>
                <a:ea typeface="Montserrat"/>
                <a:cs typeface="Montserrat"/>
              </a:rPr>
              <a:t>median</a:t>
            </a:r>
          </a:p>
        </p:txBody>
      </p:sp>
      <p:sp>
        <p:nvSpPr>
          <p:cNvPr id="11" name="Rectangle 10">
            <a:extLst>
              <a:ext uri="{FF2B5EF4-FFF2-40B4-BE49-F238E27FC236}">
                <a16:creationId xmlns:a16="http://schemas.microsoft.com/office/drawing/2014/main" id="{65348C26-755B-43EC-8E8F-2E8CFD11D316}"/>
              </a:ext>
            </a:extLst>
          </p:cNvPr>
          <p:cNvSpPr>
            <a:spLocks noGrp="1"/>
          </p:cNvSpPr>
          <p:nvPr/>
        </p:nvSpPr>
        <p:spPr>
          <a:xfrm>
            <a:off x="5905500" y="1981200"/>
            <a:ext cx="2286000" cy="266700"/>
          </a:xfrm>
          <a:prstGeom prst="rect">
            <a:avLst/>
          </a:prstGeom>
          <a:noFill/>
          <a:ln w="0">
            <a:noFill/>
          </a:ln>
        </p:spPr>
        <p:txBody>
          <a:bodyPr lIns="38100" tIns="19050" rIns="38100" bIns="19050" anchor="t">
            <a:normAutofit/>
          </a:bodyPr>
          <a:lstStyle/>
          <a:p>
            <a:pPr algn="ctr">
              <a:defRPr sz="1350" b="0" i="0">
                <a:solidFill>
                  <a:srgbClr val="5F6B73"/>
                </a:solidFill>
                <a:latin typeface="Montserrat"/>
                <a:ea typeface="Montserrat"/>
                <a:cs typeface="Montserrat"/>
              </a:defRPr>
            </a:pPr>
            <a:r>
              <a:rPr sz="1350" b="0" i="0">
                <a:solidFill>
                  <a:srgbClr val="5F6B73"/>
                </a:solidFill>
                <a:latin typeface="Montserrat"/>
                <a:ea typeface="Montserrat"/>
                <a:cs typeface="Montserrat"/>
              </a:rPr>
              <a:t>upper half</a:t>
            </a:r>
          </a:p>
        </p:txBody>
      </p:sp>
      <p:sp>
        <p:nvSpPr>
          <p:cNvPr id="12" name="Rectangle 11">
            <a:extLst>
              <a:ext uri="{FF2B5EF4-FFF2-40B4-BE49-F238E27FC236}">
                <a16:creationId xmlns:a16="http://schemas.microsoft.com/office/drawing/2014/main" id="{A16D2204-084E-46B4-B9D6-762E85D30267}"/>
              </a:ext>
            </a:extLst>
          </p:cNvPr>
          <p:cNvSpPr>
            <a:spLocks noGrp="1"/>
          </p:cNvSpPr>
          <p:nvPr/>
        </p:nvSpPr>
        <p:spPr>
          <a:xfrm>
            <a:off x="762000" y="2724150"/>
            <a:ext cx="3429000" cy="571500"/>
          </a:xfrm>
          <a:prstGeom prst="rect">
            <a:avLst/>
          </a:prstGeom>
          <a:noFill/>
          <a:ln w="0">
            <a:noFill/>
          </a:ln>
        </p:spPr>
        <p:txBody>
          <a:bodyPr lIns="38100" tIns="19050" rIns="38100" bIns="19050" anchor="t">
            <a:normAutofit/>
          </a:bodyPr>
          <a:lstStyle/>
          <a:p>
            <a:pPr algn="ctr">
              <a:defRPr sz="2100" b="1" i="0">
                <a:solidFill>
                  <a:srgbClr val="3E8853"/>
                </a:solidFill>
                <a:latin typeface="Montserrat"/>
                <a:ea typeface="Montserrat"/>
                <a:cs typeface="Montserrat"/>
              </a:defRPr>
            </a:pPr>
            <a:r>
              <a:rPr sz="2100" b="1" i="0">
                <a:solidFill>
                  <a:srgbClr val="3E8853"/>
                </a:solidFill>
                <a:latin typeface="Montserrat"/>
                <a:ea typeface="Montserrat"/>
                <a:cs typeface="Montserrat"/>
              </a:rPr>
              <a:t>Q1 = (2 + 3) / 2 = 2.5</a:t>
            </a:r>
          </a:p>
        </p:txBody>
      </p:sp>
      <p:sp>
        <p:nvSpPr>
          <p:cNvPr id="13" name="Rectangle 12">
            <a:extLst>
              <a:ext uri="{FF2B5EF4-FFF2-40B4-BE49-F238E27FC236}">
                <a16:creationId xmlns:a16="http://schemas.microsoft.com/office/drawing/2014/main" id="{7E0180C1-ADF1-47A8-8CD6-3FEAB03144B2}"/>
              </a:ext>
            </a:extLst>
          </p:cNvPr>
          <p:cNvSpPr>
            <a:spLocks noGrp="1"/>
          </p:cNvSpPr>
          <p:nvPr/>
        </p:nvSpPr>
        <p:spPr>
          <a:xfrm>
            <a:off x="4953000" y="2724150"/>
            <a:ext cx="3429000" cy="571500"/>
          </a:xfrm>
          <a:prstGeom prst="rect">
            <a:avLst/>
          </a:prstGeom>
          <a:noFill/>
          <a:ln w="0">
            <a:noFill/>
          </a:ln>
        </p:spPr>
        <p:txBody>
          <a:bodyPr lIns="38100" tIns="19050" rIns="38100" bIns="19050" anchor="t">
            <a:normAutofit/>
          </a:bodyPr>
          <a:lstStyle/>
          <a:p>
            <a:pPr algn="ctr">
              <a:defRPr sz="2100" b="1" i="0">
                <a:solidFill>
                  <a:srgbClr val="3E8853"/>
                </a:solidFill>
                <a:latin typeface="Montserrat"/>
                <a:ea typeface="Montserrat"/>
                <a:cs typeface="Montserrat"/>
              </a:defRPr>
            </a:pPr>
            <a:r>
              <a:rPr sz="2100" b="1" i="0">
                <a:solidFill>
                  <a:srgbClr val="3E8853"/>
                </a:solidFill>
                <a:latin typeface="Montserrat"/>
                <a:ea typeface="Montserrat"/>
                <a:cs typeface="Montserrat"/>
              </a:rPr>
              <a:t>Q3 = (7 + 8) / 2 = 7.5</a:t>
            </a:r>
          </a:p>
        </p:txBody>
      </p:sp>
      <p:sp>
        <p:nvSpPr>
          <p:cNvPr id="14" name="Rectangle 13">
            <a:extLst>
              <a:ext uri="{FF2B5EF4-FFF2-40B4-BE49-F238E27FC236}">
                <a16:creationId xmlns:a16="http://schemas.microsoft.com/office/drawing/2014/main" id="{D6EE565F-08C8-4E52-9F5F-A33E02E72F96}"/>
              </a:ext>
            </a:extLst>
          </p:cNvPr>
          <p:cNvSpPr>
            <a:spLocks noGrp="1"/>
          </p:cNvSpPr>
          <p:nvPr/>
        </p:nvSpPr>
        <p:spPr>
          <a:xfrm>
            <a:off x="2476500" y="3638550"/>
            <a:ext cx="4191000" cy="571500"/>
          </a:xfrm>
          <a:prstGeom prst="rect">
            <a:avLst/>
          </a:prstGeom>
          <a:noFill/>
          <a:ln w="0">
            <a:noFill/>
          </a:ln>
        </p:spPr>
        <p:txBody>
          <a:bodyPr lIns="38100" tIns="19050" rIns="38100" bIns="19050" anchor="t">
            <a:normAutofit/>
          </a:bodyPr>
          <a:lstStyle/>
          <a:p>
            <a:pPr algn="ctr">
              <a:defRPr sz="2550" b="1" i="0">
                <a:solidFill>
                  <a:srgbClr val="2D2D2D"/>
                </a:solidFill>
                <a:latin typeface="Montserrat"/>
                <a:ea typeface="Montserrat"/>
                <a:cs typeface="Montserrat"/>
              </a:defRPr>
            </a:pPr>
            <a:r>
              <a:rPr sz="2550" b="1" i="0">
                <a:solidFill>
                  <a:srgbClr val="2D2D2D"/>
                </a:solidFill>
                <a:latin typeface="Montserrat"/>
                <a:ea typeface="Montserrat"/>
                <a:cs typeface="Montserrat"/>
              </a:rPr>
              <a:t>IQR = Q3 − Q1 = 5</a:t>
            </a:r>
          </a:p>
        </p:txBody>
      </p:sp>
    </p:spTree>
    <p:extLst>
      <p:ext uri="{BB962C8B-B14F-4D97-AF65-F5344CB8AC3E}">
        <p14:creationId xmlns:p14="http://schemas.microsoft.com/office/powerpoint/2010/main" val="309450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8295262-20B6-4DD1-8E3A-31A62B981773}"/>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Variance and standard deviation</a:t>
            </a:r>
          </a:p>
        </p:txBody>
      </p:sp>
      <p:sp>
        <p:nvSpPr>
          <p:cNvPr id="2" name="Rectangle 1">
            <a:extLst>
              <a:ext uri="{FF2B5EF4-FFF2-40B4-BE49-F238E27FC236}">
                <a16:creationId xmlns:a16="http://schemas.microsoft.com/office/drawing/2014/main" id="{DA47DABF-AA0C-4365-A5EE-2E1FADA05407}"/>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15E362CF-5D17-431B-B297-20DBECAA1E96}"/>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BD67837-170E-4EDC-93C7-98263B328D84}"/>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57AD14CD-2EC9-41EF-BFC7-1D284EB79EB0}"/>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16</a:t>
            </a:r>
          </a:p>
        </p:txBody>
      </p:sp>
      <p:sp>
        <p:nvSpPr>
          <p:cNvPr id="6" name="Rectangle 5">
            <a:extLst>
              <a:ext uri="{FF2B5EF4-FFF2-40B4-BE49-F238E27FC236}">
                <a16:creationId xmlns:a16="http://schemas.microsoft.com/office/drawing/2014/main" id="{DB2D2293-C94B-4A47-A7FD-1EC6F398FDAE}"/>
              </a:ext>
            </a:extLst>
          </p:cNvPr>
          <p:cNvSpPr>
            <a:spLocks noGrp="1"/>
          </p:cNvSpPr>
          <p:nvPr/>
        </p:nvSpPr>
        <p:spPr>
          <a:xfrm>
            <a:off x="857250" y="1257300"/>
            <a:ext cx="2857500" cy="304800"/>
          </a:xfrm>
          <a:prstGeom prst="rect">
            <a:avLst/>
          </a:prstGeom>
          <a:noFill/>
          <a:ln w="0">
            <a:noFill/>
          </a:ln>
        </p:spPr>
        <p:txBody>
          <a:bodyPr lIns="38100" tIns="19050" rIns="38100" bIns="19050" anchor="t">
            <a:normAutofit/>
          </a:bodyPr>
          <a:lstStyle/>
          <a:p>
            <a:pPr algn="ct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Dataset A</a:t>
            </a:r>
          </a:p>
        </p:txBody>
      </p:sp>
      <p:sp>
        <p:nvSpPr>
          <p:cNvPr id="7" name="Rectangle 6">
            <a:extLst>
              <a:ext uri="{FF2B5EF4-FFF2-40B4-BE49-F238E27FC236}">
                <a16:creationId xmlns:a16="http://schemas.microsoft.com/office/drawing/2014/main" id="{73281629-87E9-4DEA-BFCE-AE1BB3D5E82D}"/>
              </a:ext>
            </a:extLst>
          </p:cNvPr>
          <p:cNvSpPr>
            <a:spLocks noGrp="1"/>
          </p:cNvSpPr>
          <p:nvPr/>
        </p:nvSpPr>
        <p:spPr>
          <a:xfrm>
            <a:off x="857250" y="1666875"/>
            <a:ext cx="2857500" cy="495300"/>
          </a:xfrm>
          <a:prstGeom prst="rect">
            <a:avLst/>
          </a:prstGeom>
          <a:noFill/>
          <a:ln w="0">
            <a:noFill/>
          </a:ln>
        </p:spPr>
        <p:txBody>
          <a:bodyPr lIns="38100" tIns="19050" rIns="38100" bIns="19050" anchor="t">
            <a:normAutofit/>
          </a:bodyPr>
          <a:lstStyle/>
          <a:p>
            <a:pPr algn="ctr">
              <a:defRPr sz="2550" b="1" i="0">
                <a:solidFill>
                  <a:srgbClr val="2D2D2D"/>
                </a:solidFill>
                <a:latin typeface="Montserrat"/>
                <a:ea typeface="Montserrat"/>
                <a:cs typeface="Montserrat"/>
              </a:defRPr>
            </a:pPr>
            <a:r>
              <a:rPr sz="2550" b="1" i="0">
                <a:solidFill>
                  <a:srgbClr val="2D2D2D"/>
                </a:solidFill>
                <a:latin typeface="Montserrat"/>
                <a:ea typeface="Montserrat"/>
                <a:cs typeface="Montserrat"/>
              </a:rPr>
              <a:t>2   2   2   2</a:t>
            </a:r>
          </a:p>
        </p:txBody>
      </p:sp>
      <p:sp>
        <p:nvSpPr>
          <p:cNvPr id="8" name="Rectangle 7">
            <a:extLst>
              <a:ext uri="{FF2B5EF4-FFF2-40B4-BE49-F238E27FC236}">
                <a16:creationId xmlns:a16="http://schemas.microsoft.com/office/drawing/2014/main" id="{29211765-7930-420D-8AC1-4BCCA390FCC6}"/>
              </a:ext>
            </a:extLst>
          </p:cNvPr>
          <p:cNvSpPr>
            <a:spLocks noGrp="1"/>
          </p:cNvSpPr>
          <p:nvPr/>
        </p:nvSpPr>
        <p:spPr>
          <a:xfrm>
            <a:off x="857250" y="2238375"/>
            <a:ext cx="2857500" cy="323850"/>
          </a:xfrm>
          <a:prstGeom prst="rect">
            <a:avLst/>
          </a:prstGeom>
          <a:noFill/>
          <a:ln w="0">
            <a:noFill/>
          </a:ln>
        </p:spPr>
        <p:txBody>
          <a:bodyPr lIns="38100" tIns="19050" rIns="38100" bIns="19050" anchor="t">
            <a:normAutofit/>
          </a:bodyPr>
          <a:lstStyle/>
          <a:p>
            <a:pPr algn="ctr">
              <a:defRPr sz="1575" b="0" i="0">
                <a:solidFill>
                  <a:srgbClr val="3E8853"/>
                </a:solidFill>
                <a:latin typeface="Montserrat"/>
                <a:ea typeface="Montserrat"/>
                <a:cs typeface="Montserrat"/>
              </a:defRPr>
            </a:pPr>
            <a:r>
              <a:rPr sz="1575" b="0" i="0">
                <a:solidFill>
                  <a:srgbClr val="3E8853"/>
                </a:solidFill>
                <a:latin typeface="Montserrat"/>
                <a:ea typeface="Montserrat"/>
                <a:cs typeface="Montserrat"/>
              </a:rPr>
              <a:t>mean = 2     SD = 0</a:t>
            </a:r>
          </a:p>
        </p:txBody>
      </p:sp>
      <p:sp>
        <p:nvSpPr>
          <p:cNvPr id="9" name="Rectangle 8">
            <a:extLst>
              <a:ext uri="{FF2B5EF4-FFF2-40B4-BE49-F238E27FC236}">
                <a16:creationId xmlns:a16="http://schemas.microsoft.com/office/drawing/2014/main" id="{24D010FF-5C96-4DA9-8940-37515E11CA74}"/>
              </a:ext>
            </a:extLst>
          </p:cNvPr>
          <p:cNvSpPr>
            <a:spLocks noGrp="1"/>
          </p:cNvSpPr>
          <p:nvPr/>
        </p:nvSpPr>
        <p:spPr>
          <a:xfrm>
            <a:off x="5429250" y="1257300"/>
            <a:ext cx="2857500" cy="304800"/>
          </a:xfrm>
          <a:prstGeom prst="rect">
            <a:avLst/>
          </a:prstGeom>
          <a:noFill/>
          <a:ln w="0">
            <a:noFill/>
          </a:ln>
        </p:spPr>
        <p:txBody>
          <a:bodyPr lIns="38100" tIns="19050" rIns="38100" bIns="19050" anchor="t">
            <a:normAutofit/>
          </a:bodyPr>
          <a:lstStyle/>
          <a:p>
            <a:pPr algn="ct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Dataset B</a:t>
            </a:r>
          </a:p>
        </p:txBody>
      </p:sp>
      <p:sp>
        <p:nvSpPr>
          <p:cNvPr id="10" name="Rectangle 9">
            <a:extLst>
              <a:ext uri="{FF2B5EF4-FFF2-40B4-BE49-F238E27FC236}">
                <a16:creationId xmlns:a16="http://schemas.microsoft.com/office/drawing/2014/main" id="{6CB10682-C43A-4E94-A0AF-DF227077C33A}"/>
              </a:ext>
            </a:extLst>
          </p:cNvPr>
          <p:cNvSpPr>
            <a:spLocks noGrp="1"/>
          </p:cNvSpPr>
          <p:nvPr/>
        </p:nvSpPr>
        <p:spPr>
          <a:xfrm>
            <a:off x="5429250" y="1666875"/>
            <a:ext cx="2857500" cy="495300"/>
          </a:xfrm>
          <a:prstGeom prst="rect">
            <a:avLst/>
          </a:prstGeom>
          <a:noFill/>
          <a:ln w="0">
            <a:noFill/>
          </a:ln>
        </p:spPr>
        <p:txBody>
          <a:bodyPr lIns="38100" tIns="19050" rIns="38100" bIns="19050" anchor="t">
            <a:normAutofit/>
          </a:bodyPr>
          <a:lstStyle/>
          <a:p>
            <a:pPr algn="ctr">
              <a:defRPr sz="2550" b="1" i="0">
                <a:solidFill>
                  <a:srgbClr val="2D2D2D"/>
                </a:solidFill>
                <a:latin typeface="Montserrat"/>
                <a:ea typeface="Montserrat"/>
                <a:cs typeface="Montserrat"/>
              </a:defRPr>
            </a:pPr>
            <a:r>
              <a:rPr sz="2550" b="1" i="0">
                <a:solidFill>
                  <a:srgbClr val="2D2D2D"/>
                </a:solidFill>
                <a:latin typeface="Montserrat"/>
                <a:ea typeface="Montserrat"/>
                <a:cs typeface="Montserrat"/>
              </a:rPr>
              <a:t>0   2   2   4</a:t>
            </a:r>
          </a:p>
        </p:txBody>
      </p:sp>
      <p:sp>
        <p:nvSpPr>
          <p:cNvPr id="11" name="Rectangle 10">
            <a:extLst>
              <a:ext uri="{FF2B5EF4-FFF2-40B4-BE49-F238E27FC236}">
                <a16:creationId xmlns:a16="http://schemas.microsoft.com/office/drawing/2014/main" id="{D6FBD250-4EFC-4B9F-8CCD-FC1B26ACA0A8}"/>
              </a:ext>
            </a:extLst>
          </p:cNvPr>
          <p:cNvSpPr>
            <a:spLocks noGrp="1"/>
          </p:cNvSpPr>
          <p:nvPr/>
        </p:nvSpPr>
        <p:spPr>
          <a:xfrm>
            <a:off x="5429250" y="2238375"/>
            <a:ext cx="2857500" cy="323850"/>
          </a:xfrm>
          <a:prstGeom prst="rect">
            <a:avLst/>
          </a:prstGeom>
          <a:noFill/>
          <a:ln w="0">
            <a:noFill/>
          </a:ln>
        </p:spPr>
        <p:txBody>
          <a:bodyPr lIns="38100" tIns="19050" rIns="38100" bIns="19050" anchor="t">
            <a:normAutofit/>
          </a:bodyPr>
          <a:lstStyle/>
          <a:p>
            <a:pPr algn="ctr">
              <a:defRPr sz="1575" b="0" i="0">
                <a:solidFill>
                  <a:srgbClr val="3E8853"/>
                </a:solidFill>
                <a:latin typeface="Montserrat"/>
                <a:ea typeface="Montserrat"/>
                <a:cs typeface="Montserrat"/>
              </a:defRPr>
            </a:pPr>
            <a:r>
              <a:rPr sz="1575" b="0" i="0">
                <a:solidFill>
                  <a:srgbClr val="3E8853"/>
                </a:solidFill>
                <a:latin typeface="Montserrat"/>
                <a:ea typeface="Montserrat"/>
                <a:cs typeface="Montserrat"/>
              </a:rPr>
              <a:t>mean = 2     SD &gt; 0</a:t>
            </a:r>
          </a:p>
        </p:txBody>
      </p:sp>
      <p:sp>
        <p:nvSpPr>
          <p:cNvPr id="12" name="Rectangle 11">
            <a:extLst>
              <a:ext uri="{FF2B5EF4-FFF2-40B4-BE49-F238E27FC236}">
                <a16:creationId xmlns:a16="http://schemas.microsoft.com/office/drawing/2014/main" id="{87FFD9D7-6FCE-43E0-9556-E9CE4AA10A33}"/>
              </a:ext>
            </a:extLst>
          </p:cNvPr>
          <p:cNvSpPr>
            <a:spLocks noGrp="1"/>
          </p:cNvSpPr>
          <p:nvPr/>
        </p:nvSpPr>
        <p:spPr>
          <a:xfrm>
            <a:off x="857250" y="2781300"/>
            <a:ext cx="7429500" cy="9525"/>
          </a:xfrm>
          <a:prstGeom prst="rect">
            <a:avLst/>
          </a:prstGeom>
          <a:solidFill>
            <a:srgbClr val="C9D8E0"/>
          </a:solidFill>
          <a:ln w="0">
            <a:noFill/>
          </a:ln>
        </p:spPr>
      </p:sp>
      <p:sp>
        <p:nvSpPr>
          <p:cNvPr id="13" name="Rectangle 12">
            <a:extLst>
              <a:ext uri="{FF2B5EF4-FFF2-40B4-BE49-F238E27FC236}">
                <a16:creationId xmlns:a16="http://schemas.microsoft.com/office/drawing/2014/main" id="{772D60E6-98DB-4075-9B48-FC4F4D47BF6B}"/>
              </a:ext>
            </a:extLst>
          </p:cNvPr>
          <p:cNvSpPr>
            <a:spLocks noGrp="1"/>
          </p:cNvSpPr>
          <p:nvPr/>
        </p:nvSpPr>
        <p:spPr>
          <a:xfrm>
            <a:off x="904875" y="3048000"/>
            <a:ext cx="2095500" cy="34290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Variance</a:t>
            </a:r>
          </a:p>
        </p:txBody>
      </p:sp>
      <p:sp>
        <p:nvSpPr>
          <p:cNvPr id="14" name="Rectangle 13">
            <a:extLst>
              <a:ext uri="{FF2B5EF4-FFF2-40B4-BE49-F238E27FC236}">
                <a16:creationId xmlns:a16="http://schemas.microsoft.com/office/drawing/2014/main" id="{0801D392-F007-4E8F-9076-8A2933A17B5C}"/>
              </a:ext>
            </a:extLst>
          </p:cNvPr>
          <p:cNvSpPr>
            <a:spLocks noGrp="1"/>
          </p:cNvSpPr>
          <p:nvPr/>
        </p:nvSpPr>
        <p:spPr>
          <a:xfrm>
            <a:off x="904875" y="3429000"/>
            <a:ext cx="2857500" cy="609600"/>
          </a:xfrm>
          <a:prstGeom prst="rect">
            <a:avLst/>
          </a:prstGeom>
          <a:noFill/>
          <a:ln w="0">
            <a:noFill/>
          </a:ln>
        </p:spPr>
        <p:txBody>
          <a:bodyPr lIns="38100" tIns="19050" rIns="38100" bIns="19050" anchor="t">
            <a:normAutofit/>
          </a:bodyPr>
          <a:lstStyle/>
          <a:p>
            <a:pPr algn="l">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Average squared distance from the mean</a:t>
            </a:r>
          </a:p>
        </p:txBody>
      </p:sp>
      <p:sp>
        <p:nvSpPr>
          <p:cNvPr id="15" name="Rectangle 14">
            <a:extLst>
              <a:ext uri="{FF2B5EF4-FFF2-40B4-BE49-F238E27FC236}">
                <a16:creationId xmlns:a16="http://schemas.microsoft.com/office/drawing/2014/main" id="{E22CC774-AD49-476C-9BFC-89907AC32918}"/>
              </a:ext>
            </a:extLst>
          </p:cNvPr>
          <p:cNvSpPr>
            <a:spLocks noGrp="1"/>
          </p:cNvSpPr>
          <p:nvPr/>
        </p:nvSpPr>
        <p:spPr>
          <a:xfrm>
            <a:off x="4905375" y="3048000"/>
            <a:ext cx="2762250" cy="342900"/>
          </a:xfrm>
          <a:prstGeom prst="rect">
            <a:avLst/>
          </a:prstGeom>
          <a:noFill/>
          <a:ln w="0">
            <a:noFill/>
          </a:ln>
        </p:spPr>
        <p:txBody>
          <a:bodyPr lIns="38100" tIns="19050" rIns="38100" bIns="19050" anchor="t">
            <a:normAutofit/>
          </a:bodyPr>
          <a:lstStyle/>
          <a:p>
            <a:pPr algn="l">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Standard deviation</a:t>
            </a:r>
          </a:p>
        </p:txBody>
      </p:sp>
      <p:sp>
        <p:nvSpPr>
          <p:cNvPr id="16" name="Rectangle 15">
            <a:extLst>
              <a:ext uri="{FF2B5EF4-FFF2-40B4-BE49-F238E27FC236}">
                <a16:creationId xmlns:a16="http://schemas.microsoft.com/office/drawing/2014/main" id="{20B1A168-5D96-4719-B00E-4D4457C2BC7B}"/>
              </a:ext>
            </a:extLst>
          </p:cNvPr>
          <p:cNvSpPr>
            <a:spLocks noGrp="1"/>
          </p:cNvSpPr>
          <p:nvPr/>
        </p:nvSpPr>
        <p:spPr>
          <a:xfrm>
            <a:off x="4905375" y="3429000"/>
            <a:ext cx="3190875" cy="609600"/>
          </a:xfrm>
          <a:prstGeom prst="rect">
            <a:avLst/>
          </a:prstGeom>
          <a:noFill/>
          <a:ln w="0">
            <a:noFill/>
          </a:ln>
        </p:spPr>
        <p:txBody>
          <a:bodyPr lIns="38100" tIns="19050" rIns="38100" bIns="19050" anchor="t">
            <a:normAutofit/>
          </a:bodyPr>
          <a:lstStyle/>
          <a:p>
            <a:pPr algn="l">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Square root of variance, returned to the original units</a:t>
            </a:r>
          </a:p>
        </p:txBody>
      </p:sp>
      <p:sp>
        <p:nvSpPr>
          <p:cNvPr id="17" name="Rectangle 16">
            <a:extLst>
              <a:ext uri="{FF2B5EF4-FFF2-40B4-BE49-F238E27FC236}">
                <a16:creationId xmlns:a16="http://schemas.microsoft.com/office/drawing/2014/main" id="{581E7B16-AE89-4D37-8B38-665C3AE0894C}"/>
              </a:ext>
            </a:extLst>
          </p:cNvPr>
          <p:cNvSpPr>
            <a:spLocks noGrp="1"/>
          </p:cNvSpPr>
          <p:nvPr/>
        </p:nvSpPr>
        <p:spPr>
          <a:xfrm>
            <a:off x="1476375" y="4229100"/>
            <a:ext cx="6191250" cy="400050"/>
          </a:xfrm>
          <a:prstGeom prst="rect">
            <a:avLst/>
          </a:prstGeom>
          <a:noFill/>
          <a:ln w="0">
            <a:noFill/>
          </a:ln>
        </p:spPr>
        <p:txBody>
          <a:bodyPr lIns="38100" tIns="19050" rIns="38100" bIns="19050" anchor="t">
            <a:normAutofit fontScale="93137" lnSpcReduction="10000"/>
          </a:bodyPr>
          <a:lstStyle/>
          <a:p>
            <a:pPr algn="ctr">
              <a:defRPr sz="1275" b="0" i="1">
                <a:solidFill>
                  <a:srgbClr val="C74634"/>
                </a:solidFill>
                <a:latin typeface="Montserrat"/>
                <a:ea typeface="Montserrat"/>
                <a:cs typeface="Montserrat"/>
              </a:defRPr>
            </a:pPr>
            <a:r>
              <a:rPr sz="1275" b="0" i="1">
                <a:solidFill>
                  <a:srgbClr val="C74634"/>
                </a:solidFill>
                <a:latin typeface="Montserrat"/>
                <a:ea typeface="Montserrat"/>
                <a:cs typeface="Montserrat"/>
              </a:rPr>
              <a:t>Sample SD uses n − 1 because estimating the mean from the same sample makes spread look slightly too small.</a:t>
            </a:r>
          </a:p>
        </p:txBody>
      </p:sp>
    </p:spTree>
    <p:extLst>
      <p:ext uri="{BB962C8B-B14F-4D97-AF65-F5344CB8AC3E}">
        <p14:creationId xmlns:p14="http://schemas.microsoft.com/office/powerpoint/2010/main" val="1528743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16E5323-E38C-43AC-887B-4962C4F8735D}"/>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10 | Match the displays</a:t>
            </a:r>
          </a:p>
        </p:txBody>
      </p:sp>
      <p:sp>
        <p:nvSpPr>
          <p:cNvPr id="2" name="Rectangle 1">
            <a:extLst>
              <a:ext uri="{FF2B5EF4-FFF2-40B4-BE49-F238E27FC236}">
                <a16:creationId xmlns:a16="http://schemas.microsoft.com/office/drawing/2014/main" id="{40E294E1-AF3F-44E3-A42F-630A41B2B337}"/>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DB3AD02D-E07C-468E-AC1C-B6D6B75EB396}"/>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1E00DE56-D127-47DE-AF78-DAD8694D5C15}"/>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12780202-A15D-4DA8-BCDB-A69D76577229}"/>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17</a:t>
            </a:r>
          </a:p>
        </p:txBody>
      </p:sp>
      <p:pic>
        <p:nvPicPr>
          <p:cNvPr id="15" name="Picture 14"/>
          <p:cNvPicPr>
            <a:picLocks noChangeAspect="1"/>
          </p:cNvPicPr>
          <p:nvPr/>
        </p:nvPicPr>
        <p:blipFill>
          <a:blip r:embed="rId3"/>
          <a:stretch/>
        </p:blipFill>
        <p:spPr>
          <a:xfrm>
            <a:off x="871336" y="1104900"/>
            <a:ext cx="5010553" cy="3429000"/>
          </a:xfrm>
          <a:prstGeom prst="rect">
            <a:avLst/>
          </a:prstGeom>
        </p:spPr>
      </p:pic>
      <p:sp>
        <p:nvSpPr>
          <p:cNvPr id="7" name="Rectangle 6">
            <a:extLst>
              <a:ext uri="{FF2B5EF4-FFF2-40B4-BE49-F238E27FC236}">
                <a16:creationId xmlns:a16="http://schemas.microsoft.com/office/drawing/2014/main" id="{CF0A127C-CC6C-4A6E-8EA1-B15BBA3D02F9}"/>
              </a:ext>
            </a:extLst>
          </p:cNvPr>
          <p:cNvSpPr>
            <a:spLocks noGrp="1"/>
          </p:cNvSpPr>
          <p:nvPr/>
        </p:nvSpPr>
        <p:spPr>
          <a:xfrm>
            <a:off x="6429375" y="1285875"/>
            <a:ext cx="2095500" cy="619125"/>
          </a:xfrm>
          <a:prstGeom prst="rect">
            <a:avLst/>
          </a:prstGeom>
          <a:noFill/>
          <a:ln w="0">
            <a:noFill/>
          </a:ln>
        </p:spPr>
        <p:txBody>
          <a:bodyPr lIns="38100" tIns="19050" rIns="38100" bIns="19050" anchor="t">
            <a:normAutofit fontScale="82523" lnSpcReduction="20000"/>
          </a:bodyPr>
          <a:lstStyle/>
          <a:p>
            <a:pPr algn="l">
              <a:defRPr sz="1800" b="1" i="0">
                <a:solidFill>
                  <a:srgbClr val="2D2D2D"/>
                </a:solidFill>
                <a:latin typeface="Montserrat"/>
                <a:ea typeface="Montserrat"/>
                <a:cs typeface="Montserrat"/>
              </a:defRPr>
            </a:pPr>
            <a:r>
              <a:rPr sz="1800" b="1" i="0">
                <a:solidFill>
                  <a:srgbClr val="2D2D2D"/>
                </a:solidFill>
                <a:latin typeface="Montserrat"/>
                <a:ea typeface="Montserrat"/>
                <a:cs typeface="Montserrat"/>
              </a:rPr>
              <a:t>Match each histogram to its box plot.</a:t>
            </a:r>
          </a:p>
        </p:txBody>
      </p:sp>
      <p:sp>
        <p:nvSpPr>
          <p:cNvPr id="8" name="Rectangle 7">
            <a:extLst>
              <a:ext uri="{FF2B5EF4-FFF2-40B4-BE49-F238E27FC236}">
                <a16:creationId xmlns:a16="http://schemas.microsoft.com/office/drawing/2014/main" id="{8AC380C3-A1E9-46A0-A5EF-7348DE6C1D7A}"/>
              </a:ext>
            </a:extLst>
          </p:cNvPr>
          <p:cNvSpPr>
            <a:spLocks noGrp="1"/>
          </p:cNvSpPr>
          <p:nvPr/>
        </p:nvSpPr>
        <p:spPr>
          <a:xfrm>
            <a:off x="6429375" y="2133600"/>
            <a:ext cx="2095500" cy="1476375"/>
          </a:xfrm>
          <a:prstGeom prst="rect">
            <a:avLst/>
          </a:prstGeom>
          <a:noFill/>
          <a:ln w="0">
            <a:noFill/>
          </a:ln>
        </p:spPr>
        <p:txBody>
          <a:bodyPr lIns="47625" tIns="19050" rIns="47625" bIns="19050" anchor="t">
            <a:normAutofit/>
          </a:bodyPr>
          <a:lstStyle/>
          <a:p>
            <a:pPr>
              <a:spcAft>
                <a:spcPts val="800"/>
              </a:spcAft>
              <a:defRPr sz="1350">
                <a:solidFill>
                  <a:srgbClr val="2D2D2D"/>
                </a:solidFill>
                <a:latin typeface="Montserrat"/>
                <a:ea typeface="Montserrat"/>
                <a:cs typeface="Montserrat"/>
              </a:defRPr>
            </a:pPr>
            <a:r>
              <a:rPr sz="1350" b="1">
                <a:solidFill>
                  <a:srgbClr val="2D2D2D"/>
                </a:solidFill>
                <a:latin typeface="Montserrat"/>
                <a:ea typeface="Montserrat"/>
                <a:cs typeface="Montserrat"/>
              </a:rPr>
              <a:t>A. </a:t>
            </a:r>
            <a:r>
              <a:rPr sz="1350" b="0">
                <a:solidFill>
                  <a:srgbClr val="2D2D2D"/>
                </a:solidFill>
                <a:latin typeface="Montserrat"/>
                <a:ea typeface="Montserrat"/>
                <a:cs typeface="Montserrat"/>
              </a:rPr>
              <a:t>A → 2, B → 3, C → 1</a:t>
            </a:r>
          </a:p>
          <a:p>
            <a:pPr>
              <a:spcAft>
                <a:spcPts val="800"/>
              </a:spcAft>
              <a:defRPr sz="1350">
                <a:solidFill>
                  <a:srgbClr val="2D2D2D"/>
                </a:solidFill>
                <a:latin typeface="Montserrat"/>
                <a:ea typeface="Montserrat"/>
                <a:cs typeface="Montserrat"/>
              </a:defRPr>
            </a:pPr>
            <a:r>
              <a:rPr sz="1350" b="1">
                <a:solidFill>
                  <a:srgbClr val="2D2D2D"/>
                </a:solidFill>
                <a:latin typeface="Montserrat"/>
                <a:ea typeface="Montserrat"/>
                <a:cs typeface="Montserrat"/>
              </a:rPr>
              <a:t>B. </a:t>
            </a:r>
            <a:r>
              <a:rPr sz="1350" b="0">
                <a:solidFill>
                  <a:srgbClr val="2D2D2D"/>
                </a:solidFill>
                <a:latin typeface="Montserrat"/>
                <a:ea typeface="Montserrat"/>
                <a:cs typeface="Montserrat"/>
              </a:rPr>
              <a:t>A → 1, B → 2, C → 3</a:t>
            </a:r>
          </a:p>
          <a:p>
            <a:pPr>
              <a:spcAft>
                <a:spcPts val="800"/>
              </a:spcAft>
              <a:defRPr sz="1350">
                <a:solidFill>
                  <a:srgbClr val="2D2D2D"/>
                </a:solidFill>
                <a:latin typeface="Montserrat"/>
                <a:ea typeface="Montserrat"/>
                <a:cs typeface="Montserrat"/>
              </a:defRPr>
            </a:pPr>
            <a:r>
              <a:rPr sz="1350" b="1">
                <a:solidFill>
                  <a:srgbClr val="2D2D2D"/>
                </a:solidFill>
                <a:latin typeface="Montserrat"/>
                <a:ea typeface="Montserrat"/>
                <a:cs typeface="Montserrat"/>
              </a:rPr>
              <a:t>C. </a:t>
            </a:r>
            <a:r>
              <a:rPr sz="1350" b="0">
                <a:solidFill>
                  <a:srgbClr val="2D2D2D"/>
                </a:solidFill>
                <a:latin typeface="Montserrat"/>
                <a:ea typeface="Montserrat"/>
                <a:cs typeface="Montserrat"/>
              </a:rPr>
              <a:t>A → 3, B → 1, C → 2</a:t>
            </a:r>
          </a:p>
          <a:p>
            <a:pPr>
              <a:spcAft>
                <a:spcPts val="800"/>
              </a:spcAft>
              <a:defRPr sz="1350">
                <a:solidFill>
                  <a:srgbClr val="2D2D2D"/>
                </a:solidFill>
                <a:latin typeface="Montserrat"/>
                <a:ea typeface="Montserrat"/>
                <a:cs typeface="Montserrat"/>
              </a:defRPr>
            </a:pPr>
            <a:r>
              <a:rPr sz="1350" b="1">
                <a:solidFill>
                  <a:srgbClr val="2D2D2D"/>
                </a:solidFill>
                <a:latin typeface="Montserrat"/>
                <a:ea typeface="Montserrat"/>
                <a:cs typeface="Montserrat"/>
              </a:rPr>
              <a:t>D. </a:t>
            </a:r>
            <a:r>
              <a:rPr sz="1350" b="0">
                <a:solidFill>
                  <a:srgbClr val="2D2D2D"/>
                </a:solidFill>
                <a:latin typeface="Montserrat"/>
                <a:ea typeface="Montserrat"/>
                <a:cs typeface="Montserrat"/>
              </a:rPr>
              <a:t>A → 2, B → 1, C → 3</a:t>
            </a:r>
          </a:p>
        </p:txBody>
      </p:sp>
      <p:sp>
        <p:nvSpPr>
          <p:cNvPr id="9" name="Rectangle 8">
            <a:extLst>
              <a:ext uri="{FF2B5EF4-FFF2-40B4-BE49-F238E27FC236}">
                <a16:creationId xmlns:a16="http://schemas.microsoft.com/office/drawing/2014/main" id="{3384E234-305C-44AF-9DCB-73CBB68E12AE}"/>
              </a:ext>
            </a:extLst>
          </p:cNvPr>
          <p:cNvSpPr>
            <a:spLocks noGrp="1"/>
          </p:cNvSpPr>
          <p:nvPr/>
        </p:nvSpPr>
        <p:spPr>
          <a:xfrm>
            <a:off x="6429375" y="3933825"/>
            <a:ext cx="2095500" cy="495300"/>
          </a:xfrm>
          <a:prstGeom prst="rect">
            <a:avLst/>
          </a:prstGeom>
          <a:noFill/>
          <a:ln w="0">
            <a:noFill/>
          </a:ln>
        </p:spPr>
        <p:txBody>
          <a:bodyPr lIns="38100" tIns="19050" rIns="38100" bIns="19050" anchor="t">
            <a:normAutofit/>
          </a:bodyPr>
          <a:lstStyle/>
          <a:p>
            <a:pPr algn="l">
              <a:defRPr sz="1500" b="1" i="0">
                <a:solidFill>
                  <a:srgbClr val="C74634"/>
                </a:solidFill>
                <a:latin typeface="Montserrat"/>
                <a:ea typeface="Montserrat"/>
                <a:cs typeface="Montserrat"/>
              </a:defRPr>
            </a:pPr>
            <a:r>
              <a:rPr sz="1500" b="1" i="0">
                <a:solidFill>
                  <a:srgbClr val="C74634"/>
                </a:solidFill>
                <a:latin typeface="Montserrat"/>
                <a:ea typeface="Montserrat"/>
                <a:cs typeface="Montserrat"/>
              </a:rPr>
              <a:t>Which visual clues did you use?</a:t>
            </a:r>
          </a:p>
        </p:txBody>
      </p:sp>
    </p:spTree>
    <p:extLst>
      <p:ext uri="{BB962C8B-B14F-4D97-AF65-F5344CB8AC3E}">
        <p14:creationId xmlns:p14="http://schemas.microsoft.com/office/powerpoint/2010/main" val="249906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3620A4-67D5-429E-88EF-758FB1F75BE1}"/>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Shape, box plots, and modes</a:t>
            </a:r>
          </a:p>
        </p:txBody>
      </p:sp>
      <p:sp>
        <p:nvSpPr>
          <p:cNvPr id="2" name="Rectangle 1">
            <a:extLst>
              <a:ext uri="{FF2B5EF4-FFF2-40B4-BE49-F238E27FC236}">
                <a16:creationId xmlns:a16="http://schemas.microsoft.com/office/drawing/2014/main" id="{E6873C6F-11DA-48D5-859B-EDF1921C3248}"/>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AEAA014-0D72-49F5-BD11-D1FA40D1A60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E8A6ABF9-B52B-45CC-9C69-BD780A074AD4}"/>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C5BD21A5-C5E9-4A9D-B27C-3AE0A20BEE57}"/>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18</a:t>
            </a:r>
          </a:p>
        </p:txBody>
      </p:sp>
      <p:pic>
        <p:nvPicPr>
          <p:cNvPr id="18" name="Picture 17"/>
          <p:cNvPicPr>
            <a:picLocks noChangeAspect="1"/>
          </p:cNvPicPr>
          <p:nvPr/>
        </p:nvPicPr>
        <p:blipFill>
          <a:blip r:embed="rId3"/>
          <a:stretch/>
        </p:blipFill>
        <p:spPr>
          <a:xfrm>
            <a:off x="869490" y="1104900"/>
            <a:ext cx="4871371" cy="3333750"/>
          </a:xfrm>
          <a:prstGeom prst="rect">
            <a:avLst/>
          </a:prstGeom>
        </p:spPr>
      </p:pic>
      <p:sp>
        <p:nvSpPr>
          <p:cNvPr id="7" name="Rectangle 6">
            <a:extLst>
              <a:ext uri="{FF2B5EF4-FFF2-40B4-BE49-F238E27FC236}">
                <a16:creationId xmlns:a16="http://schemas.microsoft.com/office/drawing/2014/main" id="{278655FD-4776-4E5D-ADA3-E1E68FBF39ED}"/>
              </a:ext>
            </a:extLst>
          </p:cNvPr>
          <p:cNvSpPr>
            <a:spLocks noGrp="1"/>
          </p:cNvSpPr>
          <p:nvPr/>
        </p:nvSpPr>
        <p:spPr>
          <a:xfrm>
            <a:off x="6286500" y="1200150"/>
            <a:ext cx="2047875" cy="361950"/>
          </a:xfrm>
          <a:prstGeom prst="rect">
            <a:avLst/>
          </a:prstGeom>
          <a:noFill/>
          <a:ln w="0">
            <a:noFill/>
          </a:ln>
        </p:spPr>
        <p:txBody>
          <a:bodyPr lIns="38100" tIns="19050" rIns="38100" bIns="19050" anchor="t">
            <a:normAutofit/>
          </a:bodyPr>
          <a:lstStyle/>
          <a:p>
            <a:pPr algn="l">
              <a:defRPr sz="2100" b="1" i="0">
                <a:solidFill>
                  <a:srgbClr val="3E8853"/>
                </a:solidFill>
                <a:latin typeface="Montserrat"/>
                <a:ea typeface="Montserrat"/>
                <a:cs typeface="Montserrat"/>
              </a:defRPr>
            </a:pPr>
            <a:r>
              <a:rPr sz="2100" b="1" i="0">
                <a:solidFill>
                  <a:srgbClr val="3E8853"/>
                </a:solidFill>
                <a:latin typeface="Montserrat"/>
                <a:ea typeface="Montserrat"/>
                <a:cs typeface="Montserrat"/>
              </a:rPr>
              <a:t>A → 2</a:t>
            </a:r>
          </a:p>
        </p:txBody>
      </p:sp>
      <p:sp>
        <p:nvSpPr>
          <p:cNvPr id="8" name="Rectangle 7">
            <a:extLst>
              <a:ext uri="{FF2B5EF4-FFF2-40B4-BE49-F238E27FC236}">
                <a16:creationId xmlns:a16="http://schemas.microsoft.com/office/drawing/2014/main" id="{F0A2C6A5-C588-4091-8815-3009BB00E00D}"/>
              </a:ext>
            </a:extLst>
          </p:cNvPr>
          <p:cNvSpPr>
            <a:spLocks noGrp="1"/>
          </p:cNvSpPr>
          <p:nvPr/>
        </p:nvSpPr>
        <p:spPr>
          <a:xfrm>
            <a:off x="6286500" y="1666875"/>
            <a:ext cx="2047875" cy="361950"/>
          </a:xfrm>
          <a:prstGeom prst="rect">
            <a:avLst/>
          </a:prstGeom>
          <a:noFill/>
          <a:ln w="0">
            <a:noFill/>
          </a:ln>
        </p:spPr>
        <p:txBody>
          <a:bodyPr lIns="38100" tIns="19050" rIns="38100" bIns="19050" anchor="t">
            <a:normAutofit/>
          </a:bodyPr>
          <a:lstStyle/>
          <a:p>
            <a:pPr algn="l">
              <a:defRPr sz="2100" b="1" i="0">
                <a:solidFill>
                  <a:srgbClr val="3E8853"/>
                </a:solidFill>
                <a:latin typeface="Montserrat"/>
                <a:ea typeface="Montserrat"/>
                <a:cs typeface="Montserrat"/>
              </a:defRPr>
            </a:pPr>
            <a:r>
              <a:rPr sz="2100" b="1" i="0">
                <a:solidFill>
                  <a:srgbClr val="3E8853"/>
                </a:solidFill>
                <a:latin typeface="Montserrat"/>
                <a:ea typeface="Montserrat"/>
                <a:cs typeface="Montserrat"/>
              </a:rPr>
              <a:t>B → 3</a:t>
            </a:r>
          </a:p>
        </p:txBody>
      </p:sp>
      <p:sp>
        <p:nvSpPr>
          <p:cNvPr id="9" name="Rectangle 8">
            <a:extLst>
              <a:ext uri="{FF2B5EF4-FFF2-40B4-BE49-F238E27FC236}">
                <a16:creationId xmlns:a16="http://schemas.microsoft.com/office/drawing/2014/main" id="{C0E7AAE9-30FB-42BC-AE50-492961D3A513}"/>
              </a:ext>
            </a:extLst>
          </p:cNvPr>
          <p:cNvSpPr>
            <a:spLocks noGrp="1"/>
          </p:cNvSpPr>
          <p:nvPr/>
        </p:nvSpPr>
        <p:spPr>
          <a:xfrm>
            <a:off x="6286500" y="2133600"/>
            <a:ext cx="2047875" cy="361950"/>
          </a:xfrm>
          <a:prstGeom prst="rect">
            <a:avLst/>
          </a:prstGeom>
          <a:noFill/>
          <a:ln w="0">
            <a:noFill/>
          </a:ln>
        </p:spPr>
        <p:txBody>
          <a:bodyPr lIns="38100" tIns="19050" rIns="38100" bIns="19050" anchor="t">
            <a:normAutofit/>
          </a:bodyPr>
          <a:lstStyle/>
          <a:p>
            <a:pPr algn="l">
              <a:defRPr sz="2100" b="1" i="0">
                <a:solidFill>
                  <a:srgbClr val="3E8853"/>
                </a:solidFill>
                <a:latin typeface="Montserrat"/>
                <a:ea typeface="Montserrat"/>
                <a:cs typeface="Montserrat"/>
              </a:defRPr>
            </a:pPr>
            <a:r>
              <a:rPr sz="2100" b="1" i="0">
                <a:solidFill>
                  <a:srgbClr val="3E8853"/>
                </a:solidFill>
                <a:latin typeface="Montserrat"/>
                <a:ea typeface="Montserrat"/>
                <a:cs typeface="Montserrat"/>
              </a:rPr>
              <a:t>C → 1</a:t>
            </a:r>
          </a:p>
        </p:txBody>
      </p:sp>
      <p:sp>
        <p:nvSpPr>
          <p:cNvPr id="10" name="Rectangle 9">
            <a:extLst>
              <a:ext uri="{FF2B5EF4-FFF2-40B4-BE49-F238E27FC236}">
                <a16:creationId xmlns:a16="http://schemas.microsoft.com/office/drawing/2014/main" id="{495A2D1C-50FD-42BF-B1A8-42486CE3844E}"/>
              </a:ext>
            </a:extLst>
          </p:cNvPr>
          <p:cNvSpPr>
            <a:spLocks noGrp="1"/>
          </p:cNvSpPr>
          <p:nvPr/>
        </p:nvSpPr>
        <p:spPr>
          <a:xfrm>
            <a:off x="6286500" y="2686050"/>
            <a:ext cx="2047875" cy="9525"/>
          </a:xfrm>
          <a:prstGeom prst="rect">
            <a:avLst/>
          </a:prstGeom>
          <a:solidFill>
            <a:srgbClr val="C9D8E0"/>
          </a:solidFill>
          <a:ln w="0">
            <a:noFill/>
          </a:ln>
        </p:spPr>
      </p:sp>
      <p:sp>
        <p:nvSpPr>
          <p:cNvPr id="11" name="Rectangle 10">
            <a:extLst>
              <a:ext uri="{FF2B5EF4-FFF2-40B4-BE49-F238E27FC236}">
                <a16:creationId xmlns:a16="http://schemas.microsoft.com/office/drawing/2014/main" id="{53E24AA0-FBEB-4805-9CA4-327916EEC016}"/>
              </a:ext>
            </a:extLst>
          </p:cNvPr>
          <p:cNvSpPr>
            <a:spLocks noGrp="1"/>
          </p:cNvSpPr>
          <p:nvPr/>
        </p:nvSpPr>
        <p:spPr>
          <a:xfrm>
            <a:off x="6286500" y="2905125"/>
            <a:ext cx="2047875" cy="266700"/>
          </a:xfrm>
          <a:prstGeom prst="rect">
            <a:avLst/>
          </a:prstGeom>
          <a:noFill/>
          <a:ln w="0">
            <a:noFill/>
          </a:ln>
        </p:spPr>
        <p:txBody>
          <a:bodyPr lIns="38100" tIns="19050" rIns="38100" bIns="19050" anchor="t">
            <a:normAutofit/>
          </a:bodyPr>
          <a:lstStyle/>
          <a:p>
            <a:pPr algn="l">
              <a:defRPr sz="1275" b="1" i="0">
                <a:solidFill>
                  <a:srgbClr val="1D4F91"/>
                </a:solidFill>
                <a:latin typeface="Montserrat"/>
                <a:ea typeface="Montserrat"/>
                <a:cs typeface="Montserrat"/>
              </a:defRPr>
            </a:pPr>
            <a:r>
              <a:rPr sz="1275" b="1" i="0">
                <a:solidFill>
                  <a:srgbClr val="1D4F91"/>
                </a:solidFill>
                <a:latin typeface="Montserrat"/>
                <a:ea typeface="Montserrat"/>
                <a:cs typeface="Montserrat"/>
              </a:rPr>
              <a:t>Quiz question 12</a:t>
            </a:r>
          </a:p>
        </p:txBody>
      </p:sp>
      <p:sp>
        <p:nvSpPr>
          <p:cNvPr id="12" name="Rectangle 11">
            <a:extLst>
              <a:ext uri="{FF2B5EF4-FFF2-40B4-BE49-F238E27FC236}">
                <a16:creationId xmlns:a16="http://schemas.microsoft.com/office/drawing/2014/main" id="{0EFF0DF5-FD7E-41F5-B8A7-13C60C448C97}"/>
              </a:ext>
            </a:extLst>
          </p:cNvPr>
          <p:cNvSpPr>
            <a:spLocks noGrp="1"/>
          </p:cNvSpPr>
          <p:nvPr/>
        </p:nvSpPr>
        <p:spPr>
          <a:xfrm>
            <a:off x="6286500" y="3248025"/>
            <a:ext cx="2095500" cy="1104900"/>
          </a:xfrm>
          <a:prstGeom prst="rect">
            <a:avLst/>
          </a:prstGeom>
          <a:noFill/>
          <a:ln w="0">
            <a:noFill/>
          </a:ln>
        </p:spPr>
        <p:txBody>
          <a:bodyPr lIns="38100" tIns="19050" rIns="38100" bIns="19050" anchor="t">
            <a:normAutofit fontScale="97932" lnSpcReduction="10000"/>
          </a:bodyPr>
          <a:lstStyle/>
          <a:p>
            <a:pPr algn="l">
              <a:defRPr sz="1500" b="1" i="0">
                <a:solidFill>
                  <a:srgbClr val="C74634"/>
                </a:solidFill>
                <a:latin typeface="Montserrat"/>
                <a:ea typeface="Montserrat"/>
                <a:cs typeface="Montserrat"/>
              </a:defRPr>
            </a:pPr>
            <a:r>
              <a:rPr sz="1500" b="1" i="0">
                <a:solidFill>
                  <a:srgbClr val="C74634"/>
                </a:solidFill>
                <a:latin typeface="Montserrat"/>
                <a:ea typeface="Montserrat"/>
                <a:cs typeface="Montserrat"/>
              </a:rPr>
              <a:t>A mode is a prominent peak or concentration, not every one-bin fluctuation.</a:t>
            </a:r>
          </a:p>
        </p:txBody>
      </p:sp>
    </p:spTree>
    <p:extLst>
      <p:ext uri="{BB962C8B-B14F-4D97-AF65-F5344CB8AC3E}">
        <p14:creationId xmlns:p14="http://schemas.microsoft.com/office/powerpoint/2010/main" val="2003292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FA75F0-EC68-4114-AEA2-B94A42E5C22D}"/>
              </a:ext>
            </a:extLst>
          </p:cNvPr>
          <p:cNvSpPr>
            <a:spLocks noGrp="1"/>
          </p:cNvSpPr>
          <p:nvPr/>
        </p:nvSpPr>
        <p:spPr>
          <a:xfrm>
            <a:off x="590550" y="266700"/>
            <a:ext cx="7962900" cy="571500"/>
          </a:xfrm>
          <a:prstGeom prst="rect">
            <a:avLst/>
          </a:prstGeom>
          <a:noFill/>
          <a:ln w="0">
            <a:noFill/>
          </a:ln>
        </p:spPr>
        <p:txBody>
          <a:bodyPr lIns="38100" tIns="19050" rIns="38100" bIns="19050" anchor="t">
            <a:normAutofit fontScale="92500"/>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11 | Read a skewed histogram</a:t>
            </a:r>
          </a:p>
        </p:txBody>
      </p:sp>
      <p:sp>
        <p:nvSpPr>
          <p:cNvPr id="2" name="Rectangle 1">
            <a:extLst>
              <a:ext uri="{FF2B5EF4-FFF2-40B4-BE49-F238E27FC236}">
                <a16:creationId xmlns:a16="http://schemas.microsoft.com/office/drawing/2014/main" id="{0894B1A9-7112-4D68-90C0-4DAFD7884C8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BB1A9E3-7106-48DB-B2E5-4116DE6E40B7}"/>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487FE0BF-32D2-4BF6-A3D4-600C0A170F0A}"/>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4C73D6DB-F058-4863-9DC7-D70E87402500}"/>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19</a:t>
            </a:r>
          </a:p>
        </p:txBody>
      </p:sp>
      <p:pic>
        <p:nvPicPr>
          <p:cNvPr id="14" name="Picture 13"/>
          <p:cNvPicPr>
            <a:picLocks noChangeAspect="1"/>
          </p:cNvPicPr>
          <p:nvPr/>
        </p:nvPicPr>
        <p:blipFill>
          <a:blip r:embed="rId3"/>
          <a:stretch/>
        </p:blipFill>
        <p:spPr>
          <a:xfrm>
            <a:off x="590550" y="1159913"/>
            <a:ext cx="5095875" cy="3090374"/>
          </a:xfrm>
          <a:prstGeom prst="rect">
            <a:avLst/>
          </a:prstGeom>
        </p:spPr>
      </p:pic>
      <p:sp>
        <p:nvSpPr>
          <p:cNvPr id="7" name="Rectangle 6">
            <a:extLst>
              <a:ext uri="{FF2B5EF4-FFF2-40B4-BE49-F238E27FC236}">
                <a16:creationId xmlns:a16="http://schemas.microsoft.com/office/drawing/2014/main" id="{0E4C8986-2000-47D6-9A31-E6DB74D3174D}"/>
              </a:ext>
            </a:extLst>
          </p:cNvPr>
          <p:cNvSpPr>
            <a:spLocks noGrp="1"/>
          </p:cNvSpPr>
          <p:nvPr/>
        </p:nvSpPr>
        <p:spPr>
          <a:xfrm>
            <a:off x="5953125" y="1429818"/>
            <a:ext cx="2750300" cy="1952625"/>
          </a:xfrm>
          <a:prstGeom prst="rect">
            <a:avLst/>
          </a:prstGeom>
          <a:noFill/>
          <a:ln w="0">
            <a:noFill/>
          </a:ln>
        </p:spPr>
        <p:txBody>
          <a:bodyPr lIns="47625" tIns="19050" rIns="47625" bIns="19050" anchor="t">
            <a:normAutofit fontScale="97801"/>
          </a:bodyPr>
          <a:lstStyle/>
          <a:p>
            <a:pPr>
              <a:spcAft>
                <a:spcPts val="800"/>
              </a:spcAft>
              <a:defRPr sz="1350">
                <a:solidFill>
                  <a:srgbClr val="2D2D2D"/>
                </a:solidFill>
                <a:latin typeface="Montserrat"/>
                <a:ea typeface="Montserrat"/>
                <a:cs typeface="Montserrat"/>
              </a:defRPr>
            </a:pPr>
            <a:r>
              <a:rPr sz="1350" b="1" dirty="0">
                <a:solidFill>
                  <a:srgbClr val="2D2D2D"/>
                </a:solidFill>
                <a:latin typeface="Montserrat"/>
                <a:ea typeface="Montserrat"/>
                <a:cs typeface="Montserrat"/>
              </a:rPr>
              <a:t>A. </a:t>
            </a:r>
            <a:r>
              <a:rPr sz="1350" b="0" dirty="0">
                <a:solidFill>
                  <a:srgbClr val="2D2D2D"/>
                </a:solidFill>
                <a:latin typeface="Montserrat"/>
                <a:ea typeface="Montserrat"/>
                <a:cs typeface="Montserrat"/>
              </a:rPr>
              <a:t>Median roughly 16–20 minutes, mean probably higher</a:t>
            </a:r>
          </a:p>
          <a:p>
            <a:pPr>
              <a:spcAft>
                <a:spcPts val="800"/>
              </a:spcAft>
              <a:defRPr sz="1350">
                <a:solidFill>
                  <a:srgbClr val="2D2D2D"/>
                </a:solidFill>
                <a:latin typeface="Montserrat"/>
                <a:ea typeface="Montserrat"/>
                <a:cs typeface="Montserrat"/>
              </a:defRPr>
            </a:pPr>
            <a:r>
              <a:rPr sz="1350" b="1" dirty="0">
                <a:solidFill>
                  <a:srgbClr val="2D2D2D"/>
                </a:solidFill>
                <a:latin typeface="Montserrat"/>
                <a:ea typeface="Montserrat"/>
                <a:cs typeface="Montserrat"/>
              </a:rPr>
              <a:t>B. </a:t>
            </a:r>
            <a:r>
              <a:rPr sz="1350" b="0" dirty="0">
                <a:solidFill>
                  <a:srgbClr val="2D2D2D"/>
                </a:solidFill>
                <a:latin typeface="Montserrat"/>
                <a:ea typeface="Montserrat"/>
                <a:cs typeface="Montserrat"/>
              </a:rPr>
              <a:t>Median roughly 55–60 minutes, mean lower</a:t>
            </a:r>
          </a:p>
          <a:p>
            <a:pPr>
              <a:spcAft>
                <a:spcPts val="800"/>
              </a:spcAft>
              <a:defRPr sz="1350">
                <a:solidFill>
                  <a:srgbClr val="2D2D2D"/>
                </a:solidFill>
                <a:latin typeface="Montserrat"/>
                <a:ea typeface="Montserrat"/>
                <a:cs typeface="Montserrat"/>
              </a:defRPr>
            </a:pPr>
            <a:r>
              <a:rPr sz="1350" b="1" dirty="0">
                <a:solidFill>
                  <a:srgbClr val="2D2D2D"/>
                </a:solidFill>
                <a:latin typeface="Montserrat"/>
                <a:ea typeface="Montserrat"/>
                <a:cs typeface="Montserrat"/>
              </a:rPr>
              <a:t>C. </a:t>
            </a:r>
            <a:r>
              <a:rPr sz="1350" b="0" dirty="0">
                <a:solidFill>
                  <a:srgbClr val="2D2D2D"/>
                </a:solidFill>
                <a:latin typeface="Montserrat"/>
                <a:ea typeface="Montserrat"/>
                <a:cs typeface="Montserrat"/>
              </a:rPr>
              <a:t>Median must equal mean because n = 400</a:t>
            </a:r>
          </a:p>
          <a:p>
            <a:pPr>
              <a:spcAft>
                <a:spcPts val="800"/>
              </a:spcAft>
              <a:defRPr sz="1350">
                <a:solidFill>
                  <a:srgbClr val="2D2D2D"/>
                </a:solidFill>
                <a:latin typeface="Montserrat"/>
                <a:ea typeface="Montserrat"/>
                <a:cs typeface="Montserrat"/>
              </a:defRPr>
            </a:pPr>
            <a:r>
              <a:rPr sz="1350" b="1" dirty="0">
                <a:solidFill>
                  <a:srgbClr val="2D2D2D"/>
                </a:solidFill>
                <a:latin typeface="Montserrat"/>
                <a:ea typeface="Montserrat"/>
                <a:cs typeface="Montserrat"/>
              </a:rPr>
              <a:t>D. </a:t>
            </a:r>
            <a:r>
              <a:rPr sz="1350" b="0" dirty="0">
                <a:solidFill>
                  <a:srgbClr val="2D2D2D"/>
                </a:solidFill>
                <a:latin typeface="Montserrat"/>
                <a:ea typeface="Montserrat"/>
                <a:cs typeface="Montserrat"/>
              </a:rPr>
              <a:t>Median cannot be estimated from a histogram</a:t>
            </a:r>
          </a:p>
        </p:txBody>
      </p:sp>
      <p:sp>
        <p:nvSpPr>
          <p:cNvPr id="8" name="Rectangle 7">
            <a:extLst>
              <a:ext uri="{FF2B5EF4-FFF2-40B4-BE49-F238E27FC236}">
                <a16:creationId xmlns:a16="http://schemas.microsoft.com/office/drawing/2014/main" id="{1F810727-FE4A-48A1-B36E-A47416A9B061}"/>
              </a:ext>
            </a:extLst>
          </p:cNvPr>
          <p:cNvSpPr>
            <a:spLocks noGrp="1"/>
          </p:cNvSpPr>
          <p:nvPr/>
        </p:nvSpPr>
        <p:spPr>
          <a:xfrm>
            <a:off x="5953125" y="3667125"/>
            <a:ext cx="2571750" cy="666750"/>
          </a:xfrm>
          <a:prstGeom prst="rect">
            <a:avLst/>
          </a:prstGeom>
          <a:noFill/>
          <a:ln w="0">
            <a:noFill/>
          </a:ln>
        </p:spPr>
        <p:txBody>
          <a:bodyPr lIns="38100" tIns="19050" rIns="38100" bIns="19050" anchor="t">
            <a:normAutofit fontScale="92500"/>
          </a:bodyPr>
          <a:lstStyle/>
          <a:p>
            <a:pPr algn="l">
              <a:defRPr sz="1575" b="1" i="0">
                <a:solidFill>
                  <a:srgbClr val="C74634"/>
                </a:solidFill>
                <a:latin typeface="Montserrat"/>
                <a:ea typeface="Montserrat"/>
                <a:cs typeface="Montserrat"/>
              </a:defRPr>
            </a:pPr>
            <a:r>
              <a:rPr sz="1575" b="1" i="0">
                <a:solidFill>
                  <a:srgbClr val="C74634"/>
                </a:solidFill>
                <a:latin typeface="Montserrat"/>
                <a:ea typeface="Montserrat"/>
                <a:cs typeface="Montserrat"/>
              </a:rPr>
              <a:t>Where do about 200 observations fall below?</a:t>
            </a:r>
          </a:p>
        </p:txBody>
      </p:sp>
    </p:spTree>
    <p:extLst>
      <p:ext uri="{BB962C8B-B14F-4D97-AF65-F5344CB8AC3E}">
        <p14:creationId xmlns:p14="http://schemas.microsoft.com/office/powerpoint/2010/main" val="147109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CC0CA1B-4089-48C2-B970-B544F7BC4DAC}"/>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Skew connects shape to center</a:t>
            </a:r>
          </a:p>
        </p:txBody>
      </p:sp>
      <p:sp>
        <p:nvSpPr>
          <p:cNvPr id="2" name="Rectangle 1">
            <a:extLst>
              <a:ext uri="{FF2B5EF4-FFF2-40B4-BE49-F238E27FC236}">
                <a16:creationId xmlns:a16="http://schemas.microsoft.com/office/drawing/2014/main" id="{1C38F3E2-FB3C-472D-A2FB-E9D4F2E4B08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D3FC27F8-78F5-4DEC-A4B2-27A2AECB6604}"/>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EC0F24CF-5F4C-4810-A705-65B27BB003BD}"/>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D15E6D7F-7688-4FD5-8F27-714591A8A6CC}"/>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20</a:t>
            </a:r>
          </a:p>
        </p:txBody>
      </p:sp>
      <p:pic>
        <p:nvPicPr>
          <p:cNvPr id="17" name="Picture 16"/>
          <p:cNvPicPr>
            <a:picLocks noChangeAspect="1"/>
          </p:cNvPicPr>
          <p:nvPr/>
        </p:nvPicPr>
        <p:blipFill>
          <a:blip r:embed="rId3"/>
          <a:stretch/>
        </p:blipFill>
        <p:spPr>
          <a:xfrm>
            <a:off x="590550" y="1159913"/>
            <a:ext cx="5095875" cy="3090374"/>
          </a:xfrm>
          <a:prstGeom prst="rect">
            <a:avLst/>
          </a:prstGeom>
        </p:spPr>
      </p:pic>
      <p:sp>
        <p:nvSpPr>
          <p:cNvPr id="7" name="Rectangle 6">
            <a:extLst>
              <a:ext uri="{FF2B5EF4-FFF2-40B4-BE49-F238E27FC236}">
                <a16:creationId xmlns:a16="http://schemas.microsoft.com/office/drawing/2014/main" id="{FB1FD8A8-F06A-4955-8DE3-9CDCE2A22E48}"/>
              </a:ext>
            </a:extLst>
          </p:cNvPr>
          <p:cNvSpPr>
            <a:spLocks noGrp="1"/>
          </p:cNvSpPr>
          <p:nvPr/>
        </p:nvSpPr>
        <p:spPr>
          <a:xfrm>
            <a:off x="6048375" y="1333500"/>
            <a:ext cx="2190750" cy="304800"/>
          </a:xfrm>
          <a:prstGeom prst="rect">
            <a:avLst/>
          </a:prstGeom>
          <a:noFill/>
          <a:ln w="0">
            <a:noFill/>
          </a:ln>
        </p:spPr>
        <p:txBody>
          <a:bodyPr lIns="38100" tIns="19050" rIns="38100" bIns="19050" anchor="t">
            <a:normAutofit/>
          </a:bodyPr>
          <a:lstStyle/>
          <a:p>
            <a:pPr algn="l">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Median</a:t>
            </a:r>
          </a:p>
        </p:txBody>
      </p:sp>
      <p:sp>
        <p:nvSpPr>
          <p:cNvPr id="8" name="Rectangle 7">
            <a:extLst>
              <a:ext uri="{FF2B5EF4-FFF2-40B4-BE49-F238E27FC236}">
                <a16:creationId xmlns:a16="http://schemas.microsoft.com/office/drawing/2014/main" id="{50404D6C-80D0-40A6-ABC0-7D9DABCAB7A8}"/>
              </a:ext>
            </a:extLst>
          </p:cNvPr>
          <p:cNvSpPr>
            <a:spLocks noGrp="1"/>
          </p:cNvSpPr>
          <p:nvPr/>
        </p:nvSpPr>
        <p:spPr>
          <a:xfrm>
            <a:off x="6048375" y="1695450"/>
            <a:ext cx="2381250" cy="457200"/>
          </a:xfrm>
          <a:prstGeom prst="rect">
            <a:avLst/>
          </a:prstGeom>
          <a:noFill/>
          <a:ln w="0">
            <a:noFill/>
          </a:ln>
        </p:spPr>
        <p:txBody>
          <a:bodyPr lIns="38100" tIns="19050" rIns="38100" bIns="19050" anchor="t">
            <a:normAutofit fontScale="88148" lnSpcReduction="20000"/>
          </a:bodyPr>
          <a:lstStyle/>
          <a:p>
            <a:pPr algn="l">
              <a:defRPr sz="1950" b="1" i="0">
                <a:solidFill>
                  <a:srgbClr val="3E8853"/>
                </a:solidFill>
                <a:latin typeface="Montserrat"/>
                <a:ea typeface="Montserrat"/>
                <a:cs typeface="Montserrat"/>
              </a:defRPr>
            </a:pPr>
            <a:r>
              <a:rPr sz="1950" b="1" i="0">
                <a:solidFill>
                  <a:srgbClr val="3E8853"/>
                </a:solidFill>
                <a:latin typeface="Montserrat"/>
                <a:ea typeface="Montserrat"/>
                <a:cs typeface="Montserrat"/>
              </a:rPr>
              <a:t>Around 16–20 minutes</a:t>
            </a:r>
          </a:p>
        </p:txBody>
      </p:sp>
      <p:sp>
        <p:nvSpPr>
          <p:cNvPr id="9" name="Rectangle 8">
            <a:extLst>
              <a:ext uri="{FF2B5EF4-FFF2-40B4-BE49-F238E27FC236}">
                <a16:creationId xmlns:a16="http://schemas.microsoft.com/office/drawing/2014/main" id="{6C797267-0840-4816-BBBB-CB0B170EF162}"/>
              </a:ext>
            </a:extLst>
          </p:cNvPr>
          <p:cNvSpPr>
            <a:spLocks noGrp="1"/>
          </p:cNvSpPr>
          <p:nvPr/>
        </p:nvSpPr>
        <p:spPr>
          <a:xfrm>
            <a:off x="6048375" y="2600325"/>
            <a:ext cx="2190750" cy="304800"/>
          </a:xfrm>
          <a:prstGeom prst="rect">
            <a:avLst/>
          </a:prstGeom>
          <a:noFill/>
          <a:ln w="0">
            <a:noFill/>
          </a:ln>
        </p:spPr>
        <p:txBody>
          <a:bodyPr lIns="38100" tIns="19050" rIns="38100" bIns="19050" anchor="t">
            <a:normAutofit/>
          </a:bodyPr>
          <a:lstStyle/>
          <a:p>
            <a:pPr algn="l">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Mean</a:t>
            </a:r>
          </a:p>
        </p:txBody>
      </p:sp>
      <p:sp>
        <p:nvSpPr>
          <p:cNvPr id="10" name="Rectangle 9">
            <a:extLst>
              <a:ext uri="{FF2B5EF4-FFF2-40B4-BE49-F238E27FC236}">
                <a16:creationId xmlns:a16="http://schemas.microsoft.com/office/drawing/2014/main" id="{722E5963-59CA-4E3E-B1B7-C89C23E08A95}"/>
              </a:ext>
            </a:extLst>
          </p:cNvPr>
          <p:cNvSpPr>
            <a:spLocks noGrp="1"/>
          </p:cNvSpPr>
          <p:nvPr/>
        </p:nvSpPr>
        <p:spPr>
          <a:xfrm>
            <a:off x="6048375" y="2962275"/>
            <a:ext cx="2381250" cy="647700"/>
          </a:xfrm>
          <a:prstGeom prst="rect">
            <a:avLst/>
          </a:prstGeom>
          <a:noFill/>
          <a:ln w="0">
            <a:noFill/>
          </a:ln>
        </p:spPr>
        <p:txBody>
          <a:bodyPr lIns="38100" tIns="19050" rIns="38100" bIns="19050" anchor="t">
            <a:normAutofit/>
          </a:bodyPr>
          <a:lstStyle/>
          <a:p>
            <a:pPr algn="l">
              <a:defRPr sz="1800" b="1" i="0">
                <a:solidFill>
                  <a:srgbClr val="3E8853"/>
                </a:solidFill>
                <a:latin typeface="Montserrat"/>
                <a:ea typeface="Montserrat"/>
                <a:cs typeface="Montserrat"/>
              </a:defRPr>
            </a:pPr>
            <a:r>
              <a:rPr sz="1800" b="1" i="0">
                <a:solidFill>
                  <a:srgbClr val="3E8853"/>
                </a:solidFill>
                <a:latin typeface="Montserrat"/>
                <a:ea typeface="Montserrat"/>
                <a:cs typeface="Montserrat"/>
              </a:rPr>
              <a:t>Probably higher than the median</a:t>
            </a:r>
          </a:p>
        </p:txBody>
      </p:sp>
      <p:sp>
        <p:nvSpPr>
          <p:cNvPr id="11" name="Rectangle 10">
            <a:extLst>
              <a:ext uri="{FF2B5EF4-FFF2-40B4-BE49-F238E27FC236}">
                <a16:creationId xmlns:a16="http://schemas.microsoft.com/office/drawing/2014/main" id="{70F16C5B-85F8-4871-8F2E-FAD3F71EBD3E}"/>
              </a:ext>
            </a:extLst>
          </p:cNvPr>
          <p:cNvSpPr>
            <a:spLocks noGrp="1"/>
          </p:cNvSpPr>
          <p:nvPr/>
        </p:nvSpPr>
        <p:spPr>
          <a:xfrm>
            <a:off x="6048375" y="3905250"/>
            <a:ext cx="2381250" cy="514350"/>
          </a:xfrm>
          <a:prstGeom prst="rect">
            <a:avLst/>
          </a:prstGeom>
          <a:noFill/>
          <a:ln w="0">
            <a:noFill/>
          </a:ln>
        </p:spPr>
        <p:txBody>
          <a:bodyPr lIns="38100" tIns="19050" rIns="38100" bIns="19050" anchor="t">
            <a:normAutofit fontScale="87953" lnSpcReduction="20000"/>
          </a:bodyPr>
          <a:lstStyle/>
          <a:p>
            <a:pPr algn="l">
              <a:defRPr sz="1350" b="0" i="0">
                <a:solidFill>
                  <a:srgbClr val="C74634"/>
                </a:solidFill>
                <a:latin typeface="Montserrat"/>
                <a:ea typeface="Montserrat"/>
                <a:cs typeface="Montserrat"/>
              </a:defRPr>
            </a:pPr>
            <a:r>
              <a:rPr sz="1350" b="0" i="0">
                <a:solidFill>
                  <a:srgbClr val="C74634"/>
                </a:solidFill>
                <a:latin typeface="Montserrat"/>
                <a:ea typeface="Montserrat"/>
                <a:cs typeface="Montserrat"/>
              </a:rPr>
              <a:t>The tail points toward the larger values that pull the mean.</a:t>
            </a:r>
          </a:p>
        </p:txBody>
      </p:sp>
    </p:spTree>
    <p:extLst>
      <p:ext uri="{BB962C8B-B14F-4D97-AF65-F5344CB8AC3E}">
        <p14:creationId xmlns:p14="http://schemas.microsoft.com/office/powerpoint/2010/main" val="1395701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956013-B7C5-4C7B-BD71-91C1B6E3B8FE}"/>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14 | Why use a log scale?</a:t>
            </a:r>
          </a:p>
        </p:txBody>
      </p:sp>
      <p:sp>
        <p:nvSpPr>
          <p:cNvPr id="2" name="Rectangle 1">
            <a:extLst>
              <a:ext uri="{FF2B5EF4-FFF2-40B4-BE49-F238E27FC236}">
                <a16:creationId xmlns:a16="http://schemas.microsoft.com/office/drawing/2014/main" id="{D27876FA-E612-4F55-9CBD-8EED78821B8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66AE8E5-8E14-4C4D-B692-916B52473378}"/>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06B10D75-E5EC-4A2C-A12E-71BE4223F0FB}"/>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CE2E296-B87D-4328-A7DC-3F803AB6D9D0}"/>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21</a:t>
            </a:r>
          </a:p>
        </p:txBody>
      </p:sp>
      <p:pic>
        <p:nvPicPr>
          <p:cNvPr id="14" name="Picture 13"/>
          <p:cNvPicPr>
            <a:picLocks noChangeAspect="1"/>
          </p:cNvPicPr>
          <p:nvPr/>
        </p:nvPicPr>
        <p:blipFill>
          <a:blip r:embed="rId3"/>
          <a:stretch/>
        </p:blipFill>
        <p:spPr>
          <a:xfrm>
            <a:off x="590550" y="1460213"/>
            <a:ext cx="5381625" cy="2518348"/>
          </a:xfrm>
          <a:prstGeom prst="rect">
            <a:avLst/>
          </a:prstGeom>
        </p:spPr>
      </p:pic>
      <p:sp>
        <p:nvSpPr>
          <p:cNvPr id="7" name="Rectangle 6">
            <a:extLst>
              <a:ext uri="{FF2B5EF4-FFF2-40B4-BE49-F238E27FC236}">
                <a16:creationId xmlns:a16="http://schemas.microsoft.com/office/drawing/2014/main" id="{8C49030A-9A33-4BCC-A60E-33D1F303BE68}"/>
              </a:ext>
            </a:extLst>
          </p:cNvPr>
          <p:cNvSpPr>
            <a:spLocks noGrp="1"/>
          </p:cNvSpPr>
          <p:nvPr/>
        </p:nvSpPr>
        <p:spPr>
          <a:xfrm>
            <a:off x="6210300" y="1219200"/>
            <a:ext cx="2286000" cy="552450"/>
          </a:xfrm>
          <a:prstGeom prst="rect">
            <a:avLst/>
          </a:prstGeom>
          <a:noFill/>
          <a:ln w="0">
            <a:noFill/>
          </a:ln>
        </p:spPr>
        <p:txBody>
          <a:bodyPr lIns="38100" tIns="19050" rIns="38100" bIns="19050" anchor="t">
            <a:normAutofit fontScale="97826" lnSpcReduction="10000"/>
          </a:bodyPr>
          <a:lstStyle/>
          <a:p>
            <a:pPr algn="l">
              <a:defRPr sz="1725" b="1" i="0">
                <a:solidFill>
                  <a:srgbClr val="2D2D2D"/>
                </a:solidFill>
                <a:latin typeface="Montserrat"/>
                <a:ea typeface="Montserrat"/>
                <a:cs typeface="Montserrat"/>
              </a:defRPr>
            </a:pPr>
            <a:r>
              <a:rPr sz="1725" b="1" i="0">
                <a:solidFill>
                  <a:srgbClr val="2D2D2D"/>
                </a:solidFill>
                <a:latin typeface="Montserrat"/>
                <a:ea typeface="Montserrat"/>
                <a:cs typeface="Montserrat"/>
              </a:rPr>
              <a:t>What is the main benefit of panel B?</a:t>
            </a:r>
          </a:p>
        </p:txBody>
      </p:sp>
      <p:sp>
        <p:nvSpPr>
          <p:cNvPr id="8" name="Rectangle 7">
            <a:extLst>
              <a:ext uri="{FF2B5EF4-FFF2-40B4-BE49-F238E27FC236}">
                <a16:creationId xmlns:a16="http://schemas.microsoft.com/office/drawing/2014/main" id="{9B4534F1-4678-4320-AE0F-B7F6F4673BFC}"/>
              </a:ext>
            </a:extLst>
          </p:cNvPr>
          <p:cNvSpPr>
            <a:spLocks noGrp="1"/>
          </p:cNvSpPr>
          <p:nvPr/>
        </p:nvSpPr>
        <p:spPr>
          <a:xfrm>
            <a:off x="6210300" y="1952625"/>
            <a:ext cx="2286000" cy="2047875"/>
          </a:xfrm>
          <a:prstGeom prst="rect">
            <a:avLst/>
          </a:prstGeom>
          <a:noFill/>
          <a:ln w="0">
            <a:noFill/>
          </a:ln>
        </p:spPr>
        <p:txBody>
          <a:bodyPr lIns="47625" tIns="19050" rIns="47625" bIns="19050" anchor="t">
            <a:normAutofit fontScale="92500"/>
          </a:bodyPr>
          <a:lstStyle/>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A. </a:t>
            </a:r>
            <a:r>
              <a:rPr sz="1275" b="0">
                <a:solidFill>
                  <a:srgbClr val="2D2D2D"/>
                </a:solidFill>
                <a:latin typeface="Montserrat"/>
                <a:ea typeface="Montserrat"/>
                <a:cs typeface="Montserrat"/>
              </a:rPr>
              <a:t>Compresses large values and separates smaller ones</a:t>
            </a:r>
          </a:p>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B. </a:t>
            </a:r>
            <a:r>
              <a:rPr sz="1275" b="0">
                <a:solidFill>
                  <a:srgbClr val="2D2D2D"/>
                </a:solidFill>
                <a:latin typeface="Montserrat"/>
                <a:ea typeface="Montserrat"/>
                <a:cs typeface="Montserrat"/>
              </a:rPr>
              <a:t>Removes counties with large populations</a:t>
            </a:r>
          </a:p>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C. </a:t>
            </a:r>
            <a:r>
              <a:rPr sz="1275" b="0">
                <a:solidFill>
                  <a:srgbClr val="2D2D2D"/>
                </a:solidFill>
                <a:latin typeface="Montserrat"/>
                <a:ea typeface="Montserrat"/>
                <a:cs typeface="Montserrat"/>
              </a:rPr>
              <a:t>Makes all counties have the same population</a:t>
            </a:r>
          </a:p>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D. </a:t>
            </a:r>
            <a:r>
              <a:rPr sz="1275" b="0">
                <a:solidFill>
                  <a:srgbClr val="2D2D2D"/>
                </a:solidFill>
                <a:latin typeface="Montserrat"/>
                <a:ea typeface="Montserrat"/>
                <a:cs typeface="Montserrat"/>
              </a:rPr>
              <a:t>Proves the original distribution was symmetric</a:t>
            </a:r>
          </a:p>
        </p:txBody>
      </p:sp>
    </p:spTree>
    <p:extLst>
      <p:ext uri="{BB962C8B-B14F-4D97-AF65-F5344CB8AC3E}">
        <p14:creationId xmlns:p14="http://schemas.microsoft.com/office/powerpoint/2010/main" val="462191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604FAC5-CDF1-47B0-B115-1641DBF79A9B}"/>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The log scale reveals crowded structure</a:t>
            </a:r>
          </a:p>
        </p:txBody>
      </p:sp>
      <p:sp>
        <p:nvSpPr>
          <p:cNvPr id="2" name="Rectangle 1">
            <a:extLst>
              <a:ext uri="{FF2B5EF4-FFF2-40B4-BE49-F238E27FC236}">
                <a16:creationId xmlns:a16="http://schemas.microsoft.com/office/drawing/2014/main" id="{FE46FDAB-365F-40BF-BABC-9F3EF25E798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09A3B61-B67B-4ACF-93C8-1D785E33D31C}"/>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7B00837D-B817-4ACA-923E-E0554B30D818}"/>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7F6AE754-071D-4615-A075-F13FB50864BF}"/>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22</a:t>
            </a:r>
          </a:p>
        </p:txBody>
      </p:sp>
      <p:pic>
        <p:nvPicPr>
          <p:cNvPr id="16" name="Picture 15"/>
          <p:cNvPicPr>
            <a:picLocks noChangeAspect="1"/>
          </p:cNvPicPr>
          <p:nvPr/>
        </p:nvPicPr>
        <p:blipFill>
          <a:blip r:embed="rId3"/>
          <a:stretch/>
        </p:blipFill>
        <p:spPr>
          <a:xfrm>
            <a:off x="590550" y="1460213"/>
            <a:ext cx="5381625" cy="2518348"/>
          </a:xfrm>
          <a:prstGeom prst="rect">
            <a:avLst/>
          </a:prstGeom>
        </p:spPr>
      </p:pic>
      <p:sp>
        <p:nvSpPr>
          <p:cNvPr id="7" name="Rectangle 6">
            <a:extLst>
              <a:ext uri="{FF2B5EF4-FFF2-40B4-BE49-F238E27FC236}">
                <a16:creationId xmlns:a16="http://schemas.microsoft.com/office/drawing/2014/main" id="{59F3EEFF-1C1F-4C4E-8B3F-B13877B2753E}"/>
              </a:ext>
            </a:extLst>
          </p:cNvPr>
          <p:cNvSpPr>
            <a:spLocks noGrp="1"/>
          </p:cNvSpPr>
          <p:nvPr/>
        </p:nvSpPr>
        <p:spPr>
          <a:xfrm>
            <a:off x="6286500" y="1333500"/>
            <a:ext cx="2095500" cy="361950"/>
          </a:xfrm>
          <a:prstGeom prst="rect">
            <a:avLst/>
          </a:prstGeom>
          <a:noFill/>
          <a:ln w="0">
            <a:noFill/>
          </a:ln>
        </p:spPr>
        <p:txBody>
          <a:bodyPr lIns="38100" tIns="19050" rIns="38100" bIns="19050" anchor="t">
            <a:normAutofit/>
          </a:bodyPr>
          <a:lstStyle/>
          <a:p>
            <a:pPr algn="l">
              <a:defRPr sz="1875" b="1" i="0">
                <a:solidFill>
                  <a:srgbClr val="1D4F91"/>
                </a:solidFill>
                <a:latin typeface="Montserrat"/>
                <a:ea typeface="Montserrat"/>
                <a:cs typeface="Montserrat"/>
              </a:defRPr>
            </a:pPr>
            <a:r>
              <a:rPr sz="1875" b="1" i="0">
                <a:solidFill>
                  <a:srgbClr val="1D4F91"/>
                </a:solidFill>
                <a:latin typeface="Montserrat"/>
                <a:ea typeface="Montserrat"/>
                <a:cs typeface="Montserrat"/>
              </a:rPr>
              <a:t>Same counties</a:t>
            </a:r>
          </a:p>
        </p:txBody>
      </p:sp>
      <p:sp>
        <p:nvSpPr>
          <p:cNvPr id="8" name="Rectangle 7">
            <a:extLst>
              <a:ext uri="{FF2B5EF4-FFF2-40B4-BE49-F238E27FC236}">
                <a16:creationId xmlns:a16="http://schemas.microsoft.com/office/drawing/2014/main" id="{B8D53FE4-D5E5-4AF1-B1F2-649098E92084}"/>
              </a:ext>
            </a:extLst>
          </p:cNvPr>
          <p:cNvSpPr>
            <a:spLocks noGrp="1"/>
          </p:cNvSpPr>
          <p:nvPr/>
        </p:nvSpPr>
        <p:spPr>
          <a:xfrm>
            <a:off x="6286500" y="1809750"/>
            <a:ext cx="2190750" cy="552450"/>
          </a:xfrm>
          <a:prstGeom prst="rect">
            <a:avLst/>
          </a:prstGeom>
          <a:noFill/>
          <a:ln w="0">
            <a:noFill/>
          </a:ln>
        </p:spPr>
        <p:txBody>
          <a:bodyPr lIns="38100" tIns="19050" rIns="38100" bIns="19050" anchor="t">
            <a:normAutofit fontScale="97826" lnSpcReduction="10000"/>
          </a:bodyPr>
          <a:lstStyle/>
          <a:p>
            <a:pPr algn="l">
              <a:defRPr sz="1725" b="1" i="0">
                <a:solidFill>
                  <a:srgbClr val="3E8853"/>
                </a:solidFill>
                <a:latin typeface="Montserrat"/>
                <a:ea typeface="Montserrat"/>
                <a:cs typeface="Montserrat"/>
              </a:defRPr>
            </a:pPr>
            <a:r>
              <a:rPr sz="1725" b="1" i="0">
                <a:solidFill>
                  <a:srgbClr val="3E8853"/>
                </a:solidFill>
                <a:latin typeface="Montserrat"/>
                <a:ea typeface="Montserrat"/>
                <a:cs typeface="Montserrat"/>
              </a:rPr>
              <a:t>Different horizontal scale</a:t>
            </a:r>
          </a:p>
        </p:txBody>
      </p:sp>
      <p:sp>
        <p:nvSpPr>
          <p:cNvPr id="9" name="Rectangle 8">
            <a:extLst>
              <a:ext uri="{FF2B5EF4-FFF2-40B4-BE49-F238E27FC236}">
                <a16:creationId xmlns:a16="http://schemas.microsoft.com/office/drawing/2014/main" id="{DE1613A5-CD6A-44A7-AA35-24059850CE29}"/>
              </a:ext>
            </a:extLst>
          </p:cNvPr>
          <p:cNvSpPr>
            <a:spLocks noGrp="1"/>
          </p:cNvSpPr>
          <p:nvPr/>
        </p:nvSpPr>
        <p:spPr>
          <a:xfrm>
            <a:off x="6286500" y="2647950"/>
            <a:ext cx="2190750" cy="1104900"/>
          </a:xfrm>
          <a:prstGeom prst="rect">
            <a:avLst/>
          </a:prstGeom>
          <a:noFill/>
          <a:ln w="0">
            <a:noFill/>
          </a:ln>
        </p:spPr>
        <p:txBody>
          <a:bodyPr lIns="38100" tIns="19050" rIns="38100" bIns="19050" anchor="t">
            <a:normAutofit fontScale="96779" lnSpcReduction="10000"/>
          </a:bodyPr>
          <a:lstStyle/>
          <a:p>
            <a:pPr algn="l">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Large values compress. Smaller values separate. Patterns hidden near zero become visible.</a:t>
            </a:r>
          </a:p>
        </p:txBody>
      </p:sp>
      <p:sp>
        <p:nvSpPr>
          <p:cNvPr id="10" name="Rectangle 9">
            <a:extLst>
              <a:ext uri="{FF2B5EF4-FFF2-40B4-BE49-F238E27FC236}">
                <a16:creationId xmlns:a16="http://schemas.microsoft.com/office/drawing/2014/main" id="{0D654AC0-C764-4DBD-8F26-6B6EC9CBA200}"/>
              </a:ext>
            </a:extLst>
          </p:cNvPr>
          <p:cNvSpPr>
            <a:spLocks noGrp="1"/>
          </p:cNvSpPr>
          <p:nvPr/>
        </p:nvSpPr>
        <p:spPr>
          <a:xfrm>
            <a:off x="6286500" y="4048125"/>
            <a:ext cx="2190750" cy="342900"/>
          </a:xfrm>
          <a:prstGeom prst="rect">
            <a:avLst/>
          </a:prstGeom>
          <a:noFill/>
          <a:ln w="0">
            <a:noFill/>
          </a:ln>
        </p:spPr>
        <p:txBody>
          <a:bodyPr lIns="38100" tIns="19050" rIns="38100" bIns="19050" anchor="t">
            <a:normAutofit fontScale="85931" lnSpcReduction="10000"/>
          </a:bodyPr>
          <a:lstStyle/>
          <a:p>
            <a:pPr algn="l">
              <a:defRPr sz="1275" b="0" i="1">
                <a:solidFill>
                  <a:srgbClr val="C74634"/>
                </a:solidFill>
                <a:latin typeface="Montserrat"/>
                <a:ea typeface="Montserrat"/>
                <a:cs typeface="Montserrat"/>
              </a:defRPr>
            </a:pPr>
            <a:r>
              <a:rPr sz="1275" b="0" i="1">
                <a:solidFill>
                  <a:srgbClr val="C74634"/>
                </a:solidFill>
                <a:latin typeface="Montserrat"/>
                <a:ea typeface="Montserrat"/>
                <a:cs typeface="Montserrat"/>
              </a:rPr>
              <a:t>Transformations affect how distances look.</a:t>
            </a:r>
          </a:p>
        </p:txBody>
      </p:sp>
    </p:spTree>
    <p:extLst>
      <p:ext uri="{BB962C8B-B14F-4D97-AF65-F5344CB8AC3E}">
        <p14:creationId xmlns:p14="http://schemas.microsoft.com/office/powerpoint/2010/main" val="335650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97359C3-B547-43E9-BC1F-5320C76F2A26}"/>
              </a:ext>
            </a:extLst>
          </p:cNvPr>
          <p:cNvSpPr>
            <a:spLocks noGrp="1"/>
          </p:cNvSpPr>
          <p:nvPr/>
        </p:nvSpPr>
        <p:spPr>
          <a:xfrm>
            <a:off x="590550" y="266700"/>
            <a:ext cx="7962900" cy="571500"/>
          </a:xfrm>
          <a:prstGeom prst="rect">
            <a:avLst/>
          </a:prstGeom>
          <a:noFill/>
          <a:ln w="0">
            <a:noFill/>
          </a:ln>
        </p:spPr>
        <p:txBody>
          <a:bodyPr lIns="38100" tIns="19050" rIns="38100" bIns="19050" anchor="t">
            <a:normAutofit fontScale="92500"/>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15 | Create a contingency table</a:t>
            </a:r>
          </a:p>
        </p:txBody>
      </p:sp>
      <p:sp>
        <p:nvSpPr>
          <p:cNvPr id="2" name="Rectangle 1">
            <a:extLst>
              <a:ext uri="{FF2B5EF4-FFF2-40B4-BE49-F238E27FC236}">
                <a16:creationId xmlns:a16="http://schemas.microsoft.com/office/drawing/2014/main" id="{EAC78576-4170-49EF-9465-1604D7AC3729}"/>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79DB9B61-F35B-42C8-961F-5BE0A7CB8984}"/>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621D3E5A-348A-4349-8BEE-897B09DD4CFA}"/>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FF65F93E-3F3C-4F4E-87D7-F16131FC7DA6}"/>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23</a:t>
            </a:r>
          </a:p>
        </p:txBody>
      </p:sp>
      <p:sp>
        <p:nvSpPr>
          <p:cNvPr id="6" name="Rectangle 5">
            <a:extLst>
              <a:ext uri="{FF2B5EF4-FFF2-40B4-BE49-F238E27FC236}">
                <a16:creationId xmlns:a16="http://schemas.microsoft.com/office/drawing/2014/main" id="{DD2D4552-E8E9-43E5-8B31-75F29E9B8FF7}"/>
              </a:ext>
            </a:extLst>
          </p:cNvPr>
          <p:cNvSpPr>
            <a:spLocks noGrp="1"/>
          </p:cNvSpPr>
          <p:nvPr/>
        </p:nvSpPr>
        <p:spPr>
          <a:xfrm>
            <a:off x="6381750" y="971550"/>
            <a:ext cx="2143125" cy="247650"/>
          </a:xfrm>
          <a:prstGeom prst="rect">
            <a:avLst/>
          </a:prstGeom>
          <a:noFill/>
          <a:ln w="0">
            <a:noFill/>
          </a:ln>
        </p:spPr>
        <p:txBody>
          <a:bodyPr lIns="38100" tIns="19050" rIns="38100" bIns="19050" anchor="t">
            <a:normAutofit fontScale="65941" lnSpcReduction="20000"/>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85.7% correct, 6 requested the answer</a:t>
            </a:r>
          </a:p>
        </p:txBody>
      </p:sp>
      <p:sp>
        <p:nvSpPr>
          <p:cNvPr id="7" name="Rectangle 6">
            <a:extLst>
              <a:ext uri="{FF2B5EF4-FFF2-40B4-BE49-F238E27FC236}">
                <a16:creationId xmlns:a16="http://schemas.microsoft.com/office/drawing/2014/main" id="{76FB5965-8FFB-4A21-A71A-8E122B3924BE}"/>
              </a:ext>
            </a:extLst>
          </p:cNvPr>
          <p:cNvSpPr>
            <a:spLocks noGrp="1"/>
          </p:cNvSpPr>
          <p:nvPr/>
        </p:nvSpPr>
        <p:spPr>
          <a:xfrm>
            <a:off x="781050" y="1219200"/>
            <a:ext cx="7620000" cy="400050"/>
          </a:xfrm>
          <a:prstGeom prst="rect">
            <a:avLst/>
          </a:prstGeom>
          <a:noFill/>
          <a:ln w="0">
            <a:noFill/>
          </a:ln>
        </p:spPr>
        <p:txBody>
          <a:bodyPr lIns="38100" tIns="19050" rIns="38100" bIns="19050" anchor="t">
            <a:normAutofit fontScale="92500"/>
          </a:bodyPr>
          <a:lstStyle/>
          <a:p>
            <a:pPr algn="l">
              <a:defRPr sz="1725" b="1" i="0">
                <a:solidFill>
                  <a:srgbClr val="2D2D2D"/>
                </a:solidFill>
                <a:latin typeface="Montserrat"/>
                <a:ea typeface="Montserrat"/>
                <a:cs typeface="Montserrat"/>
              </a:defRPr>
            </a:pPr>
            <a:r>
              <a:rPr sz="1725" b="1" i="0">
                <a:solidFill>
                  <a:srgbClr val="2D2D2D"/>
                </a:solidFill>
                <a:latin typeface="Montserrat"/>
                <a:ea typeface="Montserrat"/>
                <a:cs typeface="Montserrat"/>
              </a:rPr>
              <a:t>Eight students used a video or text explanation, then rated it helpful.</a:t>
            </a:r>
          </a:p>
        </p:txBody>
      </p:sp>
      <p:sp>
        <p:nvSpPr>
          <p:cNvPr id="8" name="Rectangle 7">
            <a:extLst>
              <a:ext uri="{FF2B5EF4-FFF2-40B4-BE49-F238E27FC236}">
                <a16:creationId xmlns:a16="http://schemas.microsoft.com/office/drawing/2014/main" id="{260A96EE-1853-41A4-A65B-71FAFB447D33}"/>
              </a:ext>
            </a:extLst>
          </p:cNvPr>
          <p:cNvSpPr>
            <a:spLocks noGrp="1"/>
          </p:cNvSpPr>
          <p:nvPr/>
        </p:nvSpPr>
        <p:spPr>
          <a:xfrm>
            <a:off x="1000125" y="1809750"/>
            <a:ext cx="7143750" cy="857250"/>
          </a:xfrm>
          <a:prstGeom prst="rect">
            <a:avLst/>
          </a:prstGeom>
          <a:noFill/>
          <a:ln w="0">
            <a:noFill/>
          </a:ln>
        </p:spPr>
        <p:txBody>
          <a:bodyPr lIns="38100" tIns="19050" rIns="38100" bIns="19050" anchor="t">
            <a:normAutofit/>
          </a:bodyPr>
          <a:lstStyle/>
          <a:p>
            <a:pPr algn="ctr">
              <a:defRPr sz="1875" b="0" i="0">
                <a:solidFill>
                  <a:srgbClr val="1D4F91"/>
                </a:solidFill>
                <a:latin typeface="Montserrat"/>
                <a:ea typeface="Montserrat"/>
                <a:cs typeface="Montserrat"/>
              </a:defRPr>
            </a:pPr>
            <a:r>
              <a:rPr sz="1875" b="0" i="0">
                <a:solidFill>
                  <a:srgbClr val="1D4F91"/>
                </a:solidFill>
                <a:latin typeface="Montserrat"/>
                <a:ea typeface="Montserrat"/>
                <a:cs typeface="Montserrat"/>
              </a:rPr>
              <a:t>Video–Yes, Video–Yes, Video–No, Video–Yes</a:t>
            </a:r>
          </a:p>
          <a:p>
            <a:pPr algn="ctr">
              <a:defRPr sz="1875" b="0" i="0">
                <a:solidFill>
                  <a:srgbClr val="1D4F91"/>
                </a:solidFill>
                <a:latin typeface="Montserrat"/>
                <a:ea typeface="Montserrat"/>
                <a:cs typeface="Montserrat"/>
              </a:defRPr>
            </a:pPr>
            <a:r>
              <a:rPr sz="1875" b="0" i="0">
                <a:solidFill>
                  <a:srgbClr val="1D4F91"/>
                </a:solidFill>
                <a:latin typeface="Montserrat"/>
                <a:ea typeface="Montserrat"/>
                <a:cs typeface="Montserrat"/>
              </a:rPr>
              <a:t>Text–Yes, Text–No, Text–No, Text–No</a:t>
            </a:r>
          </a:p>
        </p:txBody>
      </p:sp>
      <p:sp>
        <p:nvSpPr>
          <p:cNvPr id="9" name="Rectangle 8">
            <a:extLst>
              <a:ext uri="{FF2B5EF4-FFF2-40B4-BE49-F238E27FC236}">
                <a16:creationId xmlns:a16="http://schemas.microsoft.com/office/drawing/2014/main" id="{20403F87-1AC3-457F-8101-2F658FC8B928}"/>
              </a:ext>
            </a:extLst>
          </p:cNvPr>
          <p:cNvSpPr>
            <a:spLocks noGrp="1"/>
          </p:cNvSpPr>
          <p:nvPr/>
        </p:nvSpPr>
        <p:spPr>
          <a:xfrm>
            <a:off x="1095375" y="2895600"/>
            <a:ext cx="6953250" cy="571500"/>
          </a:xfrm>
          <a:prstGeom prst="rect">
            <a:avLst/>
          </a:prstGeom>
          <a:noFill/>
          <a:ln w="0">
            <a:noFill/>
          </a:ln>
        </p:spPr>
        <p:txBody>
          <a:bodyPr lIns="38100" tIns="19050" rIns="38100" bIns="19050" anchor="t">
            <a:normAutofit/>
          </a:bodyPr>
          <a:lstStyle/>
          <a:p>
            <a:pPr algn="ct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Entries are ordered as Video–Yes, Video–No; Text–Yes, Text–No. Which table is correct?</a:t>
            </a:r>
          </a:p>
        </p:txBody>
      </p:sp>
      <p:sp>
        <p:nvSpPr>
          <p:cNvPr id="10" name="Rectangle 9">
            <a:extLst>
              <a:ext uri="{FF2B5EF4-FFF2-40B4-BE49-F238E27FC236}">
                <a16:creationId xmlns:a16="http://schemas.microsoft.com/office/drawing/2014/main" id="{9045CC72-383B-483C-BBF9-B382F3E68FA5}"/>
              </a:ext>
            </a:extLst>
          </p:cNvPr>
          <p:cNvSpPr>
            <a:spLocks noGrp="1"/>
          </p:cNvSpPr>
          <p:nvPr/>
        </p:nvSpPr>
        <p:spPr>
          <a:xfrm>
            <a:off x="2714625" y="3714750"/>
            <a:ext cx="3714750" cy="904875"/>
          </a:xfrm>
          <a:prstGeom prst="rect">
            <a:avLst/>
          </a:prstGeom>
          <a:noFill/>
          <a:ln w="0">
            <a:noFill/>
          </a:ln>
        </p:spPr>
        <p:txBody>
          <a:bodyPr lIns="47625" tIns="19050" rIns="47625" bIns="19050" anchor="t">
            <a:normAutofit fontScale="79693" lnSpcReduction="20000"/>
          </a:bodyPr>
          <a:lstStyle/>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A. </a:t>
            </a:r>
            <a:r>
              <a:rPr sz="1425" b="0">
                <a:solidFill>
                  <a:srgbClr val="2D2D2D"/>
                </a:solidFill>
                <a:latin typeface="Montserrat"/>
                <a:ea typeface="Montserrat"/>
                <a:cs typeface="Montserrat"/>
              </a:rPr>
              <a:t>3, 1; 1, 3</a:t>
            </a:r>
          </a:p>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B. </a:t>
            </a:r>
            <a:r>
              <a:rPr sz="1425" b="0">
                <a:solidFill>
                  <a:srgbClr val="2D2D2D"/>
                </a:solidFill>
                <a:latin typeface="Montserrat"/>
                <a:ea typeface="Montserrat"/>
                <a:cs typeface="Montserrat"/>
              </a:rPr>
              <a:t>4, 0; 0, 4</a:t>
            </a:r>
          </a:p>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C. </a:t>
            </a:r>
            <a:r>
              <a:rPr sz="1425" b="0">
                <a:solidFill>
                  <a:srgbClr val="2D2D2D"/>
                </a:solidFill>
                <a:latin typeface="Montserrat"/>
                <a:ea typeface="Montserrat"/>
                <a:cs typeface="Montserrat"/>
              </a:rPr>
              <a:t>3, 3; 1, 1</a:t>
            </a:r>
          </a:p>
          <a:p>
            <a:pPr>
              <a:spcAft>
                <a:spcPts val="800"/>
              </a:spcAft>
              <a:defRPr sz="1425">
                <a:solidFill>
                  <a:srgbClr val="2D2D2D"/>
                </a:solidFill>
                <a:latin typeface="Montserrat"/>
                <a:ea typeface="Montserrat"/>
                <a:cs typeface="Montserrat"/>
              </a:defRPr>
            </a:pPr>
            <a:r>
              <a:rPr sz="1425" b="1">
                <a:solidFill>
                  <a:srgbClr val="2D2D2D"/>
                </a:solidFill>
                <a:latin typeface="Montserrat"/>
                <a:ea typeface="Montserrat"/>
                <a:cs typeface="Montserrat"/>
              </a:rPr>
              <a:t>D. </a:t>
            </a:r>
            <a:r>
              <a:rPr sz="1425" b="0">
                <a:solidFill>
                  <a:srgbClr val="2D2D2D"/>
                </a:solidFill>
                <a:latin typeface="Montserrat"/>
                <a:ea typeface="Montserrat"/>
                <a:cs typeface="Montserrat"/>
              </a:rPr>
              <a:t>1, 3; 3, 1</a:t>
            </a:r>
          </a:p>
        </p:txBody>
      </p:sp>
    </p:spTree>
    <p:extLst>
      <p:ext uri="{BB962C8B-B14F-4D97-AF65-F5344CB8AC3E}">
        <p14:creationId xmlns:p14="http://schemas.microsoft.com/office/powerpoint/2010/main" val="282134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B1A368-15C5-4DB0-998D-DCEFBD36272E}"/>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Each case enters one cell</a:t>
            </a:r>
          </a:p>
        </p:txBody>
      </p:sp>
      <p:sp>
        <p:nvSpPr>
          <p:cNvPr id="2" name="Rectangle 1">
            <a:extLst>
              <a:ext uri="{FF2B5EF4-FFF2-40B4-BE49-F238E27FC236}">
                <a16:creationId xmlns:a16="http://schemas.microsoft.com/office/drawing/2014/main" id="{1239BF9D-2F4D-4D78-9920-1D05F410566E}"/>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0B82032-FA5C-41DF-9D7A-0E153AF6B61E}"/>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FBC28D4B-984D-461C-8B65-2228074751E7}"/>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51B0EC39-03B7-4283-9C9A-8F2417CDAC4C}"/>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24</a:t>
            </a:r>
          </a:p>
        </p:txBody>
      </p:sp>
      <p:graphicFrame>
        <p:nvGraphicFramePr>
          <p:cNvPr id="13" name="Table 12"/>
          <p:cNvGraphicFramePr/>
          <p:nvPr/>
        </p:nvGraphicFramePr>
        <p:xfrm>
          <a:off x="1809750" y="1381125"/>
          <a:ext cx="5524500" cy="2190750"/>
        </p:xfrm>
        <a:graphic>
          <a:graphicData uri="http://schemas.openxmlformats.org/drawingml/2006/table">
            <a:tbl>
              <a:tblPr/>
              <a:tblGrid>
                <a:gridCol w="1841500">
                  <a:extLst>
                    <a:ext uri="{9D8B030D-6E8A-4147-A177-3AD203B41FA5}">
                      <a16:colId xmlns:a16="http://schemas.microsoft.com/office/drawing/2014/main" val="20000"/>
                    </a:ext>
                  </a:extLst>
                </a:gridCol>
                <a:gridCol w="18415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tblGrid>
              <a:tr h="730250">
                <a:tc>
                  <a:txBody>
                    <a:bodyPr/>
                    <a:lstStyle/>
                    <a:p>
                      <a:r>
                        <a:rPr sz="1500" b="1">
                          <a:solidFill>
                            <a:srgbClr val="FFFFFF"/>
                          </a:solidFill>
                          <a:latin typeface="Montserrat"/>
                          <a:ea typeface="Montserrat"/>
                          <a:cs typeface="Montserrat"/>
                        </a:rPr>
                        <a:t>Explanation</a:t>
                      </a:r>
                    </a:p>
                  </a:txBody>
                  <a:tcPr anchor="ctr">
                    <a:solidFill>
                      <a:srgbClr val="00A9E0"/>
                    </a:solidFill>
                  </a:tcPr>
                </a:tc>
                <a:tc>
                  <a:txBody>
                    <a:bodyPr/>
                    <a:lstStyle/>
                    <a:p>
                      <a:r>
                        <a:rPr sz="1500" b="1">
                          <a:solidFill>
                            <a:srgbClr val="FFFFFF"/>
                          </a:solidFill>
                          <a:latin typeface="Montserrat"/>
                          <a:ea typeface="Montserrat"/>
                          <a:cs typeface="Montserrat"/>
                        </a:rPr>
                        <a:t>Helpful: Yes</a:t>
                      </a:r>
                    </a:p>
                  </a:txBody>
                  <a:tcPr anchor="ctr">
                    <a:solidFill>
                      <a:srgbClr val="00A9E0"/>
                    </a:solidFill>
                  </a:tcPr>
                </a:tc>
                <a:tc>
                  <a:txBody>
                    <a:bodyPr/>
                    <a:lstStyle/>
                    <a:p>
                      <a:r>
                        <a:rPr sz="1500" b="1">
                          <a:solidFill>
                            <a:srgbClr val="FFFFFF"/>
                          </a:solidFill>
                          <a:latin typeface="Montserrat"/>
                          <a:ea typeface="Montserrat"/>
                          <a:cs typeface="Montserrat"/>
                        </a:rPr>
                        <a:t>Helpful: No</a:t>
                      </a:r>
                    </a:p>
                  </a:txBody>
                  <a:tcPr anchor="ctr">
                    <a:solidFill>
                      <a:srgbClr val="00A9E0"/>
                    </a:solidFill>
                  </a:tcPr>
                </a:tc>
                <a:extLst>
                  <a:ext uri="{0D108BD9-81ED-4DB2-BD59-A6C34878D82A}">
                    <a16:rowId xmlns:a16="http://schemas.microsoft.com/office/drawing/2014/main" val="10000"/>
                  </a:ext>
                </a:extLst>
              </a:tr>
              <a:tr h="730250">
                <a:tc>
                  <a:txBody>
                    <a:bodyPr/>
                    <a:lstStyle/>
                    <a:p>
                      <a:r>
                        <a:rPr sz="1575" b="1">
                          <a:solidFill>
                            <a:srgbClr val="1D4F91"/>
                          </a:solidFill>
                          <a:latin typeface="Montserrat"/>
                          <a:ea typeface="Montserrat"/>
                          <a:cs typeface="Montserrat"/>
                        </a:rPr>
                        <a:t>Video</a:t>
                      </a:r>
                    </a:p>
                  </a:txBody>
                  <a:tcPr anchor="ctr">
                    <a:solidFill>
                      <a:srgbClr val="DCECF4"/>
                    </a:solidFill>
                  </a:tcPr>
                </a:tc>
                <a:tc>
                  <a:txBody>
                    <a:bodyPr/>
                    <a:lstStyle/>
                    <a:p>
                      <a:r>
                        <a:rPr sz="2100" b="1">
                          <a:solidFill>
                            <a:srgbClr val="2D2D2D"/>
                          </a:solidFill>
                          <a:latin typeface="Montserrat"/>
                          <a:ea typeface="Montserrat"/>
                          <a:cs typeface="Montserrat"/>
                        </a:rPr>
                        <a:t>3</a:t>
                      </a:r>
                    </a:p>
                  </a:txBody>
                  <a:tcPr anchor="ctr">
                    <a:solidFill>
                      <a:srgbClr val="FFFFFF"/>
                    </a:solidFill>
                  </a:tcPr>
                </a:tc>
                <a:tc>
                  <a:txBody>
                    <a:bodyPr/>
                    <a:lstStyle/>
                    <a:p>
                      <a:r>
                        <a:rPr sz="2100" b="1">
                          <a:solidFill>
                            <a:srgbClr val="2D2D2D"/>
                          </a:solidFill>
                          <a:latin typeface="Montserrat"/>
                          <a:ea typeface="Montserrat"/>
                          <a:cs typeface="Montserrat"/>
                        </a:rPr>
                        <a:t>1</a:t>
                      </a:r>
                    </a:p>
                  </a:txBody>
                  <a:tcPr anchor="ctr">
                    <a:solidFill>
                      <a:srgbClr val="FFFFFF"/>
                    </a:solidFill>
                  </a:tcPr>
                </a:tc>
                <a:extLst>
                  <a:ext uri="{0D108BD9-81ED-4DB2-BD59-A6C34878D82A}">
                    <a16:rowId xmlns:a16="http://schemas.microsoft.com/office/drawing/2014/main" val="10001"/>
                  </a:ext>
                </a:extLst>
              </a:tr>
              <a:tr h="730250">
                <a:tc>
                  <a:txBody>
                    <a:bodyPr/>
                    <a:lstStyle/>
                    <a:p>
                      <a:r>
                        <a:rPr sz="1575" b="1">
                          <a:solidFill>
                            <a:srgbClr val="1D4F91"/>
                          </a:solidFill>
                          <a:latin typeface="Montserrat"/>
                          <a:ea typeface="Montserrat"/>
                          <a:cs typeface="Montserrat"/>
                        </a:rPr>
                        <a:t>Text</a:t>
                      </a:r>
                    </a:p>
                  </a:txBody>
                  <a:tcPr anchor="ctr">
                    <a:solidFill>
                      <a:srgbClr val="DCECF4"/>
                    </a:solidFill>
                  </a:tcPr>
                </a:tc>
                <a:tc>
                  <a:txBody>
                    <a:bodyPr/>
                    <a:lstStyle/>
                    <a:p>
                      <a:r>
                        <a:rPr sz="2100" b="1">
                          <a:solidFill>
                            <a:srgbClr val="2D2D2D"/>
                          </a:solidFill>
                          <a:latin typeface="Montserrat"/>
                          <a:ea typeface="Montserrat"/>
                          <a:cs typeface="Montserrat"/>
                        </a:rPr>
                        <a:t>1</a:t>
                      </a:r>
                    </a:p>
                  </a:txBody>
                  <a:tcPr anchor="ctr">
                    <a:solidFill>
                      <a:srgbClr val="FFFFFF"/>
                    </a:solidFill>
                  </a:tcPr>
                </a:tc>
                <a:tc>
                  <a:txBody>
                    <a:bodyPr/>
                    <a:lstStyle/>
                    <a:p>
                      <a:r>
                        <a:rPr sz="2100" b="1">
                          <a:solidFill>
                            <a:srgbClr val="2D2D2D"/>
                          </a:solidFill>
                          <a:latin typeface="Montserrat"/>
                          <a:ea typeface="Montserrat"/>
                          <a:cs typeface="Montserrat"/>
                        </a:rPr>
                        <a:t>3</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E8E6E2DA-CCA2-4732-94A1-6890E783F614}"/>
              </a:ext>
            </a:extLst>
          </p:cNvPr>
          <p:cNvSpPr>
            <a:spLocks noGrp="1"/>
          </p:cNvSpPr>
          <p:nvPr/>
        </p:nvSpPr>
        <p:spPr>
          <a:xfrm>
            <a:off x="1428750" y="3952875"/>
            <a:ext cx="6286500" cy="552450"/>
          </a:xfrm>
          <a:prstGeom prst="rect">
            <a:avLst/>
          </a:prstGeom>
          <a:noFill/>
          <a:ln w="0">
            <a:noFill/>
          </a:ln>
        </p:spPr>
        <p:txBody>
          <a:bodyPr lIns="38100" tIns="19050" rIns="38100" bIns="19050" anchor="t">
            <a:normAutofit fontScale="92500"/>
          </a:bodyPr>
          <a:lstStyle/>
          <a:p>
            <a:pPr algn="ctr">
              <a:defRPr sz="1575" b="1" i="0">
                <a:solidFill>
                  <a:srgbClr val="C74634"/>
                </a:solidFill>
                <a:latin typeface="Montserrat"/>
                <a:ea typeface="Montserrat"/>
                <a:cs typeface="Montserrat"/>
              </a:defRPr>
            </a:pPr>
            <a:r>
              <a:rPr sz="1575" b="1" i="0">
                <a:solidFill>
                  <a:srgbClr val="C74634"/>
                </a:solidFill>
                <a:latin typeface="Montserrat"/>
                <a:ea typeface="Montserrat"/>
                <a:cs typeface="Montserrat"/>
              </a:rPr>
              <a:t>Row totals answer questions among explanation formats. Column totals answer questions among helpfulness groups.</a:t>
            </a:r>
          </a:p>
        </p:txBody>
      </p:sp>
    </p:spTree>
    <p:extLst>
      <p:ext uri="{BB962C8B-B14F-4D97-AF65-F5344CB8AC3E}">
        <p14:creationId xmlns:p14="http://schemas.microsoft.com/office/powerpoint/2010/main" val="2064151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154F3F-7E27-4B4B-9179-197A3043C366}"/>
              </a:ext>
            </a:extLst>
          </p:cNvPr>
          <p:cNvSpPr>
            <a:spLocks noGrp="1"/>
          </p:cNvSpPr>
          <p:nvPr/>
        </p:nvSpPr>
        <p:spPr>
          <a:xfrm>
            <a:off x="590550" y="266700"/>
            <a:ext cx="7962900" cy="571500"/>
          </a:xfrm>
          <a:prstGeom prst="rect">
            <a:avLst/>
          </a:prstGeom>
          <a:noFill/>
          <a:ln w="0">
            <a:noFill/>
          </a:ln>
        </p:spPr>
        <p:txBody>
          <a:bodyPr lIns="38100" tIns="19050" rIns="38100" bIns="19050" anchor="t">
            <a:normAutofit fontScale="92500"/>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questions 16–17 | Which denominator?</a:t>
            </a:r>
          </a:p>
        </p:txBody>
      </p:sp>
      <p:sp>
        <p:nvSpPr>
          <p:cNvPr id="2" name="Rectangle 1">
            <a:extLst>
              <a:ext uri="{FF2B5EF4-FFF2-40B4-BE49-F238E27FC236}">
                <a16:creationId xmlns:a16="http://schemas.microsoft.com/office/drawing/2014/main" id="{4F6AFCA1-CCB6-4F83-B41A-A63BADA6B77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39F09C93-957C-410B-92E6-F802AE2D4A7C}"/>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D5240388-94A5-49B6-BCC4-DBD6A98564B0}"/>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2B8A776-16E3-4858-BC73-87D222A6EE42}"/>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25</a:t>
            </a:r>
          </a:p>
        </p:txBody>
      </p:sp>
      <p:pic>
        <p:nvPicPr>
          <p:cNvPr id="17" name="Picture 16"/>
          <p:cNvPicPr>
            <a:picLocks noChangeAspect="1"/>
          </p:cNvPicPr>
          <p:nvPr/>
        </p:nvPicPr>
        <p:blipFill>
          <a:blip r:embed="rId3"/>
          <a:stretch/>
        </p:blipFill>
        <p:spPr>
          <a:xfrm>
            <a:off x="590550" y="1702262"/>
            <a:ext cx="5143500" cy="2148551"/>
          </a:xfrm>
          <a:prstGeom prst="rect">
            <a:avLst/>
          </a:prstGeom>
        </p:spPr>
      </p:pic>
      <p:sp>
        <p:nvSpPr>
          <p:cNvPr id="7" name="Rectangle 6">
            <a:extLst>
              <a:ext uri="{FF2B5EF4-FFF2-40B4-BE49-F238E27FC236}">
                <a16:creationId xmlns:a16="http://schemas.microsoft.com/office/drawing/2014/main" id="{E3913D1D-E492-4AFD-B842-9727D9392874}"/>
              </a:ext>
            </a:extLst>
          </p:cNvPr>
          <p:cNvSpPr>
            <a:spLocks noGrp="1"/>
          </p:cNvSpPr>
          <p:nvPr/>
        </p:nvSpPr>
        <p:spPr>
          <a:xfrm>
            <a:off x="5953125" y="1219200"/>
            <a:ext cx="619125" cy="285750"/>
          </a:xfrm>
          <a:prstGeom prst="rect">
            <a:avLst/>
          </a:prstGeom>
          <a:noFill/>
          <a:ln w="0">
            <a:noFill/>
          </a:ln>
        </p:spPr>
        <p:txBody>
          <a:bodyPr lIns="38100" tIns="19050" rIns="38100" bIns="19050" anchor="t">
            <a:normAutofit/>
          </a:bodyPr>
          <a:lstStyle/>
          <a:p>
            <a:pPr algn="l">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Q16</a:t>
            </a:r>
          </a:p>
        </p:txBody>
      </p:sp>
      <p:sp>
        <p:nvSpPr>
          <p:cNvPr id="8" name="Rectangle 7">
            <a:extLst>
              <a:ext uri="{FF2B5EF4-FFF2-40B4-BE49-F238E27FC236}">
                <a16:creationId xmlns:a16="http://schemas.microsoft.com/office/drawing/2014/main" id="{3DA8DA5E-8F00-4529-82F8-CA95748B323F}"/>
              </a:ext>
            </a:extLst>
          </p:cNvPr>
          <p:cNvSpPr>
            <a:spLocks noGrp="1"/>
          </p:cNvSpPr>
          <p:nvPr/>
        </p:nvSpPr>
        <p:spPr>
          <a:xfrm>
            <a:off x="5953125" y="1543050"/>
            <a:ext cx="2524125" cy="457200"/>
          </a:xfrm>
          <a:prstGeom prst="rect">
            <a:avLst/>
          </a:prstGeom>
          <a:noFill/>
          <a:ln w="0">
            <a:noFill/>
          </a:ln>
        </p:spPr>
        <p:txBody>
          <a:bodyPr lIns="38100" tIns="19050" rIns="38100" bIns="19050" anchor="t">
            <a:normAutofit fontScale="91316" lnSpcReduction="10000"/>
          </a:bodyPr>
          <a:lstStyle/>
          <a:p>
            <a:pPr algn="l">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What does 45/100 represent?</a:t>
            </a:r>
          </a:p>
        </p:txBody>
      </p:sp>
      <p:sp>
        <p:nvSpPr>
          <p:cNvPr id="9" name="Rectangle 8">
            <a:extLst>
              <a:ext uri="{FF2B5EF4-FFF2-40B4-BE49-F238E27FC236}">
                <a16:creationId xmlns:a16="http://schemas.microsoft.com/office/drawing/2014/main" id="{884D3A29-97EF-4C0A-B84D-9CCB24D4390C}"/>
              </a:ext>
            </a:extLst>
          </p:cNvPr>
          <p:cNvSpPr>
            <a:spLocks noGrp="1"/>
          </p:cNvSpPr>
          <p:nvPr/>
        </p:nvSpPr>
        <p:spPr>
          <a:xfrm>
            <a:off x="5953125" y="2552700"/>
            <a:ext cx="619125" cy="285750"/>
          </a:xfrm>
          <a:prstGeom prst="rect">
            <a:avLst/>
          </a:prstGeom>
          <a:noFill/>
          <a:ln w="0">
            <a:noFill/>
          </a:ln>
        </p:spPr>
        <p:txBody>
          <a:bodyPr lIns="38100" tIns="19050" rIns="38100" bIns="19050" anchor="t">
            <a:normAutofit/>
          </a:bodyPr>
          <a:lstStyle/>
          <a:p>
            <a:pPr algn="l">
              <a:defRPr sz="1425" b="1" i="0">
                <a:solidFill>
                  <a:srgbClr val="1D4F91"/>
                </a:solidFill>
                <a:latin typeface="Montserrat"/>
                <a:ea typeface="Montserrat"/>
                <a:cs typeface="Montserrat"/>
              </a:defRPr>
            </a:pPr>
            <a:r>
              <a:rPr sz="1425" b="1" i="0">
                <a:solidFill>
                  <a:srgbClr val="1D4F91"/>
                </a:solidFill>
                <a:latin typeface="Montserrat"/>
                <a:ea typeface="Montserrat"/>
                <a:cs typeface="Montserrat"/>
              </a:rPr>
              <a:t>Q17</a:t>
            </a:r>
          </a:p>
        </p:txBody>
      </p:sp>
      <p:sp>
        <p:nvSpPr>
          <p:cNvPr id="10" name="Rectangle 9">
            <a:extLst>
              <a:ext uri="{FF2B5EF4-FFF2-40B4-BE49-F238E27FC236}">
                <a16:creationId xmlns:a16="http://schemas.microsoft.com/office/drawing/2014/main" id="{5A16A2AA-D308-467B-B449-66F99CF85012}"/>
              </a:ext>
            </a:extLst>
          </p:cNvPr>
          <p:cNvSpPr>
            <a:spLocks noGrp="1"/>
          </p:cNvSpPr>
          <p:nvPr/>
        </p:nvSpPr>
        <p:spPr>
          <a:xfrm>
            <a:off x="5953125" y="2876550"/>
            <a:ext cx="2524125" cy="647700"/>
          </a:xfrm>
          <a:prstGeom prst="rect">
            <a:avLst/>
          </a:prstGeom>
          <a:noFill/>
          <a:ln w="0">
            <a:noFill/>
          </a:ln>
        </p:spPr>
        <p:txBody>
          <a:bodyPr lIns="38100" tIns="19050" rIns="38100" bIns="19050" anchor="t">
            <a:normAutofit/>
          </a:bodyPr>
          <a:lstStyle/>
          <a:p>
            <a:pPr algn="l">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What does 45/(45 + 20) represent?</a:t>
            </a:r>
          </a:p>
        </p:txBody>
      </p:sp>
      <p:sp>
        <p:nvSpPr>
          <p:cNvPr id="11" name="Rectangle 10">
            <a:extLst>
              <a:ext uri="{FF2B5EF4-FFF2-40B4-BE49-F238E27FC236}">
                <a16:creationId xmlns:a16="http://schemas.microsoft.com/office/drawing/2014/main" id="{65C637F5-8230-492A-A210-1A4B17B1C801}"/>
              </a:ext>
            </a:extLst>
          </p:cNvPr>
          <p:cNvSpPr>
            <a:spLocks noGrp="1"/>
          </p:cNvSpPr>
          <p:nvPr/>
        </p:nvSpPr>
        <p:spPr>
          <a:xfrm>
            <a:off x="5953125" y="3943350"/>
            <a:ext cx="2524125" cy="476250"/>
          </a:xfrm>
          <a:prstGeom prst="rect">
            <a:avLst/>
          </a:prstGeom>
          <a:noFill/>
          <a:ln w="0">
            <a:noFill/>
          </a:ln>
        </p:spPr>
        <p:txBody>
          <a:bodyPr lIns="38100" tIns="19050" rIns="38100" bIns="19050" anchor="t">
            <a:normAutofit/>
          </a:bodyPr>
          <a:lstStyle/>
          <a:p>
            <a:pPr algn="l">
              <a:defRPr sz="1350" b="1" i="0">
                <a:solidFill>
                  <a:srgbClr val="C74634"/>
                </a:solidFill>
                <a:latin typeface="Montserrat"/>
                <a:ea typeface="Montserrat"/>
                <a:cs typeface="Montserrat"/>
              </a:defRPr>
            </a:pPr>
            <a:r>
              <a:rPr sz="1350" b="1" i="0">
                <a:solidFill>
                  <a:srgbClr val="C74634"/>
                </a:solidFill>
                <a:latin typeface="Montserrat"/>
                <a:ea typeface="Montserrat"/>
                <a:cs typeface="Montserrat"/>
              </a:rPr>
              <a:t>Say the denominator in words before calculating.</a:t>
            </a:r>
          </a:p>
        </p:txBody>
      </p:sp>
    </p:spTree>
    <p:extLst>
      <p:ext uri="{BB962C8B-B14F-4D97-AF65-F5344CB8AC3E}">
        <p14:creationId xmlns:p14="http://schemas.microsoft.com/office/powerpoint/2010/main" val="1480599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6077B9-0D11-4549-91D8-937D930FDA8B}"/>
              </a:ext>
            </a:extLst>
          </p:cNvPr>
          <p:cNvSpPr>
            <a:spLocks noGrp="1"/>
          </p:cNvSpPr>
          <p:nvPr/>
        </p:nvSpPr>
        <p:spPr>
          <a:xfrm>
            <a:off x="590550" y="266700"/>
            <a:ext cx="7962900" cy="571500"/>
          </a:xfrm>
          <a:prstGeom prst="rect">
            <a:avLst/>
          </a:prstGeom>
          <a:noFill/>
          <a:ln w="0">
            <a:noFill/>
          </a:ln>
        </p:spPr>
        <p:txBody>
          <a:bodyPr lIns="38100" tIns="19050" rIns="38100" bIns="19050" anchor="t">
            <a:normAutofit fontScale="92500"/>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Conditional proportions begin with “among”</a:t>
            </a:r>
          </a:p>
        </p:txBody>
      </p:sp>
      <p:sp>
        <p:nvSpPr>
          <p:cNvPr id="2" name="Rectangle 1">
            <a:extLst>
              <a:ext uri="{FF2B5EF4-FFF2-40B4-BE49-F238E27FC236}">
                <a16:creationId xmlns:a16="http://schemas.microsoft.com/office/drawing/2014/main" id="{C8C24FCB-2252-4FFE-B0B2-6CFD81A4B8A2}"/>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7C29573B-869D-47D5-AAE9-02BEDC27F88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F115EE87-1C1E-4C09-BE2A-3D16CB0178B5}"/>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65584F8A-0F01-4FE5-9D52-31E8450667C5}"/>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26</a:t>
            </a:r>
          </a:p>
        </p:txBody>
      </p:sp>
      <p:sp>
        <p:nvSpPr>
          <p:cNvPr id="6" name="Rectangle 5">
            <a:extLst>
              <a:ext uri="{FF2B5EF4-FFF2-40B4-BE49-F238E27FC236}">
                <a16:creationId xmlns:a16="http://schemas.microsoft.com/office/drawing/2014/main" id="{B67098E7-6A94-43EC-B615-30AED5167020}"/>
              </a:ext>
            </a:extLst>
          </p:cNvPr>
          <p:cNvSpPr>
            <a:spLocks noGrp="1"/>
          </p:cNvSpPr>
          <p:nvPr/>
        </p:nvSpPr>
        <p:spPr>
          <a:xfrm>
            <a:off x="952500" y="1428750"/>
            <a:ext cx="2476500" cy="552450"/>
          </a:xfrm>
          <a:prstGeom prst="rect">
            <a:avLst/>
          </a:prstGeom>
          <a:noFill/>
          <a:ln w="0">
            <a:noFill/>
          </a:ln>
        </p:spPr>
        <p:txBody>
          <a:bodyPr lIns="38100" tIns="19050" rIns="38100" bIns="19050" anchor="t">
            <a:normAutofit/>
          </a:bodyPr>
          <a:lstStyle/>
          <a:p>
            <a:pPr algn="ctr">
              <a:defRPr sz="2850" b="1" i="0">
                <a:solidFill>
                  <a:srgbClr val="3E8853"/>
                </a:solidFill>
                <a:latin typeface="Montserrat"/>
                <a:ea typeface="Montserrat"/>
                <a:cs typeface="Montserrat"/>
              </a:defRPr>
            </a:pPr>
            <a:r>
              <a:rPr sz="2850" b="1" i="0">
                <a:solidFill>
                  <a:srgbClr val="3E8853"/>
                </a:solidFill>
                <a:latin typeface="Montserrat"/>
                <a:ea typeface="Montserrat"/>
                <a:cs typeface="Montserrat"/>
              </a:rPr>
              <a:t>45 / 100</a:t>
            </a:r>
          </a:p>
        </p:txBody>
      </p:sp>
      <p:sp>
        <p:nvSpPr>
          <p:cNvPr id="7" name="Rectangle 6">
            <a:extLst>
              <a:ext uri="{FF2B5EF4-FFF2-40B4-BE49-F238E27FC236}">
                <a16:creationId xmlns:a16="http://schemas.microsoft.com/office/drawing/2014/main" id="{75B283AF-F389-432E-8B1B-E7710056C9B1}"/>
              </a:ext>
            </a:extLst>
          </p:cNvPr>
          <p:cNvSpPr>
            <a:spLocks noGrp="1"/>
          </p:cNvSpPr>
          <p:nvPr/>
        </p:nvSpPr>
        <p:spPr>
          <a:xfrm>
            <a:off x="762000" y="2190750"/>
            <a:ext cx="3238500" cy="857250"/>
          </a:xfrm>
          <a:prstGeom prst="rect">
            <a:avLst/>
          </a:prstGeom>
          <a:noFill/>
          <a:ln w="0">
            <a:noFill/>
          </a:ln>
        </p:spPr>
        <p:txBody>
          <a:bodyPr lIns="38100" tIns="19050" rIns="38100" bIns="19050" anchor="t">
            <a:normAutofit fontScale="91116"/>
          </a:bodyPr>
          <a:lstStyle/>
          <a:p>
            <a:pPr algn="ctr">
              <a:defRPr sz="1650" b="1" i="0">
                <a:solidFill>
                  <a:srgbClr val="2D2D2D"/>
                </a:solidFill>
                <a:latin typeface="Montserrat"/>
                <a:ea typeface="Montserrat"/>
                <a:cs typeface="Montserrat"/>
              </a:defRPr>
            </a:pPr>
            <a:r>
              <a:rPr sz="1650" b="1" i="0" dirty="0">
                <a:solidFill>
                  <a:srgbClr val="2D2D2D"/>
                </a:solidFill>
                <a:latin typeface="Montserrat"/>
                <a:ea typeface="Montserrat"/>
                <a:cs typeface="Montserrat"/>
              </a:rPr>
              <a:t>Among individual applications,</a:t>
            </a:r>
          </a:p>
          <a:p>
            <a:pPr algn="ctr">
              <a:defRPr sz="1650" b="1" i="0">
                <a:solidFill>
                  <a:srgbClr val="2D2D2D"/>
                </a:solidFill>
                <a:latin typeface="Montserrat"/>
                <a:ea typeface="Montserrat"/>
                <a:cs typeface="Montserrat"/>
              </a:defRPr>
            </a:pPr>
            <a:r>
              <a:rPr sz="1650" b="1" i="0" dirty="0">
                <a:solidFill>
                  <a:srgbClr val="2D2D2D"/>
                </a:solidFill>
                <a:latin typeface="Montserrat"/>
                <a:ea typeface="Montserrat"/>
                <a:cs typeface="Montserrat"/>
              </a:rPr>
              <a:t>what fraction had a mortgage?</a:t>
            </a:r>
          </a:p>
        </p:txBody>
      </p:sp>
      <p:sp>
        <p:nvSpPr>
          <p:cNvPr id="8" name="Rectangle 7">
            <a:extLst>
              <a:ext uri="{FF2B5EF4-FFF2-40B4-BE49-F238E27FC236}">
                <a16:creationId xmlns:a16="http://schemas.microsoft.com/office/drawing/2014/main" id="{FF6FB9B1-2DB5-4D33-B364-C72A49CDEAD5}"/>
              </a:ext>
            </a:extLst>
          </p:cNvPr>
          <p:cNvSpPr>
            <a:spLocks noGrp="1"/>
          </p:cNvSpPr>
          <p:nvPr/>
        </p:nvSpPr>
        <p:spPr>
          <a:xfrm>
            <a:off x="762000" y="3257550"/>
            <a:ext cx="2857500" cy="381000"/>
          </a:xfrm>
          <a:prstGeom prst="rect">
            <a:avLst/>
          </a:prstGeom>
          <a:noFill/>
          <a:ln w="0">
            <a:noFill/>
          </a:ln>
        </p:spPr>
        <p:txBody>
          <a:bodyPr lIns="38100" tIns="19050" rIns="38100" bIns="19050" anchor="t">
            <a:normAutofit fontScale="92500"/>
          </a:bodyPr>
          <a:lstStyle/>
          <a:p>
            <a:pPr algn="ctr">
              <a:defRPr sz="1425" b="0" i="0">
                <a:solidFill>
                  <a:srgbClr val="1D4F91"/>
                </a:solidFill>
                <a:latin typeface="Montserrat"/>
                <a:ea typeface="Montserrat"/>
                <a:cs typeface="Montserrat"/>
              </a:defRPr>
            </a:pPr>
            <a:r>
              <a:rPr sz="1425" b="0" i="0">
                <a:solidFill>
                  <a:srgbClr val="1D4F91"/>
                </a:solidFill>
                <a:latin typeface="Montserrat"/>
                <a:ea typeface="Montserrat"/>
                <a:cs typeface="Montserrat"/>
              </a:rPr>
              <a:t>The denominator is a row total.</a:t>
            </a:r>
          </a:p>
        </p:txBody>
      </p:sp>
      <p:sp>
        <p:nvSpPr>
          <p:cNvPr id="9" name="Rectangle 8">
            <a:extLst>
              <a:ext uri="{FF2B5EF4-FFF2-40B4-BE49-F238E27FC236}">
                <a16:creationId xmlns:a16="http://schemas.microsoft.com/office/drawing/2014/main" id="{2D0A4A32-1537-476D-8CD8-0AD347AD2799}"/>
              </a:ext>
            </a:extLst>
          </p:cNvPr>
          <p:cNvSpPr>
            <a:spLocks noGrp="1"/>
          </p:cNvSpPr>
          <p:nvPr/>
        </p:nvSpPr>
        <p:spPr>
          <a:xfrm>
            <a:off x="5238750" y="1428750"/>
            <a:ext cx="2952750" cy="552450"/>
          </a:xfrm>
          <a:prstGeom prst="rect">
            <a:avLst/>
          </a:prstGeom>
          <a:noFill/>
          <a:ln w="0">
            <a:noFill/>
          </a:ln>
        </p:spPr>
        <p:txBody>
          <a:bodyPr lIns="38100" tIns="19050" rIns="38100" bIns="19050" anchor="t">
            <a:normAutofit/>
          </a:bodyPr>
          <a:lstStyle/>
          <a:p>
            <a:pPr algn="ctr">
              <a:defRPr sz="2850" b="1" i="0">
                <a:solidFill>
                  <a:srgbClr val="3E8853"/>
                </a:solidFill>
                <a:latin typeface="Montserrat"/>
                <a:ea typeface="Montserrat"/>
                <a:cs typeface="Montserrat"/>
              </a:defRPr>
            </a:pPr>
            <a:r>
              <a:rPr sz="2850" b="1" i="0">
                <a:solidFill>
                  <a:srgbClr val="3E8853"/>
                </a:solidFill>
                <a:latin typeface="Montserrat"/>
                <a:ea typeface="Montserrat"/>
                <a:cs typeface="Montserrat"/>
              </a:rPr>
              <a:t>45 / (45 + 20)</a:t>
            </a:r>
          </a:p>
        </p:txBody>
      </p:sp>
      <p:sp>
        <p:nvSpPr>
          <p:cNvPr id="10" name="Rectangle 9">
            <a:extLst>
              <a:ext uri="{FF2B5EF4-FFF2-40B4-BE49-F238E27FC236}">
                <a16:creationId xmlns:a16="http://schemas.microsoft.com/office/drawing/2014/main" id="{F400655A-145F-47A6-A7C1-D48DE8A8EA5B}"/>
              </a:ext>
            </a:extLst>
          </p:cNvPr>
          <p:cNvSpPr>
            <a:spLocks noGrp="1"/>
          </p:cNvSpPr>
          <p:nvPr/>
        </p:nvSpPr>
        <p:spPr>
          <a:xfrm>
            <a:off x="5095875" y="2190750"/>
            <a:ext cx="3238500" cy="857250"/>
          </a:xfrm>
          <a:prstGeom prst="rect">
            <a:avLst/>
          </a:prstGeom>
          <a:noFill/>
          <a:ln w="0">
            <a:noFill/>
          </a:ln>
        </p:spPr>
        <p:txBody>
          <a:bodyPr lIns="38100" tIns="19050" rIns="38100" bIns="19050" anchor="t">
            <a:normAutofit fontScale="92500"/>
          </a:bodyPr>
          <a:lstStyle/>
          <a:p>
            <a:pPr algn="ct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Among mortgage applications,</a:t>
            </a:r>
          </a:p>
          <a:p>
            <a:pPr algn="ct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what fraction were individual?</a:t>
            </a:r>
          </a:p>
        </p:txBody>
      </p:sp>
      <p:sp>
        <p:nvSpPr>
          <p:cNvPr id="11" name="Rectangle 10">
            <a:extLst>
              <a:ext uri="{FF2B5EF4-FFF2-40B4-BE49-F238E27FC236}">
                <a16:creationId xmlns:a16="http://schemas.microsoft.com/office/drawing/2014/main" id="{5CDFDD8A-8E99-499B-A4A0-2703793B80A0}"/>
              </a:ext>
            </a:extLst>
          </p:cNvPr>
          <p:cNvSpPr>
            <a:spLocks noGrp="1"/>
          </p:cNvSpPr>
          <p:nvPr/>
        </p:nvSpPr>
        <p:spPr>
          <a:xfrm>
            <a:off x="5095875" y="3257550"/>
            <a:ext cx="3238500" cy="381000"/>
          </a:xfrm>
          <a:prstGeom prst="rect">
            <a:avLst/>
          </a:prstGeom>
          <a:noFill/>
          <a:ln w="0">
            <a:noFill/>
          </a:ln>
        </p:spPr>
        <p:txBody>
          <a:bodyPr lIns="38100" tIns="19050" rIns="38100" bIns="19050" anchor="t">
            <a:normAutofit fontScale="92500"/>
          </a:bodyPr>
          <a:lstStyle/>
          <a:p>
            <a:pPr algn="ctr">
              <a:defRPr sz="1425" b="0" i="0">
                <a:solidFill>
                  <a:srgbClr val="1D4F91"/>
                </a:solidFill>
                <a:latin typeface="Montserrat"/>
                <a:ea typeface="Montserrat"/>
                <a:cs typeface="Montserrat"/>
              </a:defRPr>
            </a:pPr>
            <a:r>
              <a:rPr sz="1425" b="0" i="0">
                <a:solidFill>
                  <a:srgbClr val="1D4F91"/>
                </a:solidFill>
                <a:latin typeface="Montserrat"/>
                <a:ea typeface="Montserrat"/>
                <a:cs typeface="Montserrat"/>
              </a:rPr>
              <a:t>The denominator is a column total.</a:t>
            </a:r>
          </a:p>
        </p:txBody>
      </p:sp>
      <p:sp>
        <p:nvSpPr>
          <p:cNvPr id="12" name="Rectangle 11">
            <a:extLst>
              <a:ext uri="{FF2B5EF4-FFF2-40B4-BE49-F238E27FC236}">
                <a16:creationId xmlns:a16="http://schemas.microsoft.com/office/drawing/2014/main" id="{B31C1D7F-3BDD-4B8D-92AC-A8998C2D130C}"/>
              </a:ext>
            </a:extLst>
          </p:cNvPr>
          <p:cNvSpPr>
            <a:spLocks noGrp="1"/>
          </p:cNvSpPr>
          <p:nvPr/>
        </p:nvSpPr>
        <p:spPr>
          <a:xfrm>
            <a:off x="2428875" y="4048125"/>
            <a:ext cx="4286250" cy="400050"/>
          </a:xfrm>
          <a:prstGeom prst="rect">
            <a:avLst/>
          </a:prstGeom>
          <a:noFill/>
          <a:ln w="0">
            <a:noFill/>
          </a:ln>
        </p:spPr>
        <p:txBody>
          <a:bodyPr lIns="38100" tIns="19050" rIns="38100" bIns="19050" anchor="t">
            <a:normAutofit fontScale="92500"/>
          </a:bodyPr>
          <a:lstStyle/>
          <a:p>
            <a:pPr algn="ctr">
              <a:defRPr sz="2025" b="1" i="0">
                <a:solidFill>
                  <a:srgbClr val="C74634"/>
                </a:solidFill>
                <a:latin typeface="Montserrat"/>
                <a:ea typeface="Montserrat"/>
                <a:cs typeface="Montserrat"/>
              </a:defRPr>
            </a:pPr>
            <a:r>
              <a:rPr sz="2025" b="1" i="0">
                <a:solidFill>
                  <a:srgbClr val="C74634"/>
                </a:solidFill>
                <a:latin typeface="Montserrat"/>
                <a:ea typeface="Montserrat"/>
                <a:cs typeface="Montserrat"/>
              </a:rPr>
              <a:t>Condition first. Calculate second.</a:t>
            </a:r>
          </a:p>
        </p:txBody>
      </p:sp>
      <p:sp>
        <p:nvSpPr>
          <p:cNvPr id="13" name="Rectangle 12">
            <a:extLst>
              <a:ext uri="{FF2B5EF4-FFF2-40B4-BE49-F238E27FC236}">
                <a16:creationId xmlns:a16="http://schemas.microsoft.com/office/drawing/2014/main" id="{40A0BD8A-5760-45CF-B873-745D3C42744F}"/>
              </a:ext>
            </a:extLst>
          </p:cNvPr>
          <p:cNvSpPr>
            <a:spLocks noGrp="1"/>
          </p:cNvSpPr>
          <p:nvPr/>
        </p:nvSpPr>
        <p:spPr>
          <a:xfrm>
            <a:off x="6381750" y="971550"/>
            <a:ext cx="2143125" cy="247650"/>
          </a:xfrm>
          <a:prstGeom prst="rect">
            <a:avLst/>
          </a:prstGeom>
          <a:noFill/>
          <a:ln w="0">
            <a:noFill/>
          </a:ln>
        </p:spPr>
        <p:txBody>
          <a:bodyPr lIns="38100" tIns="19050" rIns="38100" bIns="19050" anchor="t">
            <a:normAutofit/>
          </a:bodyPr>
          <a:lstStyle/>
          <a:p>
            <a:pPr algn="r">
              <a:defRPr sz="1200" b="1" i="0">
                <a:solidFill>
                  <a:srgbClr val="C74634"/>
                </a:solidFill>
                <a:latin typeface="Montserrat"/>
                <a:ea typeface="Montserrat"/>
                <a:cs typeface="Montserrat"/>
              </a:defRPr>
            </a:pPr>
            <a:r>
              <a:rPr sz="1200" b="1" i="0">
                <a:solidFill>
                  <a:srgbClr val="C74634"/>
                </a:solidFill>
                <a:latin typeface="Montserrat"/>
                <a:ea typeface="Montserrat"/>
                <a:cs typeface="Montserrat"/>
              </a:rPr>
              <a:t>Q16–17: 76–78% correct</a:t>
            </a:r>
          </a:p>
        </p:txBody>
      </p:sp>
    </p:spTree>
    <p:extLst>
      <p:ext uri="{BB962C8B-B14F-4D97-AF65-F5344CB8AC3E}">
        <p14:creationId xmlns:p14="http://schemas.microsoft.com/office/powerpoint/2010/main" val="645539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9CD47C1-006C-4A32-A6BE-692C2F87C2F3}"/>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250" b="1" i="0">
                <a:solidFill>
                  <a:srgbClr val="2D2D2D"/>
                </a:solidFill>
                <a:latin typeface="Montserrat"/>
                <a:ea typeface="Montserrat"/>
                <a:cs typeface="Montserrat"/>
              </a:defRPr>
            </a:pPr>
            <a:r>
              <a:rPr sz="2250" b="1" i="0">
                <a:solidFill>
                  <a:srgbClr val="2D2D2D"/>
                </a:solidFill>
                <a:latin typeface="Montserrat"/>
                <a:ea typeface="Montserrat"/>
                <a:cs typeface="Montserrat"/>
              </a:rPr>
              <a:t>Quiz question 18 | Association from proportions</a:t>
            </a:r>
          </a:p>
        </p:txBody>
      </p:sp>
      <p:sp>
        <p:nvSpPr>
          <p:cNvPr id="2" name="Rectangle 1">
            <a:extLst>
              <a:ext uri="{FF2B5EF4-FFF2-40B4-BE49-F238E27FC236}">
                <a16:creationId xmlns:a16="http://schemas.microsoft.com/office/drawing/2014/main" id="{D3CD0ED0-FFB3-4D7E-B90D-558F1702E76A}"/>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8140407-BE06-4562-AE60-5E6664F9FB2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DFA51C5-A927-43E7-86CA-88816DA1038F}"/>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DCC4CB4E-31E7-43CF-9EBC-143F8A761AC6}"/>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27</a:t>
            </a:r>
          </a:p>
        </p:txBody>
      </p:sp>
      <p:sp>
        <p:nvSpPr>
          <p:cNvPr id="6" name="Rectangle 5">
            <a:extLst>
              <a:ext uri="{FF2B5EF4-FFF2-40B4-BE49-F238E27FC236}">
                <a16:creationId xmlns:a16="http://schemas.microsoft.com/office/drawing/2014/main" id="{0DD649B0-AE06-4106-B3AE-8DE8258FB8F3}"/>
              </a:ext>
            </a:extLst>
          </p:cNvPr>
          <p:cNvSpPr>
            <a:spLocks noGrp="1"/>
          </p:cNvSpPr>
          <p:nvPr/>
        </p:nvSpPr>
        <p:spPr>
          <a:xfrm>
            <a:off x="952500" y="1285875"/>
            <a:ext cx="2667000" cy="323850"/>
          </a:xfrm>
          <a:prstGeom prst="rect">
            <a:avLst/>
          </a:prstGeom>
          <a:noFill/>
          <a:ln w="0">
            <a:noFill/>
          </a:ln>
        </p:spPr>
        <p:txBody>
          <a:bodyPr lIns="38100" tIns="19050" rIns="38100" bIns="19050" anchor="t">
            <a:normAutofit/>
          </a:bodyPr>
          <a:lstStyle/>
          <a:p>
            <a:pPr algn="ct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Video users</a:t>
            </a:r>
          </a:p>
        </p:txBody>
      </p:sp>
      <p:sp>
        <p:nvSpPr>
          <p:cNvPr id="7" name="Rectangle 6">
            <a:extLst>
              <a:ext uri="{FF2B5EF4-FFF2-40B4-BE49-F238E27FC236}">
                <a16:creationId xmlns:a16="http://schemas.microsoft.com/office/drawing/2014/main" id="{E041DBE4-22DC-4771-8116-FFD326A682BC}"/>
              </a:ext>
            </a:extLst>
          </p:cNvPr>
          <p:cNvSpPr>
            <a:spLocks noGrp="1"/>
          </p:cNvSpPr>
          <p:nvPr/>
        </p:nvSpPr>
        <p:spPr>
          <a:xfrm>
            <a:off x="952500" y="1752600"/>
            <a:ext cx="2667000" cy="476250"/>
          </a:xfrm>
          <a:prstGeom prst="rect">
            <a:avLst/>
          </a:prstGeom>
          <a:noFill/>
          <a:ln w="0">
            <a:noFill/>
          </a:ln>
        </p:spPr>
        <p:txBody>
          <a:bodyPr lIns="38100" tIns="19050" rIns="38100" bIns="19050" anchor="t">
            <a:normAutofit fontScale="86182"/>
          </a:bodyPr>
          <a:lstStyle/>
          <a:p>
            <a:pPr algn="ctr">
              <a:defRPr sz="2325" b="1" i="0">
                <a:solidFill>
                  <a:srgbClr val="3E8853"/>
                </a:solidFill>
                <a:latin typeface="Montserrat"/>
                <a:ea typeface="Montserrat"/>
                <a:cs typeface="Montserrat"/>
              </a:defRPr>
            </a:pPr>
            <a:r>
              <a:rPr sz="2325" b="1" i="0">
                <a:solidFill>
                  <a:srgbClr val="3E8853"/>
                </a:solidFill>
                <a:latin typeface="Montserrat"/>
                <a:ea typeface="Montserrat"/>
                <a:cs typeface="Montserrat"/>
              </a:rPr>
              <a:t>3 of 4 helpful = 75%</a:t>
            </a:r>
          </a:p>
        </p:txBody>
      </p:sp>
      <p:sp>
        <p:nvSpPr>
          <p:cNvPr id="8" name="Rectangle 7">
            <a:extLst>
              <a:ext uri="{FF2B5EF4-FFF2-40B4-BE49-F238E27FC236}">
                <a16:creationId xmlns:a16="http://schemas.microsoft.com/office/drawing/2014/main" id="{6964A89B-D3CB-4734-85A8-B49F7549074D}"/>
              </a:ext>
            </a:extLst>
          </p:cNvPr>
          <p:cNvSpPr>
            <a:spLocks noGrp="1"/>
          </p:cNvSpPr>
          <p:nvPr/>
        </p:nvSpPr>
        <p:spPr>
          <a:xfrm>
            <a:off x="5524500" y="1285875"/>
            <a:ext cx="2667000" cy="323850"/>
          </a:xfrm>
          <a:prstGeom prst="rect">
            <a:avLst/>
          </a:prstGeom>
          <a:noFill/>
          <a:ln w="0">
            <a:noFill/>
          </a:ln>
        </p:spPr>
        <p:txBody>
          <a:bodyPr lIns="38100" tIns="19050" rIns="38100" bIns="19050" anchor="t">
            <a:normAutofit/>
          </a:bodyPr>
          <a:lstStyle/>
          <a:p>
            <a:pPr algn="ct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Text users</a:t>
            </a:r>
          </a:p>
        </p:txBody>
      </p:sp>
      <p:sp>
        <p:nvSpPr>
          <p:cNvPr id="9" name="Rectangle 8">
            <a:extLst>
              <a:ext uri="{FF2B5EF4-FFF2-40B4-BE49-F238E27FC236}">
                <a16:creationId xmlns:a16="http://schemas.microsoft.com/office/drawing/2014/main" id="{0A2C7824-C341-4FFA-9495-656D105A677F}"/>
              </a:ext>
            </a:extLst>
          </p:cNvPr>
          <p:cNvSpPr>
            <a:spLocks noGrp="1"/>
          </p:cNvSpPr>
          <p:nvPr/>
        </p:nvSpPr>
        <p:spPr>
          <a:xfrm>
            <a:off x="5524500" y="1752600"/>
            <a:ext cx="2667000" cy="476250"/>
          </a:xfrm>
          <a:prstGeom prst="rect">
            <a:avLst/>
          </a:prstGeom>
          <a:noFill/>
          <a:ln w="0">
            <a:noFill/>
          </a:ln>
        </p:spPr>
        <p:txBody>
          <a:bodyPr lIns="38100" tIns="19050" rIns="38100" bIns="19050" anchor="t">
            <a:normAutofit fontScale="86182"/>
          </a:bodyPr>
          <a:lstStyle/>
          <a:p>
            <a:pPr algn="ctr">
              <a:defRPr sz="2325" b="1" i="0">
                <a:solidFill>
                  <a:srgbClr val="3E8853"/>
                </a:solidFill>
                <a:latin typeface="Montserrat"/>
                <a:ea typeface="Montserrat"/>
                <a:cs typeface="Montserrat"/>
              </a:defRPr>
            </a:pPr>
            <a:r>
              <a:rPr sz="2325" b="1" i="0">
                <a:solidFill>
                  <a:srgbClr val="3E8853"/>
                </a:solidFill>
                <a:latin typeface="Montserrat"/>
                <a:ea typeface="Montserrat"/>
                <a:cs typeface="Montserrat"/>
              </a:rPr>
              <a:t>1 of 4 helpful = 25%</a:t>
            </a:r>
          </a:p>
        </p:txBody>
      </p:sp>
      <p:sp>
        <p:nvSpPr>
          <p:cNvPr id="10" name="Rectangle 9">
            <a:extLst>
              <a:ext uri="{FF2B5EF4-FFF2-40B4-BE49-F238E27FC236}">
                <a16:creationId xmlns:a16="http://schemas.microsoft.com/office/drawing/2014/main" id="{019AEEDF-96E0-4EC0-8B73-DDFE3A0239A7}"/>
              </a:ext>
            </a:extLst>
          </p:cNvPr>
          <p:cNvSpPr>
            <a:spLocks noGrp="1"/>
          </p:cNvSpPr>
          <p:nvPr/>
        </p:nvSpPr>
        <p:spPr>
          <a:xfrm>
            <a:off x="1619250" y="2647950"/>
            <a:ext cx="5905500" cy="457200"/>
          </a:xfrm>
          <a:prstGeom prst="rect">
            <a:avLst/>
          </a:prstGeom>
          <a:noFill/>
          <a:ln w="0">
            <a:noFill/>
          </a:ln>
        </p:spPr>
        <p:txBody>
          <a:bodyPr lIns="38100" tIns="19050" rIns="38100" bIns="19050" anchor="t">
            <a:normAutofit fontScale="92500"/>
          </a:bodyPr>
          <a:lstStyle/>
          <a:p>
            <a:pPr algn="ctr">
              <a:defRPr sz="1950" b="1" i="0">
                <a:solidFill>
                  <a:srgbClr val="2D2D2D"/>
                </a:solidFill>
                <a:latin typeface="Montserrat"/>
                <a:ea typeface="Montserrat"/>
                <a:cs typeface="Montserrat"/>
              </a:defRPr>
            </a:pPr>
            <a:r>
              <a:rPr sz="1950" b="1" i="0">
                <a:solidFill>
                  <a:srgbClr val="2D2D2D"/>
                </a:solidFill>
                <a:latin typeface="Montserrat"/>
                <a:ea typeface="Montserrat"/>
                <a:cs typeface="Montserrat"/>
              </a:rPr>
              <a:t>Which conclusion is supported descriptively?</a:t>
            </a:r>
          </a:p>
        </p:txBody>
      </p:sp>
      <p:sp>
        <p:nvSpPr>
          <p:cNvPr id="11" name="Rectangle 10">
            <a:extLst>
              <a:ext uri="{FF2B5EF4-FFF2-40B4-BE49-F238E27FC236}">
                <a16:creationId xmlns:a16="http://schemas.microsoft.com/office/drawing/2014/main" id="{1FD6EAC9-F3BC-46FE-9F2B-BC11558E86D1}"/>
              </a:ext>
            </a:extLst>
          </p:cNvPr>
          <p:cNvSpPr>
            <a:spLocks noGrp="1"/>
          </p:cNvSpPr>
          <p:nvPr/>
        </p:nvSpPr>
        <p:spPr>
          <a:xfrm>
            <a:off x="1714500" y="3276600"/>
            <a:ext cx="5715000" cy="1295400"/>
          </a:xfrm>
          <a:prstGeom prst="rect">
            <a:avLst/>
          </a:prstGeom>
          <a:noFill/>
          <a:ln w="0">
            <a:noFill/>
          </a:ln>
        </p:spPr>
        <p:txBody>
          <a:bodyPr lIns="47625" tIns="19050" rIns="47625" bIns="19050" anchor="t">
            <a:normAutofit lnSpcReduction="10000"/>
          </a:bodyPr>
          <a:lstStyle/>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A. </a:t>
            </a:r>
            <a:r>
              <a:rPr sz="1275" b="0">
                <a:solidFill>
                  <a:srgbClr val="2D2D2D"/>
                </a:solidFill>
                <a:latin typeface="Montserrat"/>
                <a:ea typeface="Montserrat"/>
                <a:cs typeface="Montserrat"/>
              </a:rPr>
              <a:t>Helpfulness was associated with format in this small group</a:t>
            </a:r>
          </a:p>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B. </a:t>
            </a:r>
            <a:r>
              <a:rPr sz="1275" b="0">
                <a:solidFill>
                  <a:srgbClr val="2D2D2D"/>
                </a:solidFill>
                <a:latin typeface="Montserrat"/>
                <a:ea typeface="Montserrat"/>
                <a:cs typeface="Montserrat"/>
              </a:rPr>
              <a:t>The variables were independent because both groups had four students</a:t>
            </a:r>
          </a:p>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C. </a:t>
            </a:r>
            <a:r>
              <a:rPr sz="1275" b="0">
                <a:solidFill>
                  <a:srgbClr val="2D2D2D"/>
                </a:solidFill>
                <a:latin typeface="Montserrat"/>
                <a:ea typeface="Montserrat"/>
                <a:cs typeface="Montserrat"/>
              </a:rPr>
              <a:t>The helpful percentages were the same</a:t>
            </a:r>
          </a:p>
          <a:p>
            <a:pPr>
              <a:spcAft>
                <a:spcPts val="800"/>
              </a:spcAft>
              <a:defRPr sz="1275">
                <a:solidFill>
                  <a:srgbClr val="2D2D2D"/>
                </a:solidFill>
                <a:latin typeface="Montserrat"/>
                <a:ea typeface="Montserrat"/>
                <a:cs typeface="Montserrat"/>
              </a:defRPr>
            </a:pPr>
            <a:r>
              <a:rPr sz="1275" b="1">
                <a:solidFill>
                  <a:srgbClr val="2D2D2D"/>
                </a:solidFill>
                <a:latin typeface="Montserrat"/>
                <a:ea typeface="Montserrat"/>
                <a:cs typeface="Montserrat"/>
              </a:rPr>
              <a:t>D. </a:t>
            </a:r>
            <a:r>
              <a:rPr sz="1275" b="0">
                <a:solidFill>
                  <a:srgbClr val="2D2D2D"/>
                </a:solidFill>
                <a:latin typeface="Montserrat"/>
                <a:ea typeface="Montserrat"/>
                <a:cs typeface="Montserrat"/>
              </a:rPr>
              <a:t>The table proves video causes greater learning for every student</a:t>
            </a:r>
          </a:p>
        </p:txBody>
      </p:sp>
    </p:spTree>
    <p:extLst>
      <p:ext uri="{BB962C8B-B14F-4D97-AF65-F5344CB8AC3E}">
        <p14:creationId xmlns:p14="http://schemas.microsoft.com/office/powerpoint/2010/main" val="851890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9CF762-2711-4E32-8430-9090647E7E25}"/>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175" b="1" i="0">
                <a:solidFill>
                  <a:srgbClr val="2D2D2D"/>
                </a:solidFill>
                <a:latin typeface="Montserrat"/>
                <a:ea typeface="Montserrat"/>
                <a:cs typeface="Montserrat"/>
              </a:defRPr>
            </a:pPr>
            <a:r>
              <a:rPr sz="2175" b="1" i="0">
                <a:solidFill>
                  <a:srgbClr val="2D2D2D"/>
                </a:solidFill>
                <a:latin typeface="Montserrat"/>
                <a:ea typeface="Montserrat"/>
                <a:cs typeface="Montserrat"/>
              </a:rPr>
              <a:t>Quiz question 19 | Randomized treatment comparison</a:t>
            </a:r>
          </a:p>
        </p:txBody>
      </p:sp>
      <p:sp>
        <p:nvSpPr>
          <p:cNvPr id="2" name="Rectangle 1">
            <a:extLst>
              <a:ext uri="{FF2B5EF4-FFF2-40B4-BE49-F238E27FC236}">
                <a16:creationId xmlns:a16="http://schemas.microsoft.com/office/drawing/2014/main" id="{58F53BD6-D6ED-4BB5-B4F5-02B4832A2822}"/>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ECF38060-261A-4E59-9AC8-B30698C945A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4BB61750-7BE6-4A15-8BB6-C9DBB059C4C9}"/>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85103071-2B8F-4ECE-B72E-6156739A239C}"/>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28</a:t>
            </a:r>
          </a:p>
        </p:txBody>
      </p:sp>
      <p:pic>
        <p:nvPicPr>
          <p:cNvPr id="15" name="Picture 14"/>
          <p:cNvPicPr>
            <a:picLocks noChangeAspect="1"/>
          </p:cNvPicPr>
          <p:nvPr/>
        </p:nvPicPr>
        <p:blipFill>
          <a:blip r:embed="rId3"/>
          <a:stretch/>
        </p:blipFill>
        <p:spPr>
          <a:xfrm>
            <a:off x="590550" y="1166123"/>
            <a:ext cx="4857750" cy="3163679"/>
          </a:xfrm>
          <a:prstGeom prst="rect">
            <a:avLst/>
          </a:prstGeom>
        </p:spPr>
      </p:pic>
      <p:sp>
        <p:nvSpPr>
          <p:cNvPr id="7" name="Rectangle 6">
            <a:extLst>
              <a:ext uri="{FF2B5EF4-FFF2-40B4-BE49-F238E27FC236}">
                <a16:creationId xmlns:a16="http://schemas.microsoft.com/office/drawing/2014/main" id="{E8FC68DC-0A8B-4F28-9F9B-9C2C7E2AC3B7}"/>
              </a:ext>
            </a:extLst>
          </p:cNvPr>
          <p:cNvSpPr>
            <a:spLocks noGrp="1"/>
          </p:cNvSpPr>
          <p:nvPr/>
        </p:nvSpPr>
        <p:spPr>
          <a:xfrm>
            <a:off x="5715000" y="1238250"/>
            <a:ext cx="2809875" cy="742950"/>
          </a:xfrm>
          <a:prstGeom prst="rect">
            <a:avLst/>
          </a:prstGeom>
          <a:noFill/>
          <a:ln w="0">
            <a:noFill/>
          </a:ln>
        </p:spPr>
        <p:txBody>
          <a:bodyPr lIns="38100" tIns="19050" rIns="38100" bIns="19050" anchor="t">
            <a:normAutofit fontScale="97884"/>
          </a:bodyPr>
          <a:lstStyle/>
          <a:p>
            <a:pPr algn="l">
              <a:defRPr sz="1575" b="1" i="0">
                <a:solidFill>
                  <a:srgbClr val="1D4F91"/>
                </a:solidFill>
                <a:latin typeface="Montserrat"/>
                <a:ea typeface="Montserrat"/>
                <a:cs typeface="Montserrat"/>
              </a:defRPr>
            </a:pPr>
            <a:r>
              <a:rPr sz="1575" b="1" i="0">
                <a:solidFill>
                  <a:srgbClr val="1D4F91"/>
                </a:solidFill>
                <a:latin typeface="Montserrat"/>
                <a:ea typeface="Montserrat"/>
                <a:cs typeface="Montserrat"/>
              </a:rPr>
              <a:t>Treatment: 24 survived, 6 died</a:t>
            </a:r>
          </a:p>
          <a:p>
            <a:pPr algn="l">
              <a:defRPr sz="1575" b="1" i="0">
                <a:solidFill>
                  <a:srgbClr val="1D4F91"/>
                </a:solidFill>
                <a:latin typeface="Montserrat"/>
                <a:ea typeface="Montserrat"/>
                <a:cs typeface="Montserrat"/>
              </a:defRPr>
            </a:pPr>
            <a:r>
              <a:rPr sz="1575" b="1" i="0">
                <a:solidFill>
                  <a:srgbClr val="1D4F91"/>
                </a:solidFill>
                <a:latin typeface="Montserrat"/>
                <a:ea typeface="Montserrat"/>
                <a:cs typeface="Montserrat"/>
              </a:rPr>
              <a:t>Control: 15 survived, 15 died</a:t>
            </a:r>
          </a:p>
        </p:txBody>
      </p:sp>
      <p:sp>
        <p:nvSpPr>
          <p:cNvPr id="8" name="Rectangle 7">
            <a:extLst>
              <a:ext uri="{FF2B5EF4-FFF2-40B4-BE49-F238E27FC236}">
                <a16:creationId xmlns:a16="http://schemas.microsoft.com/office/drawing/2014/main" id="{A66BBDF7-B10C-40C4-BD90-BC5C6C66A44A}"/>
              </a:ext>
            </a:extLst>
          </p:cNvPr>
          <p:cNvSpPr>
            <a:spLocks noGrp="1"/>
          </p:cNvSpPr>
          <p:nvPr/>
        </p:nvSpPr>
        <p:spPr>
          <a:xfrm>
            <a:off x="5715000" y="2238375"/>
            <a:ext cx="2714625" cy="400050"/>
          </a:xfrm>
          <a:prstGeom prst="rect">
            <a:avLst/>
          </a:prstGeom>
          <a:noFill/>
          <a:ln w="0">
            <a:noFill/>
          </a:ln>
        </p:spPr>
        <p:txBody>
          <a:bodyPr lIns="38100" tIns="19050" rIns="38100" bIns="19050" anchor="t">
            <a:normAutofit fontScale="77189" lnSpcReduction="20000"/>
          </a:bodyPr>
          <a:lstStyle/>
          <a:p>
            <a:pPr algn="l">
              <a:defRPr sz="1725" b="1" i="0">
                <a:solidFill>
                  <a:srgbClr val="2D2D2D"/>
                </a:solidFill>
                <a:latin typeface="Montserrat"/>
                <a:ea typeface="Montserrat"/>
                <a:cs typeface="Montserrat"/>
              </a:defRPr>
            </a:pPr>
            <a:r>
              <a:rPr sz="1725" b="1" i="0">
                <a:solidFill>
                  <a:srgbClr val="2D2D2D"/>
                </a:solidFill>
                <a:latin typeface="Montserrat"/>
                <a:ea typeface="Montserrat"/>
                <a:cs typeface="Montserrat"/>
              </a:rPr>
              <a:t>Which comparison is correct?</a:t>
            </a:r>
          </a:p>
        </p:txBody>
      </p:sp>
      <p:sp>
        <p:nvSpPr>
          <p:cNvPr id="9" name="Rectangle 8">
            <a:extLst>
              <a:ext uri="{FF2B5EF4-FFF2-40B4-BE49-F238E27FC236}">
                <a16:creationId xmlns:a16="http://schemas.microsoft.com/office/drawing/2014/main" id="{0191DC3E-BBBB-43ED-A7D0-B4FA1A9FE9A3}"/>
              </a:ext>
            </a:extLst>
          </p:cNvPr>
          <p:cNvSpPr>
            <a:spLocks noGrp="1"/>
          </p:cNvSpPr>
          <p:nvPr/>
        </p:nvSpPr>
        <p:spPr>
          <a:xfrm>
            <a:off x="5715000" y="2743200"/>
            <a:ext cx="2809875" cy="1666875"/>
          </a:xfrm>
          <a:prstGeom prst="rect">
            <a:avLst/>
          </a:prstGeom>
          <a:noFill/>
          <a:ln w="0">
            <a:noFill/>
          </a:ln>
        </p:spPr>
        <p:txBody>
          <a:bodyPr lIns="47625" tIns="19050" rIns="47625" bIns="19050" anchor="t">
            <a:normAutofit fontScale="95197" lnSpcReduction="10000"/>
          </a:bodyPr>
          <a:lstStyle/>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A. </a:t>
            </a:r>
            <a:r>
              <a:rPr sz="1200" b="0">
                <a:solidFill>
                  <a:srgbClr val="2D2D2D"/>
                </a:solidFill>
                <a:latin typeface="Montserrat"/>
                <a:ea typeface="Montserrat"/>
                <a:cs typeface="Montserrat"/>
              </a:rPr>
              <a:t>80% versus 50%. Random assignment supports a causal comparison</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B. </a:t>
            </a:r>
            <a:r>
              <a:rPr sz="1200" b="0">
                <a:solidFill>
                  <a:srgbClr val="2D2D2D"/>
                </a:solidFill>
                <a:latin typeface="Montserrat"/>
                <a:ea typeface="Montserrat"/>
                <a:cs typeface="Montserrat"/>
              </a:rPr>
              <a:t>50% versus 80%</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C. </a:t>
            </a:r>
            <a:r>
              <a:rPr sz="1200" b="0">
                <a:solidFill>
                  <a:srgbClr val="2D2D2D"/>
                </a:solidFill>
                <a:latin typeface="Montserrat"/>
                <a:ea typeface="Montserrat"/>
                <a:cs typeface="Montserrat"/>
              </a:rPr>
              <a:t>The proportions are identical because both groups have 30 patients</a:t>
            </a:r>
          </a:p>
          <a:p>
            <a:pPr>
              <a:spcAft>
                <a:spcPts val="800"/>
              </a:spcAft>
              <a:defRPr sz="1200">
                <a:solidFill>
                  <a:srgbClr val="2D2D2D"/>
                </a:solidFill>
                <a:latin typeface="Montserrat"/>
                <a:ea typeface="Montserrat"/>
                <a:cs typeface="Montserrat"/>
              </a:defRPr>
            </a:pPr>
            <a:r>
              <a:rPr sz="1200" b="1">
                <a:solidFill>
                  <a:srgbClr val="2D2D2D"/>
                </a:solidFill>
                <a:latin typeface="Montserrat"/>
                <a:ea typeface="Montserrat"/>
                <a:cs typeface="Montserrat"/>
              </a:rPr>
              <a:t>D. </a:t>
            </a:r>
            <a:r>
              <a:rPr sz="1200" b="0">
                <a:solidFill>
                  <a:srgbClr val="2D2D2D"/>
                </a:solidFill>
                <a:latin typeface="Montserrat"/>
                <a:ea typeface="Montserrat"/>
                <a:cs typeface="Montserrat"/>
              </a:rPr>
              <a:t>No proportion can be computed from a mosaic plot</a:t>
            </a:r>
          </a:p>
        </p:txBody>
      </p:sp>
    </p:spTree>
    <p:extLst>
      <p:ext uri="{BB962C8B-B14F-4D97-AF65-F5344CB8AC3E}">
        <p14:creationId xmlns:p14="http://schemas.microsoft.com/office/powerpoint/2010/main" val="1179556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157344D-3467-49A8-86DE-E8A3C5FC39EF}"/>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Quiz question 20 | Compare distributions</a:t>
            </a:r>
          </a:p>
        </p:txBody>
      </p:sp>
      <p:sp>
        <p:nvSpPr>
          <p:cNvPr id="2" name="Rectangle 1">
            <a:extLst>
              <a:ext uri="{FF2B5EF4-FFF2-40B4-BE49-F238E27FC236}">
                <a16:creationId xmlns:a16="http://schemas.microsoft.com/office/drawing/2014/main" id="{07FA1B71-85BE-4AED-B58E-87306F8A3B2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96D5BF69-FAA8-4D0F-8DD8-78C5146CA1D2}"/>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2689F00-9C00-494D-B375-45B275E4A595}"/>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6D249EB3-856E-42ED-9BF8-C33662A1C6F1}"/>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29</a:t>
            </a:r>
          </a:p>
        </p:txBody>
      </p:sp>
      <p:pic>
        <p:nvPicPr>
          <p:cNvPr id="15" name="Picture 14"/>
          <p:cNvPicPr>
            <a:picLocks noChangeAspect="1"/>
          </p:cNvPicPr>
          <p:nvPr/>
        </p:nvPicPr>
        <p:blipFill>
          <a:blip r:embed="rId3"/>
          <a:stretch/>
        </p:blipFill>
        <p:spPr>
          <a:xfrm>
            <a:off x="1157175" y="1104900"/>
            <a:ext cx="4295999" cy="3333750"/>
          </a:xfrm>
          <a:prstGeom prst="rect">
            <a:avLst/>
          </a:prstGeom>
        </p:spPr>
      </p:pic>
      <p:sp>
        <p:nvSpPr>
          <p:cNvPr id="7" name="Rectangle 6">
            <a:extLst>
              <a:ext uri="{FF2B5EF4-FFF2-40B4-BE49-F238E27FC236}">
                <a16:creationId xmlns:a16="http://schemas.microsoft.com/office/drawing/2014/main" id="{6C3370D4-56E1-4C8F-B8A5-4DFED30D0F31}"/>
              </a:ext>
            </a:extLst>
          </p:cNvPr>
          <p:cNvSpPr>
            <a:spLocks noGrp="1"/>
          </p:cNvSpPr>
          <p:nvPr/>
        </p:nvSpPr>
        <p:spPr>
          <a:xfrm>
            <a:off x="5788414" y="1238250"/>
            <a:ext cx="2641211" cy="523875"/>
          </a:xfrm>
          <a:prstGeom prst="rect">
            <a:avLst/>
          </a:prstGeom>
          <a:noFill/>
          <a:ln w="0">
            <a:noFill/>
          </a:ln>
        </p:spPr>
        <p:txBody>
          <a:bodyPr lIns="38100" tIns="19050" rIns="38100" bIns="19050" anchor="t">
            <a:normAutofit fontScale="92391" lnSpcReduction="10000"/>
          </a:bodyPr>
          <a:lstStyle/>
          <a:p>
            <a:pPr algn="l">
              <a:defRPr sz="1725" b="1" i="0">
                <a:solidFill>
                  <a:srgbClr val="2D2D2D"/>
                </a:solidFill>
                <a:latin typeface="Montserrat"/>
                <a:ea typeface="Montserrat"/>
                <a:cs typeface="Montserrat"/>
              </a:defRPr>
            </a:pPr>
            <a:r>
              <a:rPr sz="1725" b="1" i="0">
                <a:solidFill>
                  <a:srgbClr val="2D2D2D"/>
                </a:solidFill>
                <a:latin typeface="Montserrat"/>
                <a:ea typeface="Montserrat"/>
                <a:cs typeface="Montserrat"/>
              </a:rPr>
              <a:t>Which comparison is best supported?</a:t>
            </a:r>
          </a:p>
        </p:txBody>
      </p:sp>
      <p:sp>
        <p:nvSpPr>
          <p:cNvPr id="8" name="Rectangle 7">
            <a:extLst>
              <a:ext uri="{FF2B5EF4-FFF2-40B4-BE49-F238E27FC236}">
                <a16:creationId xmlns:a16="http://schemas.microsoft.com/office/drawing/2014/main" id="{DD66E5B8-63C6-43AE-A3FE-885F89262B3F}"/>
              </a:ext>
            </a:extLst>
          </p:cNvPr>
          <p:cNvSpPr>
            <a:spLocks noGrp="1"/>
          </p:cNvSpPr>
          <p:nvPr/>
        </p:nvSpPr>
        <p:spPr>
          <a:xfrm>
            <a:off x="5777345" y="1943100"/>
            <a:ext cx="2699905" cy="1714500"/>
          </a:xfrm>
          <a:prstGeom prst="rect">
            <a:avLst/>
          </a:prstGeom>
          <a:noFill/>
          <a:ln w="0">
            <a:noFill/>
          </a:ln>
        </p:spPr>
        <p:txBody>
          <a:bodyPr lIns="47625" tIns="19050" rIns="47625" bIns="19050" anchor="t">
            <a:normAutofit fontScale="93744"/>
          </a:bodyPr>
          <a:lstStyle/>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A. </a:t>
            </a:r>
            <a:r>
              <a:rPr sz="1275" b="0" dirty="0">
                <a:solidFill>
                  <a:srgbClr val="2D2D2D"/>
                </a:solidFill>
                <a:latin typeface="Montserrat"/>
                <a:ea typeface="Montserrat"/>
                <a:cs typeface="Montserrat"/>
              </a:rPr>
              <a:t>Route A has a lower typical time and less variability</a:t>
            </a:r>
          </a:p>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B. </a:t>
            </a:r>
            <a:r>
              <a:rPr sz="1275" b="0" dirty="0">
                <a:solidFill>
                  <a:srgbClr val="2D2D2D"/>
                </a:solidFill>
                <a:latin typeface="Montserrat"/>
                <a:ea typeface="Montserrat"/>
                <a:cs typeface="Montserrat"/>
              </a:rPr>
              <a:t>Route A has a higher typical time and more variability</a:t>
            </a:r>
          </a:p>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C. </a:t>
            </a:r>
            <a:r>
              <a:rPr sz="1275" b="0" dirty="0">
                <a:solidFill>
                  <a:srgbClr val="2D2D2D"/>
                </a:solidFill>
                <a:latin typeface="Montserrat"/>
                <a:ea typeface="Montserrat"/>
                <a:cs typeface="Montserrat"/>
              </a:rPr>
              <a:t>The routes have identical centers and spreads</a:t>
            </a:r>
          </a:p>
          <a:p>
            <a:pPr>
              <a:spcAft>
                <a:spcPts val="800"/>
              </a:spcAft>
              <a:defRPr sz="1275">
                <a:solidFill>
                  <a:srgbClr val="2D2D2D"/>
                </a:solidFill>
                <a:latin typeface="Montserrat"/>
                <a:ea typeface="Montserrat"/>
                <a:cs typeface="Montserrat"/>
              </a:defRPr>
            </a:pPr>
            <a:r>
              <a:rPr sz="1275" b="1" dirty="0">
                <a:solidFill>
                  <a:srgbClr val="2D2D2D"/>
                </a:solidFill>
                <a:latin typeface="Montserrat"/>
                <a:ea typeface="Montserrat"/>
                <a:cs typeface="Montserrat"/>
              </a:rPr>
              <a:t>D. </a:t>
            </a:r>
            <a:r>
              <a:rPr sz="1275" b="0" dirty="0">
                <a:solidFill>
                  <a:srgbClr val="2D2D2D"/>
                </a:solidFill>
                <a:latin typeface="Montserrat"/>
                <a:ea typeface="Montserrat"/>
                <a:cs typeface="Montserrat"/>
              </a:rPr>
              <a:t>Only the maximum matters</a:t>
            </a:r>
          </a:p>
        </p:txBody>
      </p:sp>
      <p:sp>
        <p:nvSpPr>
          <p:cNvPr id="9" name="Rectangle 8">
            <a:extLst>
              <a:ext uri="{FF2B5EF4-FFF2-40B4-BE49-F238E27FC236}">
                <a16:creationId xmlns:a16="http://schemas.microsoft.com/office/drawing/2014/main" id="{DE979B3E-FED2-4E4E-BCDC-6DA1B6A394FA}"/>
              </a:ext>
            </a:extLst>
          </p:cNvPr>
          <p:cNvSpPr>
            <a:spLocks noGrp="1"/>
          </p:cNvSpPr>
          <p:nvPr/>
        </p:nvSpPr>
        <p:spPr>
          <a:xfrm>
            <a:off x="5777345" y="3943350"/>
            <a:ext cx="2699905" cy="476250"/>
          </a:xfrm>
          <a:prstGeom prst="rect">
            <a:avLst/>
          </a:prstGeom>
          <a:noFill/>
          <a:ln w="0">
            <a:noFill/>
          </a:ln>
        </p:spPr>
        <p:txBody>
          <a:bodyPr lIns="38100" tIns="19050" rIns="38100" bIns="19050" anchor="t">
            <a:normAutofit/>
          </a:bodyPr>
          <a:lstStyle/>
          <a:p>
            <a:pPr algn="ctr">
              <a:defRPr sz="1350" b="1" i="0">
                <a:solidFill>
                  <a:srgbClr val="C74634"/>
                </a:solidFill>
                <a:latin typeface="Montserrat"/>
                <a:ea typeface="Montserrat"/>
                <a:cs typeface="Montserrat"/>
              </a:defRPr>
            </a:pPr>
            <a:r>
              <a:rPr sz="1350" b="1" i="0">
                <a:solidFill>
                  <a:srgbClr val="C74634"/>
                </a:solidFill>
                <a:latin typeface="Montserrat"/>
                <a:ea typeface="Montserrat"/>
                <a:cs typeface="Montserrat"/>
              </a:rPr>
              <a:t>Center · spread · shape · unusual observations</a:t>
            </a:r>
          </a:p>
        </p:txBody>
      </p:sp>
    </p:spTree>
    <p:extLst>
      <p:ext uri="{BB962C8B-B14F-4D97-AF65-F5344CB8AC3E}">
        <p14:creationId xmlns:p14="http://schemas.microsoft.com/office/powerpoint/2010/main" val="1061236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A3E403A-AA5E-4FF9-A04A-EEAEBAB4FB77}"/>
              </a:ext>
            </a:extLst>
          </p:cNvPr>
          <p:cNvSpPr>
            <a:spLocks noGrp="1"/>
          </p:cNvSpPr>
          <p:nvPr/>
        </p:nvSpPr>
        <p:spPr>
          <a:xfrm>
            <a:off x="590550" y="266700"/>
            <a:ext cx="7962900" cy="571500"/>
          </a:xfrm>
          <a:prstGeom prst="rect">
            <a:avLst/>
          </a:prstGeom>
          <a:noFill/>
          <a:ln w="0">
            <a:noFill/>
          </a:ln>
        </p:spPr>
        <p:txBody>
          <a:bodyPr lIns="38100" tIns="19050" rIns="38100" bIns="19050" anchor="t">
            <a:normAutofit/>
          </a:bodyPr>
          <a:lstStyle/>
          <a:p>
            <a:pPr algn="l">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One-minute exit check</a:t>
            </a:r>
          </a:p>
        </p:txBody>
      </p:sp>
      <p:sp>
        <p:nvSpPr>
          <p:cNvPr id="2" name="Rectangle 1">
            <a:extLst>
              <a:ext uri="{FF2B5EF4-FFF2-40B4-BE49-F238E27FC236}">
                <a16:creationId xmlns:a16="http://schemas.microsoft.com/office/drawing/2014/main" id="{50389203-1DD4-482E-BED8-2E6B9643F9F2}"/>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C5083F09-8A70-4056-AA54-1F04F01D892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6BEE78A2-A8B8-44BC-860F-CC19196FA400}"/>
              </a:ext>
            </a:extLst>
          </p:cNvPr>
          <p:cNvSpPr>
            <a:spLocks noGrp="1"/>
          </p:cNvSpPr>
          <p:nvPr/>
        </p:nvSpPr>
        <p:spPr>
          <a:xfrm>
            <a:off x="266700" y="4895850"/>
            <a:ext cx="5334000" cy="180975"/>
          </a:xfrm>
          <a:prstGeom prst="rect">
            <a:avLst/>
          </a:prstGeom>
          <a:noFill/>
          <a:ln w="0">
            <a:noFill/>
          </a:ln>
        </p:spPr>
        <p:txBody>
          <a:bodyPr lIns="38100" tIns="19050" rIns="38100" bIns="19050" anchor="ctr">
            <a:normAutofit/>
          </a:bodyPr>
          <a:lstStyle/>
          <a:p>
            <a:pPr algn="l">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CE66504F-F061-48B6-94A2-3FFB0354BBA1}"/>
              </a:ext>
            </a:extLst>
          </p:cNvPr>
          <p:cNvSpPr>
            <a:spLocks noGrp="1"/>
          </p:cNvSpPr>
          <p:nvPr/>
        </p:nvSpPr>
        <p:spPr>
          <a:xfrm>
            <a:off x="8439150" y="4895850"/>
            <a:ext cx="419100" cy="171450"/>
          </a:xfrm>
          <a:prstGeom prst="rect">
            <a:avLst/>
          </a:prstGeom>
          <a:noFill/>
          <a:ln w="0">
            <a:noFill/>
          </a:ln>
        </p:spPr>
        <p:txBody>
          <a:bodyPr lIns="38100" tIns="19050" rIns="38100" bIns="19050" anchor="ctr">
            <a:normAutofit/>
          </a:bodyPr>
          <a:lstStyle/>
          <a:p>
            <a:pPr algn="r">
              <a:defRPr sz="750" b="0" i="0">
                <a:solidFill>
                  <a:srgbClr val="5F6B73"/>
                </a:solidFill>
                <a:latin typeface="Montserrat"/>
                <a:ea typeface="Montserrat"/>
                <a:cs typeface="Montserrat"/>
              </a:defRPr>
            </a:pPr>
            <a:r>
              <a:rPr sz="750" b="0" i="0">
                <a:solidFill>
                  <a:srgbClr val="5F6B73"/>
                </a:solidFill>
                <a:latin typeface="Montserrat"/>
                <a:ea typeface="Montserrat"/>
                <a:cs typeface="Montserrat"/>
              </a:rPr>
              <a:t>30</a:t>
            </a:r>
          </a:p>
        </p:txBody>
      </p:sp>
      <p:sp>
        <p:nvSpPr>
          <p:cNvPr id="6" name="Rectangle 5">
            <a:extLst>
              <a:ext uri="{FF2B5EF4-FFF2-40B4-BE49-F238E27FC236}">
                <a16:creationId xmlns:a16="http://schemas.microsoft.com/office/drawing/2014/main" id="{878032F8-981C-4439-B5D1-CAE300C31214}"/>
              </a:ext>
            </a:extLst>
          </p:cNvPr>
          <p:cNvSpPr>
            <a:spLocks noGrp="1"/>
          </p:cNvSpPr>
          <p:nvPr/>
        </p:nvSpPr>
        <p:spPr>
          <a:xfrm>
            <a:off x="876300" y="1314450"/>
            <a:ext cx="523875" cy="523875"/>
          </a:xfrm>
          <a:prstGeom prst="rect">
            <a:avLst/>
          </a:prstGeom>
          <a:noFill/>
          <a:ln w="0">
            <a:noFill/>
          </a:ln>
        </p:spPr>
        <p:txBody>
          <a:bodyPr lIns="38100" tIns="19050" rIns="38100" bIns="19050" anchor="t">
            <a:normAutofit/>
          </a:bodyPr>
          <a:lstStyle/>
          <a:p>
            <a:pPr algn="ctr">
              <a:defRPr sz="3000" b="1" i="0">
                <a:solidFill>
                  <a:srgbClr val="00A9E0"/>
                </a:solidFill>
                <a:latin typeface="Montserrat"/>
                <a:ea typeface="Montserrat"/>
                <a:cs typeface="Montserrat"/>
              </a:defRPr>
            </a:pPr>
            <a:r>
              <a:rPr sz="3000" b="1" i="0">
                <a:solidFill>
                  <a:srgbClr val="00A9E0"/>
                </a:solidFill>
                <a:latin typeface="Montserrat"/>
                <a:ea typeface="Montserrat"/>
                <a:cs typeface="Montserrat"/>
              </a:rPr>
              <a:t>1</a:t>
            </a:r>
          </a:p>
        </p:txBody>
      </p:sp>
      <p:sp>
        <p:nvSpPr>
          <p:cNvPr id="7" name="Rectangle 6">
            <a:extLst>
              <a:ext uri="{FF2B5EF4-FFF2-40B4-BE49-F238E27FC236}">
                <a16:creationId xmlns:a16="http://schemas.microsoft.com/office/drawing/2014/main" id="{9B15C023-276D-4ED1-A395-9B4A9CF0DCCD}"/>
              </a:ext>
            </a:extLst>
          </p:cNvPr>
          <p:cNvSpPr>
            <a:spLocks noGrp="1"/>
          </p:cNvSpPr>
          <p:nvPr/>
        </p:nvSpPr>
        <p:spPr>
          <a:xfrm>
            <a:off x="1571625" y="1333500"/>
            <a:ext cx="6477000" cy="590550"/>
          </a:xfrm>
          <a:prstGeom prst="rect">
            <a:avLst/>
          </a:prstGeom>
          <a:noFill/>
          <a:ln w="0">
            <a:noFill/>
          </a:ln>
        </p:spPr>
        <p:txBody>
          <a:bodyPr lIns="38100" tIns="19050" rIns="38100" bIns="19050" anchor="t">
            <a:normAutofit fontScale="92949"/>
          </a:bodyPr>
          <a:lstStyle/>
          <a:p>
            <a:pPr algn="l">
              <a:defRPr sz="1950" b="1" i="0">
                <a:solidFill>
                  <a:srgbClr val="2D2D2D"/>
                </a:solidFill>
                <a:latin typeface="Montserrat"/>
                <a:ea typeface="Montserrat"/>
                <a:cs typeface="Montserrat"/>
              </a:defRPr>
            </a:pPr>
            <a:r>
              <a:rPr sz="1950" b="1" i="0">
                <a:solidFill>
                  <a:srgbClr val="2D2D2D"/>
                </a:solidFill>
                <a:latin typeface="Montserrat"/>
                <a:ea typeface="Montserrat"/>
                <a:cs typeface="Montserrat"/>
              </a:rPr>
              <a:t>Explain the difference between a count and a conditional proportion in one sentence.</a:t>
            </a:r>
          </a:p>
        </p:txBody>
      </p:sp>
      <p:sp>
        <p:nvSpPr>
          <p:cNvPr id="8" name="Rectangle 7">
            <a:extLst>
              <a:ext uri="{FF2B5EF4-FFF2-40B4-BE49-F238E27FC236}">
                <a16:creationId xmlns:a16="http://schemas.microsoft.com/office/drawing/2014/main" id="{43457729-FBB5-4173-AA82-72770D25324F}"/>
              </a:ext>
            </a:extLst>
          </p:cNvPr>
          <p:cNvSpPr>
            <a:spLocks noGrp="1"/>
          </p:cNvSpPr>
          <p:nvPr/>
        </p:nvSpPr>
        <p:spPr>
          <a:xfrm>
            <a:off x="857250" y="2266950"/>
            <a:ext cx="7429500" cy="9525"/>
          </a:xfrm>
          <a:prstGeom prst="rect">
            <a:avLst/>
          </a:prstGeom>
          <a:solidFill>
            <a:srgbClr val="C9D8E0"/>
          </a:solidFill>
          <a:ln w="0">
            <a:noFill/>
          </a:ln>
        </p:spPr>
      </p:sp>
      <p:sp>
        <p:nvSpPr>
          <p:cNvPr id="9" name="Rectangle 8">
            <a:extLst>
              <a:ext uri="{FF2B5EF4-FFF2-40B4-BE49-F238E27FC236}">
                <a16:creationId xmlns:a16="http://schemas.microsoft.com/office/drawing/2014/main" id="{EE1844C3-1100-4CA2-8B0D-D73A37DA8E69}"/>
              </a:ext>
            </a:extLst>
          </p:cNvPr>
          <p:cNvSpPr>
            <a:spLocks noGrp="1"/>
          </p:cNvSpPr>
          <p:nvPr/>
        </p:nvSpPr>
        <p:spPr>
          <a:xfrm>
            <a:off x="876300" y="2647950"/>
            <a:ext cx="523875" cy="523875"/>
          </a:xfrm>
          <a:prstGeom prst="rect">
            <a:avLst/>
          </a:prstGeom>
          <a:noFill/>
          <a:ln w="0">
            <a:noFill/>
          </a:ln>
        </p:spPr>
        <p:txBody>
          <a:bodyPr lIns="38100" tIns="19050" rIns="38100" bIns="19050" anchor="t">
            <a:normAutofit/>
          </a:bodyPr>
          <a:lstStyle/>
          <a:p>
            <a:pPr algn="ctr">
              <a:defRPr sz="3000" b="1" i="0">
                <a:solidFill>
                  <a:srgbClr val="00A9E0"/>
                </a:solidFill>
                <a:latin typeface="Montserrat"/>
                <a:ea typeface="Montserrat"/>
                <a:cs typeface="Montserrat"/>
              </a:defRPr>
            </a:pPr>
            <a:r>
              <a:rPr sz="3000" b="1" i="0">
                <a:solidFill>
                  <a:srgbClr val="00A9E0"/>
                </a:solidFill>
                <a:latin typeface="Montserrat"/>
                <a:ea typeface="Montserrat"/>
                <a:cs typeface="Montserrat"/>
              </a:rPr>
              <a:t>2</a:t>
            </a:r>
          </a:p>
        </p:txBody>
      </p:sp>
      <p:sp>
        <p:nvSpPr>
          <p:cNvPr id="10" name="Rectangle 9">
            <a:extLst>
              <a:ext uri="{FF2B5EF4-FFF2-40B4-BE49-F238E27FC236}">
                <a16:creationId xmlns:a16="http://schemas.microsoft.com/office/drawing/2014/main" id="{6E4989C8-0E42-456E-8029-6AD297613942}"/>
              </a:ext>
            </a:extLst>
          </p:cNvPr>
          <p:cNvSpPr>
            <a:spLocks noGrp="1"/>
          </p:cNvSpPr>
          <p:nvPr/>
        </p:nvSpPr>
        <p:spPr>
          <a:xfrm>
            <a:off x="1571625" y="2667000"/>
            <a:ext cx="6477000" cy="590550"/>
          </a:xfrm>
          <a:prstGeom prst="rect">
            <a:avLst/>
          </a:prstGeom>
          <a:noFill/>
          <a:ln w="0">
            <a:noFill/>
          </a:ln>
        </p:spPr>
        <p:txBody>
          <a:bodyPr lIns="38100" tIns="19050" rIns="38100" bIns="19050" anchor="t">
            <a:normAutofit fontScale="92949"/>
          </a:bodyPr>
          <a:lstStyle/>
          <a:p>
            <a:pPr algn="l">
              <a:defRPr sz="1950" b="1" i="0">
                <a:solidFill>
                  <a:srgbClr val="2D2D2D"/>
                </a:solidFill>
                <a:latin typeface="Montserrat"/>
                <a:ea typeface="Montserrat"/>
                <a:cs typeface="Montserrat"/>
              </a:defRPr>
            </a:pPr>
            <a:r>
              <a:rPr sz="1950" b="1" i="0">
                <a:solidFill>
                  <a:srgbClr val="2D2D2D"/>
                </a:solidFill>
                <a:latin typeface="Montserrat"/>
                <a:ea typeface="Montserrat"/>
                <a:cs typeface="Montserrat"/>
              </a:rPr>
              <a:t>Name one Chapter 2 idea that you can now explain more clearly.</a:t>
            </a:r>
          </a:p>
        </p:txBody>
      </p:sp>
      <p:sp>
        <p:nvSpPr>
          <p:cNvPr id="11" name="Rectangle 10">
            <a:extLst>
              <a:ext uri="{FF2B5EF4-FFF2-40B4-BE49-F238E27FC236}">
                <a16:creationId xmlns:a16="http://schemas.microsoft.com/office/drawing/2014/main" id="{035AF3C1-2F4F-445B-BD6F-2157A4391032}"/>
              </a:ext>
            </a:extLst>
          </p:cNvPr>
          <p:cNvSpPr>
            <a:spLocks noGrp="1"/>
          </p:cNvSpPr>
          <p:nvPr/>
        </p:nvSpPr>
        <p:spPr>
          <a:xfrm>
            <a:off x="1619250" y="3981450"/>
            <a:ext cx="5905500" cy="400050"/>
          </a:xfrm>
          <a:prstGeom prst="rect">
            <a:avLst/>
          </a:prstGeom>
          <a:noFill/>
          <a:ln w="0">
            <a:noFill/>
          </a:ln>
        </p:spPr>
        <p:txBody>
          <a:bodyPr lIns="38100" tIns="19050" rIns="38100" bIns="19050" anchor="t">
            <a:normAutofit fontScale="92500"/>
          </a:bodyPr>
          <a:lstStyle/>
          <a:p>
            <a:pPr algn="ctr">
              <a:defRPr sz="1650" b="1" i="0">
                <a:solidFill>
                  <a:srgbClr val="3E8853"/>
                </a:solidFill>
                <a:latin typeface="Montserrat"/>
                <a:ea typeface="Montserrat"/>
                <a:cs typeface="Montserrat"/>
              </a:defRPr>
            </a:pPr>
            <a:r>
              <a:rPr sz="1650" b="1" i="0">
                <a:solidFill>
                  <a:srgbClr val="3E8853"/>
                </a:solidFill>
                <a:latin typeface="Montserrat"/>
                <a:ea typeface="Montserrat"/>
                <a:cs typeface="Montserrat"/>
              </a:rPr>
              <a:t>Thursday is reserved for project discussion and work.</a:t>
            </a:r>
          </a:p>
        </p:txBody>
      </p:sp>
      <p:sp>
        <p:nvSpPr>
          <p:cNvPr id="12" name="Rectangle 11">
            <a:extLst>
              <a:ext uri="{FF2B5EF4-FFF2-40B4-BE49-F238E27FC236}">
                <a16:creationId xmlns:a16="http://schemas.microsoft.com/office/drawing/2014/main" id="{6E4C0B6D-E355-4BE0-8BDE-C343A6928A1E}"/>
              </a:ext>
            </a:extLst>
          </p:cNvPr>
          <p:cNvSpPr>
            <a:spLocks noGrp="1"/>
          </p:cNvSpPr>
          <p:nvPr/>
        </p:nvSpPr>
        <p:spPr>
          <a:xfrm>
            <a:off x="1571625" y="4495800"/>
            <a:ext cx="6000750" cy="228600"/>
          </a:xfrm>
          <a:prstGeom prst="rect">
            <a:avLst/>
          </a:prstGeom>
          <a:noFill/>
          <a:ln w="0">
            <a:noFill/>
          </a:ln>
        </p:spPr>
        <p:txBody>
          <a:bodyPr lIns="38100" tIns="19050" rIns="38100" bIns="19050" anchor="t">
            <a:normAutofit/>
          </a:bodyPr>
          <a:lstStyle/>
          <a:p>
            <a:pPr algn="ctr">
              <a:defRPr sz="900" b="0" i="0">
                <a:solidFill>
                  <a:srgbClr val="5F6B73"/>
                </a:solidFill>
                <a:latin typeface="Montserrat"/>
                <a:ea typeface="Montserrat"/>
                <a:cs typeface="Montserrat"/>
              </a:defRPr>
            </a:pPr>
            <a:r>
              <a:rPr sz="900" b="0" i="0">
                <a:solidFill>
                  <a:srgbClr val="5F6B73"/>
                </a:solidFill>
                <a:latin typeface="Montserrat"/>
                <a:ea typeface="Montserrat"/>
                <a:cs typeface="Montserrat"/>
              </a:rPr>
              <a:t>Quiz problems and plots adapted from OpenIntro Statistics, Chapter 2, CC BY-SA 3.0.</a:t>
            </a:r>
          </a:p>
        </p:txBody>
      </p:sp>
    </p:spTree>
    <p:extLst>
      <p:ext uri="{BB962C8B-B14F-4D97-AF65-F5344CB8AC3E}">
        <p14:creationId xmlns:p14="http://schemas.microsoft.com/office/powerpoint/2010/main" val="1551005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5A9C227-28AF-42F1-8383-A7B22E4A8ACB}"/>
              </a:ext>
            </a:extLst>
          </p:cNvPr>
          <p:cNvSpPr>
            <a:spLocks noGrp="1"/>
          </p:cNvSpPr>
          <p:nvPr/>
        </p:nvSpPr>
        <p:spPr>
          <a:xfrm>
            <a:off x="0" y="0"/>
            <a:ext cx="9144000" cy="128588"/>
          </a:xfrm>
          <a:prstGeom prst="rect">
            <a:avLst/>
          </a:prstGeom>
          <a:solidFill>
            <a:srgbClr val="2A8C82"/>
          </a:solidFill>
          <a:ln w="0">
            <a:noFill/>
          </a:ln>
        </p:spPr>
      </p:sp>
      <p:sp>
        <p:nvSpPr>
          <p:cNvPr id="2" name="Rectangle 1">
            <a:extLst>
              <a:ext uri="{FF2B5EF4-FFF2-40B4-BE49-F238E27FC236}">
                <a16:creationId xmlns:a16="http://schemas.microsoft.com/office/drawing/2014/main" id="{66F8443E-D9D2-4EB6-808E-9850F510B564}"/>
              </a:ext>
            </a:extLst>
          </p:cNvPr>
          <p:cNvSpPr>
            <a:spLocks noGrp="1"/>
          </p:cNvSpPr>
          <p:nvPr/>
        </p:nvSpPr>
        <p:spPr>
          <a:xfrm>
            <a:off x="514350" y="321469"/>
            <a:ext cx="6429375" cy="185738"/>
          </a:xfrm>
          <a:prstGeom prst="rect">
            <a:avLst/>
          </a:prstGeom>
          <a:noFill/>
          <a:ln w="0">
            <a:noFill/>
          </a:ln>
        </p:spPr>
        <p:txBody>
          <a:bodyPr anchor="ctr">
            <a:normAutofit fontScale="90119" lnSpcReduction="20000"/>
          </a:bodyPr>
          <a:lstStyle/>
          <a:p>
            <a:pPr algn="l">
              <a:defRPr sz="1050" b="1">
                <a:solidFill>
                  <a:srgbClr val="2A8C82"/>
                </a:solidFill>
                <a:latin typeface="Montserrat"/>
                <a:ea typeface="Montserrat"/>
                <a:cs typeface="Montserrat"/>
              </a:defRPr>
            </a:pPr>
            <a:r>
              <a:rPr sz="788" b="1">
                <a:solidFill>
                  <a:srgbClr val="2A8C82"/>
                </a:solidFill>
                <a:latin typeface="Montserrat"/>
                <a:ea typeface="Montserrat"/>
                <a:cs typeface="Montserrat"/>
              </a:rPr>
              <a:t>NEWS STORY · SEPTEMBER 2026</a:t>
            </a:r>
          </a:p>
        </p:txBody>
      </p:sp>
      <p:sp>
        <p:nvSpPr>
          <p:cNvPr id="3" name="Rectangle 2">
            <a:extLst>
              <a:ext uri="{FF2B5EF4-FFF2-40B4-BE49-F238E27FC236}">
                <a16:creationId xmlns:a16="http://schemas.microsoft.com/office/drawing/2014/main" id="{B97F6DBD-5447-4AB5-94C4-6F64F3E21182}"/>
              </a:ext>
            </a:extLst>
          </p:cNvPr>
          <p:cNvSpPr>
            <a:spLocks noGrp="1"/>
          </p:cNvSpPr>
          <p:nvPr/>
        </p:nvSpPr>
        <p:spPr>
          <a:xfrm>
            <a:off x="514350" y="542925"/>
            <a:ext cx="8001000" cy="464344"/>
          </a:xfrm>
          <a:prstGeom prst="rect">
            <a:avLst/>
          </a:prstGeom>
          <a:noFill/>
          <a:ln w="0">
            <a:noFill/>
          </a:ln>
        </p:spPr>
        <p:txBody>
          <a:bodyPr anchor="ctr">
            <a:normAutofit/>
          </a:bodyPr>
          <a:lstStyle/>
          <a:p>
            <a:pPr algn="l">
              <a:defRPr sz="2550" b="1">
                <a:solidFill>
                  <a:srgbClr val="17324D"/>
                </a:solidFill>
                <a:latin typeface="Montserrat"/>
                <a:ea typeface="Montserrat"/>
                <a:cs typeface="Montserrat"/>
              </a:defRPr>
            </a:pPr>
            <a:r>
              <a:rPr sz="1913" b="1">
                <a:solidFill>
                  <a:srgbClr val="17324D"/>
                </a:solidFill>
                <a:latin typeface="Montserrat"/>
                <a:ea typeface="Montserrat"/>
                <a:cs typeface="Montserrat"/>
              </a:rPr>
              <a:t>When the comparison group changes, the question changes</a:t>
            </a:r>
          </a:p>
        </p:txBody>
      </p:sp>
      <p:sp>
        <p:nvSpPr>
          <p:cNvPr id="4" name="Rectangle 3">
            <a:extLst>
              <a:ext uri="{FF2B5EF4-FFF2-40B4-BE49-F238E27FC236}">
                <a16:creationId xmlns:a16="http://schemas.microsoft.com/office/drawing/2014/main" id="{9E985991-60D1-4BDF-85B6-61C8E5119E02}"/>
              </a:ext>
            </a:extLst>
          </p:cNvPr>
          <p:cNvSpPr>
            <a:spLocks noGrp="1"/>
          </p:cNvSpPr>
          <p:nvPr/>
        </p:nvSpPr>
        <p:spPr>
          <a:xfrm>
            <a:off x="514350" y="4714875"/>
            <a:ext cx="8115300" cy="14288"/>
          </a:xfrm>
          <a:prstGeom prst="rect">
            <a:avLst/>
          </a:prstGeom>
          <a:solidFill>
            <a:srgbClr val="C9D6DE"/>
          </a:solidFill>
          <a:ln w="0">
            <a:noFill/>
          </a:ln>
        </p:spPr>
      </p:sp>
      <p:sp>
        <p:nvSpPr>
          <p:cNvPr id="5" name="Rectangle 4">
            <a:extLst>
              <a:ext uri="{FF2B5EF4-FFF2-40B4-BE49-F238E27FC236}">
                <a16:creationId xmlns:a16="http://schemas.microsoft.com/office/drawing/2014/main" id="{9788EDB5-3E94-4332-9573-D065A5858701}"/>
              </a:ext>
            </a:extLst>
          </p:cNvPr>
          <p:cNvSpPr>
            <a:spLocks noGrp="1"/>
          </p:cNvSpPr>
          <p:nvPr/>
        </p:nvSpPr>
        <p:spPr>
          <a:xfrm>
            <a:off x="514350" y="4786313"/>
            <a:ext cx="3571875" cy="171450"/>
          </a:xfrm>
          <a:prstGeom prst="rect">
            <a:avLst/>
          </a:prstGeom>
          <a:noFill/>
          <a:ln w="0">
            <a:noFill/>
          </a:ln>
        </p:spPr>
        <p:txBody>
          <a:bodyPr anchor="ctr">
            <a:normAutofit fontScale="92500" lnSpcReduction="20000"/>
          </a:bodyPr>
          <a:lstStyle/>
          <a:p>
            <a:pPr algn="l">
              <a:defRPr sz="825" b="0">
                <a:solidFill>
                  <a:srgbClr val="536373"/>
                </a:solidFill>
                <a:latin typeface="Montserrat"/>
                <a:ea typeface="Montserrat"/>
                <a:cs typeface="Montserrat"/>
              </a:defRPr>
            </a:pPr>
            <a:r>
              <a:rPr sz="619">
                <a:solidFill>
                  <a:srgbClr val="536373"/>
                </a:solidFill>
                <a:latin typeface="Montserrat"/>
                <a:ea typeface="Montserrat"/>
                <a:cs typeface="Montserrat"/>
              </a:rPr>
              <a:t>STAT UN 1001 · Two-way tables</a:t>
            </a:r>
          </a:p>
        </p:txBody>
      </p:sp>
      <p:sp>
        <p:nvSpPr>
          <p:cNvPr id="6" name="Rectangle 5">
            <a:extLst>
              <a:ext uri="{FF2B5EF4-FFF2-40B4-BE49-F238E27FC236}">
                <a16:creationId xmlns:a16="http://schemas.microsoft.com/office/drawing/2014/main" id="{18A41588-DB3B-47CC-B9C6-9A99F3BF3BBB}"/>
              </a:ext>
            </a:extLst>
          </p:cNvPr>
          <p:cNvSpPr>
            <a:spLocks noGrp="1"/>
          </p:cNvSpPr>
          <p:nvPr/>
        </p:nvSpPr>
        <p:spPr>
          <a:xfrm>
            <a:off x="8322469" y="4786313"/>
            <a:ext cx="300038" cy="171450"/>
          </a:xfrm>
          <a:prstGeom prst="rect">
            <a:avLst/>
          </a:prstGeom>
          <a:noFill/>
          <a:ln w="0">
            <a:noFill/>
          </a:ln>
        </p:spPr>
        <p:txBody>
          <a:bodyPr anchor="ctr">
            <a:normAutofit fontScale="92500" lnSpcReduction="20000"/>
          </a:bodyPr>
          <a:lstStyle/>
          <a:p>
            <a:pPr algn="r">
              <a:defRPr sz="825" b="1">
                <a:solidFill>
                  <a:srgbClr val="536373"/>
                </a:solidFill>
                <a:latin typeface="Montserrat"/>
                <a:ea typeface="Montserrat"/>
                <a:cs typeface="Montserrat"/>
              </a:defRPr>
            </a:pPr>
            <a:r>
              <a:rPr sz="619" b="1">
                <a:solidFill>
                  <a:srgbClr val="536373"/>
                </a:solidFill>
                <a:latin typeface="Montserrat"/>
                <a:ea typeface="Montserrat"/>
                <a:cs typeface="Montserrat"/>
              </a:rPr>
              <a:t>1</a:t>
            </a:r>
          </a:p>
        </p:txBody>
      </p:sp>
      <p:sp>
        <p:nvSpPr>
          <p:cNvPr id="7" name="Rounded Rectangle 6">
            <a:extLst>
              <a:ext uri="{FF2B5EF4-FFF2-40B4-BE49-F238E27FC236}">
                <a16:creationId xmlns:a16="http://schemas.microsoft.com/office/drawing/2014/main" id="{05B782AB-B93A-452B-82DE-A133C43586AA}"/>
              </a:ext>
            </a:extLst>
          </p:cNvPr>
          <p:cNvSpPr>
            <a:spLocks noGrp="1"/>
          </p:cNvSpPr>
          <p:nvPr/>
        </p:nvSpPr>
        <p:spPr>
          <a:xfrm>
            <a:off x="514350" y="1171575"/>
            <a:ext cx="5429250" cy="2886075"/>
          </a:xfrm>
          <a:prstGeom prst="roundRect">
            <a:avLst>
              <a:gd name="adj" fmla="val 1980"/>
            </a:avLst>
          </a:prstGeom>
          <a:solidFill>
            <a:srgbClr val="EDF4F7"/>
          </a:solidFill>
          <a:ln w="0">
            <a:noFill/>
          </a:ln>
        </p:spPr>
      </p:sp>
      <p:sp>
        <p:nvSpPr>
          <p:cNvPr id="8" name="Rectangle 7">
            <a:extLst>
              <a:ext uri="{FF2B5EF4-FFF2-40B4-BE49-F238E27FC236}">
                <a16:creationId xmlns:a16="http://schemas.microsoft.com/office/drawing/2014/main" id="{0692DA62-83D8-4F94-8BD9-C81DFFD1359A}"/>
              </a:ext>
            </a:extLst>
          </p:cNvPr>
          <p:cNvSpPr>
            <a:spLocks noGrp="1"/>
          </p:cNvSpPr>
          <p:nvPr/>
        </p:nvSpPr>
        <p:spPr>
          <a:xfrm>
            <a:off x="742950" y="1371600"/>
            <a:ext cx="4857750" cy="171450"/>
          </a:xfrm>
          <a:prstGeom prst="rect">
            <a:avLst/>
          </a:prstGeom>
          <a:noFill/>
          <a:ln w="0">
            <a:noFill/>
          </a:ln>
        </p:spPr>
        <p:txBody>
          <a:bodyPr anchor="ctr">
            <a:normAutofit fontScale="78214" lnSpcReduction="20000"/>
          </a:bodyPr>
          <a:lstStyle/>
          <a:p>
            <a:pPr algn="l">
              <a:defRPr sz="1050" b="1">
                <a:solidFill>
                  <a:srgbClr val="2E6F9E"/>
                </a:solidFill>
                <a:latin typeface="Montserrat"/>
                <a:ea typeface="Montserrat"/>
                <a:cs typeface="Montserrat"/>
              </a:defRPr>
            </a:pPr>
            <a:r>
              <a:rPr sz="788" b="1">
                <a:solidFill>
                  <a:srgbClr val="2E6F9E"/>
                </a:solidFill>
                <a:latin typeface="Montserrat"/>
                <a:ea typeface="Montserrat"/>
                <a:cs typeface="Montserrat"/>
              </a:rPr>
              <a:t>THE BMJ · INVESTIGATION</a:t>
            </a:r>
          </a:p>
        </p:txBody>
      </p:sp>
      <p:sp>
        <p:nvSpPr>
          <p:cNvPr id="9" name="Rectangle 8">
            <a:extLst>
              <a:ext uri="{FF2B5EF4-FFF2-40B4-BE49-F238E27FC236}">
                <a16:creationId xmlns:a16="http://schemas.microsoft.com/office/drawing/2014/main" id="{0C1E3AB9-E387-45F6-9A31-E1C817615BC2}"/>
              </a:ext>
            </a:extLst>
          </p:cNvPr>
          <p:cNvSpPr>
            <a:spLocks noGrp="1"/>
          </p:cNvSpPr>
          <p:nvPr/>
        </p:nvSpPr>
        <p:spPr>
          <a:xfrm>
            <a:off x="742950" y="1628775"/>
            <a:ext cx="4857750" cy="1171575"/>
          </a:xfrm>
          <a:prstGeom prst="rect">
            <a:avLst/>
          </a:prstGeom>
          <a:noFill/>
          <a:ln w="0">
            <a:noFill/>
          </a:ln>
        </p:spPr>
        <p:txBody>
          <a:bodyPr anchor="ctr">
            <a:normAutofit/>
          </a:bodyPr>
          <a:lstStyle/>
          <a:p>
            <a:pPr algn="l">
              <a:defRPr sz="2175" b="1">
                <a:solidFill>
                  <a:srgbClr val="17324D"/>
                </a:solidFill>
                <a:latin typeface="Montserrat"/>
                <a:ea typeface="Montserrat"/>
                <a:cs typeface="Montserrat"/>
              </a:defRPr>
            </a:pPr>
            <a:r>
              <a:rPr sz="1631" b="1">
                <a:solidFill>
                  <a:srgbClr val="17324D"/>
                </a:solidFill>
                <a:latin typeface="Montserrat"/>
                <a:ea typeface="Montserrat"/>
                <a:cs typeface="Montserrat"/>
              </a:rPr>
              <a:t>A vaccine-safety algorithm lost sensitivity when reports for the two new mRNA vaccines came to dominate the database.</a:t>
            </a:r>
          </a:p>
        </p:txBody>
      </p:sp>
      <p:sp>
        <p:nvSpPr>
          <p:cNvPr id="10" name="Rectangle 9">
            <a:extLst>
              <a:ext uri="{FF2B5EF4-FFF2-40B4-BE49-F238E27FC236}">
                <a16:creationId xmlns:a16="http://schemas.microsoft.com/office/drawing/2014/main" id="{0B2FF305-41F5-4611-82C8-02901581D529}"/>
              </a:ext>
            </a:extLst>
          </p:cNvPr>
          <p:cNvSpPr>
            <a:spLocks noGrp="1"/>
          </p:cNvSpPr>
          <p:nvPr/>
        </p:nvSpPr>
        <p:spPr>
          <a:xfrm>
            <a:off x="742950" y="2957513"/>
            <a:ext cx="4857750" cy="628650"/>
          </a:xfrm>
          <a:prstGeom prst="rect">
            <a:avLst/>
          </a:prstGeom>
          <a:noFill/>
          <a:ln w="0">
            <a:noFill/>
          </a:ln>
        </p:spPr>
        <p:txBody>
          <a:bodyPr anchor="ctr">
            <a:normAutofit/>
          </a:bodyPr>
          <a:lstStyle/>
          <a:p>
            <a:pPr algn="l">
              <a:defRPr sz="1425" b="0">
                <a:solidFill>
                  <a:srgbClr val="536373"/>
                </a:solidFill>
                <a:latin typeface="Montserrat"/>
                <a:ea typeface="Montserrat"/>
                <a:cs typeface="Montserrat"/>
              </a:defRPr>
            </a:pPr>
            <a:r>
              <a:rPr sz="1069">
                <a:solidFill>
                  <a:srgbClr val="536373"/>
                </a:solidFill>
                <a:latin typeface="Montserrat"/>
                <a:ea typeface="Montserrat"/>
                <a:cs typeface="Montserrat"/>
              </a:rPr>
              <a:t>More than 90% of roughly 1.1 million first-year VAERS reports concerned the mRNA covid vaccines, according to the investigation.</a:t>
            </a:r>
          </a:p>
        </p:txBody>
      </p:sp>
      <p:sp>
        <p:nvSpPr>
          <p:cNvPr id="11" name="Rectangle 10">
            <a:extLst>
              <a:ext uri="{FF2B5EF4-FFF2-40B4-BE49-F238E27FC236}">
                <a16:creationId xmlns:a16="http://schemas.microsoft.com/office/drawing/2014/main" id="{F5BD5616-4915-415F-8DD3-8C9F38F2CB27}"/>
              </a:ext>
            </a:extLst>
          </p:cNvPr>
          <p:cNvSpPr>
            <a:spLocks noGrp="1"/>
          </p:cNvSpPr>
          <p:nvPr/>
        </p:nvSpPr>
        <p:spPr>
          <a:xfrm>
            <a:off x="742950" y="3714750"/>
            <a:ext cx="4857750" cy="171450"/>
          </a:xfrm>
          <a:prstGeom prst="rect">
            <a:avLst/>
          </a:prstGeom>
          <a:noFill/>
          <a:ln w="0">
            <a:noFill/>
          </a:ln>
        </p:spPr>
        <p:txBody>
          <a:bodyPr anchor="ctr">
            <a:normAutofit fontScale="92500" lnSpcReduction="20000"/>
          </a:bodyPr>
          <a:lstStyle/>
          <a:p>
            <a:pPr algn="l">
              <a:defRPr sz="900" b="0">
                <a:solidFill>
                  <a:srgbClr val="536373"/>
                </a:solidFill>
                <a:latin typeface="Montserrat"/>
                <a:ea typeface="Montserrat"/>
                <a:cs typeface="Montserrat"/>
              </a:defRPr>
            </a:pPr>
            <a:r>
              <a:rPr sz="675">
                <a:solidFill>
                  <a:srgbClr val="536373"/>
                </a:solidFill>
                <a:latin typeface="Montserrat"/>
                <a:ea typeface="Montserrat"/>
                <a:cs typeface="Montserrat"/>
              </a:rPr>
              <a:t>Source: David Willman, The BMJ, 16 Sep 2026</a:t>
            </a:r>
          </a:p>
        </p:txBody>
      </p:sp>
      <p:sp>
        <p:nvSpPr>
          <p:cNvPr id="12" name="Rounded Rectangle 11">
            <a:extLst>
              <a:ext uri="{FF2B5EF4-FFF2-40B4-BE49-F238E27FC236}">
                <a16:creationId xmlns:a16="http://schemas.microsoft.com/office/drawing/2014/main" id="{5E584243-1BC7-4EA3-BD82-911946576733}"/>
              </a:ext>
            </a:extLst>
          </p:cNvPr>
          <p:cNvSpPr>
            <a:spLocks noGrp="1"/>
          </p:cNvSpPr>
          <p:nvPr/>
        </p:nvSpPr>
        <p:spPr>
          <a:xfrm>
            <a:off x="6186487" y="1171575"/>
            <a:ext cx="2443163" cy="2886075"/>
          </a:xfrm>
          <a:prstGeom prst="roundRect">
            <a:avLst>
              <a:gd name="adj" fmla="val 2339"/>
            </a:avLst>
          </a:prstGeom>
          <a:solidFill>
            <a:srgbClr val="FFF8E8"/>
          </a:solidFill>
          <a:ln w="0">
            <a:noFill/>
          </a:ln>
        </p:spPr>
      </p:sp>
      <p:sp>
        <p:nvSpPr>
          <p:cNvPr id="13" name="Rectangle 12">
            <a:extLst>
              <a:ext uri="{FF2B5EF4-FFF2-40B4-BE49-F238E27FC236}">
                <a16:creationId xmlns:a16="http://schemas.microsoft.com/office/drawing/2014/main" id="{B1C78E01-B697-4592-9B8D-B2132D30799B}"/>
              </a:ext>
            </a:extLst>
          </p:cNvPr>
          <p:cNvSpPr>
            <a:spLocks noGrp="1"/>
          </p:cNvSpPr>
          <p:nvPr/>
        </p:nvSpPr>
        <p:spPr>
          <a:xfrm>
            <a:off x="6415087" y="1385888"/>
            <a:ext cx="1985963" cy="228600"/>
          </a:xfrm>
          <a:prstGeom prst="rect">
            <a:avLst/>
          </a:prstGeom>
          <a:noFill/>
          <a:ln w="0">
            <a:noFill/>
          </a:ln>
        </p:spPr>
        <p:txBody>
          <a:bodyPr anchor="ctr">
            <a:normAutofit fontScale="92500"/>
          </a:bodyPr>
          <a:lstStyle/>
          <a:p>
            <a:pPr algn="l">
              <a:defRPr sz="1350" b="1">
                <a:solidFill>
                  <a:srgbClr val="E3A72F"/>
                </a:solidFill>
                <a:latin typeface="Montserrat"/>
                <a:ea typeface="Montserrat"/>
                <a:cs typeface="Montserrat"/>
              </a:defRPr>
            </a:pPr>
            <a:r>
              <a:rPr sz="1013" b="1">
                <a:solidFill>
                  <a:srgbClr val="E3A72F"/>
                </a:solidFill>
                <a:latin typeface="Montserrat"/>
                <a:ea typeface="Montserrat"/>
                <a:cs typeface="Montserrat"/>
              </a:rPr>
              <a:t>Start here</a:t>
            </a:r>
          </a:p>
        </p:txBody>
      </p:sp>
      <p:sp>
        <p:nvSpPr>
          <p:cNvPr id="14" name="Rectangle 13">
            <a:extLst>
              <a:ext uri="{FF2B5EF4-FFF2-40B4-BE49-F238E27FC236}">
                <a16:creationId xmlns:a16="http://schemas.microsoft.com/office/drawing/2014/main" id="{B749F7C0-C012-4C0C-8051-07D4E85B40E5}"/>
              </a:ext>
            </a:extLst>
          </p:cNvPr>
          <p:cNvSpPr>
            <a:spLocks noGrp="1"/>
          </p:cNvSpPr>
          <p:nvPr/>
        </p:nvSpPr>
        <p:spPr>
          <a:xfrm>
            <a:off x="6415087" y="1757362"/>
            <a:ext cx="1985963" cy="300038"/>
          </a:xfrm>
          <a:prstGeom prst="rect">
            <a:avLst/>
          </a:prstGeom>
          <a:noFill/>
          <a:ln w="0">
            <a:noFill/>
          </a:ln>
        </p:spPr>
        <p:txBody>
          <a:bodyPr anchor="ctr">
            <a:normAutofit fontScale="92500"/>
          </a:bodyPr>
          <a:lstStyle/>
          <a:p>
            <a:pPr algn="l">
              <a:defRPr sz="1650" b="1">
                <a:solidFill>
                  <a:srgbClr val="17212B"/>
                </a:solidFill>
                <a:latin typeface="Montserrat"/>
                <a:ea typeface="Montserrat"/>
                <a:cs typeface="Montserrat"/>
              </a:defRPr>
            </a:pPr>
            <a:r>
              <a:rPr sz="1238" b="1">
                <a:solidFill>
                  <a:srgbClr val="17212B"/>
                </a:solidFill>
                <a:latin typeface="Montserrat"/>
                <a:ea typeface="Montserrat"/>
                <a:cs typeface="Montserrat"/>
              </a:rPr>
              <a:t>What is a VAERS case?</a:t>
            </a:r>
          </a:p>
        </p:txBody>
      </p:sp>
      <p:sp>
        <p:nvSpPr>
          <p:cNvPr id="15" name="Rectangle 14">
            <a:extLst>
              <a:ext uri="{FF2B5EF4-FFF2-40B4-BE49-F238E27FC236}">
                <a16:creationId xmlns:a16="http://schemas.microsoft.com/office/drawing/2014/main" id="{C2327E63-8421-4D42-85BC-D530FEEE7D28}"/>
              </a:ext>
            </a:extLst>
          </p:cNvPr>
          <p:cNvSpPr>
            <a:spLocks noGrp="1"/>
          </p:cNvSpPr>
          <p:nvPr/>
        </p:nvSpPr>
        <p:spPr>
          <a:xfrm>
            <a:off x="6415087" y="2071688"/>
            <a:ext cx="1985963" cy="685800"/>
          </a:xfrm>
          <a:prstGeom prst="rect">
            <a:avLst/>
          </a:prstGeom>
          <a:noFill/>
          <a:ln w="0">
            <a:noFill/>
          </a:ln>
        </p:spPr>
        <p:txBody>
          <a:bodyPr anchor="ctr">
            <a:normAutofit lnSpcReduction="10000"/>
          </a:bodyPr>
          <a:lstStyle/>
          <a:p>
            <a:pPr algn="l">
              <a:defRPr sz="1350" b="0">
                <a:solidFill>
                  <a:srgbClr val="536373"/>
                </a:solidFill>
                <a:latin typeface="Montserrat"/>
                <a:ea typeface="Montserrat"/>
                <a:cs typeface="Montserrat"/>
              </a:defRPr>
            </a:pPr>
            <a:r>
              <a:rPr sz="1013">
                <a:solidFill>
                  <a:srgbClr val="536373"/>
                </a:solidFill>
                <a:latin typeface="Montserrat"/>
                <a:ea typeface="Montserrat"/>
                <a:cs typeface="Montserrat"/>
              </a:rPr>
              <a:t>A submitted report of an event after vaccination—not a randomly sampled vaccinated person.</a:t>
            </a:r>
          </a:p>
        </p:txBody>
      </p:sp>
      <p:sp>
        <p:nvSpPr>
          <p:cNvPr id="16" name="Rectangle 15">
            <a:extLst>
              <a:ext uri="{FF2B5EF4-FFF2-40B4-BE49-F238E27FC236}">
                <a16:creationId xmlns:a16="http://schemas.microsoft.com/office/drawing/2014/main" id="{B7B857AB-BF78-43A1-8717-85B00EBEE139}"/>
              </a:ext>
            </a:extLst>
          </p:cNvPr>
          <p:cNvSpPr>
            <a:spLocks noGrp="1"/>
          </p:cNvSpPr>
          <p:nvPr/>
        </p:nvSpPr>
        <p:spPr>
          <a:xfrm>
            <a:off x="6415087" y="2886075"/>
            <a:ext cx="1985963" cy="271463"/>
          </a:xfrm>
          <a:prstGeom prst="rect">
            <a:avLst/>
          </a:prstGeom>
          <a:noFill/>
          <a:ln w="0">
            <a:noFill/>
          </a:ln>
        </p:spPr>
        <p:txBody>
          <a:bodyPr anchor="ctr">
            <a:normAutofit fontScale="92500"/>
          </a:bodyPr>
          <a:lstStyle/>
          <a:p>
            <a:pPr algn="l">
              <a:defRPr sz="1650" b="1">
                <a:solidFill>
                  <a:srgbClr val="17212B"/>
                </a:solidFill>
                <a:latin typeface="Montserrat"/>
                <a:ea typeface="Montserrat"/>
                <a:cs typeface="Montserrat"/>
              </a:defRPr>
            </a:pPr>
            <a:r>
              <a:rPr sz="1238" b="1">
                <a:solidFill>
                  <a:srgbClr val="17212B"/>
                </a:solidFill>
                <a:latin typeface="Montserrat"/>
                <a:ea typeface="Montserrat"/>
                <a:cs typeface="Montserrat"/>
              </a:rPr>
              <a:t>What can a signal do?</a:t>
            </a:r>
          </a:p>
        </p:txBody>
      </p:sp>
      <p:sp>
        <p:nvSpPr>
          <p:cNvPr id="17" name="Rectangle 16">
            <a:extLst>
              <a:ext uri="{FF2B5EF4-FFF2-40B4-BE49-F238E27FC236}">
                <a16:creationId xmlns:a16="http://schemas.microsoft.com/office/drawing/2014/main" id="{831CDBF8-CA23-447F-9ED2-F4F73173C338}"/>
              </a:ext>
            </a:extLst>
          </p:cNvPr>
          <p:cNvSpPr>
            <a:spLocks noGrp="1"/>
          </p:cNvSpPr>
          <p:nvPr/>
        </p:nvSpPr>
        <p:spPr>
          <a:xfrm>
            <a:off x="6415087" y="3186112"/>
            <a:ext cx="1985963" cy="642938"/>
          </a:xfrm>
          <a:prstGeom prst="rect">
            <a:avLst/>
          </a:prstGeom>
          <a:noFill/>
          <a:ln w="0">
            <a:noFill/>
          </a:ln>
        </p:spPr>
        <p:txBody>
          <a:bodyPr anchor="ctr">
            <a:normAutofit/>
          </a:bodyPr>
          <a:lstStyle/>
          <a:p>
            <a:pPr algn="l">
              <a:defRPr sz="1350" b="0">
                <a:solidFill>
                  <a:srgbClr val="536373"/>
                </a:solidFill>
                <a:latin typeface="Montserrat"/>
                <a:ea typeface="Montserrat"/>
                <a:cs typeface="Montserrat"/>
              </a:defRPr>
            </a:pPr>
            <a:r>
              <a:rPr sz="1013">
                <a:solidFill>
                  <a:srgbClr val="536373"/>
                </a:solidFill>
                <a:latin typeface="Montserrat"/>
                <a:ea typeface="Montserrat"/>
                <a:cs typeface="Montserrat"/>
              </a:rPr>
              <a:t>Flag a pattern for further study. It does not, by itself, establish causation.</a:t>
            </a:r>
          </a:p>
        </p:txBody>
      </p:sp>
    </p:spTree>
    <p:extLst>
      <p:ext uri="{BB962C8B-B14F-4D97-AF65-F5344CB8AC3E}">
        <p14:creationId xmlns:p14="http://schemas.microsoft.com/office/powerpoint/2010/main" val="42400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753128D-1CB9-4989-A7BA-DD5D8B0E415D}"/>
              </a:ext>
            </a:extLst>
          </p:cNvPr>
          <p:cNvSpPr>
            <a:spLocks noGrp="1"/>
          </p:cNvSpPr>
          <p:nvPr/>
        </p:nvSpPr>
        <p:spPr>
          <a:xfrm>
            <a:off x="0" y="0"/>
            <a:ext cx="9144000" cy="128588"/>
          </a:xfrm>
          <a:prstGeom prst="rect">
            <a:avLst/>
          </a:prstGeom>
          <a:solidFill>
            <a:srgbClr val="2A8C82"/>
          </a:solidFill>
          <a:ln w="0">
            <a:noFill/>
          </a:ln>
        </p:spPr>
      </p:sp>
      <p:sp>
        <p:nvSpPr>
          <p:cNvPr id="2" name="Rectangle 1">
            <a:extLst>
              <a:ext uri="{FF2B5EF4-FFF2-40B4-BE49-F238E27FC236}">
                <a16:creationId xmlns:a16="http://schemas.microsoft.com/office/drawing/2014/main" id="{1CF00370-87B4-4510-94ED-BB71EBCF6478}"/>
              </a:ext>
            </a:extLst>
          </p:cNvPr>
          <p:cNvSpPr>
            <a:spLocks noGrp="1"/>
          </p:cNvSpPr>
          <p:nvPr/>
        </p:nvSpPr>
        <p:spPr>
          <a:xfrm>
            <a:off x="514350" y="321469"/>
            <a:ext cx="6429375" cy="185738"/>
          </a:xfrm>
          <a:prstGeom prst="rect">
            <a:avLst/>
          </a:prstGeom>
          <a:noFill/>
          <a:ln w="0">
            <a:noFill/>
          </a:ln>
        </p:spPr>
        <p:txBody>
          <a:bodyPr anchor="ctr">
            <a:normAutofit fontScale="90119" lnSpcReduction="20000"/>
          </a:bodyPr>
          <a:lstStyle/>
          <a:p>
            <a:pPr algn="l">
              <a:defRPr sz="1050" b="1">
                <a:solidFill>
                  <a:srgbClr val="2A8C82"/>
                </a:solidFill>
                <a:latin typeface="Montserrat"/>
                <a:ea typeface="Montserrat"/>
                <a:cs typeface="Montserrat"/>
              </a:defRPr>
            </a:pPr>
            <a:r>
              <a:rPr sz="788" b="1">
                <a:solidFill>
                  <a:srgbClr val="2A8C82"/>
                </a:solidFill>
                <a:latin typeface="Montserrat"/>
                <a:ea typeface="Montserrat"/>
                <a:cs typeface="Montserrat"/>
              </a:rPr>
              <a:t>HYPOTHETICAL TEACHING EXAMPLE</a:t>
            </a:r>
          </a:p>
        </p:txBody>
      </p:sp>
      <p:sp>
        <p:nvSpPr>
          <p:cNvPr id="3" name="Rectangle 2">
            <a:extLst>
              <a:ext uri="{FF2B5EF4-FFF2-40B4-BE49-F238E27FC236}">
                <a16:creationId xmlns:a16="http://schemas.microsoft.com/office/drawing/2014/main" id="{A667BB93-A36D-4177-8F22-E41D9D1F9E81}"/>
              </a:ext>
            </a:extLst>
          </p:cNvPr>
          <p:cNvSpPr>
            <a:spLocks noGrp="1"/>
          </p:cNvSpPr>
          <p:nvPr/>
        </p:nvSpPr>
        <p:spPr>
          <a:xfrm>
            <a:off x="514350" y="542925"/>
            <a:ext cx="8001000" cy="464344"/>
          </a:xfrm>
          <a:prstGeom prst="rect">
            <a:avLst/>
          </a:prstGeom>
          <a:noFill/>
          <a:ln w="0">
            <a:noFill/>
          </a:ln>
        </p:spPr>
        <p:txBody>
          <a:bodyPr anchor="ctr">
            <a:normAutofit/>
          </a:bodyPr>
          <a:lstStyle/>
          <a:p>
            <a:pPr algn="l">
              <a:defRPr sz="2550" b="1">
                <a:solidFill>
                  <a:srgbClr val="17324D"/>
                </a:solidFill>
                <a:latin typeface="Montserrat"/>
                <a:ea typeface="Montserrat"/>
                <a:cs typeface="Montserrat"/>
              </a:defRPr>
            </a:pPr>
            <a:r>
              <a:rPr sz="1913" b="1">
                <a:solidFill>
                  <a:srgbClr val="17324D"/>
                </a:solidFill>
                <a:latin typeface="Montserrat"/>
                <a:ea typeface="Montserrat"/>
                <a:cs typeface="Montserrat"/>
              </a:rPr>
              <a:t>Scenario 1: compare Vaccine A with an established baseline</a:t>
            </a:r>
          </a:p>
        </p:txBody>
      </p:sp>
      <p:sp>
        <p:nvSpPr>
          <p:cNvPr id="4" name="Rectangle 3">
            <a:extLst>
              <a:ext uri="{FF2B5EF4-FFF2-40B4-BE49-F238E27FC236}">
                <a16:creationId xmlns:a16="http://schemas.microsoft.com/office/drawing/2014/main" id="{926B39F2-D456-4753-A422-3C0465A5CD76}"/>
              </a:ext>
            </a:extLst>
          </p:cNvPr>
          <p:cNvSpPr>
            <a:spLocks noGrp="1"/>
          </p:cNvSpPr>
          <p:nvPr/>
        </p:nvSpPr>
        <p:spPr>
          <a:xfrm>
            <a:off x="514350" y="4714875"/>
            <a:ext cx="8115300" cy="14288"/>
          </a:xfrm>
          <a:prstGeom prst="rect">
            <a:avLst/>
          </a:prstGeom>
          <a:solidFill>
            <a:srgbClr val="C9D6DE"/>
          </a:solidFill>
          <a:ln w="0">
            <a:noFill/>
          </a:ln>
        </p:spPr>
      </p:sp>
      <p:sp>
        <p:nvSpPr>
          <p:cNvPr id="5" name="Rectangle 4">
            <a:extLst>
              <a:ext uri="{FF2B5EF4-FFF2-40B4-BE49-F238E27FC236}">
                <a16:creationId xmlns:a16="http://schemas.microsoft.com/office/drawing/2014/main" id="{4758FA1A-5742-4528-9E95-73073C5963DE}"/>
              </a:ext>
            </a:extLst>
          </p:cNvPr>
          <p:cNvSpPr>
            <a:spLocks noGrp="1"/>
          </p:cNvSpPr>
          <p:nvPr/>
        </p:nvSpPr>
        <p:spPr>
          <a:xfrm>
            <a:off x="514350" y="4786313"/>
            <a:ext cx="3571875" cy="171450"/>
          </a:xfrm>
          <a:prstGeom prst="rect">
            <a:avLst/>
          </a:prstGeom>
          <a:noFill/>
          <a:ln w="0">
            <a:noFill/>
          </a:ln>
        </p:spPr>
        <p:txBody>
          <a:bodyPr anchor="ctr">
            <a:normAutofit fontScale="92500" lnSpcReduction="20000"/>
          </a:bodyPr>
          <a:lstStyle/>
          <a:p>
            <a:pPr algn="l">
              <a:defRPr sz="825" b="0">
                <a:solidFill>
                  <a:srgbClr val="536373"/>
                </a:solidFill>
                <a:latin typeface="Montserrat"/>
                <a:ea typeface="Montserrat"/>
                <a:cs typeface="Montserrat"/>
              </a:defRPr>
            </a:pPr>
            <a:r>
              <a:rPr sz="619">
                <a:solidFill>
                  <a:srgbClr val="536373"/>
                </a:solidFill>
                <a:latin typeface="Montserrat"/>
                <a:ea typeface="Montserrat"/>
                <a:cs typeface="Montserrat"/>
              </a:rPr>
              <a:t>STAT UN 1001 · Two-way tables</a:t>
            </a:r>
          </a:p>
        </p:txBody>
      </p:sp>
      <p:sp>
        <p:nvSpPr>
          <p:cNvPr id="6" name="Rectangle 5">
            <a:extLst>
              <a:ext uri="{FF2B5EF4-FFF2-40B4-BE49-F238E27FC236}">
                <a16:creationId xmlns:a16="http://schemas.microsoft.com/office/drawing/2014/main" id="{596334AF-3BC4-4642-8D8F-03BB86A75FB2}"/>
              </a:ext>
            </a:extLst>
          </p:cNvPr>
          <p:cNvSpPr>
            <a:spLocks noGrp="1"/>
          </p:cNvSpPr>
          <p:nvPr/>
        </p:nvSpPr>
        <p:spPr>
          <a:xfrm>
            <a:off x="8322469" y="4786313"/>
            <a:ext cx="300038" cy="171450"/>
          </a:xfrm>
          <a:prstGeom prst="rect">
            <a:avLst/>
          </a:prstGeom>
          <a:noFill/>
          <a:ln w="0">
            <a:noFill/>
          </a:ln>
        </p:spPr>
        <p:txBody>
          <a:bodyPr anchor="ctr">
            <a:normAutofit fontScale="92500" lnSpcReduction="20000"/>
          </a:bodyPr>
          <a:lstStyle/>
          <a:p>
            <a:pPr algn="r">
              <a:defRPr sz="825" b="1">
                <a:solidFill>
                  <a:srgbClr val="536373"/>
                </a:solidFill>
                <a:latin typeface="Montserrat"/>
                <a:ea typeface="Montserrat"/>
                <a:cs typeface="Montserrat"/>
              </a:defRPr>
            </a:pPr>
            <a:r>
              <a:rPr sz="619" b="1">
                <a:solidFill>
                  <a:srgbClr val="536373"/>
                </a:solidFill>
                <a:latin typeface="Montserrat"/>
                <a:ea typeface="Montserrat"/>
                <a:cs typeface="Montserrat"/>
              </a:rPr>
              <a:t>2</a:t>
            </a:r>
          </a:p>
        </p:txBody>
      </p:sp>
      <p:sp>
        <p:nvSpPr>
          <p:cNvPr id="7" name="Rectangle 6">
            <a:extLst>
              <a:ext uri="{FF2B5EF4-FFF2-40B4-BE49-F238E27FC236}">
                <a16:creationId xmlns:a16="http://schemas.microsoft.com/office/drawing/2014/main" id="{271FF72F-340A-480F-8E52-0AC123115E50}"/>
              </a:ext>
            </a:extLst>
          </p:cNvPr>
          <p:cNvSpPr>
            <a:spLocks noGrp="1"/>
          </p:cNvSpPr>
          <p:nvPr/>
        </p:nvSpPr>
        <p:spPr>
          <a:xfrm>
            <a:off x="514350" y="1035844"/>
            <a:ext cx="1785938" cy="214313"/>
          </a:xfrm>
          <a:prstGeom prst="rect">
            <a:avLst/>
          </a:prstGeom>
          <a:noFill/>
          <a:ln w="0">
            <a:noFill/>
          </a:ln>
        </p:spPr>
        <p:txBody>
          <a:bodyPr anchor="ctr">
            <a:normAutofit fontScale="92500" lnSpcReduction="20000"/>
          </a:bodyPr>
          <a:lstStyle/>
          <a:p>
            <a:pPr algn="l">
              <a:defRPr sz="1275" b="1">
                <a:solidFill>
                  <a:srgbClr val="536373"/>
                </a:solidFill>
                <a:latin typeface="Montserrat"/>
                <a:ea typeface="Montserrat"/>
                <a:cs typeface="Montserrat"/>
              </a:defRPr>
            </a:pPr>
            <a:r>
              <a:rPr sz="956" b="1">
                <a:solidFill>
                  <a:srgbClr val="536373"/>
                </a:solidFill>
                <a:latin typeface="Montserrat"/>
                <a:ea typeface="Montserrat"/>
                <a:cs typeface="Montserrat"/>
              </a:rPr>
              <a:t>Reported outcome</a:t>
            </a:r>
          </a:p>
        </p:txBody>
      </p:sp>
      <p:graphicFrame>
        <p:nvGraphicFramePr>
          <p:cNvPr id="24" name="Table 23"/>
          <p:cNvGraphicFramePr/>
          <p:nvPr/>
        </p:nvGraphicFramePr>
        <p:xfrm>
          <a:off x="514350" y="1314450"/>
          <a:ext cx="6072189" cy="1528764"/>
        </p:xfrm>
        <a:graphic>
          <a:graphicData uri="http://schemas.openxmlformats.org/drawingml/2006/table">
            <a:tbl>
              <a:tblPr/>
              <a:tblGrid>
                <a:gridCol w="1685925">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1357313">
                  <a:extLst>
                    <a:ext uri="{9D8B030D-6E8A-4147-A177-3AD203B41FA5}">
                      <a16:colId xmlns:a16="http://schemas.microsoft.com/office/drawing/2014/main" val="20002"/>
                    </a:ext>
                  </a:extLst>
                </a:gridCol>
                <a:gridCol w="928688">
                  <a:extLst>
                    <a:ext uri="{9D8B030D-6E8A-4147-A177-3AD203B41FA5}">
                      <a16:colId xmlns:a16="http://schemas.microsoft.com/office/drawing/2014/main" val="20003"/>
                    </a:ext>
                  </a:extLst>
                </a:gridCol>
                <a:gridCol w="1171575">
                  <a:extLst>
                    <a:ext uri="{9D8B030D-6E8A-4147-A177-3AD203B41FA5}">
                      <a16:colId xmlns:a16="http://schemas.microsoft.com/office/drawing/2014/main" val="20004"/>
                    </a:ext>
                  </a:extLst>
                </a:gridCol>
              </a:tblGrid>
              <a:tr h="509588">
                <a:tc>
                  <a:txBody>
                    <a:bodyPr/>
                    <a:lstStyle/>
                    <a:p>
                      <a:r>
                        <a:rPr sz="1400"/>
                        <a:t>Vaccine group</a:t>
                      </a:r>
                    </a:p>
                  </a:txBody>
                  <a:tcPr marL="68580" marR="68580" marT="34290" marB="34290"/>
                </a:tc>
                <a:tc>
                  <a:txBody>
                    <a:bodyPr/>
                    <a:lstStyle/>
                    <a:p>
                      <a:r>
                        <a:rPr sz="1400"/>
                        <a:t>Event X</a:t>
                      </a:r>
                    </a:p>
                  </a:txBody>
                  <a:tcPr marL="68580" marR="68580" marT="34290" marB="34290"/>
                </a:tc>
                <a:tc>
                  <a:txBody>
                    <a:bodyPr/>
                    <a:lstStyle/>
                    <a:p>
                      <a:r>
                        <a:rPr sz="1400"/>
                        <a:t>Other events</a:t>
                      </a:r>
                    </a:p>
                  </a:txBody>
                  <a:tcPr marL="68580" marR="68580" marT="34290" marB="34290"/>
                </a:tc>
                <a:tc>
                  <a:txBody>
                    <a:bodyPr/>
                    <a:lstStyle/>
                    <a:p>
                      <a:r>
                        <a:rPr sz="1400"/>
                        <a:t>Total</a:t>
                      </a:r>
                    </a:p>
                  </a:txBody>
                  <a:tcPr marL="68580" marR="68580" marT="34290" marB="34290"/>
                </a:tc>
                <a:tc>
                  <a:txBody>
                    <a:bodyPr/>
                    <a:lstStyle/>
                    <a:p>
                      <a:r>
                        <a:rPr sz="1400"/>
                        <a:t>Event X proportion</a:t>
                      </a:r>
                    </a:p>
                  </a:txBody>
                  <a:tcPr marL="68580" marR="68580" marT="34290" marB="34290"/>
                </a:tc>
                <a:extLst>
                  <a:ext uri="{0D108BD9-81ED-4DB2-BD59-A6C34878D82A}">
                    <a16:rowId xmlns:a16="http://schemas.microsoft.com/office/drawing/2014/main" val="10000"/>
                  </a:ext>
                </a:extLst>
              </a:tr>
              <a:tr h="509588">
                <a:tc>
                  <a:txBody>
                    <a:bodyPr/>
                    <a:lstStyle/>
                    <a:p>
                      <a:r>
                        <a:rPr sz="800" b="1">
                          <a:solidFill>
                            <a:srgbClr val="17212B"/>
                          </a:solidFill>
                          <a:latin typeface="Montserrat"/>
                          <a:ea typeface="Montserrat"/>
                          <a:cs typeface="Montserrat"/>
                        </a:rPr>
                        <a:t>Vaccine A</a:t>
                      </a:r>
                    </a:p>
                  </a:txBody>
                  <a:tcPr marL="57150" marR="57150" marT="35719" marB="35719">
                    <a:solidFill>
                      <a:srgbClr val="EDF4F7"/>
                    </a:solidFill>
                  </a:tcPr>
                </a:tc>
                <a:tc>
                  <a:txBody>
                    <a:bodyPr/>
                    <a:lstStyle/>
                    <a:p>
                      <a:r>
                        <a:rPr sz="1400"/>
                        <a:t>50</a:t>
                      </a:r>
                    </a:p>
                  </a:txBody>
                  <a:tcPr marL="68580" marR="68580" marT="34290" marB="34290"/>
                </a:tc>
                <a:tc>
                  <a:txBody>
                    <a:bodyPr/>
                    <a:lstStyle/>
                    <a:p>
                      <a:r>
                        <a:rPr sz="1400"/>
                        <a:t>950</a:t>
                      </a:r>
                    </a:p>
                  </a:txBody>
                  <a:tcPr marL="68580" marR="68580" marT="34290" marB="34290"/>
                </a:tc>
                <a:tc>
                  <a:txBody>
                    <a:bodyPr/>
                    <a:lstStyle/>
                    <a:p>
                      <a:r>
                        <a:rPr sz="1400"/>
                        <a:t>1,000</a:t>
                      </a:r>
                    </a:p>
                  </a:txBody>
                  <a:tcPr marL="68580" marR="68580" marT="34290" marB="34290"/>
                </a:tc>
                <a:tc>
                  <a:txBody>
                    <a:bodyPr/>
                    <a:lstStyle/>
                    <a:p>
                      <a:r>
                        <a:rPr sz="1400"/>
                        <a:t>5%</a:t>
                      </a:r>
                    </a:p>
                  </a:txBody>
                  <a:tcPr marL="68580" marR="68580" marT="34290" marB="34290">
                    <a:solidFill>
                      <a:srgbClr val="FFF8E8"/>
                    </a:solidFill>
                  </a:tcPr>
                </a:tc>
                <a:extLst>
                  <a:ext uri="{0D108BD9-81ED-4DB2-BD59-A6C34878D82A}">
                    <a16:rowId xmlns:a16="http://schemas.microsoft.com/office/drawing/2014/main" val="10001"/>
                  </a:ext>
                </a:extLst>
              </a:tr>
              <a:tr h="509588">
                <a:tc>
                  <a:txBody>
                    <a:bodyPr/>
                    <a:lstStyle/>
                    <a:p>
                      <a:r>
                        <a:rPr sz="800" b="1">
                          <a:solidFill>
                            <a:srgbClr val="17212B"/>
                          </a:solidFill>
                          <a:latin typeface="Montserrat"/>
                          <a:ea typeface="Montserrat"/>
                          <a:cs typeface="Montserrat"/>
                        </a:rPr>
                        <a:t>Established vaccines</a:t>
                      </a:r>
                    </a:p>
                  </a:txBody>
                  <a:tcPr marL="57150" marR="57150" marT="35719" marB="35719">
                    <a:solidFill>
                      <a:srgbClr val="EDF4F7"/>
                    </a:solidFill>
                  </a:tcPr>
                </a:tc>
                <a:tc>
                  <a:txBody>
                    <a:bodyPr/>
                    <a:lstStyle/>
                    <a:p>
                      <a:r>
                        <a:rPr sz="1400"/>
                        <a:t>90</a:t>
                      </a:r>
                    </a:p>
                  </a:txBody>
                  <a:tcPr marL="68580" marR="68580" marT="34290" marB="34290"/>
                </a:tc>
                <a:tc>
                  <a:txBody>
                    <a:bodyPr/>
                    <a:lstStyle/>
                    <a:p>
                      <a:r>
                        <a:rPr sz="1400"/>
                        <a:t>8,910</a:t>
                      </a:r>
                    </a:p>
                  </a:txBody>
                  <a:tcPr marL="68580" marR="68580" marT="34290" marB="34290"/>
                </a:tc>
                <a:tc>
                  <a:txBody>
                    <a:bodyPr/>
                    <a:lstStyle/>
                    <a:p>
                      <a:r>
                        <a:rPr sz="1400"/>
                        <a:t>9,000</a:t>
                      </a:r>
                    </a:p>
                  </a:txBody>
                  <a:tcPr marL="68580" marR="68580" marT="34290" marB="34290"/>
                </a:tc>
                <a:tc>
                  <a:txBody>
                    <a:bodyPr/>
                    <a:lstStyle/>
                    <a:p>
                      <a:r>
                        <a:rPr sz="1400"/>
                        <a:t>1%</a:t>
                      </a:r>
                    </a:p>
                  </a:txBody>
                  <a:tcPr marL="68580" marR="68580" marT="34290" marB="34290">
                    <a:solidFill>
                      <a:srgbClr val="DDF1EC"/>
                    </a:solidFill>
                  </a:tcPr>
                </a:tc>
                <a:extLst>
                  <a:ext uri="{0D108BD9-81ED-4DB2-BD59-A6C34878D82A}">
                    <a16:rowId xmlns:a16="http://schemas.microsoft.com/office/drawing/2014/main" val="10002"/>
                  </a:ext>
                </a:extLst>
              </a:tr>
            </a:tbl>
          </a:graphicData>
        </a:graphic>
      </p:graphicFrame>
      <p:sp>
        <p:nvSpPr>
          <p:cNvPr id="9" name="Rounded Rectangle 8">
            <a:extLst>
              <a:ext uri="{FF2B5EF4-FFF2-40B4-BE49-F238E27FC236}">
                <a16:creationId xmlns:a16="http://schemas.microsoft.com/office/drawing/2014/main" id="{8BB73F14-01EB-4DC2-A3F3-CA724C8760EC}"/>
              </a:ext>
            </a:extLst>
          </p:cNvPr>
          <p:cNvSpPr>
            <a:spLocks noGrp="1"/>
          </p:cNvSpPr>
          <p:nvPr/>
        </p:nvSpPr>
        <p:spPr>
          <a:xfrm>
            <a:off x="6815137" y="1314450"/>
            <a:ext cx="1814513" cy="1528763"/>
          </a:xfrm>
          <a:prstGeom prst="roundRect">
            <a:avLst>
              <a:gd name="adj" fmla="val 3738"/>
            </a:avLst>
          </a:prstGeom>
          <a:solidFill>
            <a:srgbClr val="17324D"/>
          </a:solidFill>
          <a:ln w="0">
            <a:noFill/>
          </a:ln>
        </p:spPr>
      </p:sp>
      <p:sp>
        <p:nvSpPr>
          <p:cNvPr id="10" name="Rectangle 9">
            <a:extLst>
              <a:ext uri="{FF2B5EF4-FFF2-40B4-BE49-F238E27FC236}">
                <a16:creationId xmlns:a16="http://schemas.microsoft.com/office/drawing/2014/main" id="{75B851FE-18D2-434E-8850-8EAE19DBBBF9}"/>
              </a:ext>
            </a:extLst>
          </p:cNvPr>
          <p:cNvSpPr>
            <a:spLocks noGrp="1"/>
          </p:cNvSpPr>
          <p:nvPr/>
        </p:nvSpPr>
        <p:spPr>
          <a:xfrm>
            <a:off x="7015162" y="1457325"/>
            <a:ext cx="1414463" cy="242888"/>
          </a:xfrm>
          <a:prstGeom prst="rect">
            <a:avLst/>
          </a:prstGeom>
          <a:noFill/>
          <a:ln w="0">
            <a:noFill/>
          </a:ln>
        </p:spPr>
        <p:txBody>
          <a:bodyPr anchor="ctr">
            <a:normAutofit/>
          </a:bodyPr>
          <a:lstStyle/>
          <a:p>
            <a:pPr algn="ctr">
              <a:defRPr sz="1275" b="1">
                <a:solidFill>
                  <a:srgbClr val="E3A72F"/>
                </a:solidFill>
                <a:latin typeface="Montserrat"/>
                <a:ea typeface="Montserrat"/>
                <a:cs typeface="Montserrat"/>
              </a:defRPr>
            </a:pPr>
            <a:r>
              <a:rPr sz="956" b="1">
                <a:solidFill>
                  <a:srgbClr val="E3A72F"/>
                </a:solidFill>
                <a:latin typeface="Montserrat"/>
                <a:ea typeface="Montserrat"/>
                <a:cs typeface="Montserrat"/>
              </a:rPr>
              <a:t>PRR</a:t>
            </a:r>
          </a:p>
        </p:txBody>
      </p:sp>
      <p:sp>
        <p:nvSpPr>
          <p:cNvPr id="11" name="Rectangle 10">
            <a:extLst>
              <a:ext uri="{FF2B5EF4-FFF2-40B4-BE49-F238E27FC236}">
                <a16:creationId xmlns:a16="http://schemas.microsoft.com/office/drawing/2014/main" id="{D4A21358-806F-46FA-9FD0-CC05C534D066}"/>
              </a:ext>
            </a:extLst>
          </p:cNvPr>
          <p:cNvSpPr>
            <a:spLocks noGrp="1"/>
          </p:cNvSpPr>
          <p:nvPr/>
        </p:nvSpPr>
        <p:spPr>
          <a:xfrm>
            <a:off x="7015162" y="1785937"/>
            <a:ext cx="1414463" cy="300038"/>
          </a:xfrm>
          <a:prstGeom prst="rect">
            <a:avLst/>
          </a:prstGeom>
          <a:noFill/>
          <a:ln w="0">
            <a:noFill/>
          </a:ln>
        </p:spPr>
        <p:txBody>
          <a:bodyPr anchor="ctr">
            <a:normAutofit lnSpcReduction="10000"/>
          </a:bodyPr>
          <a:lstStyle/>
          <a:p>
            <a:pPr algn="ctr">
              <a:defRPr sz="2025" b="1">
                <a:solidFill>
                  <a:srgbClr val="FFFFFF"/>
                </a:solidFill>
                <a:latin typeface="Montserrat"/>
                <a:ea typeface="Montserrat"/>
                <a:cs typeface="Montserrat"/>
              </a:defRPr>
            </a:pPr>
            <a:r>
              <a:rPr sz="1519" b="1">
                <a:solidFill>
                  <a:srgbClr val="FFFFFF"/>
                </a:solidFill>
                <a:latin typeface="Montserrat"/>
                <a:ea typeface="Montserrat"/>
                <a:cs typeface="Montserrat"/>
              </a:rPr>
              <a:t>5% ÷ 1%</a:t>
            </a:r>
          </a:p>
        </p:txBody>
      </p:sp>
      <p:sp>
        <p:nvSpPr>
          <p:cNvPr id="12" name="Rectangle 11">
            <a:extLst>
              <a:ext uri="{FF2B5EF4-FFF2-40B4-BE49-F238E27FC236}">
                <a16:creationId xmlns:a16="http://schemas.microsoft.com/office/drawing/2014/main" id="{E6239C7B-E85A-4A91-9AF3-F9D21039D17D}"/>
              </a:ext>
            </a:extLst>
          </p:cNvPr>
          <p:cNvSpPr>
            <a:spLocks noGrp="1"/>
          </p:cNvSpPr>
          <p:nvPr/>
        </p:nvSpPr>
        <p:spPr>
          <a:xfrm>
            <a:off x="7015162" y="2157413"/>
            <a:ext cx="1414463" cy="371475"/>
          </a:xfrm>
          <a:prstGeom prst="rect">
            <a:avLst/>
          </a:prstGeom>
          <a:noFill/>
          <a:ln w="0">
            <a:noFill/>
          </a:ln>
        </p:spPr>
        <p:txBody>
          <a:bodyPr anchor="ctr">
            <a:normAutofit fontScale="98148" lnSpcReduction="10000"/>
          </a:bodyPr>
          <a:lstStyle/>
          <a:p>
            <a:pPr algn="ctr">
              <a:defRPr sz="2700" b="1">
                <a:solidFill>
                  <a:srgbClr val="FFFFFF"/>
                </a:solidFill>
                <a:latin typeface="Montserrat"/>
                <a:ea typeface="Montserrat"/>
                <a:cs typeface="Montserrat"/>
              </a:defRPr>
            </a:pPr>
            <a:r>
              <a:rPr sz="2025" b="1">
                <a:solidFill>
                  <a:srgbClr val="FFFFFF"/>
                </a:solidFill>
                <a:latin typeface="Montserrat"/>
                <a:ea typeface="Montserrat"/>
                <a:cs typeface="Montserrat"/>
              </a:rPr>
              <a:t>= 5.0</a:t>
            </a:r>
          </a:p>
        </p:txBody>
      </p:sp>
      <p:sp>
        <p:nvSpPr>
          <p:cNvPr id="13" name="Rounded Rectangle 12">
            <a:extLst>
              <a:ext uri="{FF2B5EF4-FFF2-40B4-BE49-F238E27FC236}">
                <a16:creationId xmlns:a16="http://schemas.microsoft.com/office/drawing/2014/main" id="{9572F583-21F1-44F9-9123-86ABA271BBB2}"/>
              </a:ext>
            </a:extLst>
          </p:cNvPr>
          <p:cNvSpPr>
            <a:spLocks noGrp="1"/>
          </p:cNvSpPr>
          <p:nvPr/>
        </p:nvSpPr>
        <p:spPr>
          <a:xfrm>
            <a:off x="514350" y="3107531"/>
            <a:ext cx="8115300" cy="1157288"/>
          </a:xfrm>
          <a:prstGeom prst="roundRect">
            <a:avLst>
              <a:gd name="adj" fmla="val 4938"/>
            </a:avLst>
          </a:prstGeom>
          <a:solidFill>
            <a:srgbClr val="EDF4F7"/>
          </a:solidFill>
          <a:ln w="0">
            <a:noFill/>
          </a:ln>
        </p:spPr>
      </p:sp>
      <p:sp>
        <p:nvSpPr>
          <p:cNvPr id="14" name="Rectangle 13">
            <a:extLst>
              <a:ext uri="{FF2B5EF4-FFF2-40B4-BE49-F238E27FC236}">
                <a16:creationId xmlns:a16="http://schemas.microsoft.com/office/drawing/2014/main" id="{B1F2F82E-FFB6-4D01-81F6-0FFB5FB09551}"/>
              </a:ext>
            </a:extLst>
          </p:cNvPr>
          <p:cNvSpPr>
            <a:spLocks noGrp="1"/>
          </p:cNvSpPr>
          <p:nvPr/>
        </p:nvSpPr>
        <p:spPr>
          <a:xfrm>
            <a:off x="714375" y="3278981"/>
            <a:ext cx="1785938" cy="200025"/>
          </a:xfrm>
          <a:prstGeom prst="rect">
            <a:avLst/>
          </a:prstGeom>
          <a:noFill/>
          <a:ln w="0">
            <a:noFill/>
          </a:ln>
        </p:spPr>
        <p:txBody>
          <a:bodyPr anchor="ctr">
            <a:normAutofit fontScale="88333" lnSpcReduction="20000"/>
          </a:bodyPr>
          <a:lstStyle/>
          <a:p>
            <a:pPr algn="l">
              <a:defRPr sz="1200" b="1">
                <a:solidFill>
                  <a:srgbClr val="2A8C82"/>
                </a:solidFill>
                <a:latin typeface="Montserrat"/>
                <a:ea typeface="Montserrat"/>
                <a:cs typeface="Montserrat"/>
              </a:defRPr>
            </a:pPr>
            <a:r>
              <a:rPr sz="900" b="1">
                <a:solidFill>
                  <a:srgbClr val="2A8C82"/>
                </a:solidFill>
                <a:latin typeface="Montserrat"/>
                <a:ea typeface="Montserrat"/>
                <a:cs typeface="Montserrat"/>
              </a:rPr>
              <a:t>Question answered</a:t>
            </a:r>
          </a:p>
        </p:txBody>
      </p:sp>
      <p:sp>
        <p:nvSpPr>
          <p:cNvPr id="15" name="Rectangle 14">
            <a:extLst>
              <a:ext uri="{FF2B5EF4-FFF2-40B4-BE49-F238E27FC236}">
                <a16:creationId xmlns:a16="http://schemas.microsoft.com/office/drawing/2014/main" id="{B0A0A785-60E3-42B1-8B94-3FE892676536}"/>
              </a:ext>
            </a:extLst>
          </p:cNvPr>
          <p:cNvSpPr>
            <a:spLocks noGrp="1"/>
          </p:cNvSpPr>
          <p:nvPr/>
        </p:nvSpPr>
        <p:spPr>
          <a:xfrm>
            <a:off x="714375" y="3521869"/>
            <a:ext cx="7400925" cy="485775"/>
          </a:xfrm>
          <a:prstGeom prst="rect">
            <a:avLst/>
          </a:prstGeom>
          <a:noFill/>
          <a:ln w="0">
            <a:noFill/>
          </a:ln>
        </p:spPr>
        <p:txBody>
          <a:bodyPr anchor="ctr">
            <a:normAutofit fontScale="94472" lnSpcReduction="10000"/>
          </a:bodyPr>
          <a:lstStyle/>
          <a:p>
            <a:pPr algn="l">
              <a:defRPr sz="2025" b="1">
                <a:solidFill>
                  <a:srgbClr val="17324D"/>
                </a:solidFill>
                <a:latin typeface="Montserrat"/>
                <a:ea typeface="Montserrat"/>
                <a:cs typeface="Montserrat"/>
              </a:defRPr>
            </a:pPr>
            <a:r>
              <a:rPr sz="1519" b="1">
                <a:solidFill>
                  <a:srgbClr val="17324D"/>
                </a:solidFill>
                <a:latin typeface="Montserrat"/>
                <a:ea typeface="Montserrat"/>
                <a:cs typeface="Montserrat"/>
              </a:rPr>
              <a:t>Does Vaccine A stand out relative to the reporting pattern for established vaccines?</a:t>
            </a:r>
          </a:p>
        </p:txBody>
      </p:sp>
      <p:sp>
        <p:nvSpPr>
          <p:cNvPr id="16" name="Rectangle 15">
            <a:extLst>
              <a:ext uri="{FF2B5EF4-FFF2-40B4-BE49-F238E27FC236}">
                <a16:creationId xmlns:a16="http://schemas.microsoft.com/office/drawing/2014/main" id="{0358F666-94B2-44CB-BEB0-05C3AC648398}"/>
              </a:ext>
            </a:extLst>
          </p:cNvPr>
          <p:cNvSpPr>
            <a:spLocks noGrp="1"/>
          </p:cNvSpPr>
          <p:nvPr/>
        </p:nvSpPr>
        <p:spPr>
          <a:xfrm>
            <a:off x="714375" y="4043363"/>
            <a:ext cx="7400925" cy="171450"/>
          </a:xfrm>
          <a:prstGeom prst="rect">
            <a:avLst/>
          </a:prstGeom>
          <a:noFill/>
          <a:ln w="0">
            <a:noFill/>
          </a:ln>
        </p:spPr>
        <p:txBody>
          <a:bodyPr anchor="ctr">
            <a:normAutofit fontScale="78214" lnSpcReduction="20000"/>
          </a:bodyPr>
          <a:lstStyle/>
          <a:p>
            <a:pPr algn="l">
              <a:defRPr sz="1050" b="0">
                <a:solidFill>
                  <a:srgbClr val="536373"/>
                </a:solidFill>
                <a:latin typeface="Montserrat"/>
                <a:ea typeface="Montserrat"/>
                <a:cs typeface="Montserrat"/>
              </a:defRPr>
            </a:pPr>
            <a:r>
              <a:rPr sz="788">
                <a:solidFill>
                  <a:srgbClr val="536373"/>
                </a:solidFill>
                <a:latin typeface="Montserrat"/>
                <a:ea typeface="Montserrat"/>
                <a:cs typeface="Montserrat"/>
              </a:rPr>
              <a:t>The cases here are reports; 5% is not the risk among all vaccinated people.</a:t>
            </a:r>
          </a:p>
        </p:txBody>
      </p:sp>
    </p:spTree>
    <p:extLst>
      <p:ext uri="{BB962C8B-B14F-4D97-AF65-F5344CB8AC3E}">
        <p14:creationId xmlns:p14="http://schemas.microsoft.com/office/powerpoint/2010/main" val="1049206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935204-A3D0-436F-A967-4925BF8448C5}"/>
              </a:ext>
            </a:extLst>
          </p:cNvPr>
          <p:cNvSpPr>
            <a:spLocks noGrp="1"/>
          </p:cNvSpPr>
          <p:nvPr/>
        </p:nvSpPr>
        <p:spPr>
          <a:xfrm>
            <a:off x="0" y="0"/>
            <a:ext cx="9144000" cy="128588"/>
          </a:xfrm>
          <a:prstGeom prst="rect">
            <a:avLst/>
          </a:prstGeom>
          <a:solidFill>
            <a:srgbClr val="2A8C82"/>
          </a:solidFill>
          <a:ln w="0">
            <a:noFill/>
          </a:ln>
        </p:spPr>
      </p:sp>
      <p:sp>
        <p:nvSpPr>
          <p:cNvPr id="2" name="Rectangle 1">
            <a:extLst>
              <a:ext uri="{FF2B5EF4-FFF2-40B4-BE49-F238E27FC236}">
                <a16:creationId xmlns:a16="http://schemas.microsoft.com/office/drawing/2014/main" id="{53A39450-C6ED-469B-A6D5-C824598D59F9}"/>
              </a:ext>
            </a:extLst>
          </p:cNvPr>
          <p:cNvSpPr>
            <a:spLocks noGrp="1"/>
          </p:cNvSpPr>
          <p:nvPr/>
        </p:nvSpPr>
        <p:spPr>
          <a:xfrm>
            <a:off x="514350" y="321469"/>
            <a:ext cx="6429375" cy="185738"/>
          </a:xfrm>
          <a:prstGeom prst="rect">
            <a:avLst/>
          </a:prstGeom>
          <a:noFill/>
          <a:ln w="0">
            <a:noFill/>
          </a:ln>
        </p:spPr>
        <p:txBody>
          <a:bodyPr anchor="ctr">
            <a:normAutofit fontScale="90119" lnSpcReduction="20000"/>
          </a:bodyPr>
          <a:lstStyle/>
          <a:p>
            <a:pPr algn="l">
              <a:defRPr sz="1050" b="1">
                <a:solidFill>
                  <a:srgbClr val="2A8C82"/>
                </a:solidFill>
                <a:latin typeface="Montserrat"/>
                <a:ea typeface="Montserrat"/>
                <a:cs typeface="Montserrat"/>
              </a:defRPr>
            </a:pPr>
            <a:r>
              <a:rPr sz="788" b="1">
                <a:solidFill>
                  <a:srgbClr val="2A8C82"/>
                </a:solidFill>
                <a:latin typeface="Montserrat"/>
                <a:ea typeface="Montserrat"/>
                <a:cs typeface="Montserrat"/>
              </a:rPr>
              <a:t>SAME 5% FOR VACCINE A</a:t>
            </a:r>
          </a:p>
        </p:txBody>
      </p:sp>
      <p:sp>
        <p:nvSpPr>
          <p:cNvPr id="3" name="Rectangle 2">
            <a:extLst>
              <a:ext uri="{FF2B5EF4-FFF2-40B4-BE49-F238E27FC236}">
                <a16:creationId xmlns:a16="http://schemas.microsoft.com/office/drawing/2014/main" id="{6A469094-2430-4A0E-9D8E-9C3DB3559E2C}"/>
              </a:ext>
            </a:extLst>
          </p:cNvPr>
          <p:cNvSpPr>
            <a:spLocks noGrp="1"/>
          </p:cNvSpPr>
          <p:nvPr/>
        </p:nvSpPr>
        <p:spPr>
          <a:xfrm>
            <a:off x="514350" y="542925"/>
            <a:ext cx="8001000" cy="464344"/>
          </a:xfrm>
          <a:prstGeom prst="rect">
            <a:avLst/>
          </a:prstGeom>
          <a:noFill/>
          <a:ln w="0">
            <a:noFill/>
          </a:ln>
        </p:spPr>
        <p:txBody>
          <a:bodyPr anchor="ctr">
            <a:normAutofit/>
          </a:bodyPr>
          <a:lstStyle/>
          <a:p>
            <a:pPr algn="l">
              <a:defRPr sz="2550" b="1">
                <a:solidFill>
                  <a:srgbClr val="17324D"/>
                </a:solidFill>
                <a:latin typeface="Montserrat"/>
                <a:ea typeface="Montserrat"/>
                <a:cs typeface="Montserrat"/>
              </a:defRPr>
            </a:pPr>
            <a:r>
              <a:rPr sz="1913" b="1">
                <a:solidFill>
                  <a:srgbClr val="17324D"/>
                </a:solidFill>
                <a:latin typeface="Montserrat"/>
                <a:ea typeface="Montserrat"/>
                <a:cs typeface="Montserrat"/>
              </a:rPr>
              <a:t>Scenario 2: another new vaccine dominates “everyone else”</a:t>
            </a:r>
          </a:p>
        </p:txBody>
      </p:sp>
      <p:sp>
        <p:nvSpPr>
          <p:cNvPr id="4" name="Rectangle 3">
            <a:extLst>
              <a:ext uri="{FF2B5EF4-FFF2-40B4-BE49-F238E27FC236}">
                <a16:creationId xmlns:a16="http://schemas.microsoft.com/office/drawing/2014/main" id="{C9FFF1E7-425B-42EE-94AB-2DB46464A1B5}"/>
              </a:ext>
            </a:extLst>
          </p:cNvPr>
          <p:cNvSpPr>
            <a:spLocks noGrp="1"/>
          </p:cNvSpPr>
          <p:nvPr/>
        </p:nvSpPr>
        <p:spPr>
          <a:xfrm>
            <a:off x="514350" y="4714875"/>
            <a:ext cx="8115300" cy="14288"/>
          </a:xfrm>
          <a:prstGeom prst="rect">
            <a:avLst/>
          </a:prstGeom>
          <a:solidFill>
            <a:srgbClr val="C9D6DE"/>
          </a:solidFill>
          <a:ln w="0">
            <a:noFill/>
          </a:ln>
        </p:spPr>
      </p:sp>
      <p:sp>
        <p:nvSpPr>
          <p:cNvPr id="5" name="Rectangle 4">
            <a:extLst>
              <a:ext uri="{FF2B5EF4-FFF2-40B4-BE49-F238E27FC236}">
                <a16:creationId xmlns:a16="http://schemas.microsoft.com/office/drawing/2014/main" id="{CBC48A37-E77B-4354-AB8B-C5912A68434D}"/>
              </a:ext>
            </a:extLst>
          </p:cNvPr>
          <p:cNvSpPr>
            <a:spLocks noGrp="1"/>
          </p:cNvSpPr>
          <p:nvPr/>
        </p:nvSpPr>
        <p:spPr>
          <a:xfrm>
            <a:off x="514350" y="4786313"/>
            <a:ext cx="3571875" cy="171450"/>
          </a:xfrm>
          <a:prstGeom prst="rect">
            <a:avLst/>
          </a:prstGeom>
          <a:noFill/>
          <a:ln w="0">
            <a:noFill/>
          </a:ln>
        </p:spPr>
        <p:txBody>
          <a:bodyPr anchor="ctr">
            <a:normAutofit fontScale="92500" lnSpcReduction="20000"/>
          </a:bodyPr>
          <a:lstStyle/>
          <a:p>
            <a:pPr algn="l">
              <a:defRPr sz="825" b="0">
                <a:solidFill>
                  <a:srgbClr val="536373"/>
                </a:solidFill>
                <a:latin typeface="Montserrat"/>
                <a:ea typeface="Montserrat"/>
                <a:cs typeface="Montserrat"/>
              </a:defRPr>
            </a:pPr>
            <a:r>
              <a:rPr sz="619">
                <a:solidFill>
                  <a:srgbClr val="536373"/>
                </a:solidFill>
                <a:latin typeface="Montserrat"/>
                <a:ea typeface="Montserrat"/>
                <a:cs typeface="Montserrat"/>
              </a:rPr>
              <a:t>STAT UN 1001 · Two-way tables</a:t>
            </a:r>
          </a:p>
        </p:txBody>
      </p:sp>
      <p:sp>
        <p:nvSpPr>
          <p:cNvPr id="6" name="Rectangle 5">
            <a:extLst>
              <a:ext uri="{FF2B5EF4-FFF2-40B4-BE49-F238E27FC236}">
                <a16:creationId xmlns:a16="http://schemas.microsoft.com/office/drawing/2014/main" id="{A0D1942D-495F-480A-A9AF-FA8AD94358FC}"/>
              </a:ext>
            </a:extLst>
          </p:cNvPr>
          <p:cNvSpPr>
            <a:spLocks noGrp="1"/>
          </p:cNvSpPr>
          <p:nvPr/>
        </p:nvSpPr>
        <p:spPr>
          <a:xfrm>
            <a:off x="8322469" y="4786313"/>
            <a:ext cx="300038" cy="171450"/>
          </a:xfrm>
          <a:prstGeom prst="rect">
            <a:avLst/>
          </a:prstGeom>
          <a:noFill/>
          <a:ln w="0">
            <a:noFill/>
          </a:ln>
        </p:spPr>
        <p:txBody>
          <a:bodyPr anchor="ctr">
            <a:normAutofit fontScale="92500" lnSpcReduction="20000"/>
          </a:bodyPr>
          <a:lstStyle/>
          <a:p>
            <a:pPr algn="r">
              <a:defRPr sz="825" b="1">
                <a:solidFill>
                  <a:srgbClr val="536373"/>
                </a:solidFill>
                <a:latin typeface="Montserrat"/>
                <a:ea typeface="Montserrat"/>
                <a:cs typeface="Montserrat"/>
              </a:defRPr>
            </a:pPr>
            <a:r>
              <a:rPr sz="619" b="1">
                <a:solidFill>
                  <a:srgbClr val="536373"/>
                </a:solidFill>
                <a:latin typeface="Montserrat"/>
                <a:ea typeface="Montserrat"/>
                <a:cs typeface="Montserrat"/>
              </a:rPr>
              <a:t>3</a:t>
            </a:r>
          </a:p>
        </p:txBody>
      </p:sp>
      <p:graphicFrame>
        <p:nvGraphicFramePr>
          <p:cNvPr id="22" name="Table 21"/>
          <p:cNvGraphicFramePr/>
          <p:nvPr/>
        </p:nvGraphicFramePr>
        <p:xfrm>
          <a:off x="514350" y="1185862"/>
          <a:ext cx="6072189" cy="1963341"/>
        </p:xfrm>
        <a:graphic>
          <a:graphicData uri="http://schemas.openxmlformats.org/drawingml/2006/table">
            <a:tbl>
              <a:tblPr/>
              <a:tblGrid>
                <a:gridCol w="1685925">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1357313">
                  <a:extLst>
                    <a:ext uri="{9D8B030D-6E8A-4147-A177-3AD203B41FA5}">
                      <a16:colId xmlns:a16="http://schemas.microsoft.com/office/drawing/2014/main" val="20002"/>
                    </a:ext>
                  </a:extLst>
                </a:gridCol>
                <a:gridCol w="928688">
                  <a:extLst>
                    <a:ext uri="{9D8B030D-6E8A-4147-A177-3AD203B41FA5}">
                      <a16:colId xmlns:a16="http://schemas.microsoft.com/office/drawing/2014/main" val="20003"/>
                    </a:ext>
                  </a:extLst>
                </a:gridCol>
                <a:gridCol w="1171575">
                  <a:extLst>
                    <a:ext uri="{9D8B030D-6E8A-4147-A177-3AD203B41FA5}">
                      <a16:colId xmlns:a16="http://schemas.microsoft.com/office/drawing/2014/main" val="20004"/>
                    </a:ext>
                  </a:extLst>
                </a:gridCol>
              </a:tblGrid>
              <a:tr h="489347">
                <a:tc>
                  <a:txBody>
                    <a:bodyPr/>
                    <a:lstStyle/>
                    <a:p>
                      <a:r>
                        <a:rPr sz="1400"/>
                        <a:t>Vaccine group</a:t>
                      </a:r>
                    </a:p>
                  </a:txBody>
                  <a:tcPr marL="68580" marR="68580" marT="34290" marB="34290"/>
                </a:tc>
                <a:tc>
                  <a:txBody>
                    <a:bodyPr/>
                    <a:lstStyle/>
                    <a:p>
                      <a:r>
                        <a:rPr sz="1400"/>
                        <a:t>Event X</a:t>
                      </a:r>
                    </a:p>
                  </a:txBody>
                  <a:tcPr marL="68580" marR="68580" marT="34290" marB="34290"/>
                </a:tc>
                <a:tc>
                  <a:txBody>
                    <a:bodyPr/>
                    <a:lstStyle/>
                    <a:p>
                      <a:r>
                        <a:rPr sz="1400"/>
                        <a:t>Other events</a:t>
                      </a:r>
                    </a:p>
                  </a:txBody>
                  <a:tcPr marL="68580" marR="68580" marT="34290" marB="34290"/>
                </a:tc>
                <a:tc>
                  <a:txBody>
                    <a:bodyPr/>
                    <a:lstStyle/>
                    <a:p>
                      <a:r>
                        <a:rPr sz="1400"/>
                        <a:t>Total</a:t>
                      </a:r>
                    </a:p>
                  </a:txBody>
                  <a:tcPr marL="68580" marR="68580" marT="34290" marB="34290"/>
                </a:tc>
                <a:tc>
                  <a:txBody>
                    <a:bodyPr/>
                    <a:lstStyle/>
                    <a:p>
                      <a:r>
                        <a:rPr sz="1400"/>
                        <a:t>Event X proportion</a:t>
                      </a:r>
                    </a:p>
                  </a:txBody>
                  <a:tcPr marL="68580" marR="68580" marT="34290" marB="34290"/>
                </a:tc>
                <a:extLst>
                  <a:ext uri="{0D108BD9-81ED-4DB2-BD59-A6C34878D82A}">
                    <a16:rowId xmlns:a16="http://schemas.microsoft.com/office/drawing/2014/main" val="10000"/>
                  </a:ext>
                </a:extLst>
              </a:tr>
              <a:tr h="489347">
                <a:tc>
                  <a:txBody>
                    <a:bodyPr/>
                    <a:lstStyle/>
                    <a:p>
                      <a:r>
                        <a:rPr sz="800" b="1">
                          <a:solidFill>
                            <a:srgbClr val="17212B"/>
                          </a:solidFill>
                          <a:latin typeface="Montserrat"/>
                          <a:ea typeface="Montserrat"/>
                          <a:cs typeface="Montserrat"/>
                        </a:rPr>
                        <a:t>Vaccine A</a:t>
                      </a:r>
                    </a:p>
                  </a:txBody>
                  <a:tcPr marL="57150" marR="57150" marT="35719" marB="35719">
                    <a:solidFill>
                      <a:srgbClr val="EDF4F7"/>
                    </a:solidFill>
                  </a:tcPr>
                </a:tc>
                <a:tc>
                  <a:txBody>
                    <a:bodyPr/>
                    <a:lstStyle/>
                    <a:p>
                      <a:r>
                        <a:rPr sz="1400"/>
                        <a:t>250</a:t>
                      </a:r>
                    </a:p>
                  </a:txBody>
                  <a:tcPr marL="68580" marR="68580" marT="34290" marB="34290"/>
                </a:tc>
                <a:tc>
                  <a:txBody>
                    <a:bodyPr/>
                    <a:lstStyle/>
                    <a:p>
                      <a:r>
                        <a:rPr sz="1400"/>
                        <a:t>4,750</a:t>
                      </a:r>
                    </a:p>
                  </a:txBody>
                  <a:tcPr marL="68580" marR="68580" marT="34290" marB="34290"/>
                </a:tc>
                <a:tc>
                  <a:txBody>
                    <a:bodyPr/>
                    <a:lstStyle/>
                    <a:p>
                      <a:r>
                        <a:rPr sz="1400"/>
                        <a:t>5,000</a:t>
                      </a:r>
                    </a:p>
                  </a:txBody>
                  <a:tcPr marL="68580" marR="68580" marT="34290" marB="34290"/>
                </a:tc>
                <a:tc>
                  <a:txBody>
                    <a:bodyPr/>
                    <a:lstStyle/>
                    <a:p>
                      <a:r>
                        <a:rPr sz="1400"/>
                        <a:t>5%</a:t>
                      </a:r>
                    </a:p>
                  </a:txBody>
                  <a:tcPr marL="68580" marR="68580" marT="34290" marB="34290">
                    <a:solidFill>
                      <a:srgbClr val="FFF8E8"/>
                    </a:solidFill>
                  </a:tcPr>
                </a:tc>
                <a:extLst>
                  <a:ext uri="{0D108BD9-81ED-4DB2-BD59-A6C34878D82A}">
                    <a16:rowId xmlns:a16="http://schemas.microsoft.com/office/drawing/2014/main" val="10001"/>
                  </a:ext>
                </a:extLst>
              </a:tr>
              <a:tr h="489347">
                <a:tc>
                  <a:txBody>
                    <a:bodyPr/>
                    <a:lstStyle/>
                    <a:p>
                      <a:r>
                        <a:rPr sz="800" b="1">
                          <a:solidFill>
                            <a:srgbClr val="17212B"/>
                          </a:solidFill>
                          <a:latin typeface="Montserrat"/>
                          <a:ea typeface="Montserrat"/>
                          <a:cs typeface="Montserrat"/>
                        </a:rPr>
                        <a:t>New Vaccine A2</a:t>
                      </a:r>
                    </a:p>
                  </a:txBody>
                  <a:tcPr marL="57150" marR="57150" marT="35719" marB="35719">
                    <a:solidFill>
                      <a:srgbClr val="EDF4F7"/>
                    </a:solidFill>
                  </a:tcPr>
                </a:tc>
                <a:tc>
                  <a:txBody>
                    <a:bodyPr/>
                    <a:lstStyle/>
                    <a:p>
                      <a:r>
                        <a:rPr sz="1400"/>
                        <a:t>225</a:t>
                      </a:r>
                    </a:p>
                  </a:txBody>
                  <a:tcPr marL="68580" marR="68580" marT="34290" marB="34290"/>
                </a:tc>
                <a:tc>
                  <a:txBody>
                    <a:bodyPr/>
                    <a:lstStyle/>
                    <a:p>
                      <a:r>
                        <a:rPr sz="1400"/>
                        <a:t>4,275</a:t>
                      </a:r>
                    </a:p>
                  </a:txBody>
                  <a:tcPr marL="68580" marR="68580" marT="34290" marB="34290"/>
                </a:tc>
                <a:tc>
                  <a:txBody>
                    <a:bodyPr/>
                    <a:lstStyle/>
                    <a:p>
                      <a:r>
                        <a:rPr sz="1400"/>
                        <a:t>4,500</a:t>
                      </a:r>
                    </a:p>
                  </a:txBody>
                  <a:tcPr marL="68580" marR="68580" marT="34290" marB="34290"/>
                </a:tc>
                <a:tc>
                  <a:txBody>
                    <a:bodyPr/>
                    <a:lstStyle/>
                    <a:p>
                      <a:r>
                        <a:rPr sz="1400"/>
                        <a:t>5%</a:t>
                      </a:r>
                    </a:p>
                  </a:txBody>
                  <a:tcPr marL="68580" marR="68580" marT="34290" marB="34290">
                    <a:solidFill>
                      <a:srgbClr val="FFF8E8"/>
                    </a:solidFill>
                  </a:tcPr>
                </a:tc>
                <a:extLst>
                  <a:ext uri="{0D108BD9-81ED-4DB2-BD59-A6C34878D82A}">
                    <a16:rowId xmlns:a16="http://schemas.microsoft.com/office/drawing/2014/main" val="10002"/>
                  </a:ext>
                </a:extLst>
              </a:tr>
              <a:tr h="489347">
                <a:tc>
                  <a:txBody>
                    <a:bodyPr/>
                    <a:lstStyle/>
                    <a:p>
                      <a:r>
                        <a:rPr sz="800" b="1">
                          <a:solidFill>
                            <a:srgbClr val="17212B"/>
                          </a:solidFill>
                          <a:latin typeface="Montserrat"/>
                          <a:ea typeface="Montserrat"/>
                          <a:cs typeface="Montserrat"/>
                        </a:rPr>
                        <a:t>Older vaccines</a:t>
                      </a:r>
                    </a:p>
                  </a:txBody>
                  <a:tcPr marL="57150" marR="57150" marT="35719" marB="35719">
                    <a:solidFill>
                      <a:srgbClr val="EDF4F7"/>
                    </a:solidFill>
                  </a:tcPr>
                </a:tc>
                <a:tc>
                  <a:txBody>
                    <a:bodyPr/>
                    <a:lstStyle/>
                    <a:p>
                      <a:r>
                        <a:rPr sz="1400"/>
                        <a:t>5</a:t>
                      </a:r>
                    </a:p>
                  </a:txBody>
                  <a:tcPr marL="68580" marR="68580" marT="34290" marB="34290"/>
                </a:tc>
                <a:tc>
                  <a:txBody>
                    <a:bodyPr/>
                    <a:lstStyle/>
                    <a:p>
                      <a:r>
                        <a:rPr sz="1400"/>
                        <a:t>495</a:t>
                      </a:r>
                    </a:p>
                  </a:txBody>
                  <a:tcPr marL="68580" marR="68580" marT="34290" marB="34290"/>
                </a:tc>
                <a:tc>
                  <a:txBody>
                    <a:bodyPr/>
                    <a:lstStyle/>
                    <a:p>
                      <a:r>
                        <a:rPr sz="1400"/>
                        <a:t>500</a:t>
                      </a:r>
                    </a:p>
                  </a:txBody>
                  <a:tcPr marL="68580" marR="68580" marT="34290" marB="34290"/>
                </a:tc>
                <a:tc>
                  <a:txBody>
                    <a:bodyPr/>
                    <a:lstStyle/>
                    <a:p>
                      <a:r>
                        <a:rPr sz="1400"/>
                        <a:t>1%</a:t>
                      </a:r>
                    </a:p>
                  </a:txBody>
                  <a:tcPr marL="68580" marR="68580" marT="34290" marB="34290">
                    <a:solidFill>
                      <a:srgbClr val="DDF1EC"/>
                    </a:solidFill>
                  </a:tcPr>
                </a:tc>
                <a:extLst>
                  <a:ext uri="{0D108BD9-81ED-4DB2-BD59-A6C34878D82A}">
                    <a16:rowId xmlns:a16="http://schemas.microsoft.com/office/drawing/2014/main" val="10003"/>
                  </a:ext>
                </a:extLst>
              </a:tr>
            </a:tbl>
          </a:graphicData>
        </a:graphic>
      </p:graphicFrame>
      <p:sp>
        <p:nvSpPr>
          <p:cNvPr id="8" name="Rounded Rectangle 7">
            <a:extLst>
              <a:ext uri="{FF2B5EF4-FFF2-40B4-BE49-F238E27FC236}">
                <a16:creationId xmlns:a16="http://schemas.microsoft.com/office/drawing/2014/main" id="{3B28EFB1-C10A-49F5-BCCA-D8B84CD866E7}"/>
              </a:ext>
            </a:extLst>
          </p:cNvPr>
          <p:cNvSpPr>
            <a:spLocks noGrp="1"/>
          </p:cNvSpPr>
          <p:nvPr/>
        </p:nvSpPr>
        <p:spPr>
          <a:xfrm>
            <a:off x="6815137" y="1185862"/>
            <a:ext cx="1814513" cy="1957388"/>
          </a:xfrm>
          <a:prstGeom prst="roundRect">
            <a:avLst>
              <a:gd name="adj" fmla="val 3150"/>
            </a:avLst>
          </a:prstGeom>
          <a:solidFill>
            <a:srgbClr val="17324D"/>
          </a:solidFill>
          <a:ln w="0">
            <a:noFill/>
          </a:ln>
        </p:spPr>
      </p:sp>
      <p:sp>
        <p:nvSpPr>
          <p:cNvPr id="9" name="Rectangle 8">
            <a:extLst>
              <a:ext uri="{FF2B5EF4-FFF2-40B4-BE49-F238E27FC236}">
                <a16:creationId xmlns:a16="http://schemas.microsoft.com/office/drawing/2014/main" id="{E203B7FF-8860-4AC0-BB73-757DF0B569BD}"/>
              </a:ext>
            </a:extLst>
          </p:cNvPr>
          <p:cNvSpPr>
            <a:spLocks noGrp="1"/>
          </p:cNvSpPr>
          <p:nvPr/>
        </p:nvSpPr>
        <p:spPr>
          <a:xfrm>
            <a:off x="6972300" y="1357313"/>
            <a:ext cx="1500188" cy="228600"/>
          </a:xfrm>
          <a:prstGeom prst="rect">
            <a:avLst/>
          </a:prstGeom>
          <a:noFill/>
          <a:ln w="0">
            <a:noFill/>
          </a:ln>
        </p:spPr>
        <p:txBody>
          <a:bodyPr anchor="ctr">
            <a:normAutofit lnSpcReduction="10000"/>
          </a:bodyPr>
          <a:lstStyle/>
          <a:p>
            <a:pPr algn="ctr">
              <a:defRPr sz="1275" b="1">
                <a:solidFill>
                  <a:srgbClr val="E3A72F"/>
                </a:solidFill>
                <a:latin typeface="Montserrat"/>
                <a:ea typeface="Montserrat"/>
                <a:cs typeface="Montserrat"/>
              </a:defRPr>
            </a:pPr>
            <a:r>
              <a:rPr sz="956" b="1">
                <a:solidFill>
                  <a:srgbClr val="E3A72F"/>
                </a:solidFill>
                <a:latin typeface="Montserrat"/>
                <a:ea typeface="Montserrat"/>
                <a:cs typeface="Montserrat"/>
              </a:rPr>
              <a:t>“Everyone else”</a:t>
            </a:r>
          </a:p>
        </p:txBody>
      </p:sp>
      <p:sp>
        <p:nvSpPr>
          <p:cNvPr id="10" name="Rectangle 9">
            <a:extLst>
              <a:ext uri="{FF2B5EF4-FFF2-40B4-BE49-F238E27FC236}">
                <a16:creationId xmlns:a16="http://schemas.microsoft.com/office/drawing/2014/main" id="{B6E1ADB9-D38E-4EFA-B924-6C1508BBC20C}"/>
              </a:ext>
            </a:extLst>
          </p:cNvPr>
          <p:cNvSpPr>
            <a:spLocks noGrp="1"/>
          </p:cNvSpPr>
          <p:nvPr/>
        </p:nvSpPr>
        <p:spPr>
          <a:xfrm>
            <a:off x="7015162" y="1628775"/>
            <a:ext cx="1414463" cy="742950"/>
          </a:xfrm>
          <a:prstGeom prst="rect">
            <a:avLst/>
          </a:prstGeom>
          <a:noFill/>
          <a:ln w="0">
            <a:noFill/>
          </a:ln>
        </p:spPr>
        <p:txBody>
          <a:bodyPr anchor="ctr">
            <a:normAutofit/>
          </a:bodyPr>
          <a:lstStyle/>
          <a:p>
            <a:pPr algn="ctr">
              <a:defRPr sz="1500" b="0">
                <a:solidFill>
                  <a:srgbClr val="FFFFFF"/>
                </a:solidFill>
                <a:latin typeface="Montserrat"/>
                <a:ea typeface="Montserrat"/>
                <a:cs typeface="Montserrat"/>
              </a:defRPr>
            </a:pPr>
            <a:r>
              <a:rPr sz="1125">
                <a:solidFill>
                  <a:srgbClr val="FFFFFF"/>
                </a:solidFill>
                <a:latin typeface="Montserrat"/>
                <a:ea typeface="Montserrat"/>
                <a:cs typeface="Montserrat"/>
              </a:rPr>
              <a:t>(225 + 5)</a:t>
            </a:r>
          </a:p>
          <a:p>
            <a:pPr algn="ctr">
              <a:defRPr sz="1500" b="0">
                <a:solidFill>
                  <a:srgbClr val="FFFFFF"/>
                </a:solidFill>
                <a:latin typeface="Montserrat"/>
                <a:ea typeface="Montserrat"/>
                <a:cs typeface="Montserrat"/>
              </a:defRPr>
            </a:pPr>
            <a:r>
              <a:rPr sz="1125">
                <a:solidFill>
                  <a:srgbClr val="FFFFFF"/>
                </a:solidFill>
                <a:latin typeface="Montserrat"/>
                <a:ea typeface="Montserrat"/>
                <a:cs typeface="Montserrat"/>
              </a:rPr>
              <a:t>────────</a:t>
            </a:r>
          </a:p>
          <a:p>
            <a:pPr algn="ctr">
              <a:defRPr sz="1500" b="0">
                <a:solidFill>
                  <a:srgbClr val="FFFFFF"/>
                </a:solidFill>
                <a:latin typeface="Montserrat"/>
                <a:ea typeface="Montserrat"/>
                <a:cs typeface="Montserrat"/>
              </a:defRPr>
            </a:pPr>
            <a:r>
              <a:rPr sz="1125">
                <a:solidFill>
                  <a:srgbClr val="FFFFFF"/>
                </a:solidFill>
                <a:latin typeface="Montserrat"/>
                <a:ea typeface="Montserrat"/>
                <a:cs typeface="Montserrat"/>
              </a:rPr>
              <a:t>(4,500 + 500)</a:t>
            </a:r>
          </a:p>
        </p:txBody>
      </p:sp>
      <p:sp>
        <p:nvSpPr>
          <p:cNvPr id="11" name="Rectangle 10">
            <a:extLst>
              <a:ext uri="{FF2B5EF4-FFF2-40B4-BE49-F238E27FC236}">
                <a16:creationId xmlns:a16="http://schemas.microsoft.com/office/drawing/2014/main" id="{CB4FEA8A-30E1-41F6-A047-18E8297DFE8C}"/>
              </a:ext>
            </a:extLst>
          </p:cNvPr>
          <p:cNvSpPr>
            <a:spLocks noGrp="1"/>
          </p:cNvSpPr>
          <p:nvPr/>
        </p:nvSpPr>
        <p:spPr>
          <a:xfrm>
            <a:off x="7015162" y="2400300"/>
            <a:ext cx="1414463" cy="257175"/>
          </a:xfrm>
          <a:prstGeom prst="rect">
            <a:avLst/>
          </a:prstGeom>
          <a:noFill/>
          <a:ln w="0">
            <a:noFill/>
          </a:ln>
        </p:spPr>
        <p:txBody>
          <a:bodyPr anchor="ctr">
            <a:normAutofit fontScale="88000" lnSpcReduction="10000"/>
          </a:bodyPr>
          <a:lstStyle/>
          <a:p>
            <a:pPr algn="ctr">
              <a:defRPr sz="1875" b="1">
                <a:solidFill>
                  <a:srgbClr val="FFFFFF"/>
                </a:solidFill>
                <a:latin typeface="Montserrat"/>
                <a:ea typeface="Montserrat"/>
                <a:cs typeface="Montserrat"/>
              </a:defRPr>
            </a:pPr>
            <a:r>
              <a:rPr sz="1406" b="1">
                <a:solidFill>
                  <a:srgbClr val="FFFFFF"/>
                </a:solidFill>
                <a:latin typeface="Montserrat"/>
                <a:ea typeface="Montserrat"/>
                <a:cs typeface="Montserrat"/>
              </a:rPr>
              <a:t>= 4.6%</a:t>
            </a:r>
          </a:p>
        </p:txBody>
      </p:sp>
      <p:sp>
        <p:nvSpPr>
          <p:cNvPr id="12" name="Rectangle 11">
            <a:extLst>
              <a:ext uri="{FF2B5EF4-FFF2-40B4-BE49-F238E27FC236}">
                <a16:creationId xmlns:a16="http://schemas.microsoft.com/office/drawing/2014/main" id="{341A3FDB-5A01-46A0-B786-396C23A56490}"/>
              </a:ext>
            </a:extLst>
          </p:cNvPr>
          <p:cNvSpPr>
            <a:spLocks noGrp="1"/>
          </p:cNvSpPr>
          <p:nvPr/>
        </p:nvSpPr>
        <p:spPr>
          <a:xfrm>
            <a:off x="6972300" y="2728913"/>
            <a:ext cx="1500188" cy="257175"/>
          </a:xfrm>
          <a:prstGeom prst="rect">
            <a:avLst/>
          </a:prstGeom>
          <a:noFill/>
          <a:ln w="0">
            <a:noFill/>
          </a:ln>
        </p:spPr>
        <p:txBody>
          <a:bodyPr anchor="ctr">
            <a:normAutofit fontScale="82762" lnSpcReduction="10000"/>
          </a:bodyPr>
          <a:lstStyle/>
          <a:p>
            <a:pPr algn="ctr">
              <a:defRPr sz="1275" b="1">
                <a:solidFill>
                  <a:srgbClr val="FFFFFF"/>
                </a:solidFill>
                <a:latin typeface="Montserrat"/>
                <a:ea typeface="Montserrat"/>
                <a:cs typeface="Montserrat"/>
              </a:defRPr>
            </a:pPr>
            <a:r>
              <a:rPr sz="956" b="1">
                <a:solidFill>
                  <a:srgbClr val="FFFFFF"/>
                </a:solidFill>
                <a:latin typeface="Montserrat"/>
                <a:ea typeface="Montserrat"/>
                <a:cs typeface="Montserrat"/>
              </a:rPr>
              <a:t>PRR = 5% ÷ 4.6% = 1.09</a:t>
            </a:r>
          </a:p>
        </p:txBody>
      </p:sp>
      <p:sp>
        <p:nvSpPr>
          <p:cNvPr id="13" name="Rounded Rectangle 12">
            <a:extLst>
              <a:ext uri="{FF2B5EF4-FFF2-40B4-BE49-F238E27FC236}">
                <a16:creationId xmlns:a16="http://schemas.microsoft.com/office/drawing/2014/main" id="{15CAEA58-5851-4473-8850-F38E12C84ED0}"/>
              </a:ext>
            </a:extLst>
          </p:cNvPr>
          <p:cNvSpPr>
            <a:spLocks noGrp="1"/>
          </p:cNvSpPr>
          <p:nvPr/>
        </p:nvSpPr>
        <p:spPr>
          <a:xfrm>
            <a:off x="514350" y="3386138"/>
            <a:ext cx="8115300" cy="942975"/>
          </a:xfrm>
          <a:prstGeom prst="roundRect">
            <a:avLst>
              <a:gd name="adj" fmla="val 6061"/>
            </a:avLst>
          </a:prstGeom>
          <a:solidFill>
            <a:srgbClr val="FFF8E8"/>
          </a:solidFill>
          <a:ln w="0">
            <a:noFill/>
          </a:ln>
        </p:spPr>
      </p:sp>
      <p:sp>
        <p:nvSpPr>
          <p:cNvPr id="14" name="Rectangle 13">
            <a:extLst>
              <a:ext uri="{FF2B5EF4-FFF2-40B4-BE49-F238E27FC236}">
                <a16:creationId xmlns:a16="http://schemas.microsoft.com/office/drawing/2014/main" id="{0E34000D-C5A5-4FE9-82B8-6CCE35F63ED7}"/>
              </a:ext>
            </a:extLst>
          </p:cNvPr>
          <p:cNvSpPr>
            <a:spLocks noGrp="1"/>
          </p:cNvSpPr>
          <p:nvPr/>
        </p:nvSpPr>
        <p:spPr>
          <a:xfrm>
            <a:off x="714375" y="3529012"/>
            <a:ext cx="1500188" cy="185738"/>
          </a:xfrm>
          <a:prstGeom prst="rect">
            <a:avLst/>
          </a:prstGeom>
          <a:noFill/>
          <a:ln w="0">
            <a:noFill/>
          </a:ln>
        </p:spPr>
        <p:txBody>
          <a:bodyPr anchor="ctr">
            <a:normAutofit fontScale="77917" lnSpcReduction="20000"/>
          </a:bodyPr>
          <a:lstStyle/>
          <a:p>
            <a:pPr algn="l">
              <a:defRPr sz="1200" b="1">
                <a:solidFill>
                  <a:srgbClr val="E3A72F"/>
                </a:solidFill>
                <a:latin typeface="Montserrat"/>
                <a:ea typeface="Montserrat"/>
                <a:cs typeface="Montserrat"/>
              </a:defRPr>
            </a:pPr>
            <a:r>
              <a:rPr sz="900" b="1">
                <a:solidFill>
                  <a:srgbClr val="E3A72F"/>
                </a:solidFill>
                <a:latin typeface="Montserrat"/>
                <a:ea typeface="Montserrat"/>
                <a:cs typeface="Montserrat"/>
              </a:rPr>
              <a:t>What changed?</a:t>
            </a:r>
          </a:p>
        </p:txBody>
      </p:sp>
      <p:sp>
        <p:nvSpPr>
          <p:cNvPr id="15" name="Rectangle 14">
            <a:extLst>
              <a:ext uri="{FF2B5EF4-FFF2-40B4-BE49-F238E27FC236}">
                <a16:creationId xmlns:a16="http://schemas.microsoft.com/office/drawing/2014/main" id="{01862F80-9117-4B26-8197-467A2A6E58C9}"/>
              </a:ext>
            </a:extLst>
          </p:cNvPr>
          <p:cNvSpPr>
            <a:spLocks noGrp="1"/>
          </p:cNvSpPr>
          <p:nvPr/>
        </p:nvSpPr>
        <p:spPr>
          <a:xfrm>
            <a:off x="714375" y="3771900"/>
            <a:ext cx="7558088" cy="414338"/>
          </a:xfrm>
          <a:prstGeom prst="rect">
            <a:avLst/>
          </a:prstGeom>
          <a:noFill/>
          <a:ln w="0">
            <a:noFill/>
          </a:ln>
        </p:spPr>
        <p:txBody>
          <a:bodyPr anchor="ctr">
            <a:normAutofit fontScale="84028" lnSpcReduction="10000"/>
          </a:bodyPr>
          <a:lstStyle/>
          <a:p>
            <a:pPr algn="l">
              <a:defRPr sz="1800" b="1">
                <a:solidFill>
                  <a:srgbClr val="17324D"/>
                </a:solidFill>
                <a:latin typeface="Montserrat"/>
                <a:ea typeface="Montserrat"/>
                <a:cs typeface="Montserrat"/>
              </a:defRPr>
            </a:pPr>
            <a:r>
              <a:rPr sz="1350" b="1">
                <a:solidFill>
                  <a:srgbClr val="17324D"/>
                </a:solidFill>
                <a:latin typeface="Montserrat"/>
                <a:ea typeface="Montserrat"/>
                <a:cs typeface="Montserrat"/>
              </a:rPr>
              <a:t>Not Vaccine A's 5%. The comparison group changed—from an older baseline to a pool dominated by Vaccine A2.</a:t>
            </a:r>
          </a:p>
        </p:txBody>
      </p:sp>
    </p:spTree>
    <p:extLst>
      <p:ext uri="{BB962C8B-B14F-4D97-AF65-F5344CB8AC3E}">
        <p14:creationId xmlns:p14="http://schemas.microsoft.com/office/powerpoint/2010/main" val="955746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6B75455-52E5-4ABD-B02E-C487FF4DAAA5}"/>
              </a:ext>
            </a:extLst>
          </p:cNvPr>
          <p:cNvSpPr>
            <a:spLocks noGrp="1"/>
          </p:cNvSpPr>
          <p:nvPr/>
        </p:nvSpPr>
        <p:spPr>
          <a:xfrm>
            <a:off x="0" y="0"/>
            <a:ext cx="9144000" cy="128588"/>
          </a:xfrm>
          <a:prstGeom prst="rect">
            <a:avLst/>
          </a:prstGeom>
          <a:solidFill>
            <a:srgbClr val="2A8C82"/>
          </a:solidFill>
          <a:ln w="0">
            <a:noFill/>
          </a:ln>
        </p:spPr>
      </p:sp>
      <p:sp>
        <p:nvSpPr>
          <p:cNvPr id="2" name="Rectangle 1">
            <a:extLst>
              <a:ext uri="{FF2B5EF4-FFF2-40B4-BE49-F238E27FC236}">
                <a16:creationId xmlns:a16="http://schemas.microsoft.com/office/drawing/2014/main" id="{AD7D895C-613A-46E3-8D0F-79C2A1B8712B}"/>
              </a:ext>
            </a:extLst>
          </p:cNvPr>
          <p:cNvSpPr>
            <a:spLocks noGrp="1"/>
          </p:cNvSpPr>
          <p:nvPr/>
        </p:nvSpPr>
        <p:spPr>
          <a:xfrm>
            <a:off x="514350" y="321469"/>
            <a:ext cx="6429375" cy="185738"/>
          </a:xfrm>
          <a:prstGeom prst="rect">
            <a:avLst/>
          </a:prstGeom>
          <a:noFill/>
          <a:ln w="0">
            <a:noFill/>
          </a:ln>
        </p:spPr>
        <p:txBody>
          <a:bodyPr anchor="ctr">
            <a:normAutofit fontScale="90119" lnSpcReduction="20000"/>
          </a:bodyPr>
          <a:lstStyle/>
          <a:p>
            <a:pPr algn="l">
              <a:defRPr sz="1050" b="1">
                <a:solidFill>
                  <a:srgbClr val="2A8C82"/>
                </a:solidFill>
                <a:latin typeface="Montserrat"/>
                <a:ea typeface="Montserrat"/>
                <a:cs typeface="Montserrat"/>
              </a:defRPr>
            </a:pPr>
            <a:r>
              <a:rPr sz="788" b="1">
                <a:solidFill>
                  <a:srgbClr val="2A8C82"/>
                </a:solidFill>
                <a:latin typeface="Montserrat"/>
                <a:ea typeface="Montserrat"/>
                <a:cs typeface="Montserrat"/>
              </a:rPr>
              <a:t>INTERPRET, THEN REDESIGN</a:t>
            </a:r>
          </a:p>
        </p:txBody>
      </p:sp>
      <p:sp>
        <p:nvSpPr>
          <p:cNvPr id="3" name="Rectangle 2">
            <a:extLst>
              <a:ext uri="{FF2B5EF4-FFF2-40B4-BE49-F238E27FC236}">
                <a16:creationId xmlns:a16="http://schemas.microsoft.com/office/drawing/2014/main" id="{074EFE9E-3E23-4B50-95B2-807E5D62A452}"/>
              </a:ext>
            </a:extLst>
          </p:cNvPr>
          <p:cNvSpPr>
            <a:spLocks noGrp="1"/>
          </p:cNvSpPr>
          <p:nvPr/>
        </p:nvSpPr>
        <p:spPr>
          <a:xfrm>
            <a:off x="514350" y="542925"/>
            <a:ext cx="8001000" cy="464344"/>
          </a:xfrm>
          <a:prstGeom prst="rect">
            <a:avLst/>
          </a:prstGeom>
          <a:noFill/>
          <a:ln w="0">
            <a:noFill/>
          </a:ln>
        </p:spPr>
        <p:txBody>
          <a:bodyPr anchor="ctr">
            <a:normAutofit/>
          </a:bodyPr>
          <a:lstStyle/>
          <a:p>
            <a:pPr algn="l">
              <a:defRPr sz="2550" b="1">
                <a:solidFill>
                  <a:srgbClr val="17324D"/>
                </a:solidFill>
                <a:latin typeface="Montserrat"/>
                <a:ea typeface="Montserrat"/>
                <a:cs typeface="Montserrat"/>
              </a:defRPr>
            </a:pPr>
            <a:r>
              <a:rPr sz="1913" b="1">
                <a:solidFill>
                  <a:srgbClr val="17324D"/>
                </a:solidFill>
                <a:latin typeface="Montserrat"/>
                <a:ea typeface="Montserrat"/>
                <a:cs typeface="Montserrat"/>
              </a:rPr>
              <a:t>A statistic is an answer—but to which question?</a:t>
            </a:r>
          </a:p>
        </p:txBody>
      </p:sp>
      <p:sp>
        <p:nvSpPr>
          <p:cNvPr id="4" name="Rectangle 3">
            <a:extLst>
              <a:ext uri="{FF2B5EF4-FFF2-40B4-BE49-F238E27FC236}">
                <a16:creationId xmlns:a16="http://schemas.microsoft.com/office/drawing/2014/main" id="{B274D6E5-2AC4-4B9E-BDC2-CFB3274A76CC}"/>
              </a:ext>
            </a:extLst>
          </p:cNvPr>
          <p:cNvSpPr>
            <a:spLocks noGrp="1"/>
          </p:cNvSpPr>
          <p:nvPr/>
        </p:nvSpPr>
        <p:spPr>
          <a:xfrm>
            <a:off x="514350" y="4714875"/>
            <a:ext cx="8115300" cy="14288"/>
          </a:xfrm>
          <a:prstGeom prst="rect">
            <a:avLst/>
          </a:prstGeom>
          <a:solidFill>
            <a:srgbClr val="C9D6DE"/>
          </a:solidFill>
          <a:ln w="0">
            <a:noFill/>
          </a:ln>
        </p:spPr>
      </p:sp>
      <p:sp>
        <p:nvSpPr>
          <p:cNvPr id="5" name="Rectangle 4">
            <a:extLst>
              <a:ext uri="{FF2B5EF4-FFF2-40B4-BE49-F238E27FC236}">
                <a16:creationId xmlns:a16="http://schemas.microsoft.com/office/drawing/2014/main" id="{D444CE7C-DEEE-4D96-8231-0B8B1256A0D1}"/>
              </a:ext>
            </a:extLst>
          </p:cNvPr>
          <p:cNvSpPr>
            <a:spLocks noGrp="1"/>
          </p:cNvSpPr>
          <p:nvPr/>
        </p:nvSpPr>
        <p:spPr>
          <a:xfrm>
            <a:off x="514350" y="4786313"/>
            <a:ext cx="3571875" cy="171450"/>
          </a:xfrm>
          <a:prstGeom prst="rect">
            <a:avLst/>
          </a:prstGeom>
          <a:noFill/>
          <a:ln w="0">
            <a:noFill/>
          </a:ln>
        </p:spPr>
        <p:txBody>
          <a:bodyPr anchor="ctr">
            <a:normAutofit fontScale="92500" lnSpcReduction="20000"/>
          </a:bodyPr>
          <a:lstStyle/>
          <a:p>
            <a:pPr algn="l">
              <a:defRPr sz="825" b="0">
                <a:solidFill>
                  <a:srgbClr val="536373"/>
                </a:solidFill>
                <a:latin typeface="Montserrat"/>
                <a:ea typeface="Montserrat"/>
                <a:cs typeface="Montserrat"/>
              </a:defRPr>
            </a:pPr>
            <a:r>
              <a:rPr sz="619">
                <a:solidFill>
                  <a:srgbClr val="536373"/>
                </a:solidFill>
                <a:latin typeface="Montserrat"/>
                <a:ea typeface="Montserrat"/>
                <a:cs typeface="Montserrat"/>
              </a:rPr>
              <a:t>STAT UN 1001 · Two-way tables</a:t>
            </a:r>
          </a:p>
        </p:txBody>
      </p:sp>
      <p:sp>
        <p:nvSpPr>
          <p:cNvPr id="6" name="Rectangle 5">
            <a:extLst>
              <a:ext uri="{FF2B5EF4-FFF2-40B4-BE49-F238E27FC236}">
                <a16:creationId xmlns:a16="http://schemas.microsoft.com/office/drawing/2014/main" id="{11EB8F9D-4B6C-46AB-8C68-A8D3C6C7C162}"/>
              </a:ext>
            </a:extLst>
          </p:cNvPr>
          <p:cNvSpPr>
            <a:spLocks noGrp="1"/>
          </p:cNvSpPr>
          <p:nvPr/>
        </p:nvSpPr>
        <p:spPr>
          <a:xfrm>
            <a:off x="8322469" y="4786313"/>
            <a:ext cx="300038" cy="171450"/>
          </a:xfrm>
          <a:prstGeom prst="rect">
            <a:avLst/>
          </a:prstGeom>
          <a:noFill/>
          <a:ln w="0">
            <a:noFill/>
          </a:ln>
        </p:spPr>
        <p:txBody>
          <a:bodyPr anchor="ctr">
            <a:normAutofit fontScale="92500" lnSpcReduction="20000"/>
          </a:bodyPr>
          <a:lstStyle/>
          <a:p>
            <a:pPr algn="r">
              <a:defRPr sz="825" b="1">
                <a:solidFill>
                  <a:srgbClr val="536373"/>
                </a:solidFill>
                <a:latin typeface="Montserrat"/>
                <a:ea typeface="Montserrat"/>
                <a:cs typeface="Montserrat"/>
              </a:defRPr>
            </a:pPr>
            <a:r>
              <a:rPr sz="619" b="1">
                <a:solidFill>
                  <a:srgbClr val="536373"/>
                </a:solidFill>
                <a:latin typeface="Montserrat"/>
                <a:ea typeface="Montserrat"/>
                <a:cs typeface="Montserrat"/>
              </a:rPr>
              <a:t>4</a:t>
            </a:r>
          </a:p>
        </p:txBody>
      </p:sp>
      <p:sp>
        <p:nvSpPr>
          <p:cNvPr id="7" name="Rounded Rectangle 6">
            <a:extLst>
              <a:ext uri="{FF2B5EF4-FFF2-40B4-BE49-F238E27FC236}">
                <a16:creationId xmlns:a16="http://schemas.microsoft.com/office/drawing/2014/main" id="{F0C58204-5AB3-4CE4-8EBA-4CC9CEA0160D}"/>
              </a:ext>
            </a:extLst>
          </p:cNvPr>
          <p:cNvSpPr>
            <a:spLocks noGrp="1"/>
          </p:cNvSpPr>
          <p:nvPr/>
        </p:nvSpPr>
        <p:spPr>
          <a:xfrm>
            <a:off x="514350" y="1143000"/>
            <a:ext cx="3900488" cy="2886075"/>
          </a:xfrm>
          <a:prstGeom prst="roundRect">
            <a:avLst>
              <a:gd name="adj" fmla="val 1980"/>
            </a:avLst>
          </a:prstGeom>
          <a:solidFill>
            <a:srgbClr val="EDF4F7"/>
          </a:solidFill>
          <a:ln w="0">
            <a:noFill/>
          </a:ln>
        </p:spPr>
      </p:sp>
      <p:sp>
        <p:nvSpPr>
          <p:cNvPr id="8" name="Rectangle 7">
            <a:extLst>
              <a:ext uri="{FF2B5EF4-FFF2-40B4-BE49-F238E27FC236}">
                <a16:creationId xmlns:a16="http://schemas.microsoft.com/office/drawing/2014/main" id="{E0E535A3-0DEA-46F8-8D01-251B54E0B1D6}"/>
              </a:ext>
            </a:extLst>
          </p:cNvPr>
          <p:cNvSpPr>
            <a:spLocks noGrp="1"/>
          </p:cNvSpPr>
          <p:nvPr/>
        </p:nvSpPr>
        <p:spPr>
          <a:xfrm>
            <a:off x="728662" y="1343025"/>
            <a:ext cx="3471863" cy="242888"/>
          </a:xfrm>
          <a:prstGeom prst="rect">
            <a:avLst/>
          </a:prstGeom>
          <a:noFill/>
          <a:ln w="0">
            <a:noFill/>
          </a:ln>
        </p:spPr>
        <p:txBody>
          <a:bodyPr anchor="ctr">
            <a:normAutofit fontScale="96825" lnSpcReduction="10000"/>
          </a:bodyPr>
          <a:lstStyle/>
          <a:p>
            <a:pPr algn="l">
              <a:defRPr sz="1575" b="1">
                <a:solidFill>
                  <a:srgbClr val="2A8C82"/>
                </a:solidFill>
                <a:latin typeface="Montserrat"/>
                <a:ea typeface="Montserrat"/>
                <a:cs typeface="Montserrat"/>
              </a:defRPr>
            </a:pPr>
            <a:r>
              <a:rPr sz="1181" b="1">
                <a:solidFill>
                  <a:srgbClr val="2A8C82"/>
                </a:solidFill>
                <a:latin typeface="Montserrat"/>
                <a:ea typeface="Montserrat"/>
                <a:cs typeface="Montserrat"/>
              </a:rPr>
              <a:t>Interpret the association</a:t>
            </a:r>
          </a:p>
        </p:txBody>
      </p:sp>
      <p:sp>
        <p:nvSpPr>
          <p:cNvPr id="9" name="Rectangle 8">
            <a:extLst>
              <a:ext uri="{FF2B5EF4-FFF2-40B4-BE49-F238E27FC236}">
                <a16:creationId xmlns:a16="http://schemas.microsoft.com/office/drawing/2014/main" id="{247E7991-B347-44E0-9454-D79C9D553217}"/>
              </a:ext>
            </a:extLst>
          </p:cNvPr>
          <p:cNvSpPr>
            <a:spLocks noGrp="1"/>
          </p:cNvSpPr>
          <p:nvPr/>
        </p:nvSpPr>
        <p:spPr>
          <a:xfrm>
            <a:off x="728662" y="1728787"/>
            <a:ext cx="3471863" cy="242888"/>
          </a:xfrm>
          <a:prstGeom prst="rect">
            <a:avLst/>
          </a:prstGeom>
          <a:noFill/>
          <a:ln w="0">
            <a:noFill/>
          </a:ln>
        </p:spPr>
        <p:txBody>
          <a:bodyPr anchor="ctr">
            <a:normAutofit lnSpcReduction="10000"/>
          </a:bodyPr>
          <a:lstStyle/>
          <a:p>
            <a:pPr algn="l">
              <a:defRPr sz="1425" b="1">
                <a:solidFill>
                  <a:srgbClr val="536373"/>
                </a:solidFill>
                <a:latin typeface="Montserrat"/>
                <a:ea typeface="Montserrat"/>
                <a:cs typeface="Montserrat"/>
              </a:defRPr>
            </a:pPr>
            <a:r>
              <a:rPr sz="1069" b="1">
                <a:solidFill>
                  <a:srgbClr val="536373"/>
                </a:solidFill>
                <a:latin typeface="Montserrat"/>
                <a:ea typeface="Montserrat"/>
                <a:cs typeface="Montserrat"/>
              </a:rPr>
              <a:t>PRR ≈ 1 says:</a:t>
            </a:r>
          </a:p>
        </p:txBody>
      </p:sp>
      <p:sp>
        <p:nvSpPr>
          <p:cNvPr id="10" name="Rectangle 9">
            <a:extLst>
              <a:ext uri="{FF2B5EF4-FFF2-40B4-BE49-F238E27FC236}">
                <a16:creationId xmlns:a16="http://schemas.microsoft.com/office/drawing/2014/main" id="{01C7FD13-63DD-40EF-8F42-F118BF82CC13}"/>
              </a:ext>
            </a:extLst>
          </p:cNvPr>
          <p:cNvSpPr>
            <a:spLocks noGrp="1"/>
          </p:cNvSpPr>
          <p:nvPr/>
        </p:nvSpPr>
        <p:spPr>
          <a:xfrm>
            <a:off x="728662" y="2028825"/>
            <a:ext cx="3471863" cy="657225"/>
          </a:xfrm>
          <a:prstGeom prst="rect">
            <a:avLst/>
          </a:prstGeom>
          <a:noFill/>
          <a:ln w="0">
            <a:noFill/>
          </a:ln>
        </p:spPr>
        <p:txBody>
          <a:bodyPr anchor="ctr">
            <a:normAutofit fontScale="88034" lnSpcReduction="10000"/>
          </a:bodyPr>
          <a:lstStyle/>
          <a:p>
            <a:pPr algn="l">
              <a:defRPr sz="1950" b="1">
                <a:solidFill>
                  <a:srgbClr val="17324D"/>
                </a:solidFill>
                <a:latin typeface="Montserrat"/>
                <a:ea typeface="Montserrat"/>
                <a:cs typeface="Montserrat"/>
              </a:defRPr>
            </a:pPr>
            <a:r>
              <a:rPr sz="1463" b="1">
                <a:solidFill>
                  <a:srgbClr val="17324D"/>
                </a:solidFill>
                <a:latin typeface="Montserrat"/>
                <a:ea typeface="Montserrat"/>
                <a:cs typeface="Montserrat"/>
              </a:rPr>
              <a:t>Vaccine A and this particular comparison group look similar in the reporting database.</a:t>
            </a:r>
          </a:p>
        </p:txBody>
      </p:sp>
      <p:sp>
        <p:nvSpPr>
          <p:cNvPr id="11" name="Rectangle 10">
            <a:extLst>
              <a:ext uri="{FF2B5EF4-FFF2-40B4-BE49-F238E27FC236}">
                <a16:creationId xmlns:a16="http://schemas.microsoft.com/office/drawing/2014/main" id="{C3F81DB7-5E51-4367-9D40-1980924CD621}"/>
              </a:ext>
            </a:extLst>
          </p:cNvPr>
          <p:cNvSpPr>
            <a:spLocks noGrp="1"/>
          </p:cNvSpPr>
          <p:nvPr/>
        </p:nvSpPr>
        <p:spPr>
          <a:xfrm>
            <a:off x="728662" y="2886075"/>
            <a:ext cx="3471863" cy="242888"/>
          </a:xfrm>
          <a:prstGeom prst="rect">
            <a:avLst/>
          </a:prstGeom>
          <a:noFill/>
          <a:ln w="0">
            <a:noFill/>
          </a:ln>
        </p:spPr>
        <p:txBody>
          <a:bodyPr anchor="ctr">
            <a:normAutofit lnSpcReduction="10000"/>
          </a:bodyPr>
          <a:lstStyle/>
          <a:p>
            <a:pPr algn="l">
              <a:defRPr sz="1425" b="1">
                <a:solidFill>
                  <a:srgbClr val="536373"/>
                </a:solidFill>
                <a:latin typeface="Montserrat"/>
                <a:ea typeface="Montserrat"/>
                <a:cs typeface="Montserrat"/>
              </a:defRPr>
            </a:pPr>
            <a:r>
              <a:rPr sz="1069" b="1">
                <a:solidFill>
                  <a:srgbClr val="536373"/>
                </a:solidFill>
                <a:latin typeface="Montserrat"/>
                <a:ea typeface="Montserrat"/>
                <a:cs typeface="Montserrat"/>
              </a:rPr>
              <a:t>It does not say:</a:t>
            </a:r>
          </a:p>
        </p:txBody>
      </p:sp>
      <p:sp>
        <p:nvSpPr>
          <p:cNvPr id="12" name="Rectangle 11">
            <a:extLst>
              <a:ext uri="{FF2B5EF4-FFF2-40B4-BE49-F238E27FC236}">
                <a16:creationId xmlns:a16="http://schemas.microsoft.com/office/drawing/2014/main" id="{F311D44B-B284-4B7F-B4BC-663E67FFF863}"/>
              </a:ext>
            </a:extLst>
          </p:cNvPr>
          <p:cNvSpPr>
            <a:spLocks noGrp="1"/>
          </p:cNvSpPr>
          <p:nvPr/>
        </p:nvSpPr>
        <p:spPr>
          <a:xfrm>
            <a:off x="728662" y="3186113"/>
            <a:ext cx="3471863" cy="542925"/>
          </a:xfrm>
          <a:prstGeom prst="rect">
            <a:avLst/>
          </a:prstGeom>
          <a:noFill/>
          <a:ln w="0">
            <a:noFill/>
          </a:ln>
        </p:spPr>
        <p:txBody>
          <a:bodyPr anchor="ctr">
            <a:normAutofit/>
          </a:bodyPr>
          <a:lstStyle/>
          <a:p>
            <a:pPr algn="l">
              <a:defRPr sz="1725" b="1">
                <a:solidFill>
                  <a:srgbClr val="B64B4B"/>
                </a:solidFill>
                <a:latin typeface="Montserrat"/>
                <a:ea typeface="Montserrat"/>
                <a:cs typeface="Montserrat"/>
              </a:defRPr>
            </a:pPr>
            <a:r>
              <a:rPr sz="1294" b="1">
                <a:solidFill>
                  <a:srgbClr val="B64B4B"/>
                </a:solidFill>
                <a:latin typeface="Montserrat"/>
                <a:ea typeface="Montserrat"/>
                <a:cs typeface="Montserrat"/>
              </a:rPr>
              <a:t>Both match an established baseline—or that no causal risk exists.</a:t>
            </a:r>
          </a:p>
        </p:txBody>
      </p:sp>
      <p:sp>
        <p:nvSpPr>
          <p:cNvPr id="13" name="Rounded Rectangle 12">
            <a:extLst>
              <a:ext uri="{FF2B5EF4-FFF2-40B4-BE49-F238E27FC236}">
                <a16:creationId xmlns:a16="http://schemas.microsoft.com/office/drawing/2014/main" id="{E5453210-6BC0-4F1B-A2EE-8F148B12717C}"/>
              </a:ext>
            </a:extLst>
          </p:cNvPr>
          <p:cNvSpPr>
            <a:spLocks noGrp="1"/>
          </p:cNvSpPr>
          <p:nvPr/>
        </p:nvSpPr>
        <p:spPr>
          <a:xfrm>
            <a:off x="4643437" y="1143000"/>
            <a:ext cx="3986213" cy="2886075"/>
          </a:xfrm>
          <a:prstGeom prst="roundRect">
            <a:avLst>
              <a:gd name="adj" fmla="val 1980"/>
            </a:avLst>
          </a:prstGeom>
          <a:solidFill>
            <a:srgbClr val="FFF8E8"/>
          </a:solidFill>
          <a:ln w="0">
            <a:noFill/>
          </a:ln>
        </p:spPr>
      </p:sp>
      <p:sp>
        <p:nvSpPr>
          <p:cNvPr id="14" name="Rectangle 13">
            <a:extLst>
              <a:ext uri="{FF2B5EF4-FFF2-40B4-BE49-F238E27FC236}">
                <a16:creationId xmlns:a16="http://schemas.microsoft.com/office/drawing/2014/main" id="{117516EE-1DBE-4FE7-A0DB-B17CEA02D5C8}"/>
              </a:ext>
            </a:extLst>
          </p:cNvPr>
          <p:cNvSpPr>
            <a:spLocks noGrp="1"/>
          </p:cNvSpPr>
          <p:nvPr/>
        </p:nvSpPr>
        <p:spPr>
          <a:xfrm>
            <a:off x="4857750" y="1343025"/>
            <a:ext cx="3557588" cy="242888"/>
          </a:xfrm>
          <a:prstGeom prst="rect">
            <a:avLst/>
          </a:prstGeom>
          <a:noFill/>
          <a:ln w="0">
            <a:noFill/>
          </a:ln>
        </p:spPr>
        <p:txBody>
          <a:bodyPr anchor="ctr">
            <a:normAutofit fontScale="96825" lnSpcReduction="10000"/>
          </a:bodyPr>
          <a:lstStyle/>
          <a:p>
            <a:pPr algn="l">
              <a:defRPr sz="1575" b="1">
                <a:solidFill>
                  <a:srgbClr val="E3A72F"/>
                </a:solidFill>
                <a:latin typeface="Montserrat"/>
                <a:ea typeface="Montserrat"/>
                <a:cs typeface="Montserrat"/>
              </a:defRPr>
            </a:pPr>
            <a:r>
              <a:rPr sz="1181" b="1">
                <a:solidFill>
                  <a:srgbClr val="E3A72F"/>
                </a:solidFill>
                <a:latin typeface="Montserrat"/>
                <a:ea typeface="Montserrat"/>
                <a:cs typeface="Montserrat"/>
              </a:rPr>
              <a:t>Redesign the comparison</a:t>
            </a:r>
          </a:p>
        </p:txBody>
      </p:sp>
      <p:sp>
        <p:nvSpPr>
          <p:cNvPr id="15" name="Rounded Rectangle 14">
            <a:extLst>
              <a:ext uri="{FF2B5EF4-FFF2-40B4-BE49-F238E27FC236}">
                <a16:creationId xmlns:a16="http://schemas.microsoft.com/office/drawing/2014/main" id="{1F1E27C6-4164-498E-BF7A-E9E728C15D99}"/>
              </a:ext>
            </a:extLst>
          </p:cNvPr>
          <p:cNvSpPr>
            <a:spLocks noGrp="1"/>
          </p:cNvSpPr>
          <p:nvPr/>
        </p:nvSpPr>
        <p:spPr>
          <a:xfrm>
            <a:off x="4857750" y="1728787"/>
            <a:ext cx="271463" cy="271463"/>
          </a:xfrm>
          <a:prstGeom prst="roundRect">
            <a:avLst>
              <a:gd name="adj" fmla="val 21053"/>
            </a:avLst>
          </a:prstGeom>
          <a:solidFill>
            <a:srgbClr val="E3A72F"/>
          </a:solidFill>
          <a:ln w="0">
            <a:noFill/>
          </a:ln>
        </p:spPr>
      </p:sp>
      <p:sp>
        <p:nvSpPr>
          <p:cNvPr id="16" name="Rectangle 15">
            <a:extLst>
              <a:ext uri="{FF2B5EF4-FFF2-40B4-BE49-F238E27FC236}">
                <a16:creationId xmlns:a16="http://schemas.microsoft.com/office/drawing/2014/main" id="{9DCF827A-92E2-4F88-AC76-5869C4F1D8E5}"/>
              </a:ext>
            </a:extLst>
          </p:cNvPr>
          <p:cNvSpPr>
            <a:spLocks noGrp="1"/>
          </p:cNvSpPr>
          <p:nvPr/>
        </p:nvSpPr>
        <p:spPr>
          <a:xfrm>
            <a:off x="4857750" y="1728787"/>
            <a:ext cx="271463" cy="271463"/>
          </a:xfrm>
          <a:prstGeom prst="rect">
            <a:avLst/>
          </a:prstGeom>
          <a:noFill/>
          <a:ln w="0">
            <a:noFill/>
          </a:ln>
        </p:spPr>
        <p:txBody>
          <a:bodyPr anchor="ctr">
            <a:normAutofit/>
          </a:bodyPr>
          <a:lstStyle/>
          <a:p>
            <a:pPr algn="ctr">
              <a:defRPr sz="1275" b="1">
                <a:solidFill>
                  <a:srgbClr val="FFFFFF"/>
                </a:solidFill>
                <a:latin typeface="Montserrat"/>
                <a:ea typeface="Montserrat"/>
                <a:cs typeface="Montserrat"/>
              </a:defRPr>
            </a:pPr>
            <a:r>
              <a:rPr sz="956" b="1">
                <a:solidFill>
                  <a:srgbClr val="FFFFFF"/>
                </a:solidFill>
                <a:latin typeface="Montserrat"/>
                <a:ea typeface="Montserrat"/>
                <a:cs typeface="Montserrat"/>
              </a:rPr>
              <a:t>1</a:t>
            </a:r>
          </a:p>
        </p:txBody>
      </p:sp>
      <p:sp>
        <p:nvSpPr>
          <p:cNvPr id="17" name="Rectangle 16">
            <a:extLst>
              <a:ext uri="{FF2B5EF4-FFF2-40B4-BE49-F238E27FC236}">
                <a16:creationId xmlns:a16="http://schemas.microsoft.com/office/drawing/2014/main" id="{A3994944-6C28-4E41-9C97-9BD06A0D944F}"/>
              </a:ext>
            </a:extLst>
          </p:cNvPr>
          <p:cNvSpPr>
            <a:spLocks noGrp="1"/>
          </p:cNvSpPr>
          <p:nvPr/>
        </p:nvSpPr>
        <p:spPr>
          <a:xfrm>
            <a:off x="5243512" y="1714500"/>
            <a:ext cx="3071813" cy="342900"/>
          </a:xfrm>
          <a:prstGeom prst="rect">
            <a:avLst/>
          </a:prstGeom>
          <a:noFill/>
          <a:ln w="0">
            <a:noFill/>
          </a:ln>
        </p:spPr>
        <p:txBody>
          <a:bodyPr anchor="ctr">
            <a:normAutofit fontScale="84211" lnSpcReduction="10000"/>
          </a:bodyPr>
          <a:lstStyle/>
          <a:p>
            <a:pPr algn="l">
              <a:defRPr sz="1425" b="1">
                <a:solidFill>
                  <a:srgbClr val="17212B"/>
                </a:solidFill>
                <a:latin typeface="Montserrat"/>
                <a:ea typeface="Montserrat"/>
                <a:cs typeface="Montserrat"/>
              </a:defRPr>
            </a:pPr>
            <a:r>
              <a:rPr sz="1069" b="1">
                <a:solidFill>
                  <a:srgbClr val="17212B"/>
                </a:solidFill>
                <a:latin typeface="Montserrat"/>
                <a:ea typeface="Montserrat"/>
                <a:cs typeface="Montserrat"/>
              </a:rPr>
              <a:t>What population-level question do we want to answer?</a:t>
            </a:r>
          </a:p>
        </p:txBody>
      </p:sp>
      <p:sp>
        <p:nvSpPr>
          <p:cNvPr id="18" name="Rounded Rectangle 17">
            <a:extLst>
              <a:ext uri="{FF2B5EF4-FFF2-40B4-BE49-F238E27FC236}">
                <a16:creationId xmlns:a16="http://schemas.microsoft.com/office/drawing/2014/main" id="{E5F3D6D2-8D5D-4607-92BF-D3C9890BDC2A}"/>
              </a:ext>
            </a:extLst>
          </p:cNvPr>
          <p:cNvSpPr>
            <a:spLocks noGrp="1"/>
          </p:cNvSpPr>
          <p:nvPr/>
        </p:nvSpPr>
        <p:spPr>
          <a:xfrm>
            <a:off x="4857750" y="2228850"/>
            <a:ext cx="271463" cy="271463"/>
          </a:xfrm>
          <a:prstGeom prst="roundRect">
            <a:avLst>
              <a:gd name="adj" fmla="val 21053"/>
            </a:avLst>
          </a:prstGeom>
          <a:solidFill>
            <a:srgbClr val="E3A72F"/>
          </a:solidFill>
          <a:ln w="0">
            <a:noFill/>
          </a:ln>
        </p:spPr>
      </p:sp>
      <p:sp>
        <p:nvSpPr>
          <p:cNvPr id="19" name="Rectangle 18">
            <a:extLst>
              <a:ext uri="{FF2B5EF4-FFF2-40B4-BE49-F238E27FC236}">
                <a16:creationId xmlns:a16="http://schemas.microsoft.com/office/drawing/2014/main" id="{9921CC09-0523-4DCB-B5D7-0F3A154D09B2}"/>
              </a:ext>
            </a:extLst>
          </p:cNvPr>
          <p:cNvSpPr>
            <a:spLocks noGrp="1"/>
          </p:cNvSpPr>
          <p:nvPr/>
        </p:nvSpPr>
        <p:spPr>
          <a:xfrm>
            <a:off x="4857750" y="2228850"/>
            <a:ext cx="271463" cy="271463"/>
          </a:xfrm>
          <a:prstGeom prst="rect">
            <a:avLst/>
          </a:prstGeom>
          <a:noFill/>
          <a:ln w="0">
            <a:noFill/>
          </a:ln>
        </p:spPr>
        <p:txBody>
          <a:bodyPr anchor="ctr">
            <a:normAutofit/>
          </a:bodyPr>
          <a:lstStyle/>
          <a:p>
            <a:pPr algn="ctr">
              <a:defRPr sz="1275" b="1">
                <a:solidFill>
                  <a:srgbClr val="FFFFFF"/>
                </a:solidFill>
                <a:latin typeface="Montserrat"/>
                <a:ea typeface="Montserrat"/>
                <a:cs typeface="Montserrat"/>
              </a:defRPr>
            </a:pPr>
            <a:r>
              <a:rPr sz="956" b="1">
                <a:solidFill>
                  <a:srgbClr val="FFFFFF"/>
                </a:solidFill>
                <a:latin typeface="Montserrat"/>
                <a:ea typeface="Montserrat"/>
                <a:cs typeface="Montserrat"/>
              </a:rPr>
              <a:t>2</a:t>
            </a:r>
          </a:p>
        </p:txBody>
      </p:sp>
      <p:sp>
        <p:nvSpPr>
          <p:cNvPr id="20" name="Rectangle 19">
            <a:extLst>
              <a:ext uri="{FF2B5EF4-FFF2-40B4-BE49-F238E27FC236}">
                <a16:creationId xmlns:a16="http://schemas.microsoft.com/office/drawing/2014/main" id="{DA858EC8-66CC-4D84-BA69-D618CE91690F}"/>
              </a:ext>
            </a:extLst>
          </p:cNvPr>
          <p:cNvSpPr>
            <a:spLocks noGrp="1"/>
          </p:cNvSpPr>
          <p:nvPr/>
        </p:nvSpPr>
        <p:spPr>
          <a:xfrm>
            <a:off x="5243512" y="2214563"/>
            <a:ext cx="3071813" cy="342900"/>
          </a:xfrm>
          <a:prstGeom prst="rect">
            <a:avLst/>
          </a:prstGeom>
          <a:noFill/>
          <a:ln w="0">
            <a:noFill/>
          </a:ln>
        </p:spPr>
        <p:txBody>
          <a:bodyPr anchor="ctr">
            <a:normAutofit fontScale="89834" lnSpcReduction="20000"/>
          </a:bodyPr>
          <a:lstStyle/>
          <a:p>
            <a:pPr algn="l">
              <a:defRPr sz="1425" b="0">
                <a:solidFill>
                  <a:srgbClr val="17212B"/>
                </a:solidFill>
                <a:latin typeface="Montserrat"/>
                <a:ea typeface="Montserrat"/>
                <a:cs typeface="Montserrat"/>
              </a:defRPr>
            </a:pPr>
            <a:r>
              <a:rPr sz="1069">
                <a:solidFill>
                  <a:srgbClr val="17212B"/>
                </a:solidFill>
                <a:latin typeface="Montserrat"/>
                <a:ea typeface="Montserrat"/>
                <a:cs typeface="Montserrat"/>
              </a:rPr>
              <a:t>Which reports belong in a meaningful baseline group?</a:t>
            </a:r>
          </a:p>
        </p:txBody>
      </p:sp>
      <p:sp>
        <p:nvSpPr>
          <p:cNvPr id="21" name="Rounded Rectangle 20">
            <a:extLst>
              <a:ext uri="{FF2B5EF4-FFF2-40B4-BE49-F238E27FC236}">
                <a16:creationId xmlns:a16="http://schemas.microsoft.com/office/drawing/2014/main" id="{404BADCE-BFBC-4DE0-8237-6F39C248FAB9}"/>
              </a:ext>
            </a:extLst>
          </p:cNvPr>
          <p:cNvSpPr>
            <a:spLocks noGrp="1"/>
          </p:cNvSpPr>
          <p:nvPr/>
        </p:nvSpPr>
        <p:spPr>
          <a:xfrm>
            <a:off x="4857750" y="2728912"/>
            <a:ext cx="271463" cy="271463"/>
          </a:xfrm>
          <a:prstGeom prst="roundRect">
            <a:avLst>
              <a:gd name="adj" fmla="val 21053"/>
            </a:avLst>
          </a:prstGeom>
          <a:solidFill>
            <a:srgbClr val="E3A72F"/>
          </a:solidFill>
          <a:ln w="0">
            <a:noFill/>
          </a:ln>
        </p:spPr>
      </p:sp>
      <p:sp>
        <p:nvSpPr>
          <p:cNvPr id="22" name="Rectangle 21">
            <a:extLst>
              <a:ext uri="{FF2B5EF4-FFF2-40B4-BE49-F238E27FC236}">
                <a16:creationId xmlns:a16="http://schemas.microsoft.com/office/drawing/2014/main" id="{96104B67-0768-460A-9797-8E5E80128FFC}"/>
              </a:ext>
            </a:extLst>
          </p:cNvPr>
          <p:cNvSpPr>
            <a:spLocks noGrp="1"/>
          </p:cNvSpPr>
          <p:nvPr/>
        </p:nvSpPr>
        <p:spPr>
          <a:xfrm>
            <a:off x="4857750" y="2728912"/>
            <a:ext cx="271463" cy="271463"/>
          </a:xfrm>
          <a:prstGeom prst="rect">
            <a:avLst/>
          </a:prstGeom>
          <a:noFill/>
          <a:ln w="0">
            <a:noFill/>
          </a:ln>
        </p:spPr>
        <p:txBody>
          <a:bodyPr anchor="ctr">
            <a:normAutofit/>
          </a:bodyPr>
          <a:lstStyle/>
          <a:p>
            <a:pPr algn="ctr">
              <a:defRPr sz="1275" b="1">
                <a:solidFill>
                  <a:srgbClr val="FFFFFF"/>
                </a:solidFill>
                <a:latin typeface="Montserrat"/>
                <a:ea typeface="Montserrat"/>
                <a:cs typeface="Montserrat"/>
              </a:defRPr>
            </a:pPr>
            <a:r>
              <a:rPr sz="956" b="1">
                <a:solidFill>
                  <a:srgbClr val="FFFFFF"/>
                </a:solidFill>
                <a:latin typeface="Montserrat"/>
                <a:ea typeface="Montserrat"/>
                <a:cs typeface="Montserrat"/>
              </a:rPr>
              <a:t>3</a:t>
            </a:r>
          </a:p>
        </p:txBody>
      </p:sp>
      <p:sp>
        <p:nvSpPr>
          <p:cNvPr id="23" name="Rectangle 22">
            <a:extLst>
              <a:ext uri="{FF2B5EF4-FFF2-40B4-BE49-F238E27FC236}">
                <a16:creationId xmlns:a16="http://schemas.microsoft.com/office/drawing/2014/main" id="{00F7BA53-DB44-45D3-B5A2-6275253E24A2}"/>
              </a:ext>
            </a:extLst>
          </p:cNvPr>
          <p:cNvSpPr>
            <a:spLocks noGrp="1"/>
          </p:cNvSpPr>
          <p:nvPr/>
        </p:nvSpPr>
        <p:spPr>
          <a:xfrm>
            <a:off x="5243512" y="2714625"/>
            <a:ext cx="3071813" cy="342900"/>
          </a:xfrm>
          <a:prstGeom prst="rect">
            <a:avLst/>
          </a:prstGeom>
          <a:noFill/>
          <a:ln w="0">
            <a:noFill/>
          </a:ln>
        </p:spPr>
        <p:txBody>
          <a:bodyPr anchor="ctr">
            <a:normAutofit fontScale="92500" lnSpcReduction="20000"/>
          </a:bodyPr>
          <a:lstStyle/>
          <a:p>
            <a:pPr algn="l">
              <a:defRPr sz="1425" b="0">
                <a:solidFill>
                  <a:srgbClr val="17212B"/>
                </a:solidFill>
                <a:latin typeface="Montserrat"/>
                <a:ea typeface="Montserrat"/>
                <a:cs typeface="Montserrat"/>
              </a:defRPr>
            </a:pPr>
            <a:r>
              <a:rPr sz="1069">
                <a:solidFill>
                  <a:srgbClr val="17212B"/>
                </a:solidFill>
                <a:latin typeface="Montserrat"/>
                <a:ea typeface="Montserrat"/>
                <a:cs typeface="Montserrat"/>
              </a:rPr>
              <a:t>Should we stratify by age, sex, or time period?</a:t>
            </a:r>
          </a:p>
        </p:txBody>
      </p:sp>
      <p:sp>
        <p:nvSpPr>
          <p:cNvPr id="24" name="Rounded Rectangle 23">
            <a:extLst>
              <a:ext uri="{FF2B5EF4-FFF2-40B4-BE49-F238E27FC236}">
                <a16:creationId xmlns:a16="http://schemas.microsoft.com/office/drawing/2014/main" id="{BBBD5BF1-91EC-4FAC-A939-263EAEC76730}"/>
              </a:ext>
            </a:extLst>
          </p:cNvPr>
          <p:cNvSpPr>
            <a:spLocks noGrp="1"/>
          </p:cNvSpPr>
          <p:nvPr/>
        </p:nvSpPr>
        <p:spPr>
          <a:xfrm>
            <a:off x="4857750" y="3228975"/>
            <a:ext cx="271463" cy="271463"/>
          </a:xfrm>
          <a:prstGeom prst="roundRect">
            <a:avLst>
              <a:gd name="adj" fmla="val 21053"/>
            </a:avLst>
          </a:prstGeom>
          <a:solidFill>
            <a:srgbClr val="E3A72F"/>
          </a:solidFill>
          <a:ln w="0">
            <a:noFill/>
          </a:ln>
        </p:spPr>
      </p:sp>
      <p:sp>
        <p:nvSpPr>
          <p:cNvPr id="25" name="Rectangle 24">
            <a:extLst>
              <a:ext uri="{FF2B5EF4-FFF2-40B4-BE49-F238E27FC236}">
                <a16:creationId xmlns:a16="http://schemas.microsoft.com/office/drawing/2014/main" id="{922BDB04-CA53-4A2F-B8EF-CA71839F416A}"/>
              </a:ext>
            </a:extLst>
          </p:cNvPr>
          <p:cNvSpPr>
            <a:spLocks noGrp="1"/>
          </p:cNvSpPr>
          <p:nvPr/>
        </p:nvSpPr>
        <p:spPr>
          <a:xfrm>
            <a:off x="4857750" y="3228975"/>
            <a:ext cx="271463" cy="271463"/>
          </a:xfrm>
          <a:prstGeom prst="rect">
            <a:avLst/>
          </a:prstGeom>
          <a:noFill/>
          <a:ln w="0">
            <a:noFill/>
          </a:ln>
        </p:spPr>
        <p:txBody>
          <a:bodyPr anchor="ctr">
            <a:normAutofit/>
          </a:bodyPr>
          <a:lstStyle/>
          <a:p>
            <a:pPr algn="ctr">
              <a:defRPr sz="1275" b="1">
                <a:solidFill>
                  <a:srgbClr val="FFFFFF"/>
                </a:solidFill>
                <a:latin typeface="Montserrat"/>
                <a:ea typeface="Montserrat"/>
                <a:cs typeface="Montserrat"/>
              </a:defRPr>
            </a:pPr>
            <a:r>
              <a:rPr sz="956" b="1">
                <a:solidFill>
                  <a:srgbClr val="FFFFFF"/>
                </a:solidFill>
                <a:latin typeface="Montserrat"/>
                <a:ea typeface="Montserrat"/>
                <a:cs typeface="Montserrat"/>
              </a:rPr>
              <a:t>4</a:t>
            </a:r>
          </a:p>
        </p:txBody>
      </p:sp>
      <p:sp>
        <p:nvSpPr>
          <p:cNvPr id="26" name="Rectangle 25">
            <a:extLst>
              <a:ext uri="{FF2B5EF4-FFF2-40B4-BE49-F238E27FC236}">
                <a16:creationId xmlns:a16="http://schemas.microsoft.com/office/drawing/2014/main" id="{A3F2C80F-DCE9-4584-B19E-4E222EC45B61}"/>
              </a:ext>
            </a:extLst>
          </p:cNvPr>
          <p:cNvSpPr>
            <a:spLocks noGrp="1"/>
          </p:cNvSpPr>
          <p:nvPr/>
        </p:nvSpPr>
        <p:spPr>
          <a:xfrm>
            <a:off x="5243512" y="3214688"/>
            <a:ext cx="3071813" cy="342900"/>
          </a:xfrm>
          <a:prstGeom prst="rect">
            <a:avLst/>
          </a:prstGeom>
          <a:noFill/>
          <a:ln w="0">
            <a:noFill/>
          </a:ln>
        </p:spPr>
        <p:txBody>
          <a:bodyPr anchor="ctr">
            <a:normAutofit fontScale="85708" lnSpcReduction="10000"/>
          </a:bodyPr>
          <a:lstStyle/>
          <a:p>
            <a:pPr algn="l">
              <a:defRPr sz="1425" b="0">
                <a:solidFill>
                  <a:srgbClr val="17212B"/>
                </a:solidFill>
                <a:latin typeface="Montserrat"/>
                <a:ea typeface="Montserrat"/>
                <a:cs typeface="Montserrat"/>
              </a:defRPr>
            </a:pPr>
            <a:r>
              <a:rPr sz="1069">
                <a:solidFill>
                  <a:srgbClr val="17212B"/>
                </a:solidFill>
                <a:latin typeface="Montserrat"/>
                <a:ea typeface="Montserrat"/>
                <a:cs typeface="Montserrat"/>
              </a:rPr>
              <a:t>What other surveillance data could corroborate a signal?</a:t>
            </a:r>
          </a:p>
        </p:txBody>
      </p:sp>
      <p:sp>
        <p:nvSpPr>
          <p:cNvPr id="27" name="Rectangle 26">
            <a:extLst>
              <a:ext uri="{FF2B5EF4-FFF2-40B4-BE49-F238E27FC236}">
                <a16:creationId xmlns:a16="http://schemas.microsoft.com/office/drawing/2014/main" id="{CC736DD3-5BE6-4707-9A54-29CE12A4E83F}"/>
              </a:ext>
            </a:extLst>
          </p:cNvPr>
          <p:cNvSpPr>
            <a:spLocks noGrp="1"/>
          </p:cNvSpPr>
          <p:nvPr/>
        </p:nvSpPr>
        <p:spPr>
          <a:xfrm>
            <a:off x="514350" y="4257675"/>
            <a:ext cx="8115300" cy="300038"/>
          </a:xfrm>
          <a:prstGeom prst="rect">
            <a:avLst/>
          </a:prstGeom>
          <a:noFill/>
          <a:ln w="0">
            <a:noFill/>
          </a:ln>
        </p:spPr>
        <p:txBody>
          <a:bodyPr anchor="ctr">
            <a:normAutofit/>
          </a:bodyPr>
          <a:lstStyle/>
          <a:p>
            <a:pPr algn="ctr">
              <a:defRPr sz="1575" b="1">
                <a:solidFill>
                  <a:srgbClr val="17324D"/>
                </a:solidFill>
                <a:latin typeface="Montserrat"/>
                <a:ea typeface="Montserrat"/>
                <a:cs typeface="Montserrat"/>
              </a:defRPr>
            </a:pPr>
            <a:r>
              <a:rPr sz="1181" b="1">
                <a:solidFill>
                  <a:srgbClr val="17324D"/>
                </a:solidFill>
                <a:latin typeface="Montserrat"/>
                <a:ea typeface="Montserrat"/>
                <a:cs typeface="Montserrat"/>
              </a:rPr>
              <a:t>Discussion: Write one sentence stating the question answered by each table.</a:t>
            </a:r>
          </a:p>
        </p:txBody>
      </p:sp>
    </p:spTree>
    <p:extLst>
      <p:ext uri="{BB962C8B-B14F-4D97-AF65-F5344CB8AC3E}">
        <p14:creationId xmlns:p14="http://schemas.microsoft.com/office/powerpoint/2010/main" val="31626039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3474</Words>
  <Application>Microsoft Macintosh PowerPoint</Application>
  <DocSecurity>0</DocSecurity>
  <PresentationFormat>On-screen Show (16:9)</PresentationFormat>
  <Paragraphs>439</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Calibri</vt:lpstr>
      <vt:lpstr>Montserrat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Tian Zheng</cp:lastModifiedBy>
  <cp:revision>2</cp:revision>
  <dcterms:created xsi:type="dcterms:W3CDTF">2026-09-22T12:05:39Z</dcterms:created>
  <dcterms:modified xsi:type="dcterms:W3CDTF">2026-09-22T15:35:34Z</dcterms:modified>
</cp:coreProperties>
</file>