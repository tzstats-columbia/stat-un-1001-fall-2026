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27" r:id="rId2"/>
  </p:sldMasterIdLst>
  <p:notesMasterIdLst>
    <p:notesMasterId r:id="rId43"/>
  </p:notesMasterIdLst>
  <p:sldIdLst>
    <p:sldId id="256" r:id="rId3"/>
    <p:sldId id="257" r:id="rId4"/>
    <p:sldId id="259" r:id="rId5"/>
    <p:sldId id="285" r:id="rId6"/>
    <p:sldId id="258" r:id="rId7"/>
    <p:sldId id="283" r:id="rId8"/>
    <p:sldId id="284" r:id="rId9"/>
    <p:sldId id="287" r:id="rId10"/>
    <p:sldId id="286" r:id="rId11"/>
    <p:sldId id="288" r:id="rId12"/>
    <p:sldId id="289" r:id="rId13"/>
    <p:sldId id="290" r:id="rId14"/>
    <p:sldId id="291" r:id="rId15"/>
    <p:sldId id="261" r:id="rId16"/>
    <p:sldId id="296" r:id="rId17"/>
    <p:sldId id="295" r:id="rId18"/>
    <p:sldId id="297" r:id="rId19"/>
    <p:sldId id="260" r:id="rId20"/>
    <p:sldId id="298" r:id="rId21"/>
    <p:sldId id="300" r:id="rId22"/>
    <p:sldId id="299" r:id="rId23"/>
    <p:sldId id="301" r:id="rId24"/>
    <p:sldId id="293" r:id="rId25"/>
    <p:sldId id="294" r:id="rId26"/>
    <p:sldId id="262" r:id="rId27"/>
    <p:sldId id="263" r:id="rId28"/>
    <p:sldId id="264" r:id="rId29"/>
    <p:sldId id="265" r:id="rId30"/>
    <p:sldId id="302" r:id="rId31"/>
    <p:sldId id="266" r:id="rId32"/>
    <p:sldId id="267" r:id="rId33"/>
    <p:sldId id="268" r:id="rId34"/>
    <p:sldId id="269" r:id="rId35"/>
    <p:sldId id="270" r:id="rId36"/>
    <p:sldId id="272" r:id="rId37"/>
    <p:sldId id="273" r:id="rId38"/>
    <p:sldId id="277" r:id="rId39"/>
    <p:sldId id="279" r:id="rId40"/>
    <p:sldId id="280" r:id="rId41"/>
    <p:sldId id="303" r:id="rId4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3" id="{CA5E9D0E-F730-5140-96B7-5E9CF3ABDFC3}">
          <p14:sldIdLst>
            <p14:sldId id="256"/>
            <p14:sldId id="257"/>
            <p14:sldId id="259"/>
            <p14:sldId id="285"/>
            <p14:sldId id="258"/>
            <p14:sldId id="283"/>
            <p14:sldId id="284"/>
            <p14:sldId id="287"/>
            <p14:sldId id="286"/>
            <p14:sldId id="288"/>
            <p14:sldId id="289"/>
            <p14:sldId id="290"/>
            <p14:sldId id="291"/>
            <p14:sldId id="261"/>
            <p14:sldId id="296"/>
            <p14:sldId id="295"/>
          </p14:sldIdLst>
        </p14:section>
        <p14:section name="Lecture 4" id="{14183D8D-9F73-DA4A-AAC9-5F6D3D312B31}">
          <p14:sldIdLst>
            <p14:sldId id="297"/>
            <p14:sldId id="260"/>
            <p14:sldId id="298"/>
            <p14:sldId id="300"/>
            <p14:sldId id="299"/>
            <p14:sldId id="301"/>
            <p14:sldId id="293"/>
            <p14:sldId id="294"/>
            <p14:sldId id="262"/>
            <p14:sldId id="263"/>
            <p14:sldId id="264"/>
            <p14:sldId id="265"/>
            <p14:sldId id="302"/>
            <p14:sldId id="266"/>
            <p14:sldId id="267"/>
            <p14:sldId id="268"/>
            <p14:sldId id="269"/>
            <p14:sldId id="270"/>
            <p14:sldId id="272"/>
            <p14:sldId id="273"/>
            <p14:sldId id="277"/>
            <p14:sldId id="279"/>
            <p14:sldId id="280"/>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58"/>
    <p:restoredTop sz="94694"/>
  </p:normalViewPr>
  <p:slideViewPr>
    <p:cSldViewPr snapToGrid="0" snapToObjects="1">
      <p:cViewPr varScale="1">
        <p:scale>
          <a:sx n="154" d="100"/>
          <a:sy n="154" d="100"/>
        </p:scale>
        <p:origin x="20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file covers both Week 2 meetings. Lecture 3 begins with slides 2–7, then uses the adoption case on slides 8–13. Lecture 4 begins at the divider on slide 14, then uses the homicide case and ends with the VDS and data-biography activities.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Invite students to reconstruct each term before revealing or explaining it. Connect the final statement to the Week 1 discussion of claims, context, and the VDS idea that data approximate reality.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Adapted from </a:t>
            </a:r>
            <a:r>
              <a:rPr dirty="0" err="1"/>
              <a:t>OpenIntro</a:t>
            </a:r>
            <a:r>
              <a:rPr dirty="0"/>
              <a:t> Statistics, Chapter 1, Exercise 1.17, as used in the Week 2 practice quiz. Ask students to explain why 1.65 is not a parameter and why one American is an observation rather than a variable.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Before class, replace the verbal prompt with the top one or two difficulties from the anonymous preparation check-in and item-level quiz results. In class, ask for a quick show of hands, then use the next three slides selectively. Student questions may also determine which examples receive more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D1AFE-82DF-1030-22FF-BDA9B4A14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1625D-A555-0279-0EBF-8D0E0AEB3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3EB04-7DF0-C49C-83DA-90348E7D6D00}"/>
              </a:ext>
            </a:extLst>
          </p:cNvPr>
          <p:cNvSpPr>
            <a:spLocks noGrp="1"/>
          </p:cNvSpPr>
          <p:nvPr>
            <p:ph type="body" idx="1"/>
          </p:nvPr>
        </p:nvSpPr>
        <p:spPr/>
        <p:txBody>
          <a:bodyPr/>
          <a:lstStyle/>
          <a:p>
            <a:r>
              <a:rPr dirty="0"/>
              <a:t>Before class, replace the verbal prompt with the top one or two difficulties from the anonymous preparation check-in and item-level quiz results. In class, ask for a quick show of hands, then use the next three slides selectively. Student questions may also determine which examples receive more time.</a:t>
            </a:r>
          </a:p>
        </p:txBody>
      </p:sp>
      <p:sp>
        <p:nvSpPr>
          <p:cNvPr id="4" name="Slide Number Placeholder 3">
            <a:extLst>
              <a:ext uri="{FF2B5EF4-FFF2-40B4-BE49-F238E27FC236}">
                <a16:creationId xmlns:a16="http://schemas.microsoft.com/office/drawing/2014/main" id="{E70DAC61-685F-34B3-6510-E49254F0250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45097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E88D5-AFC9-F20D-269E-23F96A564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6D4D4-7004-ACDD-9FCB-A47F1BE86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BEA82C-5875-9F53-EC48-A6A05823EF9D}"/>
              </a:ext>
            </a:extLst>
          </p:cNvPr>
          <p:cNvSpPr>
            <a:spLocks noGrp="1"/>
          </p:cNvSpPr>
          <p:nvPr>
            <p:ph type="body" idx="1"/>
          </p:nvPr>
        </p:nvSpPr>
        <p:spPr/>
        <p:txBody>
          <a:bodyPr/>
          <a:lstStyle/>
          <a:p>
            <a:r>
              <a:rPr dirty="0"/>
              <a:t>Before class, replace the verbal prompt with the top one or two difficulties from the anonymous preparation check-in and item-level quiz results. In class, ask for a quick show of hands, then use the next three slides selectively. Student questions may also determine which examples receive more time.</a:t>
            </a:r>
          </a:p>
        </p:txBody>
      </p:sp>
      <p:sp>
        <p:nvSpPr>
          <p:cNvPr id="4" name="Slide Number Placeholder 3">
            <a:extLst>
              <a:ext uri="{FF2B5EF4-FFF2-40B4-BE49-F238E27FC236}">
                <a16:creationId xmlns:a16="http://schemas.microsoft.com/office/drawing/2014/main" id="{D380DFDB-FA9B-A153-5B08-E493423A0D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75411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All values are invented for instruction. Ask students why Student is an identifier rather than a measured variable of interest. Point out that a case can be a person here, but cases could also be cities, adoptions, or city-years in other datasets.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Read the map from the middle. Each case has a value for each variable. Statistics come from the observed sample. Parameters refer to the population and are usually unknown. Ask students where the word data belongs: the organized collection of observed values with their cases and variables.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statistic estimates or describes a parameter. Ask students to change the target population to all Columbia undergraduates and explain how that changes the parameter without changing the observed sample statistic.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Numbers can serve as category labels. The mathematical operations that make sense determine the type. Course section 001 and 002 are categorical labels even though they contain digits.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Answer key: lecture section is categorical nominal. Problems completed is numerical discrete. Minutes studying is numerical continuous. Confidence is categorical ordinal. Quiz score is numerical discrete when recorded as whole-number points. Practice-tool use is categorical nominal and binary.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Ask which mathematical operation would be meaningful for each variable. Averages do not make sense for student ID or class-year codes. Averages of ordinal ratings are common in practice, but the interpretation assumes roughly equal spacing between levels.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Both examples come from the Week 2 flipped work. For the rat study, reporting systems, public attention, and city differences can confound or distort the association. For the vitamin-C study, participants were blinded but nurses distributing pills knew assignments, so the design was not fully double-blind.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C6A0E-D618-CA5B-364F-2F1B19F12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F98A02-87CB-A603-EC17-D8ABB2B48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F714FE-8C7B-5CAE-5F8D-00D6B3066EBD}"/>
              </a:ext>
            </a:extLst>
          </p:cNvPr>
          <p:cNvSpPr>
            <a:spLocks noGrp="1"/>
          </p:cNvSpPr>
          <p:nvPr>
            <p:ph type="body" idx="1"/>
          </p:nvPr>
        </p:nvSpPr>
        <p:spPr/>
        <p:txBody>
          <a:bodyPr/>
          <a:lstStyle/>
          <a:p>
            <a:r>
              <a:rPr dirty="0"/>
              <a:t>This file covers both Week 2 meetings. Lecture 3 begins with slides 2–7, then uses the adoption case on slides 8–13. Lecture 4 begins at the divider on slide 14, then uses the homicide case and ends with the VDS and data-biography activities.</a:t>
            </a:r>
          </a:p>
        </p:txBody>
      </p:sp>
      <p:sp>
        <p:nvSpPr>
          <p:cNvPr id="4" name="Slide Number Placeholder 3">
            <a:extLst>
              <a:ext uri="{FF2B5EF4-FFF2-40B4-BE49-F238E27FC236}">
                <a16:creationId xmlns:a16="http://schemas.microsoft.com/office/drawing/2014/main" id="{467A66B5-CA1B-39FB-6D9A-71F2513618C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02526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chia-seed item from the Week 2 practice quiz. The experiment blocked by sex and randomly assigned treatment, so the treatment comparison can be causal for participants. Volunteer recruitment limits population generalization. Emphasize that sampling and assignment answer different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hypothetical teaching pattern rather than a dataset presented for estimation. Hot weather is associated with ice cream sales and changes swimming exposure, which affects drowning risk. The example demonstrates why temporal or seasonal variables can confound observational associations.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Contrast sampling with assignment. Random assignment addresses confounding for the treatment comparison among participants. It does not make the participants representative of a broader population. Blocking by prior score happens before assignment, then researchers randomize within each 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For a roster of 300 students and a desired sample of 60, k would be 5. A systematic sample needs a random start among the first five entries. Ask what happens if the roster is sorted in a repeating pattern related to quiz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Students often confuse strata and clusters. In stratified sampling, sample from every stratum. In cluster sampling, randomly select some clusters and observe their members. Multistage sampling adds random selection within chosen clusters. These designs can use unequal probabilities if the probabilities are known and analysis uses appropriate weights.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Equal chance is a useful introductory diagnostic, not a requirement for every valid sampling design. Stratified designs may use known unequal probabilities and recover population estimates with design weights. The concern today is uncontrolled selection related to the outcome.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this as a short news excerpt and ask students to mark the factual claims, the implied study, and one phrase that raises a selection question. Source: University of Florida Shelter Medicine Program, ‘Shelter to Home surveys of early post-adoption experiences with more than 22,000 dog and cat adopters,’ February 20, 2026. https://sheltermedicine.vetmed.ufl.edu/2026/02/20/shelter-to-home-surveys-of-early-post-adoption-experiences-with-more-than-22000-dog-and-cat-adopters/ . The slide is a paraphrase, not a quotation.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University of Florida Shelter Medicine Program, ‘Shelter to Home surveys of early post-adoption experiences with more than 22,000 dog and cat adopters,’ February 20, 2026. https://sheltermedicine.vetmed.ufl.edu/2026/02/20/shelter-to-home-surveys-of-early-post-adoption-experiences-with-more-than-22000-dog-and-cat-adopters/ . Ask students which number initially feels most convincing and why.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Working answer: a defensible target population is all U.S. shelter and rescue adoptions during the study period. The primary individual for selection is one adoption or adopter-pet placement. A response at a particular survey time is an observation, and observations can repeat within an adoption.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three filters may create unequal inclusion. Organization participation affects coverage. Survey response creates nonresponse. The pet-still-in-home rule gives some unsuccessful placements zero chance of contributing an eligible satisfaction response. Source: University of Florida summary and Slater et al., Shelter to Home, https://jsmcah.org/index.php/jasv/article/view/158/447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University of Florida summary. Positive ratings were defined as 4 or 5 out of 5. Distinguish the original ordinal rating from the derived binary variable. Ask whether satisfaction, challenges, and pet retention should remain separate outcomes.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tell students that the direction is mathematically guaranteed. The plausible concern is that placements ending early have lower satisfaction, which would make the eligible-response sample too positive. A national multistage sample could first sample organizations, then randomly sample adoptions within them, with known inclusion weights and follow-up regardless of placement status.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Begin Thursday here. Ask students to recall the adoption redesign from Tuesday. The homicide case that follows focuses on population coverage, standardized measurement, and a claim that remains descriptive rather than causal. The Thursday goal is to identify a weakness, redesign the study, and revise the claim to match the improved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this as a short news excerpt. Ask students to circle the numerical result, underline the study population, and box the caveat. Sources: Associated Press, ‘Homicide rate declines sharply in dozens of US cities,’ January 22, 2026, https://apnews.com/article/homicide-rate-decrease-cities-crime-b6fce2ee6c2169a6bb4aaf3e82bab032 ; Council on Criminal Justice, ‘Crime Trends in U.S. Cities: Year-End 2025 Update,’ https://counciloncj.org/crime-trends-in-u-s-cities-year-end-2025-update/ . The slide is a paraphrase, not a quotation.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Working answer: for a national city-level claim, the target population could be all U.S. cities or reporting jurisdictions. The primary sampling unit is a city. A city-year is a repeated observation. Individual homicide incidents are cases in the administrative records, but the selection mechanism in this report operates mainly at the city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report used cities with consistently available monthly data. Selection therefore depends on reporting infrastructure and participation rather than random selection. Smaller, rural, or less-resourced jurisdictions may have little or no chance of appearing. Source: Council on Criminal Justice methods and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figure: Bin Yu and Rebecca Barter, Veridical Data Science, Chapter 1, Figure 1.1, https://vdsbook.com/01-veridical_ds . Emphasize that data are an approximation of reality. Future data are not automatically a fresh unbiased view. They depend on the future measurement and selection process.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from critique to documentation. The short description reports a result but hides provenance, selection, measurement, coverage, missingness, and limits. Tell students that a data biography makes those hidden decisions visible. This mirrors Mini-project 1: Data Biography and Retrieval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Have pairs choose either the adoption study or the homicide study. Ask for six concise sentences, then invite one pair to read theirs aloud while classmates identify what is still unknown. This is a low-stakes rehearsal for Mini-project 1. The submitted project biography later also documents geographic and temporal coverage, aggregation, missing values, filters, and claims the data cannot support.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B38D-37AD-E536-7FD9-9606547B1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10BC0-1056-5971-3155-10E4CE27B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29C52-900E-6919-3D18-182E5B9BF199}"/>
              </a:ext>
            </a:extLst>
          </p:cNvPr>
          <p:cNvSpPr>
            <a:spLocks noGrp="1"/>
          </p:cNvSpPr>
          <p:nvPr>
            <p:ph type="body" idx="1"/>
          </p:nvPr>
        </p:nvSpPr>
        <p:spPr/>
        <p:txBody>
          <a:bodyPr/>
          <a:lstStyle/>
          <a:p>
            <a:r>
              <a:t>Have pairs choose either the adoption study or the homicide study. Ask for six concise sentences, then invite one pair to read theirs aloud while classmates identify what is still unknown. This is a low-stakes rehearsal for Mini-project 1. The submitted project biography later also documents geographic and temporal coverage, aggregation, missing values, filters, and claims the data cannot support.</a:t>
            </a:r>
          </a:p>
        </p:txBody>
      </p:sp>
      <p:sp>
        <p:nvSpPr>
          <p:cNvPr id="4" name="Slide Number Placeholder 3">
            <a:extLst>
              <a:ext uri="{FF2B5EF4-FFF2-40B4-BE49-F238E27FC236}">
                <a16:creationId xmlns:a16="http://schemas.microsoft.com/office/drawing/2014/main" id="{D4A7D7A8-5466-9F61-30B0-65459622E0D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269306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284AFC-8E87-4B0E-BE39-13D7D7004D4C}"/>
              </a:ext>
            </a:extLst>
          </p:cNvPr>
          <p:cNvSpPr>
            <a:spLocks noGrp="1"/>
          </p:cNvSpPr>
          <p:nvPr/>
        </p:nvSpPr>
        <p:spPr>
          <a:xfrm>
            <a:off x="1" y="4750738"/>
            <a:ext cx="9144000" cy="49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D8BB117-1CF2-48CB-B3CB-01F0BB7C8AE4}"/>
              </a:ext>
            </a:extLst>
          </p:cNvPr>
          <p:cNvSpPr>
            <a:spLocks noGrp="1"/>
          </p:cNvSpPr>
          <p:nvPr>
            <p:ph type="ctrTitle"/>
          </p:nvPr>
        </p:nvSpPr>
        <p:spPr>
          <a:xfrm>
            <a:off x="822960" y="569214"/>
            <a:ext cx="7543800" cy="2674620"/>
          </a:xfrm>
        </p:spPr>
        <p:txBody>
          <a:bodyPr anchor="b">
            <a:normAutofit/>
          </a:bodyPr>
          <a:lstStyle>
            <a:lvl1pPr algn="l">
              <a:lnSpc>
                <a:spcPct val="85000"/>
              </a:lnSpc>
              <a:buNone/>
              <a:defRPr sz="5400" spc="-34" baseline="0">
                <a:solidFill>
                  <a:schemeClr val="tx1">
                    <a:lumMod val="85000"/>
                    <a:lumOff val="15000"/>
                  </a:schemeClr>
                </a:solidFill>
              </a:defRPr>
            </a:lvl1pPr>
          </a:lstStyle>
          <a:p>
            <a:r>
              <a:t>Click to edit Master title style</a:t>
            </a:r>
          </a:p>
        </p:txBody>
      </p:sp>
      <p:sp>
        <p:nvSpPr>
          <p:cNvPr id="3" name="Subtitle 2">
            <a:extLst>
              <a:ext uri="{FF2B5EF4-FFF2-40B4-BE49-F238E27FC236}">
                <a16:creationId xmlns:a16="http://schemas.microsoft.com/office/drawing/2014/main" id="{D1F20E0A-CBBD-4238-8F8D-E5DB83C23641}"/>
              </a:ext>
            </a:extLst>
          </p:cNvPr>
          <p:cNvSpPr>
            <a:spLocks noGrp="1"/>
          </p:cNvSpPr>
          <p:nvPr>
            <p:ph type="subTitle" idx="1"/>
          </p:nvPr>
        </p:nvSpPr>
        <p:spPr>
          <a:xfrm>
            <a:off x="825038" y="3341716"/>
            <a:ext cx="7543800" cy="857250"/>
          </a:xfrm>
        </p:spPr>
        <p:txBody>
          <a:bodyPr lIns="91440" rIns="91440">
            <a:normAutofit/>
          </a:bodyPr>
          <a:lstStyle>
            <a:lvl1pPr marL="0" indent="0" algn="l">
              <a:buNone/>
              <a:defRPr sz="1620" cap="all" spc="135" baseline="0">
                <a:solidFill>
                  <a:schemeClr val="tx2"/>
                </a:solidFill>
                <a:latin typeface="+mj-lt"/>
                <a:ea typeface="+mj-lt"/>
                <a:cs typeface="+mj-lt"/>
              </a:defRPr>
            </a:lvl1pPr>
            <a:lvl2pPr marL="308610" indent="0" algn="ctr">
              <a:buNone/>
              <a:defRPr sz="1620"/>
            </a:lvl2pPr>
            <a:lvl3pPr marL="617220" indent="0" algn="ctr">
              <a:buNone/>
              <a:defRPr sz="1620"/>
            </a:lvl3pPr>
            <a:lvl4pPr marL="925830" indent="0" algn="ctr">
              <a:buNone/>
              <a:defRPr sz="1350"/>
            </a:lvl4pPr>
            <a:lvl5pPr marL="1234440" indent="0" algn="ctr">
              <a:buNone/>
              <a:defRPr sz="1350"/>
            </a:lvl5pPr>
            <a:lvl6pPr marL="1543050" indent="0" algn="ctr">
              <a:buNone/>
              <a:defRPr sz="1350"/>
            </a:lvl6pPr>
            <a:lvl7pPr marL="1851660" indent="0" algn="ctr">
              <a:buNone/>
              <a:defRPr sz="1350"/>
            </a:lvl7pPr>
            <a:lvl8pPr marL="2160270" indent="0" algn="ctr">
              <a:buNone/>
              <a:defRPr sz="1350"/>
            </a:lvl8pPr>
            <a:lvl9pPr marL="2468880" indent="0" algn="ctr">
              <a:buNone/>
              <a:defRPr sz="1350"/>
            </a:lvl9pPr>
          </a:lstStyle>
          <a:p>
            <a:r>
              <a:t>Click to edit Master subtitle style</a:t>
            </a:r>
          </a:p>
        </p:txBody>
      </p:sp>
      <p:sp>
        <p:nvSpPr>
          <p:cNvPr id="9" name="Straight Connector 8">
            <a:extLst>
              <a:ext uri="{FF2B5EF4-FFF2-40B4-BE49-F238E27FC236}">
                <a16:creationId xmlns:a16="http://schemas.microsoft.com/office/drawing/2014/main" id="{40BB1C1A-EF68-4561-8736-3081C217C916}"/>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pic>
        <p:nvPicPr>
          <p:cNvPr id="15" name="Picture 9"/>
          <p:cNvPicPr>
            <a:picLocks noChangeAspect="1"/>
          </p:cNvPicPr>
          <p:nvPr/>
        </p:nvPicPr>
        <p:blipFill>
          <a:blip r:embed="rId2"/>
          <a:stretch>
            <a:fillRect/>
          </a:stretch>
        </p:blipFill>
        <p:spPr>
          <a:xfrm>
            <a:off x="32374" y="4868549"/>
            <a:ext cx="1725549" cy="23168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7EC0-7888-4F79-B783-AE2428F2BC6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A93E751-77B0-4F13-B5FF-1F88F1EE1B9A}"/>
              </a:ext>
            </a:extLst>
          </p:cNvPr>
          <p:cNvSpPr>
            <a:spLocks noGrp="1"/>
          </p:cNvSpPr>
          <p:nvPr>
            <p:ph idx="1"/>
          </p:nvPr>
        </p:nvSpPr>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22C94EE-EA18-4705-BF34-74EAFB95DD89}"/>
              </a:ext>
            </a:extLst>
          </p:cNvPr>
          <p:cNvSpPr>
            <a:spLocks noGrp="1"/>
          </p:cNvSpPr>
          <p:nvPr>
            <p:ph type="dt" idx="10"/>
          </p:nvPr>
        </p:nvSpPr>
        <p:spPr/>
        <p:txBody>
          <a:bodyPr/>
          <a:lstStyle/>
          <a:p>
            <a:fld id="{9B3A1323-8D79-1946-B0D7-40001CF92E9D}" type="datetimeFigureOut">
              <a:t>9/16/26</a:t>
            </a:fld>
            <a:endParaRPr/>
          </a:p>
        </p:txBody>
      </p:sp>
      <p:sp>
        <p:nvSpPr>
          <p:cNvPr id="5" name="Footer Placeholder 4">
            <a:extLst>
              <a:ext uri="{FF2B5EF4-FFF2-40B4-BE49-F238E27FC236}">
                <a16:creationId xmlns:a16="http://schemas.microsoft.com/office/drawing/2014/main" id="{063BF6DA-1BEE-4E99-A6D1-1992C8C5E44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96932D3-1CDF-475C-A7BE-B30DBBBCD736}"/>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B03172-C8C6-46AC-A7B7-B3D74A98CA80}"/>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BD5622D9-8DB9-46AE-A9C6-9734DE7F45DE}"/>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12FBB2A-32DC-42B3-8511-61D72DB09EC9}"/>
              </a:ext>
            </a:extLst>
          </p:cNvPr>
          <p:cNvSpPr>
            <a:spLocks noGrp="1"/>
          </p:cNvSpPr>
          <p:nvPr>
            <p:ph type="title"/>
          </p:nvPr>
        </p:nvSpPr>
        <p:spPr>
          <a:xfrm>
            <a:off x="822960" y="569214"/>
            <a:ext cx="7543800" cy="2674620"/>
          </a:xfrm>
        </p:spPr>
        <p:txBody>
          <a:bodyPr anchor="b">
            <a:normAutofit/>
          </a:bodyPr>
          <a:lstStyle>
            <a:lvl1pPr>
              <a:lnSpc>
                <a:spcPct val="85000"/>
              </a:lnSpc>
              <a:buNone/>
              <a:defRPr sz="5400" b="0">
                <a:solidFill>
                  <a:schemeClr val="tx1">
                    <a:lumMod val="85000"/>
                    <a:lumOff val="15000"/>
                  </a:schemeClr>
                </a:solidFill>
              </a:defRPr>
            </a:lvl1pPr>
          </a:lstStyle>
          <a:p>
            <a:r>
              <a:t>Click to edit Master title style</a:t>
            </a:r>
          </a:p>
        </p:txBody>
      </p:sp>
      <p:sp>
        <p:nvSpPr>
          <p:cNvPr id="3" name="Text Placeholder 2">
            <a:extLst>
              <a:ext uri="{FF2B5EF4-FFF2-40B4-BE49-F238E27FC236}">
                <a16:creationId xmlns:a16="http://schemas.microsoft.com/office/drawing/2014/main" id="{5B01D0C5-3408-40AF-9F12-D8B0B1F4259E}"/>
              </a:ext>
            </a:extLst>
          </p:cNvPr>
          <p:cNvSpPr>
            <a:spLocks noGrp="1"/>
          </p:cNvSpPr>
          <p:nvPr>
            <p:ph type="body" idx="1"/>
          </p:nvPr>
        </p:nvSpPr>
        <p:spPr>
          <a:xfrm>
            <a:off x="822960" y="3339846"/>
            <a:ext cx="7543800" cy="857250"/>
          </a:xfrm>
        </p:spPr>
        <p:txBody>
          <a:bodyPr lIns="91440" rIns="91440" anchor="t">
            <a:normAutofit/>
          </a:bodyPr>
          <a:lstStyle>
            <a:lvl1pPr marL="0" indent="0">
              <a:buNone/>
              <a:defRPr sz="1620" cap="all" spc="135" baseline="0">
                <a:solidFill>
                  <a:schemeClr val="tx2"/>
                </a:solidFill>
                <a:latin typeface="+mj-lt"/>
                <a:ea typeface="+mj-lt"/>
                <a:cs typeface="+mj-lt"/>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buNone/>
            </a:pPr>
            <a:r>
              <a:t>Edit Master text styles</a:t>
            </a:r>
          </a:p>
        </p:txBody>
      </p:sp>
      <p:sp>
        <p:nvSpPr>
          <p:cNvPr id="4" name="Date Placeholder 3">
            <a:extLst>
              <a:ext uri="{FF2B5EF4-FFF2-40B4-BE49-F238E27FC236}">
                <a16:creationId xmlns:a16="http://schemas.microsoft.com/office/drawing/2014/main" id="{157A2AD8-F7F4-475A-8B91-BF22B31CD848}"/>
              </a:ext>
            </a:extLst>
          </p:cNvPr>
          <p:cNvSpPr>
            <a:spLocks noGrp="1"/>
          </p:cNvSpPr>
          <p:nvPr>
            <p:ph type="dt" idx="10"/>
          </p:nvPr>
        </p:nvSpPr>
        <p:spPr/>
        <p:txBody>
          <a:bodyPr/>
          <a:lstStyle/>
          <a:p>
            <a:fld id="{8DFA1846-DA80-1C48-A609-854EA85C59AD}" type="datetimeFigureOut">
              <a:t>9/16/26</a:t>
            </a:fld>
            <a:endParaRPr/>
          </a:p>
        </p:txBody>
      </p:sp>
      <p:sp>
        <p:nvSpPr>
          <p:cNvPr id="5" name="Footer Placeholder 4">
            <a:extLst>
              <a:ext uri="{FF2B5EF4-FFF2-40B4-BE49-F238E27FC236}">
                <a16:creationId xmlns:a16="http://schemas.microsoft.com/office/drawing/2014/main" id="{7B357B30-9DD6-46CF-8B3B-5BDF5D45FD4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FE3438A-1C29-44B2-9E55-4B54C77E279A}"/>
              </a:ext>
            </a:extLst>
          </p:cNvPr>
          <p:cNvSpPr>
            <a:spLocks noGrp="1"/>
          </p:cNvSpPr>
          <p:nvPr>
            <p:ph type="sldNum" idx="12"/>
          </p:nvPr>
        </p:nvSpPr>
        <p:spPr/>
        <p:txBody>
          <a:bodyPr/>
          <a:lstStyle/>
          <a:p>
            <a:fld id="{D57F1E4F-1CFF-5643-939E-217C01CDF565}" type="slidenum">
              <a:t>‹#›</a:t>
            </a:fld>
            <a:endParaRPr/>
          </a:p>
        </p:txBody>
      </p:sp>
      <p:sp>
        <p:nvSpPr>
          <p:cNvPr id="9" name="Straight Connector 8">
            <a:extLst>
              <a:ext uri="{FF2B5EF4-FFF2-40B4-BE49-F238E27FC236}">
                <a16:creationId xmlns:a16="http://schemas.microsoft.com/office/drawing/2014/main" id="{5DD025DF-55E6-47BB-BA54-D9BDBB245862}"/>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23C587-AFEF-4A1B-A582-18D625D47ED8}"/>
              </a:ext>
            </a:extLst>
          </p:cNvPr>
          <p:cNvSpPr>
            <a:spLocks noGrp="1"/>
          </p:cNvSpPr>
          <p:nvPr>
            <p:ph type="title"/>
          </p:nvPr>
        </p:nvSpPr>
        <p:spPr>
          <a:xfrm>
            <a:off x="822960" y="214952"/>
            <a:ext cx="7543800" cy="1088068"/>
          </a:xfrm>
        </p:spPr>
        <p:txBody>
          <a:bodyPr/>
          <a:lstStyle/>
          <a:p>
            <a:r>
              <a:t>Click to edit Master title style</a:t>
            </a:r>
          </a:p>
        </p:txBody>
      </p:sp>
      <p:sp>
        <p:nvSpPr>
          <p:cNvPr id="3" name="Content Placeholder 2">
            <a:extLst>
              <a:ext uri="{FF2B5EF4-FFF2-40B4-BE49-F238E27FC236}">
                <a16:creationId xmlns:a16="http://schemas.microsoft.com/office/drawing/2014/main" id="{1EF4743D-9CF4-4538-BAE8-FBE205FD1FF0}"/>
              </a:ext>
            </a:extLst>
          </p:cNvPr>
          <p:cNvSpPr>
            <a:spLocks noGrp="1"/>
          </p:cNvSpPr>
          <p:nvPr>
            <p:ph idx="1"/>
          </p:nvPr>
        </p:nvSpPr>
        <p:spPr>
          <a:xfrm>
            <a:off x="822960" y="1384301"/>
            <a:ext cx="3703320" cy="3017519"/>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E361DADF-2F8B-47EB-902B-361ABDF242C5}"/>
              </a:ext>
            </a:extLst>
          </p:cNvPr>
          <p:cNvSpPr>
            <a:spLocks noGrp="1"/>
          </p:cNvSpPr>
          <p:nvPr>
            <p:ph idx="2"/>
          </p:nvPr>
        </p:nvSpPr>
        <p:spPr>
          <a:xfrm>
            <a:off x="4663440" y="1384302"/>
            <a:ext cx="3703320" cy="301752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1B300EA-8C58-4C3C-AF76-9BF967BAF48B}"/>
              </a:ext>
            </a:extLst>
          </p:cNvPr>
          <p:cNvSpPr>
            <a:spLocks noGrp="1"/>
          </p:cNvSpPr>
          <p:nvPr>
            <p:ph type="dt" idx="10"/>
          </p:nvPr>
        </p:nvSpPr>
        <p:spPr/>
        <p:txBody>
          <a:bodyPr/>
          <a:lstStyle/>
          <a:p>
            <a:fld id="{57302355-E14B-8545-A8F8-0FE83CC9D524}" type="datetimeFigureOut">
              <a:t>9/16/26</a:t>
            </a:fld>
            <a:endParaRPr/>
          </a:p>
        </p:txBody>
      </p:sp>
      <p:sp>
        <p:nvSpPr>
          <p:cNvPr id="6" name="Footer Placeholder 5">
            <a:extLst>
              <a:ext uri="{FF2B5EF4-FFF2-40B4-BE49-F238E27FC236}">
                <a16:creationId xmlns:a16="http://schemas.microsoft.com/office/drawing/2014/main" id="{D7DCC448-6979-4108-AFC8-422247A6435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FB96C2D-70BC-440F-92C5-2388F321CF88}"/>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E0044F8-3FBF-4990-820F-5E2D72EB4166}"/>
              </a:ext>
            </a:extLst>
          </p:cNvPr>
          <p:cNvSpPr>
            <a:spLocks noGrp="1"/>
          </p:cNvSpPr>
          <p:nvPr>
            <p:ph type="title"/>
          </p:nvPr>
        </p:nvSpPr>
        <p:spPr>
          <a:xfrm>
            <a:off x="822960" y="214952"/>
            <a:ext cx="7543800" cy="1088068"/>
          </a:xfrm>
        </p:spPr>
        <p:txBody>
          <a:bodyPr/>
          <a:lstStyle/>
          <a:p>
            <a:r>
              <a:t>Click to edit Master title style</a:t>
            </a:r>
          </a:p>
        </p:txBody>
      </p:sp>
      <p:sp>
        <p:nvSpPr>
          <p:cNvPr id="3" name="Text Placeholder 2">
            <a:extLst>
              <a:ext uri="{FF2B5EF4-FFF2-40B4-BE49-F238E27FC236}">
                <a16:creationId xmlns:a16="http://schemas.microsoft.com/office/drawing/2014/main" id="{877F71A5-7DF6-45FD-ACFD-6E8831BFE36C}"/>
              </a:ext>
            </a:extLst>
          </p:cNvPr>
          <p:cNvSpPr>
            <a:spLocks noGrp="1"/>
          </p:cNvSpPr>
          <p:nvPr>
            <p:ph type="body" idx="1"/>
          </p:nvPr>
        </p:nvSpPr>
        <p:spPr>
          <a:xfrm>
            <a:off x="822960" y="1384539"/>
            <a:ext cx="3703320" cy="552211"/>
          </a:xfrm>
        </p:spPr>
        <p:txBody>
          <a:bodyPr lIns="91440" rIns="91440" anchor="ctr">
            <a:normAutofit/>
          </a:bodyPr>
          <a:lstStyle>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buNone/>
            </a:pPr>
            <a:r>
              <a:t>Edit Master text styles</a:t>
            </a:r>
          </a:p>
        </p:txBody>
      </p:sp>
      <p:sp>
        <p:nvSpPr>
          <p:cNvPr id="4" name="Content Placeholder 3">
            <a:extLst>
              <a:ext uri="{FF2B5EF4-FFF2-40B4-BE49-F238E27FC236}">
                <a16:creationId xmlns:a16="http://schemas.microsoft.com/office/drawing/2014/main" id="{6987D9A8-6FF0-4C58-B3D9-AEA8F2394142}"/>
              </a:ext>
            </a:extLst>
          </p:cNvPr>
          <p:cNvSpPr>
            <a:spLocks noGrp="1"/>
          </p:cNvSpPr>
          <p:nvPr>
            <p:ph idx="2"/>
          </p:nvPr>
        </p:nvSpPr>
        <p:spPr>
          <a:xfrm>
            <a:off x="822960" y="1936752"/>
            <a:ext cx="3703320" cy="246507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9CE566CA-3474-4274-A0BB-33971925C67D}"/>
              </a:ext>
            </a:extLst>
          </p:cNvPr>
          <p:cNvSpPr>
            <a:spLocks noGrp="1"/>
          </p:cNvSpPr>
          <p:nvPr>
            <p:ph type="body" idx="3"/>
          </p:nvPr>
        </p:nvSpPr>
        <p:spPr>
          <a:xfrm>
            <a:off x="4663440" y="1384539"/>
            <a:ext cx="3703320" cy="552211"/>
          </a:xfrm>
        </p:spPr>
        <p:txBody>
          <a:bodyPr lIns="91440" rIns="91440" anchor="ctr">
            <a:normAutofit/>
          </a:bodyPr>
          <a:lstStyle>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buNone/>
            </a:pPr>
            <a:r>
              <a:t>Edit Master text styles</a:t>
            </a:r>
          </a:p>
        </p:txBody>
      </p:sp>
      <p:sp>
        <p:nvSpPr>
          <p:cNvPr id="6" name="Content Placeholder 5">
            <a:extLst>
              <a:ext uri="{FF2B5EF4-FFF2-40B4-BE49-F238E27FC236}">
                <a16:creationId xmlns:a16="http://schemas.microsoft.com/office/drawing/2014/main" id="{58FD09DC-3B9F-4699-99AA-5D98726AD9EA}"/>
              </a:ext>
            </a:extLst>
          </p:cNvPr>
          <p:cNvSpPr>
            <a:spLocks noGrp="1"/>
          </p:cNvSpPr>
          <p:nvPr>
            <p:ph idx="4"/>
          </p:nvPr>
        </p:nvSpPr>
        <p:spPr>
          <a:xfrm>
            <a:off x="4663440" y="1936751"/>
            <a:ext cx="3703320" cy="246507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BD944942-8A07-465E-ADBB-47DD7F8B7DE7}"/>
              </a:ext>
            </a:extLst>
          </p:cNvPr>
          <p:cNvSpPr>
            <a:spLocks noGrp="1"/>
          </p:cNvSpPr>
          <p:nvPr>
            <p:ph type="dt" idx="10"/>
          </p:nvPr>
        </p:nvSpPr>
        <p:spPr/>
        <p:txBody>
          <a:bodyPr/>
          <a:lstStyle/>
          <a:p>
            <a:fld id="{02640F58-564D-2B4F-AE67-E407BA4FCF45}" type="datetimeFigureOut">
              <a:t>9/16/26</a:t>
            </a:fld>
            <a:endParaRPr/>
          </a:p>
        </p:txBody>
      </p:sp>
      <p:sp>
        <p:nvSpPr>
          <p:cNvPr id="8" name="Footer Placeholder 7">
            <a:extLst>
              <a:ext uri="{FF2B5EF4-FFF2-40B4-BE49-F238E27FC236}">
                <a16:creationId xmlns:a16="http://schemas.microsoft.com/office/drawing/2014/main" id="{94EA360A-BF90-4154-A632-2DBA4C10A5F1}"/>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D8BF464-3292-4A15-8662-D4B9F724ED0A}"/>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7848-90DC-4E82-8793-D9AFE2DA73AC}"/>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8371DB2-0E4F-4EDE-A6EB-616898AAD960}"/>
              </a:ext>
            </a:extLst>
          </p:cNvPr>
          <p:cNvSpPr>
            <a:spLocks noGrp="1"/>
          </p:cNvSpPr>
          <p:nvPr>
            <p:ph type="dt" idx="10"/>
          </p:nvPr>
        </p:nvSpPr>
        <p:spPr/>
        <p:txBody>
          <a:bodyPr/>
          <a:lstStyle/>
          <a:p>
            <a:fld id="{F13A34C8-038E-2045-AF43-DF7DBB8E0E9E}" type="datetimeFigureOut">
              <a:t>9/16/26</a:t>
            </a:fld>
            <a:endParaRPr/>
          </a:p>
        </p:txBody>
      </p:sp>
      <p:sp>
        <p:nvSpPr>
          <p:cNvPr id="4" name="Footer Placeholder 3">
            <a:extLst>
              <a:ext uri="{FF2B5EF4-FFF2-40B4-BE49-F238E27FC236}">
                <a16:creationId xmlns:a16="http://schemas.microsoft.com/office/drawing/2014/main" id="{A08F177A-C152-44AF-94D4-B5867649B85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344609AB-61F4-4E61-9E57-4223E65F44BF}"/>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8A8411-E9F4-4135-BC64-C1666317C091}"/>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5F6F7C43-735E-4E07-9556-D2F469FF7861}"/>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a:extLst>
              <a:ext uri="{FF2B5EF4-FFF2-40B4-BE49-F238E27FC236}">
                <a16:creationId xmlns:a16="http://schemas.microsoft.com/office/drawing/2014/main" id="{F944895B-E13D-4ABB-A07E-44AB56E47F83}"/>
              </a:ext>
            </a:extLst>
          </p:cNvPr>
          <p:cNvSpPr>
            <a:spLocks noGrp="1"/>
          </p:cNvSpPr>
          <p:nvPr>
            <p:ph type="dt" idx="10"/>
          </p:nvPr>
        </p:nvSpPr>
        <p:spPr/>
        <p:txBody>
          <a:bodyPr/>
          <a:lstStyle/>
          <a:p>
            <a:fld id="{8818C68F-D26B-8F47-958C-23B49CF8A634}" type="datetimeFigureOut">
              <a:t>9/16/26</a:t>
            </a:fld>
            <a:endParaRPr/>
          </a:p>
        </p:txBody>
      </p:sp>
      <p:sp>
        <p:nvSpPr>
          <p:cNvPr id="8" name="Footer Placeholder 7">
            <a:extLst>
              <a:ext uri="{FF2B5EF4-FFF2-40B4-BE49-F238E27FC236}">
                <a16:creationId xmlns:a16="http://schemas.microsoft.com/office/drawing/2014/main" id="{43ED10AD-943E-493B-B1FF-43A9B46F047C}"/>
              </a:ext>
            </a:extLst>
          </p:cNvPr>
          <p:cNvSpPr>
            <a:spLocks noGrp="1"/>
          </p:cNvSpPr>
          <p:nvPr>
            <p:ph type="ftr" idx="11"/>
          </p:nvPr>
        </p:nvSpPr>
        <p:spPr/>
        <p:txBody>
          <a:bodyPr/>
          <a:lstStyle>
            <a:lvl1pPr>
              <a:buNone/>
              <a:defRPr>
                <a:solidFill>
                  <a:srgbClr val="FFFFFF"/>
                </a:solidFill>
              </a:defRPr>
            </a:lvl1pPr>
          </a:lstStyle>
          <a:p>
            <a:endParaRPr/>
          </a:p>
        </p:txBody>
      </p:sp>
      <p:sp>
        <p:nvSpPr>
          <p:cNvPr id="9" name="Slide Number Placeholder 8">
            <a:extLst>
              <a:ext uri="{FF2B5EF4-FFF2-40B4-BE49-F238E27FC236}">
                <a16:creationId xmlns:a16="http://schemas.microsoft.com/office/drawing/2014/main" id="{0F2EF2D1-BEEF-42AD-832B-3FAD5BDD24F3}"/>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43E99E-AA37-40FD-9BA2-34341CAE072A}"/>
              </a:ext>
            </a:extLst>
          </p:cNvPr>
          <p:cNvSpPr>
            <a:spLocks noGrp="1"/>
          </p:cNvSpPr>
          <p:nvPr/>
        </p:nvSpPr>
        <p:spPr>
          <a:xfrm>
            <a:off x="14"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B50E7AF5-17B9-4DD8-B837-56C2B26F4276}"/>
              </a:ext>
            </a:extLst>
          </p:cNvPr>
          <p:cNvSpPr>
            <a:spLocks noGrp="1"/>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ADB3D10-3642-4614-9D8E-BF0E3FE0E5D9}"/>
              </a:ext>
            </a:extLst>
          </p:cNvPr>
          <p:cNvSpPr>
            <a:spLocks noGrp="1"/>
          </p:cNvSpPr>
          <p:nvPr>
            <p:ph type="title"/>
          </p:nvPr>
        </p:nvSpPr>
        <p:spPr>
          <a:xfrm>
            <a:off x="342900" y="445769"/>
            <a:ext cx="2400300" cy="1714500"/>
          </a:xfrm>
        </p:spPr>
        <p:txBody>
          <a:bodyPr anchor="b">
            <a:normAutofit/>
          </a:bodyPr>
          <a:lstStyle>
            <a:lvl1pPr>
              <a:buNone/>
              <a:defRPr sz="2430" b="0">
                <a:solidFill>
                  <a:srgbClr val="FFFFFF"/>
                </a:solidFill>
              </a:defRPr>
            </a:lvl1pPr>
          </a:lstStyle>
          <a:p>
            <a:r>
              <a:t>Click to edit Master title style</a:t>
            </a:r>
          </a:p>
        </p:txBody>
      </p:sp>
      <p:sp>
        <p:nvSpPr>
          <p:cNvPr id="3" name="Content Placeholder 2">
            <a:extLst>
              <a:ext uri="{FF2B5EF4-FFF2-40B4-BE49-F238E27FC236}">
                <a16:creationId xmlns:a16="http://schemas.microsoft.com/office/drawing/2014/main" id="{3A117534-67B1-4353-A41D-D2620A1DC607}"/>
              </a:ext>
            </a:extLst>
          </p:cNvPr>
          <p:cNvSpPr>
            <a:spLocks noGrp="1"/>
          </p:cNvSpPr>
          <p:nvPr>
            <p:ph idx="1"/>
          </p:nvPr>
        </p:nvSpPr>
        <p:spPr>
          <a:xfrm>
            <a:off x="3600450" y="548640"/>
            <a:ext cx="4869180" cy="394335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008FD932-7029-4DD7-9FD4-CFA596894CF3}"/>
              </a:ext>
            </a:extLst>
          </p:cNvPr>
          <p:cNvSpPr>
            <a:spLocks noGrp="1"/>
          </p:cNvSpPr>
          <p:nvPr>
            <p:ph type="body" idx="2"/>
          </p:nvPr>
        </p:nvSpPr>
        <p:spPr>
          <a:xfrm>
            <a:off x="342900" y="2194561"/>
            <a:ext cx="2400300" cy="2534343"/>
          </a:xfrm>
        </p:spPr>
        <p:txBody>
          <a:bodyPr lIns="91440" rIns="91440">
            <a:normAutofit/>
          </a:bodyPr>
          <a:lstStyle>
            <a:lvl1pPr marL="0" indent="0">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buNone/>
            </a:pPr>
            <a:r>
              <a:t>Edit Master text styles</a:t>
            </a:r>
          </a:p>
        </p:txBody>
      </p:sp>
      <p:sp>
        <p:nvSpPr>
          <p:cNvPr id="5" name="Date Placeholder 4">
            <a:extLst>
              <a:ext uri="{FF2B5EF4-FFF2-40B4-BE49-F238E27FC236}">
                <a16:creationId xmlns:a16="http://schemas.microsoft.com/office/drawing/2014/main" id="{94D419AD-9E32-4352-8690-52950115DE1F}"/>
              </a:ext>
            </a:extLst>
          </p:cNvPr>
          <p:cNvSpPr>
            <a:spLocks noGrp="1"/>
          </p:cNvSpPr>
          <p:nvPr>
            <p:ph type="dt" idx="10"/>
          </p:nvPr>
        </p:nvSpPr>
        <p:spPr>
          <a:xfrm>
            <a:off x="349135" y="4844840"/>
            <a:ext cx="1963883" cy="273844"/>
          </a:xfrm>
        </p:spPr>
        <p:txBody>
          <a:bodyPr/>
          <a:lstStyle>
            <a:lvl1pPr algn="l">
              <a:buNone/>
              <a:defRPr/>
            </a:lvl1pPr>
          </a:lstStyle>
          <a:p>
            <a:fld id="{D0DF5E60-9974-AC48-9591-99C2BB44B7CF}" type="datetimeFigureOut">
              <a:t>9/16/26</a:t>
            </a:fld>
            <a:endParaRPr/>
          </a:p>
        </p:txBody>
      </p:sp>
      <p:sp>
        <p:nvSpPr>
          <p:cNvPr id="6" name="Footer Placeholder 5">
            <a:extLst>
              <a:ext uri="{FF2B5EF4-FFF2-40B4-BE49-F238E27FC236}">
                <a16:creationId xmlns:a16="http://schemas.microsoft.com/office/drawing/2014/main" id="{7D7AD821-94A4-4DBD-ABDB-BBFE5469159A}"/>
              </a:ext>
            </a:extLst>
          </p:cNvPr>
          <p:cNvSpPr>
            <a:spLocks noGrp="1"/>
          </p:cNvSpPr>
          <p:nvPr>
            <p:ph type="ftr" idx="11"/>
          </p:nvPr>
        </p:nvSpPr>
        <p:spPr>
          <a:xfrm>
            <a:off x="3600450" y="4844840"/>
            <a:ext cx="3486150" cy="273844"/>
          </a:xfrm>
        </p:spPr>
        <p:txBody>
          <a:bodyPr/>
          <a:lstStyle>
            <a:lvl1pPr algn="l">
              <a:buNone/>
              <a:defRPr>
                <a:solidFill>
                  <a:schemeClr val="tx2"/>
                </a:solidFill>
              </a:defRPr>
            </a:lvl1pPr>
          </a:lstStyle>
          <a:p>
            <a:endParaRPr/>
          </a:p>
        </p:txBody>
      </p:sp>
      <p:sp>
        <p:nvSpPr>
          <p:cNvPr id="7" name="Slide Number Placeholder 6">
            <a:extLst>
              <a:ext uri="{FF2B5EF4-FFF2-40B4-BE49-F238E27FC236}">
                <a16:creationId xmlns:a16="http://schemas.microsoft.com/office/drawing/2014/main" id="{6FD12AAA-CC67-4B37-8C07-1B33CF0C20A5}"/>
              </a:ext>
            </a:extLst>
          </p:cNvPr>
          <p:cNvSpPr>
            <a:spLocks noGrp="1"/>
          </p:cNvSpPr>
          <p:nvPr>
            <p:ph type="sldNum" idx="12"/>
          </p:nvPr>
        </p:nvSpPr>
        <p:spPr/>
        <p:txBody>
          <a:bodyPr/>
          <a:lstStyle>
            <a:lvl1pPr>
              <a:buNone/>
              <a:defRPr>
                <a:solidFill>
                  <a:schemeClr val="tx2"/>
                </a:solidFill>
              </a:defRPr>
            </a:lvl1pPr>
          </a:lstStyle>
          <a:p>
            <a:fld id="{D57F1E4F-1CFF-5643-939E-217C01CDF565}"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DD3D1A-97C3-4DDF-AEE1-38608AA41B7D}"/>
              </a:ext>
            </a:extLst>
          </p:cNvPr>
          <p:cNvSpPr>
            <a:spLocks noGrp="1"/>
          </p:cNvSpPr>
          <p:nvPr/>
        </p:nvSpPr>
        <p:spPr>
          <a:xfrm>
            <a:off x="1"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E33C07DE-40CF-4A37-BE4A-2C0F23E5577E}"/>
              </a:ext>
            </a:extLst>
          </p:cNvPr>
          <p:cNvSpPr>
            <a:spLocks noGrp="1"/>
          </p:cNvSpPr>
          <p:nvPr/>
        </p:nvSpPr>
        <p:spPr>
          <a:xfrm>
            <a:off x="13"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98D13FA-DF73-4605-B8A3-37C43E9BEF45}"/>
              </a:ext>
            </a:extLst>
          </p:cNvPr>
          <p:cNvSpPr>
            <a:spLocks noGrp="1"/>
          </p:cNvSpPr>
          <p:nvPr>
            <p:ph type="title"/>
          </p:nvPr>
        </p:nvSpPr>
        <p:spPr>
          <a:xfrm>
            <a:off x="822960" y="3806190"/>
            <a:ext cx="7585234" cy="617220"/>
          </a:xfrm>
        </p:spPr>
        <p:txBody>
          <a:bodyPr tIns="0" bIns="0" anchor="b">
            <a:noAutofit/>
          </a:bodyPr>
          <a:lstStyle>
            <a:lvl1pPr>
              <a:buNone/>
              <a:defRPr sz="2430" b="0">
                <a:solidFill>
                  <a:srgbClr val="FFFFFF"/>
                </a:solidFill>
              </a:defRPr>
            </a:lvl1pPr>
          </a:lstStyle>
          <a:p>
            <a:r>
              <a:t>Click to edit Master title style</a:t>
            </a:r>
          </a:p>
        </p:txBody>
      </p:sp>
      <p:sp>
        <p:nvSpPr>
          <p:cNvPr id="3" name="Picture Placeholder 2">
            <a:extLst>
              <a:ext uri="{FF2B5EF4-FFF2-40B4-BE49-F238E27FC236}">
                <a16:creationId xmlns:a16="http://schemas.microsoft.com/office/drawing/2014/main" id="{51103723-1D11-4717-804A-CDB4E41A61E7}"/>
              </a:ext>
            </a:extLst>
          </p:cNvPr>
          <p:cNvSpPr>
            <a:spLocks noGrp="1"/>
          </p:cNvSpPr>
          <p:nvPr>
            <p:ph type="pic" idx="1"/>
          </p:nvPr>
        </p:nvSpPr>
        <p:spPr>
          <a:xfrm>
            <a:off x="13" y="1"/>
            <a:ext cx="9143989" cy="3686307"/>
          </a:xfrm>
          <a:prstGeom prst="rect">
            <a:avLst/>
          </a:prstGeom>
          <a:solidFill>
            <a:schemeClr val="bg2">
              <a:lumMod val="90000"/>
            </a:schemeClr>
          </a:solidFill>
        </p:spPr>
        <p:txBody>
          <a:bodyPr lIns="457200" tIns="457200" anchor="t"/>
          <a:lstStyle>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a:r>
              <a:t>Click icon to add picture</a:t>
            </a:r>
          </a:p>
        </p:txBody>
      </p:sp>
      <p:sp>
        <p:nvSpPr>
          <p:cNvPr id="4" name="Text Placeholder 3">
            <a:extLst>
              <a:ext uri="{FF2B5EF4-FFF2-40B4-BE49-F238E27FC236}">
                <a16:creationId xmlns:a16="http://schemas.microsoft.com/office/drawing/2014/main" id="{9B8830FC-D60E-4350-A436-B8C3303ED971}"/>
              </a:ext>
            </a:extLst>
          </p:cNvPr>
          <p:cNvSpPr>
            <a:spLocks noGrp="1"/>
          </p:cNvSpPr>
          <p:nvPr>
            <p:ph type="body" idx="2"/>
          </p:nvPr>
        </p:nvSpPr>
        <p:spPr>
          <a:xfrm>
            <a:off x="822960" y="4430268"/>
            <a:ext cx="7584948" cy="445770"/>
          </a:xfrm>
        </p:spPr>
        <p:txBody>
          <a:bodyPr lIns="91440" tIns="0" rIns="91440" bIns="0">
            <a:normAutofit/>
          </a:bodyPr>
          <a:lstStyle>
            <a:lvl1pPr marL="0" indent="0">
              <a:spcBef>
                <a:spcPts val="0"/>
              </a:spcBef>
              <a:spcAft>
                <a:spcPts val="405"/>
              </a:spcAft>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buNone/>
            </a:pPr>
            <a:r>
              <a:t>Edit Master text styles</a:t>
            </a:r>
          </a:p>
        </p:txBody>
      </p:sp>
      <p:sp>
        <p:nvSpPr>
          <p:cNvPr id="5" name="Date Placeholder 4">
            <a:extLst>
              <a:ext uri="{FF2B5EF4-FFF2-40B4-BE49-F238E27FC236}">
                <a16:creationId xmlns:a16="http://schemas.microsoft.com/office/drawing/2014/main" id="{FC180D51-C6A6-49A9-93D3-561FE176A0C4}"/>
              </a:ext>
            </a:extLst>
          </p:cNvPr>
          <p:cNvSpPr>
            <a:spLocks noGrp="1"/>
          </p:cNvSpPr>
          <p:nvPr>
            <p:ph type="dt" idx="10"/>
          </p:nvPr>
        </p:nvSpPr>
        <p:spPr/>
        <p:txBody>
          <a:bodyPr/>
          <a:lstStyle/>
          <a:p>
            <a:fld id="{18C79C5D-2A6F-F04D-97DA-BEF2467B64E4}" type="datetimeFigureOut">
              <a:t>9/16/26</a:t>
            </a:fld>
            <a:endParaRPr/>
          </a:p>
        </p:txBody>
      </p:sp>
      <p:sp>
        <p:nvSpPr>
          <p:cNvPr id="6" name="Footer Placeholder 5">
            <a:extLst>
              <a:ext uri="{FF2B5EF4-FFF2-40B4-BE49-F238E27FC236}">
                <a16:creationId xmlns:a16="http://schemas.microsoft.com/office/drawing/2014/main" id="{7761D9A7-20F8-47DE-B900-6FF4B19ACB6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CF07E0F-DB8B-444B-A137-37E4EEE4EEEE}"/>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B0D8-D909-4AC6-B639-1EF76A0CB199}"/>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62CBC7E6-27DE-4B26-90EF-C6B83AD76541}"/>
              </a:ext>
            </a:extLst>
          </p:cNvPr>
          <p:cNvSpPr>
            <a:spLocks noGrp="1"/>
          </p:cNvSpPr>
          <p:nvPr>
            <p:ph type="body" idx="1"/>
          </p:nvPr>
        </p:nvSpPr>
        <p:spPr/>
        <p:txBody>
          <a:bodyPr vert="eaVert" lIns="45720" tIns="0" rIns="45720" bIns="0"/>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16B615F-F2C7-4A5E-ACF3-22C08BA486BB}"/>
              </a:ext>
            </a:extLst>
          </p:cNvPr>
          <p:cNvSpPr>
            <a:spLocks noGrp="1"/>
          </p:cNvSpPr>
          <p:nvPr>
            <p:ph type="dt" idx="10"/>
          </p:nvPr>
        </p:nvSpPr>
        <p:spPr/>
        <p:txBody>
          <a:bodyPr/>
          <a:lstStyle/>
          <a:p>
            <a:fld id="{C6C52C72-DE31-F449-A4ED-4C594FD91407}" type="datetimeFigureOut">
              <a:t>9/16/26</a:t>
            </a:fld>
            <a:endParaRPr/>
          </a:p>
        </p:txBody>
      </p:sp>
      <p:sp>
        <p:nvSpPr>
          <p:cNvPr id="5" name="Footer Placeholder 4">
            <a:extLst>
              <a:ext uri="{FF2B5EF4-FFF2-40B4-BE49-F238E27FC236}">
                <a16:creationId xmlns:a16="http://schemas.microsoft.com/office/drawing/2014/main" id="{45F2F8F9-3C66-4858-B506-A44419D4AF2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B03F605-D5CA-4254-98CE-A5A1372273DB}"/>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26BF8C-9001-431F-87B7-AA9270114B9E}"/>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A5A48BE6-29B4-4E05-9C35-C7590EDCBE55}"/>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2CBA2F16-DE0F-40D6-B7EE-B8782D113894}"/>
              </a:ext>
            </a:extLst>
          </p:cNvPr>
          <p:cNvSpPr>
            <a:spLocks noGrp="1"/>
          </p:cNvSpPr>
          <p:nvPr>
            <p:ph type="title"/>
          </p:nvPr>
        </p:nvSpPr>
        <p:spPr>
          <a:xfrm>
            <a:off x="6543676" y="309227"/>
            <a:ext cx="1971675" cy="4319924"/>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B844CF17-46B9-41E8-B2BD-9D72DE0215FF}"/>
              </a:ext>
            </a:extLst>
          </p:cNvPr>
          <p:cNvSpPr>
            <a:spLocks noGrp="1"/>
          </p:cNvSpPr>
          <p:nvPr>
            <p:ph type="body" idx="1"/>
          </p:nvPr>
        </p:nvSpPr>
        <p:spPr>
          <a:xfrm>
            <a:off x="628651" y="309227"/>
            <a:ext cx="5800725" cy="4319924"/>
          </a:xfrm>
        </p:spPr>
        <p:txBody>
          <a:bodyPr vert="eaVert" lIns="45720" tIns="0" rIns="45720" bIns="0"/>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C279BA9-00BA-4F1F-9603-9E8DA097F075}"/>
              </a:ext>
            </a:extLst>
          </p:cNvPr>
          <p:cNvSpPr>
            <a:spLocks noGrp="1"/>
          </p:cNvSpPr>
          <p:nvPr>
            <p:ph type="dt" idx="10"/>
          </p:nvPr>
        </p:nvSpPr>
        <p:spPr/>
        <p:txBody>
          <a:bodyPr/>
          <a:lstStyle/>
          <a:p>
            <a:fld id="{ED62726E-379B-B349-9EED-81ED093FA806}" type="datetimeFigureOut">
              <a:t>9/16/26</a:t>
            </a:fld>
            <a:endParaRPr/>
          </a:p>
        </p:txBody>
      </p:sp>
      <p:sp>
        <p:nvSpPr>
          <p:cNvPr id="5" name="Footer Placeholder 4">
            <a:extLst>
              <a:ext uri="{FF2B5EF4-FFF2-40B4-BE49-F238E27FC236}">
                <a16:creationId xmlns:a16="http://schemas.microsoft.com/office/drawing/2014/main" id="{06F34A36-C24C-42AC-B972-177365B4AE0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7F87EA8-5812-494B-BBBC-24147687D788}"/>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mp; Bullets">
    <p:spTree>
      <p:nvGrpSpPr>
        <p:cNvPr id="1" name=""/>
        <p:cNvGrpSpPr/>
        <p:nvPr/>
      </p:nvGrpSpPr>
      <p:grpSpPr>
        <a:xfrm>
          <a:off x="0" y="0"/>
          <a:ext cx="0" cy="0"/>
          <a:chOff x="0" y="0"/>
          <a:chExt cx="0" cy="0"/>
        </a:xfrm>
      </p:grpSpPr>
      <p:sp>
        <p:nvSpPr>
          <p:cNvPr id="56" name="Shape 56">
            <a:extLst>
              <a:ext uri="{FF2B5EF4-FFF2-40B4-BE49-F238E27FC236}">
                <a16:creationId xmlns:a16="http://schemas.microsoft.com/office/drawing/2014/main" id="{B8823A30-7E4F-4183-84A4-94A504755341}"/>
              </a:ext>
            </a:extLst>
          </p:cNvPr>
          <p:cNvSpPr>
            <a:spLocks noGrp="1"/>
          </p:cNvSpPr>
          <p:nvPr>
            <p:ph type="title"/>
          </p:nvPr>
        </p:nvSpPr>
        <p:spPr>
          <a:prstGeom prst="rect">
            <a:avLst/>
          </a:prstGeom>
        </p:spPr>
        <p:txBody>
          <a:bodyPr/>
          <a:lstStyle/>
          <a:p>
            <a:r>
              <a:t>Title Text</a:t>
            </a:r>
          </a:p>
        </p:txBody>
      </p:sp>
      <p:sp>
        <p:nvSpPr>
          <p:cNvPr id="57" name="Shape 57">
            <a:extLst>
              <a:ext uri="{FF2B5EF4-FFF2-40B4-BE49-F238E27FC236}">
                <a16:creationId xmlns:a16="http://schemas.microsoft.com/office/drawing/2014/main" id="{20D2E930-75EA-4DCF-8912-7C9D29FFD259}"/>
              </a:ext>
            </a:extLst>
          </p:cNvPr>
          <p:cNvSpPr>
            <a:spLocks noGrp="1"/>
          </p:cNvSpPr>
          <p:nvPr>
            <p:ph type="body" idx="1"/>
          </p:nvPr>
        </p:nvSpPr>
        <p:spPr>
          <a:xfrm>
            <a:off x="892974" y="1460007"/>
            <a:ext cx="7358063" cy="3013769"/>
          </a:xfrm>
          <a:prstGeom prst="rect">
            <a:avLst/>
          </a:prstGeom>
        </p:spPr>
        <p:txBody>
          <a:bodyPr/>
          <a:lstStyle>
            <a:lvl1pPr>
              <a:buNone/>
              <a:defRPr/>
            </a:lvl1pPr>
            <a:lvl2pPr>
              <a:buNone/>
              <a:defRPr/>
            </a:lvl2pPr>
            <a:lvl3pPr>
              <a:buNone/>
              <a:defRPr/>
            </a:lvl3pPr>
            <a:lvl4pPr>
              <a:buNone/>
              <a:defRPr/>
            </a:lvl4pPr>
            <a:lvl5pPr>
              <a:buNone/>
              <a:defRPr/>
            </a:lvl5p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58" name="Shape 58">
            <a:extLst>
              <a:ext uri="{FF2B5EF4-FFF2-40B4-BE49-F238E27FC236}">
                <a16:creationId xmlns:a16="http://schemas.microsoft.com/office/drawing/2014/main" id="{F5811E88-1C15-4663-814A-DD7E609BACCF}"/>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Top">
    <p:spTree>
      <p:nvGrpSpPr>
        <p:cNvPr id="1" name=""/>
        <p:cNvGrpSpPr/>
        <p:nvPr/>
      </p:nvGrpSpPr>
      <p:grpSpPr>
        <a:xfrm>
          <a:off x="0" y="0"/>
          <a:ext cx="0" cy="0"/>
          <a:chOff x="0" y="0"/>
          <a:chExt cx="0" cy="0"/>
        </a:xfrm>
      </p:grpSpPr>
      <p:sp>
        <p:nvSpPr>
          <p:cNvPr id="49" name="Shape 49">
            <a:extLst>
              <a:ext uri="{FF2B5EF4-FFF2-40B4-BE49-F238E27FC236}">
                <a16:creationId xmlns:a16="http://schemas.microsoft.com/office/drawing/2014/main" id="{7EBBCDC5-B471-491C-A771-559398380697}"/>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
        <p:cNvGrpSpPr/>
        <p:nvPr/>
      </p:nvGrpSpPr>
      <p:grpSpPr>
        <a:xfrm>
          <a:off x="0" y="0"/>
          <a:ext cx="0" cy="0"/>
          <a:chOff x="0" y="0"/>
          <a:chExt cx="0" cy="0"/>
        </a:xfrm>
      </p:grpSpPr>
      <p:sp>
        <p:nvSpPr>
          <p:cNvPr id="19" name="Google Shape;19;p3">
            <a:extLst>
              <a:ext uri="{FF2B5EF4-FFF2-40B4-BE49-F238E27FC236}">
                <a16:creationId xmlns:a16="http://schemas.microsoft.com/office/drawing/2014/main" id="{BA63125A-5E90-45E7-A2C8-085C72DDDA04}"/>
              </a:ext>
            </a:extLst>
          </p:cNvPr>
          <p:cNvSpPr>
            <a:spLocks noGrp="1"/>
          </p:cNvSpPr>
          <p:nvPr/>
        </p:nvSpPr>
        <p:spPr>
          <a:xfrm rot="-5400000">
            <a:off x="1380898" y="730268"/>
            <a:ext cx="17655" cy="967801"/>
          </a:xfrm>
          <a:prstGeom prst="rect">
            <a:avLst/>
          </a:pr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0" name="Google Shape;20;p3">
            <a:extLst>
              <a:ext uri="{FF2B5EF4-FFF2-40B4-BE49-F238E27FC236}">
                <a16:creationId xmlns:a16="http://schemas.microsoft.com/office/drawing/2014/main" id="{BCB8B5F3-B1FA-47F4-A773-438D39EDB579}"/>
              </a:ext>
            </a:extLst>
          </p:cNvPr>
          <p:cNvSpPr>
            <a:spLocks noGrp="1"/>
          </p:cNvSpPr>
          <p:nvPr/>
        </p:nvSpPr>
        <p:spPr>
          <a:xfrm rot="-5400000">
            <a:off x="1009571" y="726176"/>
            <a:ext cx="17655" cy="975984"/>
          </a:xfrm>
          <a:prstGeom prst="rect">
            <a:avLst/>
          </a:pr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1" name="Google Shape;21;p3">
            <a:extLst>
              <a:ext uri="{FF2B5EF4-FFF2-40B4-BE49-F238E27FC236}">
                <a16:creationId xmlns:a16="http://schemas.microsoft.com/office/drawing/2014/main" id="{811897B5-EF5E-4CC3-953A-DAE67979B951}"/>
              </a:ext>
            </a:extLst>
          </p:cNvPr>
          <p:cNvSpPr>
            <a:spLocks noGrp="1"/>
          </p:cNvSpPr>
          <p:nvPr>
            <p:ph type="title"/>
          </p:nvPr>
        </p:nvSpPr>
        <p:spPr>
          <a:xfrm>
            <a:off x="729450" y="1322450"/>
            <a:ext cx="7688400" cy="1518600"/>
          </a:xfrm>
          <a:prstGeom prst="rect">
            <a:avLst/>
          </a:prstGeom>
        </p:spPr>
        <p:txBody>
          <a:bodyPr spcFirstLastPara="1" wrap="square" lIns="91425" tIns="91425" rIns="91425" bIns="91425" anchor="t">
            <a:normAutofit/>
          </a:bodyPr>
          <a:lstStyle>
            <a:lvl1pPr>
              <a:spcBef>
                <a:spcPts val="0"/>
              </a:spcBef>
              <a:spcAft>
                <a:spcPts val="0"/>
              </a:spcAft>
              <a:buClr>
                <a:schemeClr val="lt1"/>
              </a:buClr>
              <a:buSzPts val="3600"/>
              <a:buNone/>
              <a:defRPr sz="3600">
                <a:solidFill>
                  <a:schemeClr val="lt1"/>
                </a:solidFill>
              </a:defRPr>
            </a:lvl1pPr>
            <a:lvl2pPr>
              <a:spcBef>
                <a:spcPts val="0"/>
              </a:spcBef>
              <a:spcAft>
                <a:spcPts val="0"/>
              </a:spcAft>
              <a:buClr>
                <a:schemeClr val="lt1"/>
              </a:buClr>
              <a:buSzPts val="3600"/>
              <a:buNone/>
              <a:defRPr sz="3600">
                <a:solidFill>
                  <a:schemeClr val="lt1"/>
                </a:solidFill>
              </a:defRPr>
            </a:lvl2pPr>
            <a:lvl3pPr>
              <a:spcBef>
                <a:spcPts val="0"/>
              </a:spcBef>
              <a:spcAft>
                <a:spcPts val="0"/>
              </a:spcAft>
              <a:buClr>
                <a:schemeClr val="lt1"/>
              </a:buClr>
              <a:buSzPts val="3600"/>
              <a:buNone/>
              <a:defRPr sz="3600">
                <a:solidFill>
                  <a:schemeClr val="lt1"/>
                </a:solidFill>
              </a:defRPr>
            </a:lvl3pPr>
            <a:lvl4pPr>
              <a:spcBef>
                <a:spcPts val="0"/>
              </a:spcBef>
              <a:spcAft>
                <a:spcPts val="0"/>
              </a:spcAft>
              <a:buClr>
                <a:schemeClr val="lt1"/>
              </a:buClr>
              <a:buSzPts val="3600"/>
              <a:buNone/>
              <a:defRPr sz="3600">
                <a:solidFill>
                  <a:schemeClr val="lt1"/>
                </a:solidFill>
              </a:defRPr>
            </a:lvl4pPr>
            <a:lvl5pPr>
              <a:spcBef>
                <a:spcPts val="0"/>
              </a:spcBef>
              <a:spcAft>
                <a:spcPts val="0"/>
              </a:spcAft>
              <a:buClr>
                <a:schemeClr val="lt1"/>
              </a:buClr>
              <a:buSzPts val="3600"/>
              <a:buNone/>
              <a:defRPr sz="3600">
                <a:solidFill>
                  <a:schemeClr val="lt1"/>
                </a:solidFill>
              </a:defRPr>
            </a:lvl5pPr>
            <a:lvl6pPr>
              <a:spcBef>
                <a:spcPts val="0"/>
              </a:spcBef>
              <a:spcAft>
                <a:spcPts val="0"/>
              </a:spcAft>
              <a:buClr>
                <a:schemeClr val="lt1"/>
              </a:buClr>
              <a:buSzPts val="3600"/>
              <a:buNone/>
              <a:defRPr sz="3600">
                <a:solidFill>
                  <a:schemeClr val="lt1"/>
                </a:solidFill>
              </a:defRPr>
            </a:lvl6pPr>
            <a:lvl7pPr>
              <a:spcBef>
                <a:spcPts val="0"/>
              </a:spcBef>
              <a:spcAft>
                <a:spcPts val="0"/>
              </a:spcAft>
              <a:buClr>
                <a:schemeClr val="lt1"/>
              </a:buClr>
              <a:buSzPts val="3600"/>
              <a:buNone/>
              <a:defRPr sz="3600">
                <a:solidFill>
                  <a:schemeClr val="lt1"/>
                </a:solidFill>
              </a:defRPr>
            </a:lvl7pPr>
            <a:lvl8pPr>
              <a:spcBef>
                <a:spcPts val="0"/>
              </a:spcBef>
              <a:spcAft>
                <a:spcPts val="0"/>
              </a:spcAft>
              <a:buClr>
                <a:schemeClr val="lt1"/>
              </a:buClr>
              <a:buSzPts val="3600"/>
              <a:buNone/>
              <a:defRPr sz="3600">
                <a:solidFill>
                  <a:schemeClr val="lt1"/>
                </a:solidFill>
              </a:defRPr>
            </a:lvl8pPr>
            <a:lvl9pPr>
              <a:spcBef>
                <a:spcPts val="0"/>
              </a:spcBef>
              <a:spcAft>
                <a:spcPts val="0"/>
              </a:spcAft>
              <a:buClr>
                <a:schemeClr val="lt1"/>
              </a:buClr>
              <a:buSzPts val="3600"/>
              <a:buNone/>
              <a:defRPr sz="3600">
                <a:solidFill>
                  <a:schemeClr val="lt1"/>
                </a:solidFill>
              </a:defRPr>
            </a:lvl9pPr>
          </a:lstStyle>
          <a:p>
            <a:endParaRPr/>
          </a:p>
        </p:txBody>
      </p:sp>
      <p:sp>
        <p:nvSpPr>
          <p:cNvPr id="22" name="Google Shape;22;p3">
            <a:extLst>
              <a:ext uri="{FF2B5EF4-FFF2-40B4-BE49-F238E27FC236}">
                <a16:creationId xmlns:a16="http://schemas.microsoft.com/office/drawing/2014/main" id="{17BE8160-3D90-435B-95D1-194657F84397}"/>
              </a:ext>
            </a:extLst>
          </p:cNvPr>
          <p:cNvSpPr>
            <a:spLocks noGrp="1"/>
          </p:cNvSpPr>
          <p:nvPr>
            <p:ph type="sldNum" idx="12"/>
          </p:nvPr>
        </p:nvSpPr>
        <p:spPr>
          <a:xfrm>
            <a:off x="8536302" y="4749851"/>
            <a:ext cx="548700" cy="393600"/>
          </a:xfrm>
          <a:prstGeom prst="rect">
            <a:avLst/>
          </a:prstGeom>
        </p:spPr>
        <p:txBody>
          <a:bodyPr spcFirstLastPara="1" wrap="square" lIns="91425" tIns="91425" rIns="91425" bIns="91425" anchor="ctr">
            <a:normAutofit/>
          </a:bodyPr>
          <a:lstStyle>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Title Slide - Dark Teal">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2" y="1172309"/>
            <a:ext cx="5802922" cy="3971191"/>
          </a:xfrm>
          <a:prstGeom prst="rect">
            <a:avLst/>
          </a:prstGeom>
          <a:solidFill>
            <a:srgbClr val="315470"/>
          </a:solidFill>
        </p:spPr>
        <p:txBody>
          <a:bodyPr lIns="502920" tIns="274320" rIns="457200" bIns="457200"/>
          <a:lstStyle>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chemeClr val="bg1"/>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ADBC5C80-00BA-482B-969E-D60960C76282}"/>
              </a:ext>
            </a:extLst>
          </p:cNvPr>
          <p:cNvSpPr>
            <a:spLocks noGrp="1"/>
          </p:cNvSpPr>
          <p:nvPr>
            <p:ph type="subTitle" idx="1"/>
          </p:nvPr>
        </p:nvSpPr>
        <p:spPr>
          <a:xfrm>
            <a:off x="525780" y="3491974"/>
            <a:ext cx="4846320" cy="230832"/>
          </a:xfrm>
        </p:spPr>
        <p:txBody>
          <a:bodyPr anchor="b">
            <a:spAutoFit/>
          </a:bodyPr>
          <a:lstStyle>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9620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Name C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E0D0-6A2D-453D-AA2A-B46BF2A30D42}"/>
              </a:ext>
            </a:extLst>
          </p:cNvPr>
          <p:cNvSpPr>
            <a:spLocks noGrp="1"/>
          </p:cNvSpPr>
          <p:nvPr>
            <p:ph type="title"/>
          </p:nvPr>
        </p:nvSpPr>
        <p:spPr>
          <a:xfrm>
            <a:off x="856059" y="2481436"/>
            <a:ext cx="7429500" cy="1101600"/>
          </a:xfrm>
        </p:spPr>
        <p:txBody>
          <a:bodyPr anchor="b">
            <a:normAutofit/>
          </a:bodyPr>
          <a:lstStyle>
            <a:lvl1pPr algn="l">
              <a:buNone/>
              <a:defRPr sz="2400" b="0" cap="all"/>
            </a:lvl1pPr>
          </a:lstStyle>
          <a:p>
            <a:r>
              <a:t>Click to edit Master title style</a:t>
            </a:r>
          </a:p>
        </p:txBody>
      </p:sp>
      <p:sp>
        <p:nvSpPr>
          <p:cNvPr id="3" name="Text Placeholder 2">
            <a:extLst>
              <a:ext uri="{FF2B5EF4-FFF2-40B4-BE49-F238E27FC236}">
                <a16:creationId xmlns:a16="http://schemas.microsoft.com/office/drawing/2014/main" id="{52E80D42-516E-4F4F-87CB-8DB92036F796}"/>
              </a:ext>
            </a:extLst>
          </p:cNvPr>
          <p:cNvSpPr>
            <a:spLocks noGrp="1"/>
          </p:cNvSpPr>
          <p:nvPr>
            <p:ph type="body" idx="1"/>
          </p:nvPr>
        </p:nvSpPr>
        <p:spPr>
          <a:xfrm>
            <a:off x="856058" y="3583036"/>
            <a:ext cx="742950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1C113782-4931-4608-BDD2-6DB718410A76}"/>
              </a:ext>
            </a:extLst>
          </p:cNvPr>
          <p:cNvSpPr>
            <a:spLocks noGrp="1"/>
          </p:cNvSpPr>
          <p:nvPr>
            <p:ph type="dt" idx="10"/>
          </p:nvPr>
        </p:nvSpPr>
        <p:spPr/>
        <p:txBody>
          <a:bodyPr/>
          <a:lstStyle/>
          <a:p>
            <a:fld id="{4D4CAFF1-8A2C-5847-86B0-C050E38CCD2D}" type="datetimeFigureOut">
              <a:t>9/16/26</a:t>
            </a:fld>
            <a:endParaRPr/>
          </a:p>
        </p:txBody>
      </p:sp>
      <p:sp>
        <p:nvSpPr>
          <p:cNvPr id="5" name="Footer Placeholder 4">
            <a:extLst>
              <a:ext uri="{FF2B5EF4-FFF2-40B4-BE49-F238E27FC236}">
                <a16:creationId xmlns:a16="http://schemas.microsoft.com/office/drawing/2014/main" id="{793F1291-18CC-45A3-931C-B518CF2E48A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3280087-74BA-4228-8277-E86C41A4AF07}"/>
              </a:ext>
            </a:extLst>
          </p:cNvPr>
          <p:cNvSpPr>
            <a:spLocks noGrp="1"/>
          </p:cNvSpPr>
          <p:nvPr>
            <p:ph type="sldNum" idx="12"/>
          </p:nvPr>
        </p:nvSpPr>
        <p:spPr/>
        <p:txBody>
          <a:bodyPr/>
          <a:lstStyle/>
          <a:p>
            <a:fld id="{063BE1A9-5521-9044-86FB-FEC7D708C123}"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Header + any content">
  <p:cSld name="Header + any content">
    <p:spTree>
      <p:nvGrpSpPr>
        <p:cNvPr id="1" name=""/>
        <p:cNvGrpSpPr/>
        <p:nvPr/>
      </p:nvGrpSpPr>
      <p:grpSpPr>
        <a:xfrm>
          <a:off x="0" y="0"/>
          <a:ext cx="0" cy="0"/>
          <a:chOff x="0" y="0"/>
          <a:chExt cx="0" cy="0"/>
        </a:xfrm>
      </p:grpSpPr>
      <p:sp>
        <p:nvSpPr>
          <p:cNvPr id="25" name="Google Shape;25;p7">
            <a:extLst>
              <a:ext uri="{FF2B5EF4-FFF2-40B4-BE49-F238E27FC236}">
                <a16:creationId xmlns:a16="http://schemas.microsoft.com/office/drawing/2014/main" id="{CA1FC097-72D3-441D-9515-94B18A64404C}"/>
              </a:ext>
            </a:extLst>
          </p:cNvPr>
          <p:cNvSpPr>
            <a:spLocks noGrp="1"/>
          </p:cNvSpPr>
          <p:nvPr>
            <p:ph type="title"/>
          </p:nvPr>
        </p:nvSpPr>
        <p:spPr>
          <a:xfrm>
            <a:off x="311700" y="173550"/>
            <a:ext cx="8520600" cy="493200"/>
          </a:xfrm>
          <a:prstGeom prst="rect">
            <a:avLst/>
          </a:prstGeom>
          <a:noFill/>
          <a:ln>
            <a:noFill/>
          </a:ln>
        </p:spPr>
        <p:txBody>
          <a:bodyPr spcFirstLastPara="1" wrap="square" lIns="91425" tIns="91425" rIns="91425" bIns="91425" anchor="t">
            <a:noAutofit/>
          </a:bodyPr>
          <a:lstStyle>
            <a:lvl1pPr marR="0" algn="l">
              <a:lnSpc>
                <a:spcPct val="100000"/>
              </a:lnSpc>
              <a:spcBef>
                <a:spcPts val="0"/>
              </a:spcBef>
              <a:spcAft>
                <a:spcPts val="0"/>
              </a:spcAft>
              <a:buClr>
                <a:srgbClr val="012169"/>
              </a:buClr>
              <a:buSzPts val="2500"/>
              <a:buFont typeface="Montserrat"/>
              <a:buNone/>
              <a:defRPr sz="2500" b="1" i="1" u="none" cap="none">
                <a:solidFill>
                  <a:srgbClr val="012169"/>
                </a:solidFill>
                <a:latin typeface="Montserrat"/>
                <a:ea typeface="Montserrat"/>
                <a:cs typeface="Montserrat"/>
              </a:defRPr>
            </a:lvl1pPr>
            <a:lvl2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Header + bullet points + image">
  <p:cSld name="Header + bullet points + image">
    <p:spTree>
      <p:nvGrpSpPr>
        <p:cNvPr id="1" name=""/>
        <p:cNvGrpSpPr/>
        <p:nvPr/>
      </p:nvGrpSpPr>
      <p:grpSpPr>
        <a:xfrm>
          <a:off x="0" y="0"/>
          <a:ext cx="0" cy="0"/>
          <a:chOff x="0" y="0"/>
          <a:chExt cx="0" cy="0"/>
        </a:xfrm>
      </p:grpSpPr>
      <p:cxnSp>
        <p:nvCxnSpPr>
          <p:cNvPr id="32" name="Google Shape;27;p8"/>
          <p:cNvCxnSpPr/>
          <p:nvPr/>
        </p:nvCxnSpPr>
        <p:spPr>
          <a:xfrm>
            <a:off x="238050" y="666750"/>
            <a:ext cx="8667900" cy="9600"/>
          </a:xfrm>
          <a:prstGeom prst="straightConnector1">
            <a:avLst/>
          </a:prstGeom>
          <a:ln w="19050" cap="flat">
            <a:solidFill>
              <a:srgbClr val="00796B"/>
            </a:solidFill>
            <a:prstDash val="solid"/>
            <a:round/>
            <a:headEnd type="none" w="sm" len="sm"/>
            <a:tailEnd type="none" w="sm" len="sm"/>
          </a:ln>
        </p:spPr>
      </p:cxnSp>
      <p:sp>
        <p:nvSpPr>
          <p:cNvPr id="28" name="Google Shape;28;p8">
            <a:extLst>
              <a:ext uri="{FF2B5EF4-FFF2-40B4-BE49-F238E27FC236}">
                <a16:creationId xmlns:a16="http://schemas.microsoft.com/office/drawing/2014/main" id="{76732542-2045-41A7-9E99-02B288C0455C}"/>
              </a:ext>
            </a:extLst>
          </p:cNvPr>
          <p:cNvSpPr>
            <a:spLocks noGrp="1"/>
          </p:cNvSpPr>
          <p:nvPr>
            <p:ph type="body" idx="1"/>
          </p:nvPr>
        </p:nvSpPr>
        <p:spPr>
          <a:xfrm>
            <a:off x="311700" y="676350"/>
            <a:ext cx="4270800" cy="3416400"/>
          </a:xfrm>
          <a:prstGeom prst="rect">
            <a:avLst/>
          </a:prstGeom>
          <a:noFill/>
          <a:ln>
            <a:noFill/>
          </a:ln>
        </p:spPr>
        <p:txBody>
          <a:bodyPr spcFirstLastPara="1" wrap="square" lIns="91425" tIns="91425" rIns="91425" bIns="91425" anchor="ctr">
            <a:noAutofit/>
          </a:bodyPr>
          <a:lstStyle>
            <a:lvl1pPr marL="457189" marR="0" indent="-342892" algn="l">
              <a:lnSpc>
                <a:spcPct val="100000"/>
              </a:lnSpc>
              <a:spcBef>
                <a:spcPts val="0"/>
              </a:spcBef>
              <a:spcAft>
                <a:spcPts val="0"/>
              </a:spcAft>
              <a:buClr>
                <a:srgbClr val="000000"/>
              </a:buClr>
              <a:buSzPts val="1800"/>
              <a:buFont typeface="Verdana"/>
              <a:buChar char="●"/>
              <a:defRPr sz="1800" b="0" i="0" u="none" cap="none">
                <a:solidFill>
                  <a:srgbClr val="000000"/>
                </a:solidFill>
                <a:latin typeface="Verdana"/>
                <a:ea typeface="Verdana"/>
                <a:cs typeface="Verdana"/>
              </a:defRPr>
            </a:lvl1pPr>
            <a:lvl2pPr marL="914378"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2pPr>
            <a:lvl3pPr marL="1371566"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3pPr>
            <a:lvl4pPr marL="1828754"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4pPr>
            <a:lvl5pPr marL="2285943"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5pPr>
            <a:lvl6pPr marL="2743132"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6pPr>
            <a:lvl7pPr marL="3200320"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7pPr>
            <a:lvl8pPr marL="3657509"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8pPr>
            <a:lvl9pPr marL="4114697"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9pPr>
          </a:lstStyle>
          <a:p>
            <a:endParaRPr/>
          </a:p>
        </p:txBody>
      </p:sp>
      <p:sp>
        <p:nvSpPr>
          <p:cNvPr id="29" name="Google Shape;29;p8">
            <a:extLst>
              <a:ext uri="{FF2B5EF4-FFF2-40B4-BE49-F238E27FC236}">
                <a16:creationId xmlns:a16="http://schemas.microsoft.com/office/drawing/2014/main" id="{5E8771CB-A5E1-4D28-8481-A6A197700DAB}"/>
              </a:ext>
            </a:extLst>
          </p:cNvPr>
          <p:cNvSpPr>
            <a:spLocks noGrp="1"/>
          </p:cNvSpPr>
          <p:nvPr>
            <p:ph type="title"/>
          </p:nvPr>
        </p:nvSpPr>
        <p:spPr>
          <a:xfrm>
            <a:off x="181750" y="173550"/>
            <a:ext cx="8520600" cy="493200"/>
          </a:xfrm>
          <a:prstGeom prst="rect">
            <a:avLst/>
          </a:prstGeom>
          <a:noFill/>
          <a:ln>
            <a:noFill/>
          </a:ln>
        </p:spPr>
        <p:txBody>
          <a:bodyPr spcFirstLastPara="1" wrap="square" lIns="91425" tIns="91425" rIns="91425" bIns="91425" anchor="t">
            <a:noAutofit/>
          </a:bodyPr>
          <a:lstStyle>
            <a:lvl1pPr marR="0" algn="l">
              <a:lnSpc>
                <a:spcPct val="100000"/>
              </a:lnSpc>
              <a:spcBef>
                <a:spcPts val="0"/>
              </a:spcBef>
              <a:spcAft>
                <a:spcPts val="0"/>
              </a:spcAft>
              <a:buClr>
                <a:srgbClr val="012169"/>
              </a:buClr>
              <a:buSzPts val="2500"/>
              <a:buFont typeface="Montserrat"/>
              <a:buNone/>
              <a:defRPr sz="2500" b="1" i="1" u="none" cap="none">
                <a:solidFill>
                  <a:srgbClr val="012169"/>
                </a:solidFill>
                <a:latin typeface="Montserrat"/>
                <a:ea typeface="Montserrat"/>
                <a:cs typeface="Montserrat"/>
              </a:defRPr>
            </a:lvl1pPr>
            <a:lvl2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
        <p:nvSpPr>
          <p:cNvPr id="30" name="Google Shape;30;p8">
            <a:extLst>
              <a:ext uri="{FF2B5EF4-FFF2-40B4-BE49-F238E27FC236}">
                <a16:creationId xmlns:a16="http://schemas.microsoft.com/office/drawing/2014/main" id="{0727507C-AC54-40F7-BE28-E541D7B6D096}"/>
              </a:ext>
            </a:extLst>
          </p:cNvPr>
          <p:cNvSpPr>
            <a:spLocks noGrp="1"/>
          </p:cNvSpPr>
          <p:nvPr>
            <p:ph type="pic" idx="2"/>
          </p:nvPr>
        </p:nvSpPr>
        <p:spPr>
          <a:xfrm>
            <a:off x="4897050" y="756625"/>
            <a:ext cx="4008900" cy="33921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
        <p:cNvGrpSpPr/>
        <p:nvPr/>
      </p:nvGrpSpPr>
      <p:grpSpPr>
        <a:xfrm>
          <a:off x="0" y="0"/>
          <a:ext cx="0" cy="0"/>
          <a:chOff x="0" y="0"/>
          <a:chExt cx="0" cy="0"/>
        </a:xfrm>
      </p:grpSpPr>
      <p:sp>
        <p:nvSpPr>
          <p:cNvPr id="56" name="Google Shape;56;p14">
            <a:extLst>
              <a:ext uri="{FF2B5EF4-FFF2-40B4-BE49-F238E27FC236}">
                <a16:creationId xmlns:a16="http://schemas.microsoft.com/office/drawing/2014/main" id="{6E1607C0-CC4F-420D-8EA9-CFD65C712949}"/>
              </a:ext>
            </a:extLst>
          </p:cNvPr>
          <p:cNvSpPr>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1800"/>
              <a:buChar char="●"/>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57" name="Google Shape;57;p14">
            <a:extLst>
              <a:ext uri="{FF2B5EF4-FFF2-40B4-BE49-F238E27FC236}">
                <a16:creationId xmlns:a16="http://schemas.microsoft.com/office/drawing/2014/main" id="{7D68CF08-97EC-499E-86DB-9E0809456C4B}"/>
              </a:ext>
            </a:extLst>
          </p:cNvPr>
          <p:cNvSpPr>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ormAutofit/>
          </a:bodyPr>
          <a:lstStyle>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a:endParaRPr/>
          </a:p>
        </p:txBody>
      </p:sp>
      <p:sp>
        <p:nvSpPr>
          <p:cNvPr id="58" name="Google Shape;58;p14">
            <a:extLst>
              <a:ext uri="{FF2B5EF4-FFF2-40B4-BE49-F238E27FC236}">
                <a16:creationId xmlns:a16="http://schemas.microsoft.com/office/drawing/2014/main" id="{ED6496BC-616B-41AC-A4A2-F8255B1821A2}"/>
              </a:ext>
            </a:extLst>
          </p:cNvPr>
          <p:cNvSpPr>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59" name="Google Shape;59;p14">
            <a:extLst>
              <a:ext uri="{FF2B5EF4-FFF2-40B4-BE49-F238E27FC236}">
                <a16:creationId xmlns:a16="http://schemas.microsoft.com/office/drawing/2014/main" id="{F495C7C5-1B19-40BF-B4F3-A980BB412B7D}"/>
              </a:ext>
            </a:extLst>
          </p:cNvPr>
          <p:cNvSpPr>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60" name="Google Shape;60;p14">
            <a:extLst>
              <a:ext uri="{FF2B5EF4-FFF2-40B4-BE49-F238E27FC236}">
                <a16:creationId xmlns:a16="http://schemas.microsoft.com/office/drawing/2014/main" id="{A1B011CB-D3F4-4483-A847-770D295C07ED}"/>
              </a:ext>
            </a:extLst>
          </p:cNvPr>
          <p:cNvSpPr>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 UN 1001 Clean Blank">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284AFC-8E87-4B0E-BE39-13D7D7004D4C}"/>
              </a:ext>
            </a:extLst>
          </p:cNvPr>
          <p:cNvSpPr>
            <a:spLocks noGrp="1"/>
          </p:cNvSpPr>
          <p:nvPr/>
        </p:nvSpPr>
        <p:spPr>
          <a:xfrm>
            <a:off x="1" y="4750738"/>
            <a:ext cx="9144000" cy="49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D8BB117-1CF2-48CB-B3CB-01F0BB7C8AE4}"/>
              </a:ext>
            </a:extLst>
          </p:cNvPr>
          <p:cNvSpPr>
            <a:spLocks noGrp="1"/>
          </p:cNvSpPr>
          <p:nvPr>
            <p:ph type="ctrTitle"/>
          </p:nvPr>
        </p:nvSpPr>
        <p:spPr>
          <a:xfrm>
            <a:off x="822960" y="569214"/>
            <a:ext cx="7543800" cy="2674620"/>
          </a:xfrm>
        </p:spPr>
        <p:txBody>
          <a:bodyPr anchor="b">
            <a:normAutofit/>
          </a:bodyPr>
          <a:lstStyle>
            <a:lvl1pPr algn="l">
              <a:lnSpc>
                <a:spcPct val="85000"/>
              </a:lnSpc>
              <a:buNone/>
              <a:defRPr sz="5400" spc="-34" baseline="0">
                <a:solidFill>
                  <a:schemeClr val="tx1">
                    <a:lumMod val="85000"/>
                    <a:lumOff val="15000"/>
                  </a:schemeClr>
                </a:solidFill>
              </a:defRPr>
            </a:lvl1pPr>
          </a:lstStyle>
          <a:p>
            <a:r>
              <a:t>Click to edit Master title style</a:t>
            </a:r>
          </a:p>
        </p:txBody>
      </p:sp>
      <p:sp>
        <p:nvSpPr>
          <p:cNvPr id="3" name="Subtitle 2">
            <a:extLst>
              <a:ext uri="{FF2B5EF4-FFF2-40B4-BE49-F238E27FC236}">
                <a16:creationId xmlns:a16="http://schemas.microsoft.com/office/drawing/2014/main" id="{D1F20E0A-CBBD-4238-8F8D-E5DB83C23641}"/>
              </a:ext>
            </a:extLst>
          </p:cNvPr>
          <p:cNvSpPr>
            <a:spLocks noGrp="1"/>
          </p:cNvSpPr>
          <p:nvPr>
            <p:ph type="subTitle" idx="1"/>
          </p:nvPr>
        </p:nvSpPr>
        <p:spPr>
          <a:xfrm>
            <a:off x="825038" y="3341716"/>
            <a:ext cx="7543800" cy="857250"/>
          </a:xfrm>
        </p:spPr>
        <p:txBody>
          <a:bodyPr lIns="91440" rIns="91440">
            <a:normAutofit/>
          </a:bodyPr>
          <a:lstStyle>
            <a:lvl1pPr marL="0" indent="0" algn="l">
              <a:buNone/>
              <a:defRPr sz="1620" cap="all" spc="135" baseline="0">
                <a:solidFill>
                  <a:schemeClr val="tx2"/>
                </a:solidFill>
                <a:latin typeface="+mj-lt"/>
                <a:ea typeface="+mj-lt"/>
                <a:cs typeface="+mj-lt"/>
              </a:defRPr>
            </a:lvl1pPr>
            <a:lvl2pPr marL="308610" indent="0" algn="ctr">
              <a:buNone/>
              <a:defRPr sz="1620"/>
            </a:lvl2pPr>
            <a:lvl3pPr marL="617220" indent="0" algn="ctr">
              <a:buNone/>
              <a:defRPr sz="1620"/>
            </a:lvl3pPr>
            <a:lvl4pPr marL="925830" indent="0" algn="ctr">
              <a:buNone/>
              <a:defRPr sz="1350"/>
            </a:lvl4pPr>
            <a:lvl5pPr marL="1234440" indent="0" algn="ctr">
              <a:buNone/>
              <a:defRPr sz="1350"/>
            </a:lvl5pPr>
            <a:lvl6pPr marL="1543050" indent="0" algn="ctr">
              <a:buNone/>
              <a:defRPr sz="1350"/>
            </a:lvl6pPr>
            <a:lvl7pPr marL="1851660" indent="0" algn="ctr">
              <a:buNone/>
              <a:defRPr sz="1350"/>
            </a:lvl7pPr>
            <a:lvl8pPr marL="2160270" indent="0" algn="ctr">
              <a:buNone/>
              <a:defRPr sz="1350"/>
            </a:lvl8pPr>
            <a:lvl9pPr marL="2468880" indent="0" algn="ctr">
              <a:buNone/>
              <a:defRPr sz="1350"/>
            </a:lvl9pPr>
          </a:lstStyle>
          <a:p>
            <a:r>
              <a:t>Click to edit Master subtitle style</a:t>
            </a:r>
          </a:p>
        </p:txBody>
      </p:sp>
      <p:sp>
        <p:nvSpPr>
          <p:cNvPr id="9" name="Straight Connector 8">
            <a:extLst>
              <a:ext uri="{FF2B5EF4-FFF2-40B4-BE49-F238E27FC236}">
                <a16:creationId xmlns:a16="http://schemas.microsoft.com/office/drawing/2014/main" id="{40BB1C1A-EF68-4561-8736-3081C217C916}"/>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pic>
        <p:nvPicPr>
          <p:cNvPr id="15" name="Picture 9"/>
          <p:cNvPicPr>
            <a:picLocks noChangeAspect="1"/>
          </p:cNvPicPr>
          <p:nvPr/>
        </p:nvPicPr>
        <p:blipFill>
          <a:blip r:embed="rId2"/>
          <a:stretch>
            <a:fillRect/>
          </a:stretch>
        </p:blipFill>
        <p:spPr>
          <a:xfrm>
            <a:off x="32374" y="4868549"/>
            <a:ext cx="1725549" cy="231683"/>
          </a:xfrm>
          <a:prstGeom prst="rect">
            <a:avLst/>
          </a:prstGeom>
        </p:spPr>
      </p:pic>
    </p:spTree>
    <p:extLst>
      <p:ext uri="{BB962C8B-B14F-4D97-AF65-F5344CB8AC3E}">
        <p14:creationId xmlns:p14="http://schemas.microsoft.com/office/powerpoint/2010/main" val="2499781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80EB09-B9C5-4C7E-8BB9-91BF155310C9}"/>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4EB208BE-1C91-4B12-8750-DD262B2CEB69}"/>
              </a:ext>
            </a:extLst>
          </p:cNvPr>
          <p:cNvSpPr>
            <a:spLocks noGrp="1"/>
          </p:cNvSpPr>
          <p:nvPr>
            <p:ph type="title"/>
          </p:nvPr>
        </p:nvSpPr>
        <p:spPr>
          <a:xfrm>
            <a:off x="822960" y="214952"/>
            <a:ext cx="7543800" cy="1088068"/>
          </a:xfrm>
          <a:prstGeom prst="rect">
            <a:avLst/>
          </a:prstGeom>
        </p:spPr>
        <p:txBody>
          <a:bodyPr vert="horz" lIns="91440" tIns="45720" rIns="91440" bIns="45720" anchor="b">
            <a:normAutofit/>
          </a:bodyPr>
          <a:lstStyle/>
          <a:p>
            <a:r>
              <a:t>Click to edit Master title style</a:t>
            </a:r>
          </a:p>
        </p:txBody>
      </p:sp>
      <p:sp>
        <p:nvSpPr>
          <p:cNvPr id="3" name="Text Placeholder 2">
            <a:extLst>
              <a:ext uri="{FF2B5EF4-FFF2-40B4-BE49-F238E27FC236}">
                <a16:creationId xmlns:a16="http://schemas.microsoft.com/office/drawing/2014/main" id="{499C4FF3-BF9E-450A-9A88-56F7867F21A0}"/>
              </a:ext>
            </a:extLst>
          </p:cNvPr>
          <p:cNvSpPr>
            <a:spLocks noGrp="1"/>
          </p:cNvSpPr>
          <p:nvPr>
            <p:ph type="body" idx="1"/>
          </p:nvPr>
        </p:nvSpPr>
        <p:spPr>
          <a:xfrm>
            <a:off x="822960" y="1384301"/>
            <a:ext cx="7543800" cy="3017520"/>
          </a:xfrm>
          <a:prstGeom prst="rect">
            <a:avLst/>
          </a:prstGeom>
        </p:spPr>
        <p:txBody>
          <a:bodyPr vert="horz" lIns="0" tIns="45720" rIns="0" bIns="45720">
            <a:normAutofit/>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F461C24-DCDC-4055-A0DF-FBBA318618D6}"/>
              </a:ext>
            </a:extLst>
          </p:cNvPr>
          <p:cNvSpPr>
            <a:spLocks noGrp="1"/>
          </p:cNvSpPr>
          <p:nvPr>
            <p:ph type="dt" idx="2"/>
          </p:nvPr>
        </p:nvSpPr>
        <p:spPr>
          <a:xfrm>
            <a:off x="2039644" y="4835061"/>
            <a:ext cx="2011797" cy="298661"/>
          </a:xfrm>
          <a:prstGeom prst="rect">
            <a:avLst/>
          </a:prstGeom>
        </p:spPr>
        <p:txBody>
          <a:bodyPr vert="horz" lIns="91440" tIns="45720" rIns="91440" bIns="45720" anchor="ctr"/>
          <a:lstStyle>
            <a:lvl1pPr algn="l">
              <a:buNone/>
              <a:defRPr sz="900" b="0">
                <a:solidFill>
                  <a:srgbClr val="0047B0"/>
                </a:solidFill>
              </a:defRPr>
            </a:lvl1pPr>
          </a:lstStyle>
          <a:p>
            <a:fld id="{09B482E8-6E0E-1B4F-B1FD-C69DB9E858D9}" type="datetimeFigureOut">
              <a:t>9/15/26</a:t>
            </a:fld>
            <a:endParaRPr/>
          </a:p>
        </p:txBody>
      </p:sp>
      <p:sp>
        <p:nvSpPr>
          <p:cNvPr id="5" name="Footer Placeholder 4">
            <a:extLst>
              <a:ext uri="{FF2B5EF4-FFF2-40B4-BE49-F238E27FC236}">
                <a16:creationId xmlns:a16="http://schemas.microsoft.com/office/drawing/2014/main" id="{95603770-B946-4FC0-876A-3BF81B64530B}"/>
              </a:ext>
            </a:extLst>
          </p:cNvPr>
          <p:cNvSpPr>
            <a:spLocks noGrp="1"/>
          </p:cNvSpPr>
          <p:nvPr>
            <p:ph type="ftr" idx="3"/>
          </p:nvPr>
        </p:nvSpPr>
        <p:spPr>
          <a:xfrm>
            <a:off x="4173795" y="4831567"/>
            <a:ext cx="3948259" cy="298661"/>
          </a:xfrm>
          <a:prstGeom prst="rect">
            <a:avLst/>
          </a:prstGeom>
        </p:spPr>
        <p:txBody>
          <a:bodyPr vert="horz" lIns="91440" tIns="45720" rIns="91440" bIns="45720" anchor="ctr"/>
          <a:lstStyle>
            <a:lvl1pPr algn="ctr">
              <a:buNone/>
              <a:defRPr sz="720" cap="all" baseline="0">
                <a:solidFill>
                  <a:schemeClr val="accent2">
                    <a:lumMod val="75000"/>
                  </a:schemeClr>
                </a:solidFill>
              </a:defRPr>
            </a:lvl1pPr>
          </a:lstStyle>
          <a:p>
            <a:endParaRPr/>
          </a:p>
        </p:txBody>
      </p:sp>
      <p:sp>
        <p:nvSpPr>
          <p:cNvPr id="6" name="Slide Number Placeholder 5">
            <a:extLst>
              <a:ext uri="{FF2B5EF4-FFF2-40B4-BE49-F238E27FC236}">
                <a16:creationId xmlns:a16="http://schemas.microsoft.com/office/drawing/2014/main" id="{9C04DD7E-DED2-405B-B475-2F6900543FCA}"/>
              </a:ext>
            </a:extLst>
          </p:cNvPr>
          <p:cNvSpPr>
            <a:spLocks noGrp="1"/>
          </p:cNvSpPr>
          <p:nvPr>
            <p:ph type="sldNum" idx="4"/>
          </p:nvPr>
        </p:nvSpPr>
        <p:spPr>
          <a:xfrm>
            <a:off x="8366760" y="4835061"/>
            <a:ext cx="603042" cy="308439"/>
          </a:xfrm>
          <a:prstGeom prst="rect">
            <a:avLst/>
          </a:prstGeom>
        </p:spPr>
        <p:txBody>
          <a:bodyPr vert="horz" lIns="91440" tIns="45720" rIns="91440" bIns="45720" anchor="ctr"/>
          <a:lstStyle>
            <a:lvl1pPr algn="r">
              <a:buNone/>
              <a:defRPr sz="709">
                <a:solidFill>
                  <a:schemeClr val="accent2">
                    <a:lumMod val="75000"/>
                  </a:schemeClr>
                </a:solidFill>
              </a:defRPr>
            </a:lvl1pPr>
          </a:lstStyle>
          <a:p>
            <a:fld id="{D57F1E4F-1CFF-5643-939E-217C01CDF565}" type="slidenum">
              <a:t>‹#›</a:t>
            </a:fld>
            <a:endParaRPr/>
          </a:p>
        </p:txBody>
      </p:sp>
      <p:pic>
        <p:nvPicPr>
          <p:cNvPr id="17" name="Picture 7"/>
          <p:cNvPicPr>
            <a:picLocks noChangeAspect="1"/>
          </p:cNvPicPr>
          <p:nvPr/>
        </p:nvPicPr>
        <p:blipFill>
          <a:blip r:embed="rId21"/>
          <a:stretch>
            <a:fillRect/>
          </a:stretch>
        </p:blipFill>
        <p:spPr>
          <a:xfrm>
            <a:off x="32374" y="4868549"/>
            <a:ext cx="1725549" cy="23168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l" defTabSz="617220">
        <a:lnSpc>
          <a:spcPct val="85000"/>
        </a:lnSpc>
        <a:spcBef>
          <a:spcPct val="0"/>
        </a:spcBef>
        <a:buNone/>
        <a:defRPr sz="3240" kern="1200" spc="-34" baseline="0">
          <a:solidFill>
            <a:schemeClr val="tx1">
              <a:lumMod val="75000"/>
              <a:lumOff val="25000"/>
            </a:schemeClr>
          </a:solidFill>
          <a:latin typeface="+mj-lt"/>
          <a:ea typeface="+mj-lt"/>
          <a:cs typeface="+mj-lt"/>
        </a:defRPr>
      </a:lvl1pPr>
    </p:titleStyle>
    <p:bodyStyle>
      <a:lvl1pPr marL="61722" indent="-61722" algn="l" defTabSz="617220">
        <a:lnSpc>
          <a:spcPct val="90000"/>
        </a:lnSpc>
        <a:spcBef>
          <a:spcPts val="810"/>
        </a:spcBef>
        <a:spcAft>
          <a:spcPts val="135"/>
        </a:spcAft>
        <a:buClr>
          <a:schemeClr val="accent1"/>
        </a:buClr>
        <a:buSzPct val="100000"/>
        <a:buFont typeface="Calibri"/>
        <a:buChar char=" "/>
        <a:defRPr sz="1350" kern="1200">
          <a:solidFill>
            <a:schemeClr val="tx1">
              <a:lumMod val="75000"/>
              <a:lumOff val="25000"/>
            </a:schemeClr>
          </a:solidFill>
          <a:latin typeface="+mn-lt"/>
          <a:ea typeface="+mn-lt"/>
          <a:cs typeface="+mn-lt"/>
        </a:defRPr>
      </a:lvl1pPr>
      <a:lvl2pPr marL="259232" indent="-123444" algn="l" defTabSz="617220">
        <a:lnSpc>
          <a:spcPct val="90000"/>
        </a:lnSpc>
        <a:spcBef>
          <a:spcPts val="135"/>
        </a:spcBef>
        <a:spcAft>
          <a:spcPts val="270"/>
        </a:spcAft>
        <a:buClr>
          <a:schemeClr val="accent1"/>
        </a:buClr>
        <a:buFont typeface="Calibri"/>
        <a:buChar char="◦"/>
        <a:defRPr sz="1215" kern="1200">
          <a:solidFill>
            <a:schemeClr val="tx1">
              <a:lumMod val="75000"/>
              <a:lumOff val="25000"/>
            </a:schemeClr>
          </a:solidFill>
          <a:latin typeface="+mn-lt"/>
          <a:ea typeface="+mn-lt"/>
          <a:cs typeface="+mn-lt"/>
        </a:defRPr>
      </a:lvl2pPr>
      <a:lvl3pPr marL="382676"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3pPr>
      <a:lvl4pPr marL="506120"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4pPr>
      <a:lvl5pPr marL="629564"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5pPr>
      <a:lvl6pPr marL="74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6pPr>
      <a:lvl7pPr marL="87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7pPr>
      <a:lvl8pPr marL="101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8pPr>
      <a:lvl9pPr marL="114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9pPr>
    </p:bodyStyle>
    <p:otherStyle>
      <a:lvl1pPr marL="0" algn="l" defTabSz="617220">
        <a:buNone/>
        <a:defRPr sz="1215" kern="1200">
          <a:solidFill>
            <a:schemeClr val="tx1"/>
          </a:solidFill>
          <a:latin typeface="+mn-lt"/>
          <a:ea typeface="+mn-lt"/>
          <a:cs typeface="+mn-lt"/>
        </a:defRPr>
      </a:lvl1pPr>
      <a:lvl2pPr marL="308610" algn="l" defTabSz="617220">
        <a:buNone/>
        <a:defRPr sz="1215" kern="1200">
          <a:solidFill>
            <a:schemeClr val="tx1"/>
          </a:solidFill>
          <a:latin typeface="+mn-lt"/>
          <a:ea typeface="+mn-lt"/>
          <a:cs typeface="+mn-lt"/>
        </a:defRPr>
      </a:lvl2pPr>
      <a:lvl3pPr marL="617220" algn="l" defTabSz="617220">
        <a:buNone/>
        <a:defRPr sz="1215" kern="1200">
          <a:solidFill>
            <a:schemeClr val="tx1"/>
          </a:solidFill>
          <a:latin typeface="+mn-lt"/>
          <a:ea typeface="+mn-lt"/>
          <a:cs typeface="+mn-lt"/>
        </a:defRPr>
      </a:lvl3pPr>
      <a:lvl4pPr marL="925830" algn="l" defTabSz="617220">
        <a:buNone/>
        <a:defRPr sz="1215" kern="1200">
          <a:solidFill>
            <a:schemeClr val="tx1"/>
          </a:solidFill>
          <a:latin typeface="+mn-lt"/>
          <a:ea typeface="+mn-lt"/>
          <a:cs typeface="+mn-lt"/>
        </a:defRPr>
      </a:lvl4pPr>
      <a:lvl5pPr marL="1234440" algn="l" defTabSz="617220">
        <a:buNone/>
        <a:defRPr sz="1215" kern="1200">
          <a:solidFill>
            <a:schemeClr val="tx1"/>
          </a:solidFill>
          <a:latin typeface="+mn-lt"/>
          <a:ea typeface="+mn-lt"/>
          <a:cs typeface="+mn-lt"/>
        </a:defRPr>
      </a:lvl5pPr>
      <a:lvl6pPr marL="1543050" algn="l" defTabSz="617220">
        <a:buNone/>
        <a:defRPr sz="1215" kern="1200">
          <a:solidFill>
            <a:schemeClr val="tx1"/>
          </a:solidFill>
          <a:latin typeface="+mn-lt"/>
          <a:ea typeface="+mn-lt"/>
          <a:cs typeface="+mn-lt"/>
        </a:defRPr>
      </a:lvl6pPr>
      <a:lvl7pPr marL="1851660" algn="l" defTabSz="617220">
        <a:buNone/>
        <a:defRPr sz="1215" kern="1200">
          <a:solidFill>
            <a:schemeClr val="tx1"/>
          </a:solidFill>
          <a:latin typeface="+mn-lt"/>
          <a:ea typeface="+mn-lt"/>
          <a:cs typeface="+mn-lt"/>
        </a:defRPr>
      </a:lvl7pPr>
      <a:lvl8pPr marL="2160270" algn="l" defTabSz="617220">
        <a:buNone/>
        <a:defRPr sz="1215" kern="1200">
          <a:solidFill>
            <a:schemeClr val="tx1"/>
          </a:solidFill>
          <a:latin typeface="+mn-lt"/>
          <a:ea typeface="+mn-lt"/>
          <a:cs typeface="+mn-lt"/>
        </a:defRPr>
      </a:lvl8pPr>
      <a:lvl9pPr marL="2468880" algn="l" defTabSz="617220">
        <a:buNone/>
        <a:defRPr sz="1215"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TAT UN 1001 Clean 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8" r:id="rId1"/>
    <p:sldLayoutId id="2147483729" r:id="rId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0.xml"/><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Picture 3"/>
          <p:cNvPicPr>
            <a:picLocks noChangeAspect="1"/>
          </p:cNvPicPr>
          <p:nvPr/>
        </p:nvPicPr>
        <p:blipFill>
          <a:blip r:embed="rId3">
            <a:alphaModFix amt="35000"/>
          </a:blip>
          <a:stretch>
            <a:fillRect/>
          </a:stretch>
        </p:blipFill>
        <p:spPr>
          <a:xfrm>
            <a:off x="0" y="95677"/>
            <a:ext cx="9144000" cy="4260816"/>
          </a:xfrm>
          <a:prstGeom prst="rect">
            <a:avLst/>
          </a:prstGeom>
        </p:spPr>
      </p:pic>
      <p:sp>
        <p:nvSpPr>
          <p:cNvPr id="119" name="Shape 119">
            <a:extLst>
              <a:ext uri="{FF2B5EF4-FFF2-40B4-BE49-F238E27FC236}">
                <a16:creationId xmlns:a16="http://schemas.microsoft.com/office/drawing/2014/main" id="{5D5DC2FD-E3EB-4A54-B0D7-5F3051551F97}"/>
              </a:ext>
            </a:extLst>
          </p:cNvPr>
          <p:cNvSpPr>
            <a:spLocks noGrp="1"/>
          </p:cNvSpPr>
          <p:nvPr>
            <p:ph type="ctrTitle"/>
          </p:nvPr>
        </p:nvSpPr>
        <p:spPr>
          <a:xfrm>
            <a:off x="822960" y="1512951"/>
            <a:ext cx="7543800" cy="1257346"/>
          </a:xfrm>
          <a:prstGeom prst="rect">
            <a:avLst/>
          </a:prstGeom>
          <a:effectLst>
            <a:outerShdw blurRad="50800" dist="38100" dir="2700000" algn="tl" rotWithShape="0">
              <a:prstClr val="black">
                <a:alpha val="40000"/>
              </a:prstClr>
            </a:outerShdw>
          </a:effectLst>
        </p:spPr>
        <p:txBody>
          <a:bodyPr>
            <a:normAutofit fontScale="90115"/>
          </a:bodyPr>
          <a:lstStyle/>
          <a:p>
            <a:r>
              <a:rPr sz="4400">
                <a:solidFill>
                  <a:schemeClr val="tx1"/>
                </a:solidFill>
              </a:rPr>
              <a:t>Study design, sampling, and bias</a:t>
            </a:r>
          </a:p>
          <a:p>
            <a:r>
              <a:rPr sz="4400">
                <a:solidFill>
                  <a:schemeClr val="tx1"/>
                </a:solidFill>
              </a:rPr>
              <a:t>Two real studies</a:t>
            </a:r>
          </a:p>
        </p:txBody>
      </p:sp>
      <p:sp>
        <p:nvSpPr>
          <p:cNvPr id="2" name="Subtitle 1">
            <a:extLst>
              <a:ext uri="{FF2B5EF4-FFF2-40B4-BE49-F238E27FC236}">
                <a16:creationId xmlns:a16="http://schemas.microsoft.com/office/drawing/2014/main" id="{C3603F6C-DC5C-1442-A099-FACC04FDA920}"/>
              </a:ext>
            </a:extLst>
          </p:cNvPr>
          <p:cNvSpPr>
            <a:spLocks noGrp="1"/>
          </p:cNvSpPr>
          <p:nvPr>
            <p:ph type="subTitle" idx="1"/>
          </p:nvPr>
        </p:nvSpPr>
        <p:spPr>
          <a:xfrm>
            <a:off x="822960" y="2930226"/>
            <a:ext cx="7543800" cy="1257345"/>
          </a:xfrm>
          <a:effectLst>
            <a:outerShdw blurRad="50800" dist="38100" dir="2700000" algn="tl" rotWithShape="0">
              <a:schemeClr val="tx1">
                <a:alpha val="46000"/>
              </a:schemeClr>
            </a:outerShdw>
          </a:effectLst>
        </p:spPr>
        <p:txBody>
          <a:bodyPr>
            <a:normAutofit/>
          </a:bodyPr>
          <a:lstStyle/>
          <a:p>
            <a:r>
              <a:rPr sz="2800" b="1" cap="small">
                <a:solidFill>
                  <a:schemeClr val="tx1"/>
                </a:solidFill>
              </a:rPr>
              <a:t>STAT UN 1001  ·  LECTURES 3–4</a:t>
            </a:r>
          </a:p>
          <a:p>
            <a:r>
              <a:rPr sz="2800" b="1" cap="small">
                <a:solidFill>
                  <a:schemeClr val="tx1"/>
                </a:solidFill>
              </a:rPr>
              <a:t>SEPTEMBER 15 AND 17, 2026</a:t>
            </a:r>
          </a:p>
        </p:txBody>
      </p:sp>
    </p:spTree>
    <p:extLst>
      <p:ext uri="{BB962C8B-B14F-4D97-AF65-F5344CB8AC3E}">
        <p14:creationId xmlns:p14="http://schemas.microsoft.com/office/powerpoint/2010/main" val="178574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FF44C1E-D9AE-4648-804F-950EEA0AC679}"/>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Last week  Important concepts</a:t>
            </a:r>
          </a:p>
        </p:txBody>
      </p:sp>
      <p:sp>
        <p:nvSpPr>
          <p:cNvPr id="2" name="Rectangle 1">
            <a:extLst>
              <a:ext uri="{FF2B5EF4-FFF2-40B4-BE49-F238E27FC236}">
                <a16:creationId xmlns:a16="http://schemas.microsoft.com/office/drawing/2014/main" id="{98D8E812-9E18-441A-9FCE-B15A6D85D68E}"/>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FDDC7A7D-E140-439A-B3C6-74DD5E1FC379}"/>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D3B622EF-8B1F-41C8-BA8D-7CDEDF1CCB94}"/>
              </a:ext>
            </a:extLst>
          </p:cNvPr>
          <p:cNvSpPr>
            <a:spLocks noGrp="1"/>
          </p:cNvSpPr>
          <p:nvPr/>
        </p:nvSpPr>
        <p:spPr>
          <a:xfrm>
            <a:off x="266700" y="4905375"/>
            <a:ext cx="5334000" cy="171450"/>
          </a:xfrm>
          <a:prstGeom prst="rect">
            <a:avLst/>
          </a:prstGeom>
          <a:noFill/>
          <a:ln w="0">
            <a:noFill/>
          </a:ln>
        </p:spPr>
        <p:txBody>
          <a:bodyPr anchor="ctr">
            <a:normAutofit fontScale="711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A88B99D-21C5-444A-AB30-AE156A7EF357}"/>
              </a:ext>
            </a:extLst>
          </p:cNvPr>
          <p:cNvSpPr>
            <a:spLocks noGrp="1"/>
          </p:cNvSpPr>
          <p:nvPr/>
        </p:nvSpPr>
        <p:spPr>
          <a:xfrm>
            <a:off x="838200" y="1190625"/>
            <a:ext cx="7467600" cy="552450"/>
          </a:xfrm>
          <a:prstGeom prst="rect">
            <a:avLst/>
          </a:prstGeom>
          <a:noFill/>
          <a:ln w="0">
            <a:noFill/>
          </a:ln>
        </p:spPr>
        <p:txBody>
          <a:bodyPr anchor="t">
            <a:normAutofit fontScale="82191" lnSpcReduction="20000"/>
          </a:bodyPr>
          <a:lstStyle/>
          <a:p>
            <a:pPr>
              <a:defRPr sz="2025" b="1" i="0">
                <a:solidFill>
                  <a:srgbClr val="1D4F91"/>
                </a:solidFill>
                <a:latin typeface="Montserrat"/>
                <a:ea typeface="Montserrat"/>
                <a:cs typeface="Montserrat"/>
              </a:defRPr>
            </a:pPr>
            <a:r>
              <a:rPr sz="2025" b="1" i="0">
                <a:solidFill>
                  <a:srgbClr val="1D4F91"/>
                </a:solidFill>
                <a:latin typeface="Montserrat"/>
                <a:ea typeface="Montserrat"/>
                <a:cs typeface="Montserrat"/>
              </a:rPr>
              <a:t>A statistical question connects a population to a variable we want to understand.</a:t>
            </a:r>
          </a:p>
        </p:txBody>
      </p:sp>
      <p:sp>
        <p:nvSpPr>
          <p:cNvPr id="6" name="Rectangle 5">
            <a:extLst>
              <a:ext uri="{FF2B5EF4-FFF2-40B4-BE49-F238E27FC236}">
                <a16:creationId xmlns:a16="http://schemas.microsoft.com/office/drawing/2014/main" id="{A840AED5-1B59-4A06-8F41-29032C5AE4D1}"/>
              </a:ext>
            </a:extLst>
          </p:cNvPr>
          <p:cNvSpPr>
            <a:spLocks noGrp="1"/>
          </p:cNvSpPr>
          <p:nvPr/>
        </p:nvSpPr>
        <p:spPr>
          <a:xfrm>
            <a:off x="838200" y="2095500"/>
            <a:ext cx="2381250" cy="304800"/>
          </a:xfrm>
          <a:prstGeom prst="rect">
            <a:avLst/>
          </a:prstGeom>
          <a:noFill/>
          <a:ln w="0">
            <a:noFill/>
          </a:ln>
        </p:spPr>
        <p:txBody>
          <a:bodyPr anchor="t">
            <a:normAutofit fontScale="88659" lnSpcReduction="10000"/>
          </a:bodyPr>
          <a:lstStyle/>
          <a:p>
            <a:pPr>
              <a:defRPr sz="1725" b="1" i="0">
                <a:solidFill>
                  <a:srgbClr val="1D4F91"/>
                </a:solidFill>
                <a:latin typeface="Montserrat"/>
                <a:ea typeface="Montserrat"/>
                <a:cs typeface="Montserrat"/>
              </a:defRPr>
            </a:pPr>
            <a:r>
              <a:rPr sz="1725" b="1" i="0" dirty="0">
                <a:solidFill>
                  <a:srgbClr val="1D4F91"/>
                </a:solidFill>
                <a:latin typeface="Montserrat"/>
                <a:ea typeface="Montserrat"/>
                <a:cs typeface="Montserrat"/>
              </a:rPr>
              <a:t>Cases or individuals</a:t>
            </a:r>
          </a:p>
        </p:txBody>
      </p:sp>
      <p:sp>
        <p:nvSpPr>
          <p:cNvPr id="7" name="Rectangle 6">
            <a:extLst>
              <a:ext uri="{FF2B5EF4-FFF2-40B4-BE49-F238E27FC236}">
                <a16:creationId xmlns:a16="http://schemas.microsoft.com/office/drawing/2014/main" id="{1E8D3AB3-D61D-43B3-B3A1-6610BF85DB74}"/>
              </a:ext>
            </a:extLst>
          </p:cNvPr>
          <p:cNvSpPr>
            <a:spLocks noGrp="1"/>
          </p:cNvSpPr>
          <p:nvPr/>
        </p:nvSpPr>
        <p:spPr>
          <a:xfrm>
            <a:off x="3238500" y="2095500"/>
            <a:ext cx="4953000" cy="523875"/>
          </a:xfrm>
          <a:prstGeom prst="rect">
            <a:avLst/>
          </a:prstGeom>
          <a:noFill/>
          <a:ln w="0">
            <a:noFill/>
          </a:ln>
        </p:spPr>
        <p:txBody>
          <a:bodyPr anchor="t">
            <a:normAutofit fontScale="93485" lnSpcReduction="10000"/>
          </a:bodyPr>
          <a:lstStyle/>
          <a:p>
            <a:pPr>
              <a:defRPr sz="1650" b="0" i="0">
                <a:solidFill>
                  <a:srgbClr val="2D2D2D"/>
                </a:solidFill>
                <a:latin typeface="Montserrat"/>
                <a:ea typeface="Montserrat"/>
                <a:cs typeface="Montserrat"/>
              </a:defRPr>
            </a:pPr>
            <a:r>
              <a:rPr sz="1650" b="0" i="0" dirty="0">
                <a:solidFill>
                  <a:srgbClr val="2D2D2D"/>
                </a:solidFill>
                <a:latin typeface="Montserrat"/>
                <a:ea typeface="Montserrat"/>
                <a:cs typeface="Montserrat"/>
              </a:rPr>
              <a:t>The people, objects, places, or time periods represented by rows of data</a:t>
            </a:r>
          </a:p>
        </p:txBody>
      </p:sp>
      <p:sp>
        <p:nvSpPr>
          <p:cNvPr id="8" name="Rectangle 7">
            <a:extLst>
              <a:ext uri="{FF2B5EF4-FFF2-40B4-BE49-F238E27FC236}">
                <a16:creationId xmlns:a16="http://schemas.microsoft.com/office/drawing/2014/main" id="{35A25BF1-2BEE-488C-88CA-F940B7E8F8E0}"/>
              </a:ext>
            </a:extLst>
          </p:cNvPr>
          <p:cNvSpPr>
            <a:spLocks noGrp="1"/>
          </p:cNvSpPr>
          <p:nvPr/>
        </p:nvSpPr>
        <p:spPr>
          <a:xfrm>
            <a:off x="838200" y="2838450"/>
            <a:ext cx="2381250" cy="304800"/>
          </a:xfrm>
          <a:prstGeom prst="rect">
            <a:avLst/>
          </a:prstGeom>
          <a:noFill/>
          <a:ln w="0">
            <a:noFill/>
          </a:ln>
        </p:spPr>
        <p:txBody>
          <a:bodyPr anchor="t">
            <a:normAutofit fontScale="88659" lnSpcReduction="10000"/>
          </a:bodyPr>
          <a:lstStyle/>
          <a:p>
            <a:pPr>
              <a:defRPr sz="1725" b="1" i="0">
                <a:solidFill>
                  <a:srgbClr val="1D4F91"/>
                </a:solidFill>
                <a:latin typeface="Montserrat"/>
                <a:ea typeface="Montserrat"/>
                <a:cs typeface="Montserrat"/>
              </a:defRPr>
            </a:pPr>
            <a:r>
              <a:rPr sz="1725" b="1" i="0">
                <a:solidFill>
                  <a:srgbClr val="1D4F91"/>
                </a:solidFill>
                <a:latin typeface="Montserrat"/>
                <a:ea typeface="Montserrat"/>
                <a:cs typeface="Montserrat"/>
              </a:rPr>
              <a:t>Variables and values</a:t>
            </a:r>
          </a:p>
        </p:txBody>
      </p:sp>
      <p:sp>
        <p:nvSpPr>
          <p:cNvPr id="9" name="Rectangle 8">
            <a:extLst>
              <a:ext uri="{FF2B5EF4-FFF2-40B4-BE49-F238E27FC236}">
                <a16:creationId xmlns:a16="http://schemas.microsoft.com/office/drawing/2014/main" id="{0056D36D-3C4A-4C17-BD7D-6BA94563B6D5}"/>
              </a:ext>
            </a:extLst>
          </p:cNvPr>
          <p:cNvSpPr>
            <a:spLocks noGrp="1"/>
          </p:cNvSpPr>
          <p:nvPr/>
        </p:nvSpPr>
        <p:spPr>
          <a:xfrm>
            <a:off x="3238500" y="2838450"/>
            <a:ext cx="4953000" cy="523875"/>
          </a:xfrm>
          <a:prstGeom prst="rect">
            <a:avLst/>
          </a:prstGeom>
          <a:noFill/>
          <a:ln w="0">
            <a:noFill/>
          </a:ln>
        </p:spPr>
        <p:txBody>
          <a:bodyPr anchor="t">
            <a:normAutofit fontScale="93485" lnSpcReduction="10000"/>
          </a:bodyPr>
          <a:lstStyle/>
          <a:p>
            <a:pPr>
              <a:defRPr sz="1650" b="0" i="0">
                <a:solidFill>
                  <a:srgbClr val="2D2D2D"/>
                </a:solidFill>
                <a:latin typeface="Montserrat"/>
                <a:ea typeface="Montserrat"/>
                <a:cs typeface="Montserrat"/>
              </a:defRPr>
            </a:pPr>
            <a:r>
              <a:rPr sz="1650" b="0" i="0">
                <a:solidFill>
                  <a:srgbClr val="2D2D2D"/>
                </a:solidFill>
                <a:latin typeface="Montserrat"/>
                <a:ea typeface="Montserrat"/>
                <a:cs typeface="Montserrat"/>
              </a:rPr>
              <a:t>A variable names what varies. A value records what we observed for one case.</a:t>
            </a:r>
          </a:p>
        </p:txBody>
      </p:sp>
      <p:sp>
        <p:nvSpPr>
          <p:cNvPr id="10" name="Rectangle 9">
            <a:extLst>
              <a:ext uri="{FF2B5EF4-FFF2-40B4-BE49-F238E27FC236}">
                <a16:creationId xmlns:a16="http://schemas.microsoft.com/office/drawing/2014/main" id="{691421DB-CB9D-44F7-95E6-8423ADEB0897}"/>
              </a:ext>
            </a:extLst>
          </p:cNvPr>
          <p:cNvSpPr>
            <a:spLocks noGrp="1"/>
          </p:cNvSpPr>
          <p:nvPr/>
        </p:nvSpPr>
        <p:spPr>
          <a:xfrm>
            <a:off x="838200" y="3581400"/>
            <a:ext cx="2381250" cy="304800"/>
          </a:xfrm>
          <a:prstGeom prst="rect">
            <a:avLst/>
          </a:prstGeom>
          <a:noFill/>
          <a:ln w="0">
            <a:noFill/>
          </a:ln>
        </p:spPr>
        <p:txBody>
          <a:bodyPr anchor="t">
            <a:normAutofit fontScale="81159" lnSpcReduction="10000"/>
          </a:bodyPr>
          <a:lstStyle/>
          <a:p>
            <a:pPr>
              <a:defRPr sz="1725" b="1" i="0">
                <a:solidFill>
                  <a:srgbClr val="1D4F91"/>
                </a:solidFill>
                <a:latin typeface="Montserrat"/>
                <a:ea typeface="Montserrat"/>
                <a:cs typeface="Montserrat"/>
              </a:defRPr>
            </a:pPr>
            <a:r>
              <a:rPr sz="1725" b="1" i="0">
                <a:solidFill>
                  <a:srgbClr val="1D4F91"/>
                </a:solidFill>
                <a:latin typeface="Montserrat"/>
                <a:ea typeface="Montserrat"/>
                <a:cs typeface="Montserrat"/>
              </a:rPr>
              <a:t>Sample and population</a:t>
            </a:r>
          </a:p>
        </p:txBody>
      </p:sp>
      <p:sp>
        <p:nvSpPr>
          <p:cNvPr id="11" name="Rectangle 10">
            <a:extLst>
              <a:ext uri="{FF2B5EF4-FFF2-40B4-BE49-F238E27FC236}">
                <a16:creationId xmlns:a16="http://schemas.microsoft.com/office/drawing/2014/main" id="{2A10FB14-C3FD-44FE-A3F9-2780826CA3E9}"/>
              </a:ext>
            </a:extLst>
          </p:cNvPr>
          <p:cNvSpPr>
            <a:spLocks noGrp="1"/>
          </p:cNvSpPr>
          <p:nvPr/>
        </p:nvSpPr>
        <p:spPr>
          <a:xfrm>
            <a:off x="3238500" y="3581400"/>
            <a:ext cx="4953000" cy="523875"/>
          </a:xfrm>
          <a:prstGeom prst="rect">
            <a:avLst/>
          </a:prstGeom>
          <a:noFill/>
          <a:ln w="0">
            <a:noFill/>
          </a:ln>
        </p:spPr>
        <p:txBody>
          <a:bodyPr anchor="t">
            <a:normAutofit fontScale="93485" lnSpcReduction="10000"/>
          </a:bodyPr>
          <a:lstStyle/>
          <a:p>
            <a:pPr>
              <a:defRPr sz="1650" b="0" i="0">
                <a:solidFill>
                  <a:srgbClr val="2D2D2D"/>
                </a:solidFill>
                <a:latin typeface="Montserrat"/>
                <a:ea typeface="Montserrat"/>
                <a:cs typeface="Montserrat"/>
              </a:defRPr>
            </a:pPr>
            <a:r>
              <a:rPr sz="1650" b="0" i="0">
                <a:solidFill>
                  <a:srgbClr val="2D2D2D"/>
                </a:solidFill>
                <a:latin typeface="Montserrat"/>
                <a:ea typeface="Montserrat"/>
                <a:cs typeface="Montserrat"/>
              </a:rPr>
              <a:t>The sample provides the data. The population defines the group we hope to describe.</a:t>
            </a:r>
          </a:p>
        </p:txBody>
      </p:sp>
      <p:sp>
        <p:nvSpPr>
          <p:cNvPr id="12" name="Rectangle 11">
            <a:extLst>
              <a:ext uri="{FF2B5EF4-FFF2-40B4-BE49-F238E27FC236}">
                <a16:creationId xmlns:a16="http://schemas.microsoft.com/office/drawing/2014/main" id="{58BCA8E7-EA67-458C-BB8A-AFEBCFFC3687}"/>
              </a:ext>
            </a:extLst>
          </p:cNvPr>
          <p:cNvSpPr>
            <a:spLocks noGrp="1"/>
          </p:cNvSpPr>
          <p:nvPr/>
        </p:nvSpPr>
        <p:spPr>
          <a:xfrm>
            <a:off x="590550" y="4324350"/>
            <a:ext cx="7962900" cy="323850"/>
          </a:xfrm>
          <a:prstGeom prst="rect">
            <a:avLst/>
          </a:prstGeom>
          <a:noFill/>
          <a:ln w="0">
            <a:noFill/>
          </a:ln>
        </p:spPr>
        <p:txBody>
          <a:bodyPr anchor="t">
            <a:normAutofit fontScale="85176"/>
          </a:bodyPr>
          <a:lstStyle/>
          <a:p>
            <a:pPr>
              <a:defRPr sz="1725" b="1" i="0">
                <a:solidFill>
                  <a:srgbClr val="2C7A62"/>
                </a:solidFill>
                <a:latin typeface="Montserrat"/>
                <a:ea typeface="Montserrat"/>
                <a:cs typeface="Montserrat"/>
              </a:defRPr>
            </a:pPr>
            <a:r>
              <a:rPr sz="1725" b="1" i="0" dirty="0">
                <a:solidFill>
                  <a:srgbClr val="2C7A62"/>
                </a:solidFill>
                <a:latin typeface="Montserrat"/>
                <a:ea typeface="Montserrat"/>
                <a:cs typeface="Montserrat"/>
              </a:rPr>
              <a:t>A credible claim must match the evidence and how the data were produced.</a:t>
            </a:r>
          </a:p>
        </p:txBody>
      </p:sp>
    </p:spTree>
    <p:extLst>
      <p:ext uri="{BB962C8B-B14F-4D97-AF65-F5344CB8AC3E}">
        <p14:creationId xmlns:p14="http://schemas.microsoft.com/office/powerpoint/2010/main" val="1198816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0377B3C-77CB-443D-911E-27ED681F364B}"/>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Sample vocabulary in one example</a:t>
            </a:r>
          </a:p>
        </p:txBody>
      </p:sp>
      <p:sp>
        <p:nvSpPr>
          <p:cNvPr id="2" name="Rectangle 1">
            <a:extLst>
              <a:ext uri="{FF2B5EF4-FFF2-40B4-BE49-F238E27FC236}">
                <a16:creationId xmlns:a16="http://schemas.microsoft.com/office/drawing/2014/main" id="{D08B2855-7ED9-4C42-BEEC-AF3DF46F23F2}"/>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A19368D2-8C5F-49C1-AD59-4DD844CBE459}"/>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9E237AE6-8550-468C-AE1F-405E6064084E}"/>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301ACF51-7AA9-4699-A32B-C59368D31CC4}"/>
              </a:ext>
            </a:extLst>
          </p:cNvPr>
          <p:cNvSpPr>
            <a:spLocks noGrp="1"/>
          </p:cNvSpPr>
          <p:nvPr/>
        </p:nvSpPr>
        <p:spPr>
          <a:xfrm>
            <a:off x="904875" y="1143000"/>
            <a:ext cx="7334250" cy="742950"/>
          </a:xfrm>
          <a:prstGeom prst="rect">
            <a:avLst/>
          </a:prstGeom>
          <a:noFill/>
          <a:ln w="0">
            <a:noFill/>
          </a:ln>
        </p:spPr>
        <p:txBody>
          <a:bodyPr anchor="t">
            <a:normAutofit fontScale="85498" lnSpcReduction="20000"/>
          </a:bodyPr>
          <a:lstStyle/>
          <a:p>
            <a:pPr>
              <a:defRPr sz="1950" b="1" i="0">
                <a:solidFill>
                  <a:srgbClr val="2D2D2D"/>
                </a:solidFill>
                <a:latin typeface="Montserrat"/>
                <a:ea typeface="Montserrat"/>
                <a:cs typeface="Montserrat"/>
              </a:defRPr>
            </a:pPr>
            <a:r>
              <a:rPr sz="1950" b="1" i="0">
                <a:solidFill>
                  <a:srgbClr val="2D2D2D"/>
                </a:solidFill>
                <a:latin typeface="Montserrat"/>
                <a:ea typeface="Montserrat"/>
                <a:cs typeface="Montserrat"/>
              </a:rPr>
              <a:t>A random sample of 1,155 Americans reported their hours of relaxation after an average workday. The sample mean was 1.65 hours.</a:t>
            </a:r>
          </a:p>
        </p:txBody>
      </p:sp>
      <p:sp>
        <p:nvSpPr>
          <p:cNvPr id="6" name="Rectangle 5">
            <a:extLst>
              <a:ext uri="{FF2B5EF4-FFF2-40B4-BE49-F238E27FC236}">
                <a16:creationId xmlns:a16="http://schemas.microsoft.com/office/drawing/2014/main" id="{A767E8CD-6715-4812-8980-D210824D392B}"/>
              </a:ext>
            </a:extLst>
          </p:cNvPr>
          <p:cNvSpPr>
            <a:spLocks noGrp="1"/>
          </p:cNvSpPr>
          <p:nvPr/>
        </p:nvSpPr>
        <p:spPr>
          <a:xfrm>
            <a:off x="1000125" y="2076450"/>
            <a:ext cx="7143750" cy="19050"/>
          </a:xfrm>
          <a:prstGeom prst="rect">
            <a:avLst/>
          </a:prstGeom>
          <a:solidFill>
            <a:srgbClr val="D6D9DE"/>
          </a:solidFill>
          <a:ln w="0">
            <a:noFill/>
          </a:ln>
        </p:spPr>
      </p:sp>
      <p:sp>
        <p:nvSpPr>
          <p:cNvPr id="7" name="Rectangle 6">
            <a:extLst>
              <a:ext uri="{FF2B5EF4-FFF2-40B4-BE49-F238E27FC236}">
                <a16:creationId xmlns:a16="http://schemas.microsoft.com/office/drawing/2014/main" id="{6C922204-0D0A-47D5-8034-8E77970D5AB1}"/>
              </a:ext>
            </a:extLst>
          </p:cNvPr>
          <p:cNvSpPr>
            <a:spLocks noGrp="1"/>
          </p:cNvSpPr>
          <p:nvPr/>
        </p:nvSpPr>
        <p:spPr>
          <a:xfrm>
            <a:off x="1000125" y="2381250"/>
            <a:ext cx="1952625" cy="285750"/>
          </a:xfrm>
          <a:prstGeom prst="rect">
            <a:avLst/>
          </a:prstGeom>
          <a:noFill/>
          <a:ln w="0">
            <a:noFill/>
          </a:ln>
        </p:spPr>
        <p:txBody>
          <a:bodyPr anchor="t">
            <a:normAutofit fontScale="92273"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Observation</a:t>
            </a:r>
          </a:p>
        </p:txBody>
      </p:sp>
      <p:sp>
        <p:nvSpPr>
          <p:cNvPr id="8" name="Rectangle 7">
            <a:extLst>
              <a:ext uri="{FF2B5EF4-FFF2-40B4-BE49-F238E27FC236}">
                <a16:creationId xmlns:a16="http://schemas.microsoft.com/office/drawing/2014/main" id="{44B204A3-7CA5-4EA2-BCD4-F5E6C587B566}"/>
              </a:ext>
            </a:extLst>
          </p:cNvPr>
          <p:cNvSpPr>
            <a:spLocks noGrp="1"/>
          </p:cNvSpPr>
          <p:nvPr/>
        </p:nvSpPr>
        <p:spPr>
          <a:xfrm>
            <a:off x="3143250" y="2381250"/>
            <a:ext cx="4762500" cy="323850"/>
          </a:xfrm>
          <a:prstGeom prst="rect">
            <a:avLst/>
          </a:prstGeom>
          <a:noFill/>
          <a:ln w="0">
            <a:noFill/>
          </a:ln>
        </p:spPr>
        <p:txBody>
          <a:bodyPr anchor="t">
            <a:normAutofit fontScale="88406"/>
          </a:bodyPr>
          <a:lstStyle/>
          <a:p>
            <a:pPr>
              <a:defRPr sz="1725" b="0" i="0">
                <a:solidFill>
                  <a:srgbClr val="2D2D2D"/>
                </a:solidFill>
                <a:latin typeface="Montserrat"/>
                <a:ea typeface="Montserrat"/>
                <a:cs typeface="Montserrat"/>
              </a:defRPr>
            </a:pPr>
            <a:r>
              <a:rPr sz="1725" b="0" i="0">
                <a:solidFill>
                  <a:srgbClr val="2D2D2D"/>
                </a:solidFill>
                <a:latin typeface="Montserrat"/>
                <a:ea typeface="Montserrat"/>
                <a:cs typeface="Montserrat"/>
              </a:rPr>
              <a:t>One sampled American</a:t>
            </a:r>
          </a:p>
        </p:txBody>
      </p:sp>
      <p:sp>
        <p:nvSpPr>
          <p:cNvPr id="9" name="Rectangle 8">
            <a:extLst>
              <a:ext uri="{FF2B5EF4-FFF2-40B4-BE49-F238E27FC236}">
                <a16:creationId xmlns:a16="http://schemas.microsoft.com/office/drawing/2014/main" id="{4A915EF1-332F-47CA-97D1-F9A6FD43B568}"/>
              </a:ext>
            </a:extLst>
          </p:cNvPr>
          <p:cNvSpPr>
            <a:spLocks noGrp="1"/>
          </p:cNvSpPr>
          <p:nvPr/>
        </p:nvSpPr>
        <p:spPr>
          <a:xfrm>
            <a:off x="1000125" y="2876550"/>
            <a:ext cx="1952625" cy="285750"/>
          </a:xfrm>
          <a:prstGeom prst="rect">
            <a:avLst/>
          </a:prstGeom>
          <a:noFill/>
          <a:ln w="0">
            <a:noFill/>
          </a:ln>
        </p:spPr>
        <p:txBody>
          <a:bodyPr anchor="t">
            <a:normAutofit fontScale="92273"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Variable</a:t>
            </a:r>
          </a:p>
        </p:txBody>
      </p:sp>
      <p:sp>
        <p:nvSpPr>
          <p:cNvPr id="10" name="Rectangle 9">
            <a:extLst>
              <a:ext uri="{FF2B5EF4-FFF2-40B4-BE49-F238E27FC236}">
                <a16:creationId xmlns:a16="http://schemas.microsoft.com/office/drawing/2014/main" id="{E87E9C9D-82C0-4B8C-93B2-6EC81806A8BB}"/>
              </a:ext>
            </a:extLst>
          </p:cNvPr>
          <p:cNvSpPr>
            <a:spLocks noGrp="1"/>
          </p:cNvSpPr>
          <p:nvPr/>
        </p:nvSpPr>
        <p:spPr>
          <a:xfrm>
            <a:off x="3143250" y="2876550"/>
            <a:ext cx="4762500" cy="323850"/>
          </a:xfrm>
          <a:prstGeom prst="rect">
            <a:avLst/>
          </a:prstGeom>
          <a:noFill/>
          <a:ln w="0">
            <a:noFill/>
          </a:ln>
        </p:spPr>
        <p:txBody>
          <a:bodyPr anchor="t">
            <a:normAutofit fontScale="88406"/>
          </a:bodyPr>
          <a:lstStyle/>
          <a:p>
            <a:pPr>
              <a:defRPr sz="1725" b="0" i="0">
                <a:solidFill>
                  <a:srgbClr val="2D2D2D"/>
                </a:solidFill>
                <a:latin typeface="Montserrat"/>
                <a:ea typeface="Montserrat"/>
                <a:cs typeface="Montserrat"/>
              </a:defRPr>
            </a:pPr>
            <a:r>
              <a:rPr sz="1725" b="0" i="0">
                <a:solidFill>
                  <a:srgbClr val="2D2D2D"/>
                </a:solidFill>
                <a:latin typeface="Montserrat"/>
                <a:ea typeface="Montserrat"/>
                <a:cs typeface="Montserrat"/>
              </a:rPr>
              <a:t>Hours available to relax</a:t>
            </a:r>
          </a:p>
        </p:txBody>
      </p:sp>
      <p:sp>
        <p:nvSpPr>
          <p:cNvPr id="11" name="Rectangle 10">
            <a:extLst>
              <a:ext uri="{FF2B5EF4-FFF2-40B4-BE49-F238E27FC236}">
                <a16:creationId xmlns:a16="http://schemas.microsoft.com/office/drawing/2014/main" id="{096A8247-CA49-4C37-B27F-3CEFF9640021}"/>
              </a:ext>
            </a:extLst>
          </p:cNvPr>
          <p:cNvSpPr>
            <a:spLocks noGrp="1"/>
          </p:cNvSpPr>
          <p:nvPr/>
        </p:nvSpPr>
        <p:spPr>
          <a:xfrm>
            <a:off x="1000125" y="3371850"/>
            <a:ext cx="1952625" cy="285750"/>
          </a:xfrm>
          <a:prstGeom prst="rect">
            <a:avLst/>
          </a:prstGeom>
          <a:noFill/>
          <a:ln w="0">
            <a:noFill/>
          </a:ln>
        </p:spPr>
        <p:txBody>
          <a:bodyPr anchor="t">
            <a:normAutofit fontScale="92273"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Statistic</a:t>
            </a:r>
          </a:p>
        </p:txBody>
      </p:sp>
      <p:sp>
        <p:nvSpPr>
          <p:cNvPr id="12" name="Rectangle 11">
            <a:extLst>
              <a:ext uri="{FF2B5EF4-FFF2-40B4-BE49-F238E27FC236}">
                <a16:creationId xmlns:a16="http://schemas.microsoft.com/office/drawing/2014/main" id="{3DE28094-859E-4FD0-B104-7C24194CBDFA}"/>
              </a:ext>
            </a:extLst>
          </p:cNvPr>
          <p:cNvSpPr>
            <a:spLocks noGrp="1"/>
          </p:cNvSpPr>
          <p:nvPr/>
        </p:nvSpPr>
        <p:spPr>
          <a:xfrm>
            <a:off x="3143250" y="3371850"/>
            <a:ext cx="4762500" cy="323850"/>
          </a:xfrm>
          <a:prstGeom prst="rect">
            <a:avLst/>
          </a:prstGeom>
          <a:noFill/>
          <a:ln w="0">
            <a:noFill/>
          </a:ln>
        </p:spPr>
        <p:txBody>
          <a:bodyPr anchor="t">
            <a:normAutofit fontScale="88406"/>
          </a:bodyPr>
          <a:lstStyle/>
          <a:p>
            <a:pPr>
              <a:defRPr sz="1725" b="0" i="0">
                <a:solidFill>
                  <a:srgbClr val="2D2D2D"/>
                </a:solidFill>
                <a:latin typeface="Montserrat"/>
                <a:ea typeface="Montserrat"/>
                <a:cs typeface="Montserrat"/>
              </a:defRPr>
            </a:pPr>
            <a:r>
              <a:rPr sz="1725" b="0" i="0">
                <a:solidFill>
                  <a:srgbClr val="2D2D2D"/>
                </a:solidFill>
                <a:latin typeface="Montserrat"/>
                <a:ea typeface="Montserrat"/>
                <a:cs typeface="Montserrat"/>
              </a:rPr>
              <a:t>The sample mean, 1.65 hours</a:t>
            </a:r>
          </a:p>
        </p:txBody>
      </p:sp>
      <p:sp>
        <p:nvSpPr>
          <p:cNvPr id="13" name="Rectangle 12">
            <a:extLst>
              <a:ext uri="{FF2B5EF4-FFF2-40B4-BE49-F238E27FC236}">
                <a16:creationId xmlns:a16="http://schemas.microsoft.com/office/drawing/2014/main" id="{1855D106-50F4-4F18-8EAB-C9C5C30465C6}"/>
              </a:ext>
            </a:extLst>
          </p:cNvPr>
          <p:cNvSpPr>
            <a:spLocks noGrp="1"/>
          </p:cNvSpPr>
          <p:nvPr/>
        </p:nvSpPr>
        <p:spPr>
          <a:xfrm>
            <a:off x="1000125" y="3867150"/>
            <a:ext cx="1952625" cy="285750"/>
          </a:xfrm>
          <a:prstGeom prst="rect">
            <a:avLst/>
          </a:prstGeom>
          <a:noFill/>
          <a:ln w="0">
            <a:noFill/>
          </a:ln>
        </p:spPr>
        <p:txBody>
          <a:bodyPr anchor="t">
            <a:normAutofit fontScale="92273"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Parameter</a:t>
            </a:r>
          </a:p>
        </p:txBody>
      </p:sp>
      <p:sp>
        <p:nvSpPr>
          <p:cNvPr id="14" name="Rectangle 13">
            <a:extLst>
              <a:ext uri="{FF2B5EF4-FFF2-40B4-BE49-F238E27FC236}">
                <a16:creationId xmlns:a16="http://schemas.microsoft.com/office/drawing/2014/main" id="{766A86A5-4010-4534-8943-C8386388DF4A}"/>
              </a:ext>
            </a:extLst>
          </p:cNvPr>
          <p:cNvSpPr>
            <a:spLocks noGrp="1"/>
          </p:cNvSpPr>
          <p:nvPr/>
        </p:nvSpPr>
        <p:spPr>
          <a:xfrm>
            <a:off x="3143250" y="3867150"/>
            <a:ext cx="4762500" cy="495300"/>
          </a:xfrm>
          <a:prstGeom prst="rect">
            <a:avLst/>
          </a:prstGeom>
          <a:noFill/>
          <a:ln w="0">
            <a:noFill/>
          </a:ln>
        </p:spPr>
        <p:txBody>
          <a:bodyPr anchor="t">
            <a:normAutofit fontScale="84398" lnSpcReduction="20000"/>
          </a:bodyPr>
          <a:lstStyle/>
          <a:p>
            <a:pPr>
              <a:defRPr sz="1725" b="0" i="0">
                <a:solidFill>
                  <a:srgbClr val="2D2D2D"/>
                </a:solidFill>
                <a:latin typeface="Montserrat"/>
                <a:ea typeface="Montserrat"/>
                <a:cs typeface="Montserrat"/>
              </a:defRPr>
            </a:pPr>
            <a:r>
              <a:rPr sz="1725" b="0" i="0">
                <a:solidFill>
                  <a:srgbClr val="2D2D2D"/>
                </a:solidFill>
                <a:latin typeface="Montserrat"/>
                <a:ea typeface="Montserrat"/>
                <a:cs typeface="Montserrat"/>
              </a:rPr>
              <a:t>The unknown mean for all Americans in the target population</a:t>
            </a:r>
          </a:p>
        </p:txBody>
      </p:sp>
    </p:spTree>
    <p:extLst>
      <p:ext uri="{BB962C8B-B14F-4D97-AF65-F5344CB8AC3E}">
        <p14:creationId xmlns:p14="http://schemas.microsoft.com/office/powerpoint/2010/main" val="1539955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EE77E2-EA1E-108C-282D-F2BB80D6A4AD}"/>
              </a:ext>
            </a:extLst>
          </p:cNvPr>
          <p:cNvPicPr>
            <a:picLocks noChangeAspect="1"/>
          </p:cNvPicPr>
          <p:nvPr/>
        </p:nvPicPr>
        <p:blipFill>
          <a:blip r:embed="rId2"/>
          <a:stretch>
            <a:fillRect/>
          </a:stretch>
        </p:blipFill>
        <p:spPr>
          <a:xfrm>
            <a:off x="1443058" y="0"/>
            <a:ext cx="5865998" cy="5143500"/>
          </a:xfrm>
          <a:prstGeom prst="rect">
            <a:avLst/>
          </a:prstGeom>
        </p:spPr>
      </p:pic>
    </p:spTree>
    <p:extLst>
      <p:ext uri="{BB962C8B-B14F-4D97-AF65-F5344CB8AC3E}">
        <p14:creationId xmlns:p14="http://schemas.microsoft.com/office/powerpoint/2010/main" val="1375419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2EB"/>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C5867E-C432-4389-AFC8-55294B042579}"/>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Topics from the flipped activity</a:t>
            </a:r>
          </a:p>
        </p:txBody>
      </p:sp>
      <p:sp>
        <p:nvSpPr>
          <p:cNvPr id="2" name="Rectangle 1">
            <a:extLst>
              <a:ext uri="{FF2B5EF4-FFF2-40B4-BE49-F238E27FC236}">
                <a16:creationId xmlns:a16="http://schemas.microsoft.com/office/drawing/2014/main" id="{F2CDE9B8-1995-4459-9D65-834A277DCEA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E3054902-788C-4585-902A-CBFA8E26FEE9}"/>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8A34058D-ACA6-4B80-B942-76985A26C5E1}"/>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6" name="Rectangle 5">
            <a:extLst>
              <a:ext uri="{FF2B5EF4-FFF2-40B4-BE49-F238E27FC236}">
                <a16:creationId xmlns:a16="http://schemas.microsoft.com/office/drawing/2014/main" id="{41ADD689-41BA-4DFB-BCAB-133B544328A3}"/>
              </a:ext>
            </a:extLst>
          </p:cNvPr>
          <p:cNvSpPr>
            <a:spLocks noGrp="1"/>
          </p:cNvSpPr>
          <p:nvPr/>
        </p:nvSpPr>
        <p:spPr>
          <a:xfrm>
            <a:off x="651782" y="1132114"/>
            <a:ext cx="3333750" cy="552450"/>
          </a:xfrm>
          <a:prstGeom prst="rect">
            <a:avLst/>
          </a:prstGeom>
          <a:noFill/>
          <a:ln w="0">
            <a:noFill/>
          </a:ln>
        </p:spPr>
        <p:txBody>
          <a:bodyPr anchor="t">
            <a:normAutofit fontScale="99167" lnSpcReduction="10000"/>
          </a:bodyPr>
          <a:lstStyle/>
          <a:p>
            <a:pPr>
              <a:defRPr sz="1650" b="1" i="0">
                <a:solidFill>
                  <a:srgbClr val="2D2D2D"/>
                </a:solidFill>
                <a:latin typeface="Montserrat"/>
                <a:ea typeface="Montserrat"/>
                <a:cs typeface="Montserrat"/>
              </a:defRPr>
            </a:pPr>
            <a:r>
              <a:rPr sz="1650" b="1" i="0" dirty="0">
                <a:solidFill>
                  <a:srgbClr val="2D2D2D"/>
                </a:solidFill>
                <a:highlight>
                  <a:srgbClr val="00FFFF"/>
                </a:highlight>
                <a:latin typeface="Montserrat"/>
                <a:ea typeface="Montserrat"/>
                <a:cs typeface="Montserrat"/>
              </a:rPr>
              <a:t>Cases, variables, values, data matrices, and variable types</a:t>
            </a:r>
          </a:p>
        </p:txBody>
      </p:sp>
      <p:sp>
        <p:nvSpPr>
          <p:cNvPr id="7" name="Rectangle 6">
            <a:extLst>
              <a:ext uri="{FF2B5EF4-FFF2-40B4-BE49-F238E27FC236}">
                <a16:creationId xmlns:a16="http://schemas.microsoft.com/office/drawing/2014/main" id="{2E20DFFF-D440-4454-90E6-11203630DD92}"/>
              </a:ext>
            </a:extLst>
          </p:cNvPr>
          <p:cNvSpPr>
            <a:spLocks noGrp="1"/>
          </p:cNvSpPr>
          <p:nvPr/>
        </p:nvSpPr>
        <p:spPr>
          <a:xfrm>
            <a:off x="651780" y="1894114"/>
            <a:ext cx="4238627" cy="704850"/>
          </a:xfrm>
          <a:prstGeom prst="rect">
            <a:avLst/>
          </a:prstGeom>
          <a:noFill/>
          <a:ln w="0">
            <a:noFill/>
          </a:ln>
        </p:spPr>
        <p:txBody>
          <a:bodyPr anchor="t">
            <a:noAutofit/>
          </a:bodyPr>
          <a:lstStyle/>
          <a:p>
            <a:pPr>
              <a:defRPr sz="1650" b="1" i="0">
                <a:solidFill>
                  <a:srgbClr val="2D2D2D"/>
                </a:solidFill>
                <a:latin typeface="Montserrat"/>
                <a:ea typeface="Montserrat"/>
                <a:cs typeface="Montserrat"/>
              </a:defRPr>
            </a:pPr>
            <a:r>
              <a:rPr sz="1600" b="1" i="0" dirty="0">
                <a:solidFill>
                  <a:srgbClr val="2D2D2D"/>
                </a:solidFill>
                <a:highlight>
                  <a:srgbClr val="00FFFF"/>
                </a:highlight>
                <a:latin typeface="Montserrat"/>
                <a:ea typeface="Montserrat"/>
                <a:cs typeface="Montserrat"/>
              </a:rPr>
              <a:t>Populations, samples, observations, statistics, and parameters</a:t>
            </a:r>
          </a:p>
        </p:txBody>
      </p:sp>
      <p:sp>
        <p:nvSpPr>
          <p:cNvPr id="8" name="Rectangle 7">
            <a:extLst>
              <a:ext uri="{FF2B5EF4-FFF2-40B4-BE49-F238E27FC236}">
                <a16:creationId xmlns:a16="http://schemas.microsoft.com/office/drawing/2014/main" id="{BDD12E12-A347-481E-8B53-F122BCEC682E}"/>
              </a:ext>
            </a:extLst>
          </p:cNvPr>
          <p:cNvSpPr>
            <a:spLocks noGrp="1"/>
          </p:cNvSpPr>
          <p:nvPr/>
        </p:nvSpPr>
        <p:spPr>
          <a:xfrm>
            <a:off x="651779" y="2686049"/>
            <a:ext cx="3667127" cy="552450"/>
          </a:xfrm>
          <a:prstGeom prst="rect">
            <a:avLst/>
          </a:prstGeom>
          <a:noFill/>
          <a:ln w="0">
            <a:noFill/>
          </a:ln>
        </p:spPr>
        <p:txBody>
          <a:bodyPr anchor="t">
            <a:normAutofit fontScale="99167" lnSpcReduction="10000"/>
          </a:bodyPr>
          <a:lstStyle/>
          <a:p>
            <a:pPr>
              <a:defRPr sz="1650" b="1" i="0">
                <a:solidFill>
                  <a:srgbClr val="2D2D2D"/>
                </a:solidFill>
                <a:latin typeface="Montserrat"/>
                <a:ea typeface="Montserrat"/>
                <a:cs typeface="Montserrat"/>
              </a:defRPr>
            </a:pPr>
            <a:r>
              <a:rPr sz="1650" b="1" i="0" dirty="0">
                <a:solidFill>
                  <a:srgbClr val="2D2D2D"/>
                </a:solidFill>
                <a:highlight>
                  <a:srgbClr val="00FF00"/>
                </a:highlight>
                <a:latin typeface="Montserrat"/>
                <a:ea typeface="Montserrat"/>
                <a:cs typeface="Montserrat"/>
              </a:rPr>
              <a:t>Sampling methods and sources of sampling bias</a:t>
            </a:r>
          </a:p>
        </p:txBody>
      </p:sp>
      <p:sp>
        <p:nvSpPr>
          <p:cNvPr id="9" name="Rectangle 8">
            <a:extLst>
              <a:ext uri="{FF2B5EF4-FFF2-40B4-BE49-F238E27FC236}">
                <a16:creationId xmlns:a16="http://schemas.microsoft.com/office/drawing/2014/main" id="{21277858-AA9A-406D-B78C-9CA690BBB22F}"/>
              </a:ext>
            </a:extLst>
          </p:cNvPr>
          <p:cNvSpPr>
            <a:spLocks noGrp="1"/>
          </p:cNvSpPr>
          <p:nvPr/>
        </p:nvSpPr>
        <p:spPr>
          <a:xfrm>
            <a:off x="4890407" y="1132114"/>
            <a:ext cx="3560990" cy="552450"/>
          </a:xfrm>
          <a:prstGeom prst="rect">
            <a:avLst/>
          </a:prstGeom>
          <a:noFill/>
          <a:ln w="0">
            <a:noFill/>
          </a:ln>
        </p:spPr>
        <p:txBody>
          <a:bodyPr anchor="t">
            <a:noAutofit/>
          </a:bodyPr>
          <a:lstStyle/>
          <a:p>
            <a:pPr>
              <a:defRPr sz="1650" b="1" i="0">
                <a:solidFill>
                  <a:srgbClr val="2D2D2D"/>
                </a:solidFill>
                <a:latin typeface="Montserrat"/>
                <a:ea typeface="Montserrat"/>
                <a:cs typeface="Montserrat"/>
              </a:defRPr>
            </a:pPr>
            <a:r>
              <a:rPr sz="1600" b="1" i="0" dirty="0">
                <a:solidFill>
                  <a:srgbClr val="2D2D2D"/>
                </a:solidFill>
                <a:highlight>
                  <a:srgbClr val="00FF00"/>
                </a:highlight>
                <a:latin typeface="Montserrat"/>
                <a:ea typeface="Montserrat"/>
                <a:cs typeface="Montserrat"/>
              </a:rPr>
              <a:t>Observational studies versus experiments</a:t>
            </a:r>
          </a:p>
        </p:txBody>
      </p:sp>
      <p:sp>
        <p:nvSpPr>
          <p:cNvPr id="10" name="Rectangle 9">
            <a:extLst>
              <a:ext uri="{FF2B5EF4-FFF2-40B4-BE49-F238E27FC236}">
                <a16:creationId xmlns:a16="http://schemas.microsoft.com/office/drawing/2014/main" id="{31F852B8-D8A5-4D7D-8C92-D69BFFDE2FA7}"/>
              </a:ext>
            </a:extLst>
          </p:cNvPr>
          <p:cNvSpPr>
            <a:spLocks noGrp="1"/>
          </p:cNvSpPr>
          <p:nvPr/>
        </p:nvSpPr>
        <p:spPr>
          <a:xfrm>
            <a:off x="4890407" y="1894114"/>
            <a:ext cx="3560990" cy="552450"/>
          </a:xfrm>
          <a:prstGeom prst="rect">
            <a:avLst/>
          </a:prstGeom>
          <a:noFill/>
          <a:ln w="0">
            <a:noFill/>
          </a:ln>
        </p:spPr>
        <p:txBody>
          <a:bodyPr anchor="t">
            <a:noAutofit/>
          </a:bodyPr>
          <a:lstStyle/>
          <a:p>
            <a:pPr>
              <a:defRPr sz="1650" b="1" i="0">
                <a:solidFill>
                  <a:srgbClr val="2D2D2D"/>
                </a:solidFill>
                <a:latin typeface="Montserrat"/>
                <a:ea typeface="Montserrat"/>
                <a:cs typeface="Montserrat"/>
              </a:defRPr>
            </a:pPr>
            <a:r>
              <a:rPr sz="1600" b="1" i="0" dirty="0">
                <a:solidFill>
                  <a:srgbClr val="2D2D2D"/>
                </a:solidFill>
                <a:highlight>
                  <a:srgbClr val="FFFF00"/>
                </a:highlight>
                <a:latin typeface="Montserrat"/>
                <a:ea typeface="Montserrat"/>
                <a:cs typeface="Montserrat"/>
              </a:rPr>
              <a:t>Association, causation, and confounding</a:t>
            </a:r>
          </a:p>
        </p:txBody>
      </p:sp>
      <p:sp>
        <p:nvSpPr>
          <p:cNvPr id="11" name="Rectangle 10">
            <a:extLst>
              <a:ext uri="{FF2B5EF4-FFF2-40B4-BE49-F238E27FC236}">
                <a16:creationId xmlns:a16="http://schemas.microsoft.com/office/drawing/2014/main" id="{DC376376-3CE0-423B-BA4C-611CE07E2098}"/>
              </a:ext>
            </a:extLst>
          </p:cNvPr>
          <p:cNvSpPr>
            <a:spLocks noGrp="1"/>
          </p:cNvSpPr>
          <p:nvPr/>
        </p:nvSpPr>
        <p:spPr>
          <a:xfrm>
            <a:off x="4890407" y="2656114"/>
            <a:ext cx="3560990" cy="552450"/>
          </a:xfrm>
          <a:prstGeom prst="rect">
            <a:avLst/>
          </a:prstGeom>
          <a:noFill/>
          <a:ln w="0">
            <a:noFill/>
          </a:ln>
        </p:spPr>
        <p:txBody>
          <a:bodyPr anchor="t">
            <a:noAutofit/>
          </a:bodyPr>
          <a:lstStyle/>
          <a:p>
            <a:pPr>
              <a:defRPr sz="1650" b="1" i="0">
                <a:solidFill>
                  <a:srgbClr val="2D2D2D"/>
                </a:solidFill>
                <a:latin typeface="Montserrat"/>
                <a:ea typeface="Montserrat"/>
                <a:cs typeface="Montserrat"/>
              </a:defRPr>
            </a:pPr>
            <a:r>
              <a:rPr sz="1600" b="1" i="0" dirty="0">
                <a:solidFill>
                  <a:srgbClr val="2D2D2D"/>
                </a:solidFill>
                <a:highlight>
                  <a:srgbClr val="00FFFF"/>
                </a:highlight>
                <a:latin typeface="Montserrat"/>
                <a:ea typeface="Montserrat"/>
                <a:cs typeface="Montserrat"/>
              </a:rPr>
              <a:t>Random assignment, controls, placebo, blinding, and blocking</a:t>
            </a:r>
          </a:p>
        </p:txBody>
      </p:sp>
      <p:sp>
        <p:nvSpPr>
          <p:cNvPr id="14" name="TextBox 13">
            <a:extLst>
              <a:ext uri="{FF2B5EF4-FFF2-40B4-BE49-F238E27FC236}">
                <a16:creationId xmlns:a16="http://schemas.microsoft.com/office/drawing/2014/main" id="{435D4B0E-040B-EE6B-70E6-8D44ED6CB3DF}"/>
              </a:ext>
            </a:extLst>
          </p:cNvPr>
          <p:cNvSpPr txBox="1"/>
          <p:nvPr/>
        </p:nvSpPr>
        <p:spPr>
          <a:xfrm>
            <a:off x="1481346" y="3656895"/>
            <a:ext cx="6181308" cy="523220"/>
          </a:xfrm>
          <a:prstGeom prst="rect">
            <a:avLst/>
          </a:prstGeom>
          <a:noFill/>
        </p:spPr>
        <p:txBody>
          <a:bodyPr wrap="none" rtlCol="0">
            <a:spAutoFit/>
          </a:bodyPr>
          <a:lstStyle/>
          <a:p>
            <a:r>
              <a:rPr lang="en-US" sz="2800" dirty="0"/>
              <a:t>Let’s take a quick look at the flipped quiz.</a:t>
            </a:r>
          </a:p>
        </p:txBody>
      </p:sp>
    </p:spTree>
    <p:extLst>
      <p:ext uri="{BB962C8B-B14F-4D97-AF65-F5344CB8AC3E}">
        <p14:creationId xmlns:p14="http://schemas.microsoft.com/office/powerpoint/2010/main" val="1624529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2EB"/>
        </a:solidFill>
        <a:effectLst/>
      </p:bgPr>
    </p:bg>
    <p:spTree>
      <p:nvGrpSpPr>
        <p:cNvPr id="1" name="">
          <a:extLst>
            <a:ext uri="{FF2B5EF4-FFF2-40B4-BE49-F238E27FC236}">
              <a16:creationId xmlns:a16="http://schemas.microsoft.com/office/drawing/2014/main" id="{CF2749A8-217C-D32F-7C36-4FE95D18427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91D52331-B75E-CAEB-D46D-9077698602F6}"/>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lang="en-US" sz="2850" b="1" i="0" dirty="0">
                <a:solidFill>
                  <a:srgbClr val="2D2D2D"/>
                </a:solidFill>
                <a:latin typeface="Montserrat"/>
                <a:ea typeface="Montserrat"/>
                <a:cs typeface="Montserrat"/>
              </a:rPr>
              <a:t>TA Office Hours</a:t>
            </a:r>
            <a:endParaRPr sz="2850" b="1" i="0" dirty="0">
              <a:solidFill>
                <a:srgbClr val="2D2D2D"/>
              </a:solidFill>
              <a:latin typeface="Montserrat"/>
              <a:ea typeface="Montserrat"/>
              <a:cs typeface="Montserrat"/>
            </a:endParaRPr>
          </a:p>
        </p:txBody>
      </p:sp>
      <p:sp>
        <p:nvSpPr>
          <p:cNvPr id="2" name="Rectangle 1">
            <a:extLst>
              <a:ext uri="{FF2B5EF4-FFF2-40B4-BE49-F238E27FC236}">
                <a16:creationId xmlns:a16="http://schemas.microsoft.com/office/drawing/2014/main" id="{E37DBF66-4872-5D61-030E-69419561552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BAE6159B-7EC6-C6D8-4D60-8CCD52FEC7AB}"/>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5AEC5DA5-FFF1-3005-942C-282776BA53CF}"/>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pic>
        <p:nvPicPr>
          <p:cNvPr id="5" name="Picture 4">
            <a:extLst>
              <a:ext uri="{FF2B5EF4-FFF2-40B4-BE49-F238E27FC236}">
                <a16:creationId xmlns:a16="http://schemas.microsoft.com/office/drawing/2014/main" id="{BB85C6F1-C003-2700-4085-6F29EDBB63F8}"/>
              </a:ext>
            </a:extLst>
          </p:cNvPr>
          <p:cNvPicPr>
            <a:picLocks noChangeAspect="1"/>
          </p:cNvPicPr>
          <p:nvPr/>
        </p:nvPicPr>
        <p:blipFill>
          <a:blip r:embed="rId3"/>
          <a:stretch>
            <a:fillRect/>
          </a:stretch>
        </p:blipFill>
        <p:spPr>
          <a:xfrm>
            <a:off x="590550" y="971550"/>
            <a:ext cx="4615961" cy="3810000"/>
          </a:xfrm>
          <a:prstGeom prst="rect">
            <a:avLst/>
          </a:prstGeom>
        </p:spPr>
      </p:pic>
    </p:spTree>
    <p:extLst>
      <p:ext uri="{BB962C8B-B14F-4D97-AF65-F5344CB8AC3E}">
        <p14:creationId xmlns:p14="http://schemas.microsoft.com/office/powerpoint/2010/main" val="4040607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2EB"/>
        </a:solidFill>
        <a:effectLst/>
      </p:bgPr>
    </p:bg>
    <p:spTree>
      <p:nvGrpSpPr>
        <p:cNvPr id="1" name="">
          <a:extLst>
            <a:ext uri="{FF2B5EF4-FFF2-40B4-BE49-F238E27FC236}">
              <a16:creationId xmlns:a16="http://schemas.microsoft.com/office/drawing/2014/main" id="{E4C8D2C8-5B3F-FFCC-87EA-4F5C9A2AA15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E06996F-0129-73E2-1F31-0F340AEB8989}"/>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lang="en-US" sz="2850" b="1" i="0" dirty="0">
                <a:solidFill>
                  <a:srgbClr val="2D2D2D"/>
                </a:solidFill>
                <a:latin typeface="Montserrat"/>
                <a:ea typeface="Montserrat"/>
                <a:cs typeface="Montserrat"/>
              </a:rPr>
              <a:t>TA Office Hours</a:t>
            </a:r>
            <a:endParaRPr sz="2850" b="1" i="0" dirty="0">
              <a:solidFill>
                <a:srgbClr val="2D2D2D"/>
              </a:solidFill>
              <a:latin typeface="Montserrat"/>
              <a:ea typeface="Montserrat"/>
              <a:cs typeface="Montserrat"/>
            </a:endParaRPr>
          </a:p>
        </p:txBody>
      </p:sp>
      <p:sp>
        <p:nvSpPr>
          <p:cNvPr id="2" name="Rectangle 1">
            <a:extLst>
              <a:ext uri="{FF2B5EF4-FFF2-40B4-BE49-F238E27FC236}">
                <a16:creationId xmlns:a16="http://schemas.microsoft.com/office/drawing/2014/main" id="{F5A9F2E1-0392-A139-CBAD-8241C5094F8F}"/>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D0FC70BD-3AF1-AE2D-08CB-028B6DCF307B}"/>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CFBB903-5F29-5DEC-E0F6-289744370B11}"/>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pic>
        <p:nvPicPr>
          <p:cNvPr id="14" name="Picture 13">
            <a:extLst>
              <a:ext uri="{FF2B5EF4-FFF2-40B4-BE49-F238E27FC236}">
                <a16:creationId xmlns:a16="http://schemas.microsoft.com/office/drawing/2014/main" id="{E08BD264-A224-3ECB-BD1D-C3D52E4A57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316996" y="1342685"/>
            <a:ext cx="2188417" cy="1641313"/>
          </a:xfrm>
          <a:prstGeom prst="rect">
            <a:avLst/>
          </a:prstGeom>
        </p:spPr>
      </p:pic>
      <p:pic>
        <p:nvPicPr>
          <p:cNvPr id="16" name="Picture 15">
            <a:extLst>
              <a:ext uri="{FF2B5EF4-FFF2-40B4-BE49-F238E27FC236}">
                <a16:creationId xmlns:a16="http://schemas.microsoft.com/office/drawing/2014/main" id="{21711088-5434-BDDF-5A7A-ACAAA43D30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921900" y="1425010"/>
            <a:ext cx="2847008" cy="2135256"/>
          </a:xfrm>
          <a:prstGeom prst="rect">
            <a:avLst/>
          </a:prstGeom>
        </p:spPr>
      </p:pic>
      <p:pic>
        <p:nvPicPr>
          <p:cNvPr id="18" name="Picture 17">
            <a:extLst>
              <a:ext uri="{FF2B5EF4-FFF2-40B4-BE49-F238E27FC236}">
                <a16:creationId xmlns:a16="http://schemas.microsoft.com/office/drawing/2014/main" id="{5B118BCB-6330-7255-8A29-FDD17454E2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58947" y="1069132"/>
            <a:ext cx="4238170" cy="3178628"/>
          </a:xfrm>
          <a:prstGeom prst="rect">
            <a:avLst/>
          </a:prstGeom>
        </p:spPr>
      </p:pic>
      <p:sp>
        <p:nvSpPr>
          <p:cNvPr id="6" name="TextBox 5">
            <a:extLst>
              <a:ext uri="{FF2B5EF4-FFF2-40B4-BE49-F238E27FC236}">
                <a16:creationId xmlns:a16="http://schemas.microsoft.com/office/drawing/2014/main" id="{2B7A9E2B-A8E8-B3F3-9A32-483279FD16AA}"/>
              </a:ext>
            </a:extLst>
          </p:cNvPr>
          <p:cNvSpPr txBox="1"/>
          <p:nvPr/>
        </p:nvSpPr>
        <p:spPr>
          <a:xfrm>
            <a:off x="5764045" y="1836958"/>
            <a:ext cx="1355211" cy="1200329"/>
          </a:xfrm>
          <a:prstGeom prst="rect">
            <a:avLst/>
          </a:prstGeom>
          <a:no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solidFill>
                  <a:srgbClr val="FF0000"/>
                </a:solidFill>
              </a:rPr>
              <a:t>320 is behind this wall</a:t>
            </a:r>
          </a:p>
        </p:txBody>
      </p:sp>
    </p:spTree>
    <p:extLst>
      <p:ext uri="{BB962C8B-B14F-4D97-AF65-F5344CB8AC3E}">
        <p14:creationId xmlns:p14="http://schemas.microsoft.com/office/powerpoint/2010/main" val="1370162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428C6CE-61FB-4143-9F93-6F8F5B406022}"/>
              </a:ext>
            </a:extLst>
          </p:cNvPr>
          <p:cNvSpPr>
            <a:spLocks noGrp="1"/>
          </p:cNvSpPr>
          <p:nvPr/>
        </p:nvSpPr>
        <p:spPr>
          <a:xfrm>
            <a:off x="590550" y="285750"/>
            <a:ext cx="7962900" cy="552450"/>
          </a:xfrm>
          <a:prstGeom prst="rect">
            <a:avLst/>
          </a:prstGeom>
          <a:noFill/>
          <a:ln w="0">
            <a:noFill/>
          </a:ln>
        </p:spPr>
        <p:txBody>
          <a:bodyPr anchor="t">
            <a:normAutofit fontScale="92500"/>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Cases, variables, and values in a data matrix</a:t>
            </a:r>
          </a:p>
        </p:txBody>
      </p:sp>
      <p:sp>
        <p:nvSpPr>
          <p:cNvPr id="2" name="Rectangle 1">
            <a:extLst>
              <a:ext uri="{FF2B5EF4-FFF2-40B4-BE49-F238E27FC236}">
                <a16:creationId xmlns:a16="http://schemas.microsoft.com/office/drawing/2014/main" id="{66CA7DD0-E53B-4F3C-870E-0A415F2CC454}"/>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239E284A-93C0-41AE-9997-127CD429C17A}"/>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15E880C6-540E-4325-BF8E-E792AB62A341}"/>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388E42D9-B933-43D7-8EF9-CC3F1F454D91}"/>
              </a:ext>
            </a:extLst>
          </p:cNvPr>
          <p:cNvSpPr>
            <a:spLocks noGrp="1"/>
          </p:cNvSpPr>
          <p:nvPr/>
        </p:nvSpPr>
        <p:spPr>
          <a:xfrm>
            <a:off x="1000125" y="1066800"/>
            <a:ext cx="7143750" cy="285750"/>
          </a:xfrm>
          <a:prstGeom prst="rect">
            <a:avLst/>
          </a:prstGeom>
          <a:noFill/>
          <a:ln w="0">
            <a:noFill/>
          </a:ln>
        </p:spPr>
        <p:txBody>
          <a:bodyPr anchor="t">
            <a:normAutofit fontScale="92273"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Hypothetical data from a statistics practice-tool study</a:t>
            </a:r>
          </a:p>
        </p:txBody>
      </p:sp>
      <p:graphicFrame>
        <p:nvGraphicFramePr>
          <p:cNvPr id="18" name="Table 17"/>
          <p:cNvGraphicFramePr/>
          <p:nvPr/>
        </p:nvGraphicFramePr>
        <p:xfrm>
          <a:off x="904875" y="1571625"/>
          <a:ext cx="7334250" cy="2190750"/>
        </p:xfrm>
        <a:graphic>
          <a:graphicData uri="http://schemas.openxmlformats.org/drawingml/2006/table">
            <a:tbl>
              <a:tblPr firstRow="1" bandRow="1"/>
              <a:tblGrid>
                <a:gridCol w="1466850">
                  <a:extLst>
                    <a:ext uri="{9D8B030D-6E8A-4147-A177-3AD203B41FA5}">
                      <a16:colId xmlns:a16="http://schemas.microsoft.com/office/drawing/2014/main" val="20000"/>
                    </a:ext>
                  </a:extLst>
                </a:gridCol>
                <a:gridCol w="14668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gridCol w="1466850">
                  <a:extLst>
                    <a:ext uri="{9D8B030D-6E8A-4147-A177-3AD203B41FA5}">
                      <a16:colId xmlns:a16="http://schemas.microsoft.com/office/drawing/2014/main" val="20003"/>
                    </a:ext>
                  </a:extLst>
                </a:gridCol>
                <a:gridCol w="1466850">
                  <a:extLst>
                    <a:ext uri="{9D8B030D-6E8A-4147-A177-3AD203B41FA5}">
                      <a16:colId xmlns:a16="http://schemas.microsoft.com/office/drawing/2014/main" val="20004"/>
                    </a:ext>
                  </a:extLst>
                </a:gridCol>
              </a:tblGrid>
              <a:tr h="438150">
                <a:tc>
                  <a:txBody>
                    <a:bodyPr/>
                    <a:lstStyle/>
                    <a:p>
                      <a:r>
                        <a:rPr sz="1200" b="1">
                          <a:solidFill>
                            <a:srgbClr val="FFFFFF"/>
                          </a:solidFill>
                          <a:latin typeface="Montserrat"/>
                          <a:ea typeface="Montserrat"/>
                          <a:cs typeface="Montserrat"/>
                        </a:rPr>
                        <a:t>Student</a:t>
                      </a:r>
                    </a:p>
                  </a:txBody>
                  <a:tcPr>
                    <a:solidFill>
                      <a:srgbClr val="1D4F91"/>
                    </a:solidFill>
                  </a:tcPr>
                </a:tc>
                <a:tc>
                  <a:txBody>
                    <a:bodyPr/>
                    <a:lstStyle/>
                    <a:p>
                      <a:r>
                        <a:rPr sz="1200" b="1">
                          <a:solidFill>
                            <a:srgbClr val="FFFFFF"/>
                          </a:solidFill>
                          <a:latin typeface="Montserrat"/>
                          <a:ea typeface="Montserrat"/>
                          <a:cs typeface="Montserrat"/>
                        </a:rPr>
                        <a:t>Section</a:t>
                      </a:r>
                    </a:p>
                  </a:txBody>
                  <a:tcPr>
                    <a:solidFill>
                      <a:srgbClr val="1D4F91"/>
                    </a:solidFill>
                  </a:tcPr>
                </a:tc>
                <a:tc>
                  <a:txBody>
                    <a:bodyPr/>
                    <a:lstStyle/>
                    <a:p>
                      <a:r>
                        <a:rPr sz="1200" b="1">
                          <a:solidFill>
                            <a:srgbClr val="FFFFFF"/>
                          </a:solidFill>
                          <a:latin typeface="Montserrat"/>
                          <a:ea typeface="Montserrat"/>
                          <a:cs typeface="Montserrat"/>
                        </a:rPr>
                        <a:t>Prior quiz</a:t>
                      </a:r>
                    </a:p>
                  </a:txBody>
                  <a:tcPr>
                    <a:solidFill>
                      <a:srgbClr val="1D4F91"/>
                    </a:solidFill>
                  </a:tcPr>
                </a:tc>
                <a:tc>
                  <a:txBody>
                    <a:bodyPr/>
                    <a:lstStyle/>
                    <a:p>
                      <a:r>
                        <a:rPr sz="1200" b="1">
                          <a:solidFill>
                            <a:srgbClr val="FFFFFF"/>
                          </a:solidFill>
                          <a:latin typeface="Montserrat"/>
                          <a:ea typeface="Montserrat"/>
                          <a:cs typeface="Montserrat"/>
                        </a:rPr>
                        <a:t>Practice tool</a:t>
                      </a:r>
                    </a:p>
                  </a:txBody>
                  <a:tcPr>
                    <a:solidFill>
                      <a:srgbClr val="1D4F91"/>
                    </a:solidFill>
                  </a:tcPr>
                </a:tc>
                <a:tc>
                  <a:txBody>
                    <a:bodyPr/>
                    <a:lstStyle/>
                    <a:p>
                      <a:r>
                        <a:rPr sz="1200" b="1">
                          <a:solidFill>
                            <a:srgbClr val="FFFFFF"/>
                          </a:solidFill>
                          <a:latin typeface="Montserrat"/>
                          <a:ea typeface="Montserrat"/>
                          <a:cs typeface="Montserrat"/>
                        </a:rPr>
                        <a:t>Chapter 1 score</a:t>
                      </a:r>
                    </a:p>
                  </a:txBody>
                  <a:tcPr>
                    <a:solidFill>
                      <a:srgbClr val="1D4F91"/>
                    </a:solidFill>
                  </a:tcPr>
                </a:tc>
                <a:extLst>
                  <a:ext uri="{0D108BD9-81ED-4DB2-BD59-A6C34878D82A}">
                    <a16:rowId xmlns:a16="http://schemas.microsoft.com/office/drawing/2014/main" val="10000"/>
                  </a:ext>
                </a:extLst>
              </a:tr>
              <a:tr h="438150">
                <a:tc>
                  <a:txBody>
                    <a:bodyPr/>
                    <a:lstStyle/>
                    <a:p>
                      <a:r>
                        <a:rPr sz="1350">
                          <a:solidFill>
                            <a:srgbClr val="2D2D2D"/>
                          </a:solidFill>
                          <a:latin typeface="Montserrat"/>
                          <a:ea typeface="Montserrat"/>
                          <a:cs typeface="Montserrat"/>
                        </a:rPr>
                        <a:t>A</a:t>
                      </a:r>
                    </a:p>
                  </a:txBody>
                  <a:tcPr anchor="ctr"/>
                </a:tc>
                <a:tc>
                  <a:txBody>
                    <a:bodyPr/>
                    <a:lstStyle/>
                    <a:p>
                      <a:r>
                        <a:rPr sz="1350" dirty="0">
                          <a:solidFill>
                            <a:srgbClr val="2D2D2D"/>
                          </a:solidFill>
                          <a:latin typeface="Montserrat"/>
                          <a:ea typeface="Montserrat"/>
                          <a:cs typeface="Montserrat"/>
                        </a:rPr>
                        <a:t>001</a:t>
                      </a:r>
                    </a:p>
                  </a:txBody>
                  <a:tcPr anchor="ctr"/>
                </a:tc>
                <a:tc>
                  <a:txBody>
                    <a:bodyPr/>
                    <a:lstStyle/>
                    <a:p>
                      <a:r>
                        <a:rPr sz="1350">
                          <a:solidFill>
                            <a:srgbClr val="2D2D2D"/>
                          </a:solidFill>
                          <a:latin typeface="Montserrat"/>
                          <a:ea typeface="Montserrat"/>
                          <a:cs typeface="Montserrat"/>
                        </a:rPr>
                        <a:t>14</a:t>
                      </a:r>
                    </a:p>
                  </a:txBody>
                  <a:tcPr anchor="ctr"/>
                </a:tc>
                <a:tc>
                  <a:txBody>
                    <a:bodyPr/>
                    <a:lstStyle/>
                    <a:p>
                      <a:r>
                        <a:rPr sz="1350">
                          <a:solidFill>
                            <a:srgbClr val="2D2D2D"/>
                          </a:solidFill>
                          <a:latin typeface="Montserrat"/>
                          <a:ea typeface="Montserrat"/>
                          <a:cs typeface="Montserrat"/>
                        </a:rPr>
                        <a:t>Yes</a:t>
                      </a:r>
                    </a:p>
                  </a:txBody>
                  <a:tcPr anchor="ctr"/>
                </a:tc>
                <a:tc>
                  <a:txBody>
                    <a:bodyPr/>
                    <a:lstStyle/>
                    <a:p>
                      <a:r>
                        <a:rPr sz="1350">
                          <a:solidFill>
                            <a:srgbClr val="2D2D2D"/>
                          </a:solidFill>
                          <a:latin typeface="Montserrat"/>
                          <a:ea typeface="Montserrat"/>
                          <a:cs typeface="Montserrat"/>
                        </a:rPr>
                        <a:t>18</a:t>
                      </a:r>
                    </a:p>
                  </a:txBody>
                  <a:tcPr anchor="ctr"/>
                </a:tc>
                <a:extLst>
                  <a:ext uri="{0D108BD9-81ED-4DB2-BD59-A6C34878D82A}">
                    <a16:rowId xmlns:a16="http://schemas.microsoft.com/office/drawing/2014/main" val="10001"/>
                  </a:ext>
                </a:extLst>
              </a:tr>
              <a:tr h="438150">
                <a:tc>
                  <a:txBody>
                    <a:bodyPr/>
                    <a:lstStyle/>
                    <a:p>
                      <a:r>
                        <a:rPr sz="1350">
                          <a:solidFill>
                            <a:srgbClr val="2D2D2D"/>
                          </a:solidFill>
                          <a:latin typeface="Montserrat"/>
                          <a:ea typeface="Montserrat"/>
                          <a:cs typeface="Montserrat"/>
                        </a:rPr>
                        <a:t>B</a:t>
                      </a:r>
                    </a:p>
                  </a:txBody>
                  <a:tcPr anchor="ctr"/>
                </a:tc>
                <a:tc>
                  <a:txBody>
                    <a:bodyPr/>
                    <a:lstStyle/>
                    <a:p>
                      <a:r>
                        <a:rPr sz="1350">
                          <a:solidFill>
                            <a:srgbClr val="2D2D2D"/>
                          </a:solidFill>
                          <a:latin typeface="Montserrat"/>
                          <a:ea typeface="Montserrat"/>
                          <a:cs typeface="Montserrat"/>
                        </a:rPr>
                        <a:t>002</a:t>
                      </a:r>
                    </a:p>
                  </a:txBody>
                  <a:tcPr anchor="ctr"/>
                </a:tc>
                <a:tc>
                  <a:txBody>
                    <a:bodyPr/>
                    <a:lstStyle/>
                    <a:p>
                      <a:r>
                        <a:rPr sz="1350">
                          <a:solidFill>
                            <a:srgbClr val="2D2D2D"/>
                          </a:solidFill>
                          <a:latin typeface="Montserrat"/>
                          <a:ea typeface="Montserrat"/>
                          <a:cs typeface="Montserrat"/>
                        </a:rPr>
                        <a:t>11</a:t>
                      </a:r>
                    </a:p>
                  </a:txBody>
                  <a:tcPr anchor="ctr"/>
                </a:tc>
                <a:tc>
                  <a:txBody>
                    <a:bodyPr/>
                    <a:lstStyle/>
                    <a:p>
                      <a:r>
                        <a:rPr sz="1350">
                          <a:solidFill>
                            <a:srgbClr val="2D2D2D"/>
                          </a:solidFill>
                          <a:latin typeface="Montserrat"/>
                          <a:ea typeface="Montserrat"/>
                          <a:cs typeface="Montserrat"/>
                        </a:rPr>
                        <a:t>No</a:t>
                      </a:r>
                    </a:p>
                  </a:txBody>
                  <a:tcPr anchor="ctr"/>
                </a:tc>
                <a:tc>
                  <a:txBody>
                    <a:bodyPr/>
                    <a:lstStyle/>
                    <a:p>
                      <a:r>
                        <a:rPr sz="1350">
                          <a:solidFill>
                            <a:srgbClr val="2D2D2D"/>
                          </a:solidFill>
                          <a:latin typeface="Montserrat"/>
                          <a:ea typeface="Montserrat"/>
                          <a:cs typeface="Montserrat"/>
                        </a:rPr>
                        <a:t>13</a:t>
                      </a:r>
                    </a:p>
                  </a:txBody>
                  <a:tcPr anchor="ctr"/>
                </a:tc>
                <a:extLst>
                  <a:ext uri="{0D108BD9-81ED-4DB2-BD59-A6C34878D82A}">
                    <a16:rowId xmlns:a16="http://schemas.microsoft.com/office/drawing/2014/main" val="10002"/>
                  </a:ext>
                </a:extLst>
              </a:tr>
              <a:tr h="438150">
                <a:tc>
                  <a:txBody>
                    <a:bodyPr/>
                    <a:lstStyle/>
                    <a:p>
                      <a:r>
                        <a:rPr sz="1350">
                          <a:solidFill>
                            <a:srgbClr val="2D2D2D"/>
                          </a:solidFill>
                          <a:latin typeface="Montserrat"/>
                          <a:ea typeface="Montserrat"/>
                          <a:cs typeface="Montserrat"/>
                        </a:rPr>
                        <a:t>C</a:t>
                      </a:r>
                    </a:p>
                  </a:txBody>
                  <a:tcPr anchor="ctr"/>
                </a:tc>
                <a:tc>
                  <a:txBody>
                    <a:bodyPr/>
                    <a:lstStyle/>
                    <a:p>
                      <a:r>
                        <a:rPr sz="1350">
                          <a:solidFill>
                            <a:srgbClr val="2D2D2D"/>
                          </a:solidFill>
                          <a:latin typeface="Montserrat"/>
                          <a:ea typeface="Montserrat"/>
                          <a:cs typeface="Montserrat"/>
                        </a:rPr>
                        <a:t>001</a:t>
                      </a:r>
                    </a:p>
                  </a:txBody>
                  <a:tcPr anchor="ctr"/>
                </a:tc>
                <a:tc>
                  <a:txBody>
                    <a:bodyPr/>
                    <a:lstStyle/>
                    <a:p>
                      <a:r>
                        <a:rPr sz="1350">
                          <a:solidFill>
                            <a:srgbClr val="2D2D2D"/>
                          </a:solidFill>
                          <a:latin typeface="Montserrat"/>
                          <a:ea typeface="Montserrat"/>
                          <a:cs typeface="Montserrat"/>
                        </a:rPr>
                        <a:t>16</a:t>
                      </a:r>
                    </a:p>
                  </a:txBody>
                  <a:tcPr anchor="ctr"/>
                </a:tc>
                <a:tc>
                  <a:txBody>
                    <a:bodyPr/>
                    <a:lstStyle/>
                    <a:p>
                      <a:r>
                        <a:rPr sz="1350">
                          <a:solidFill>
                            <a:srgbClr val="2D2D2D"/>
                          </a:solidFill>
                          <a:latin typeface="Montserrat"/>
                          <a:ea typeface="Montserrat"/>
                          <a:cs typeface="Montserrat"/>
                        </a:rPr>
                        <a:t>Yes</a:t>
                      </a:r>
                    </a:p>
                  </a:txBody>
                  <a:tcPr anchor="ctr"/>
                </a:tc>
                <a:tc>
                  <a:txBody>
                    <a:bodyPr/>
                    <a:lstStyle/>
                    <a:p>
                      <a:r>
                        <a:rPr sz="1350">
                          <a:solidFill>
                            <a:srgbClr val="2D2D2D"/>
                          </a:solidFill>
                          <a:latin typeface="Montserrat"/>
                          <a:ea typeface="Montserrat"/>
                          <a:cs typeface="Montserrat"/>
                        </a:rPr>
                        <a:t>19</a:t>
                      </a:r>
                    </a:p>
                  </a:txBody>
                  <a:tcPr anchor="ctr"/>
                </a:tc>
                <a:extLst>
                  <a:ext uri="{0D108BD9-81ED-4DB2-BD59-A6C34878D82A}">
                    <a16:rowId xmlns:a16="http://schemas.microsoft.com/office/drawing/2014/main" val="10003"/>
                  </a:ext>
                </a:extLst>
              </a:tr>
              <a:tr h="438150">
                <a:tc>
                  <a:txBody>
                    <a:bodyPr/>
                    <a:lstStyle/>
                    <a:p>
                      <a:r>
                        <a:rPr sz="1350">
                          <a:solidFill>
                            <a:srgbClr val="2D2D2D"/>
                          </a:solidFill>
                          <a:latin typeface="Montserrat"/>
                          <a:ea typeface="Montserrat"/>
                          <a:cs typeface="Montserrat"/>
                        </a:rPr>
                        <a:t>D</a:t>
                      </a:r>
                    </a:p>
                  </a:txBody>
                  <a:tcPr anchor="ctr"/>
                </a:tc>
                <a:tc>
                  <a:txBody>
                    <a:bodyPr/>
                    <a:lstStyle/>
                    <a:p>
                      <a:r>
                        <a:rPr sz="1350">
                          <a:solidFill>
                            <a:srgbClr val="2D2D2D"/>
                          </a:solidFill>
                          <a:latin typeface="Montserrat"/>
                          <a:ea typeface="Montserrat"/>
                          <a:cs typeface="Montserrat"/>
                        </a:rPr>
                        <a:t>002</a:t>
                      </a:r>
                    </a:p>
                  </a:txBody>
                  <a:tcPr anchor="ctr"/>
                </a:tc>
                <a:tc>
                  <a:txBody>
                    <a:bodyPr/>
                    <a:lstStyle/>
                    <a:p>
                      <a:r>
                        <a:rPr sz="1350">
                          <a:solidFill>
                            <a:srgbClr val="2D2D2D"/>
                          </a:solidFill>
                          <a:latin typeface="Montserrat"/>
                          <a:ea typeface="Montserrat"/>
                          <a:cs typeface="Montserrat"/>
                        </a:rPr>
                        <a:t>10</a:t>
                      </a:r>
                    </a:p>
                  </a:txBody>
                  <a:tcPr anchor="ctr"/>
                </a:tc>
                <a:tc>
                  <a:txBody>
                    <a:bodyPr/>
                    <a:lstStyle/>
                    <a:p>
                      <a:r>
                        <a:rPr sz="1350">
                          <a:solidFill>
                            <a:srgbClr val="2D2D2D"/>
                          </a:solidFill>
                          <a:latin typeface="Montserrat"/>
                          <a:ea typeface="Montserrat"/>
                          <a:cs typeface="Montserrat"/>
                        </a:rPr>
                        <a:t>No</a:t>
                      </a:r>
                    </a:p>
                  </a:txBody>
                  <a:tcPr anchor="ctr"/>
                </a:tc>
                <a:tc>
                  <a:txBody>
                    <a:bodyPr/>
                    <a:lstStyle/>
                    <a:p>
                      <a:r>
                        <a:rPr sz="1350" dirty="0">
                          <a:solidFill>
                            <a:srgbClr val="2D2D2D"/>
                          </a:solidFill>
                          <a:latin typeface="Montserrat"/>
                          <a:ea typeface="Montserrat"/>
                          <a:cs typeface="Montserrat"/>
                        </a:rPr>
                        <a:t>12</a:t>
                      </a:r>
                    </a:p>
                  </a:txBody>
                  <a:tcPr anchor="ct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404D6A2B-9DC1-4191-BB42-236805E231FF}"/>
              </a:ext>
            </a:extLst>
          </p:cNvPr>
          <p:cNvSpPr>
            <a:spLocks noGrp="1"/>
          </p:cNvSpPr>
          <p:nvPr/>
        </p:nvSpPr>
        <p:spPr>
          <a:xfrm>
            <a:off x="1000125" y="4000500"/>
            <a:ext cx="1762125" cy="266700"/>
          </a:xfrm>
          <a:prstGeom prst="rect">
            <a:avLst/>
          </a:prstGeom>
          <a:noFill/>
          <a:ln w="0">
            <a:noFill/>
          </a:ln>
        </p:spPr>
        <p:txBody>
          <a:bodyPr anchor="t">
            <a:normAutofit fontScale="84697"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Cases</a:t>
            </a:r>
          </a:p>
        </p:txBody>
      </p:sp>
      <p:sp>
        <p:nvSpPr>
          <p:cNvPr id="8" name="Rectangle 7">
            <a:extLst>
              <a:ext uri="{FF2B5EF4-FFF2-40B4-BE49-F238E27FC236}">
                <a16:creationId xmlns:a16="http://schemas.microsoft.com/office/drawing/2014/main" id="{DAD2F9AE-C9C5-45C8-8314-82DE2607955C}"/>
              </a:ext>
            </a:extLst>
          </p:cNvPr>
          <p:cNvSpPr>
            <a:spLocks noGrp="1"/>
          </p:cNvSpPr>
          <p:nvPr/>
        </p:nvSpPr>
        <p:spPr>
          <a:xfrm>
            <a:off x="1000125" y="4295775"/>
            <a:ext cx="1762125" cy="266700"/>
          </a:xfrm>
          <a:prstGeom prst="rect">
            <a:avLst/>
          </a:prstGeom>
          <a:noFill/>
          <a:ln w="0">
            <a:noFill/>
          </a:ln>
        </p:spPr>
        <p:txBody>
          <a:bodyPr anchor="t">
            <a:noAutofit/>
          </a:bodyPr>
          <a:lstStyle/>
          <a:p>
            <a:pPr>
              <a:defRPr sz="1425" b="0" i="0">
                <a:solidFill>
                  <a:srgbClr val="2D2D2D"/>
                </a:solidFill>
                <a:latin typeface="Montserrat"/>
                <a:ea typeface="Montserrat"/>
                <a:cs typeface="Montserrat"/>
              </a:defRPr>
            </a:pPr>
            <a:r>
              <a:rPr sz="1400" b="0" i="0">
                <a:solidFill>
                  <a:srgbClr val="2D2D2D"/>
                </a:solidFill>
                <a:latin typeface="Montserrat"/>
                <a:ea typeface="Montserrat"/>
                <a:cs typeface="Montserrat"/>
              </a:rPr>
              <a:t>Students A–D</a:t>
            </a:r>
          </a:p>
        </p:txBody>
      </p:sp>
      <p:sp>
        <p:nvSpPr>
          <p:cNvPr id="9" name="Rectangle 8">
            <a:extLst>
              <a:ext uri="{FF2B5EF4-FFF2-40B4-BE49-F238E27FC236}">
                <a16:creationId xmlns:a16="http://schemas.microsoft.com/office/drawing/2014/main" id="{916FAA61-26E3-4695-934F-FCFA9DF3B147}"/>
              </a:ext>
            </a:extLst>
          </p:cNvPr>
          <p:cNvSpPr>
            <a:spLocks noGrp="1"/>
          </p:cNvSpPr>
          <p:nvPr/>
        </p:nvSpPr>
        <p:spPr>
          <a:xfrm>
            <a:off x="3667125" y="4000500"/>
            <a:ext cx="1762125" cy="266700"/>
          </a:xfrm>
          <a:prstGeom prst="rect">
            <a:avLst/>
          </a:prstGeom>
          <a:noFill/>
          <a:ln w="0">
            <a:noFill/>
          </a:ln>
        </p:spPr>
        <p:txBody>
          <a:bodyPr anchor="t">
            <a:normAutofit fontScale="84697"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Variables</a:t>
            </a:r>
          </a:p>
        </p:txBody>
      </p:sp>
      <p:sp>
        <p:nvSpPr>
          <p:cNvPr id="10" name="Rectangle 9">
            <a:extLst>
              <a:ext uri="{FF2B5EF4-FFF2-40B4-BE49-F238E27FC236}">
                <a16:creationId xmlns:a16="http://schemas.microsoft.com/office/drawing/2014/main" id="{D85D9494-A6B0-412C-8B42-8A05617AA457}"/>
              </a:ext>
            </a:extLst>
          </p:cNvPr>
          <p:cNvSpPr>
            <a:spLocks noGrp="1"/>
          </p:cNvSpPr>
          <p:nvPr/>
        </p:nvSpPr>
        <p:spPr>
          <a:xfrm>
            <a:off x="3667125" y="4295775"/>
            <a:ext cx="1762125" cy="266700"/>
          </a:xfrm>
          <a:prstGeom prst="rect">
            <a:avLst/>
          </a:prstGeom>
          <a:noFill/>
          <a:ln w="0">
            <a:noFill/>
          </a:ln>
        </p:spPr>
        <p:txBody>
          <a:bodyPr anchor="t">
            <a:noAutofit/>
          </a:bodyPr>
          <a:lstStyle/>
          <a:p>
            <a:pPr>
              <a:defRPr sz="1425"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The column headings</a:t>
            </a:r>
          </a:p>
        </p:txBody>
      </p:sp>
      <p:sp>
        <p:nvSpPr>
          <p:cNvPr id="11" name="Rectangle 10">
            <a:extLst>
              <a:ext uri="{FF2B5EF4-FFF2-40B4-BE49-F238E27FC236}">
                <a16:creationId xmlns:a16="http://schemas.microsoft.com/office/drawing/2014/main" id="{529DE042-6B2A-46F6-86E1-5677C613F89E}"/>
              </a:ext>
            </a:extLst>
          </p:cNvPr>
          <p:cNvSpPr>
            <a:spLocks noGrp="1"/>
          </p:cNvSpPr>
          <p:nvPr/>
        </p:nvSpPr>
        <p:spPr>
          <a:xfrm>
            <a:off x="6334125" y="4000500"/>
            <a:ext cx="1762125" cy="266700"/>
          </a:xfrm>
          <a:prstGeom prst="rect">
            <a:avLst/>
          </a:prstGeom>
          <a:noFill/>
          <a:ln w="0">
            <a:noFill/>
          </a:ln>
        </p:spPr>
        <p:txBody>
          <a:bodyPr anchor="t">
            <a:normAutofit fontScale="84697"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One value</a:t>
            </a:r>
          </a:p>
        </p:txBody>
      </p:sp>
      <p:sp>
        <p:nvSpPr>
          <p:cNvPr id="12" name="Rectangle 11">
            <a:extLst>
              <a:ext uri="{FF2B5EF4-FFF2-40B4-BE49-F238E27FC236}">
                <a16:creationId xmlns:a16="http://schemas.microsoft.com/office/drawing/2014/main" id="{E6395112-4360-4A04-9948-71A66C6D9330}"/>
              </a:ext>
            </a:extLst>
          </p:cNvPr>
          <p:cNvSpPr>
            <a:spLocks noGrp="1"/>
          </p:cNvSpPr>
          <p:nvPr/>
        </p:nvSpPr>
        <p:spPr>
          <a:xfrm>
            <a:off x="6334125" y="4295775"/>
            <a:ext cx="1762125" cy="266700"/>
          </a:xfrm>
          <a:prstGeom prst="rect">
            <a:avLst/>
          </a:prstGeom>
          <a:noFill/>
          <a:ln w="0">
            <a:noFill/>
          </a:ln>
        </p:spPr>
        <p:txBody>
          <a:bodyPr anchor="t">
            <a:noAutofit/>
          </a:bodyPr>
          <a:lstStyle/>
          <a:p>
            <a:pPr>
              <a:defRPr sz="1425" b="0" i="0">
                <a:solidFill>
                  <a:srgbClr val="2D2D2D"/>
                </a:solidFill>
                <a:latin typeface="Montserrat"/>
                <a:ea typeface="Montserrat"/>
                <a:cs typeface="Montserrat"/>
              </a:defRPr>
            </a:pPr>
            <a:r>
              <a:rPr sz="1400" b="0" i="0">
                <a:solidFill>
                  <a:srgbClr val="2D2D2D"/>
                </a:solidFill>
                <a:latin typeface="Montserrat"/>
                <a:ea typeface="Montserrat"/>
                <a:cs typeface="Montserrat"/>
              </a:rPr>
              <a:t>Student B scored 13</a:t>
            </a:r>
          </a:p>
        </p:txBody>
      </p:sp>
      <p:sp>
        <p:nvSpPr>
          <p:cNvPr id="6" name="Rectangle 5">
            <a:extLst>
              <a:ext uri="{FF2B5EF4-FFF2-40B4-BE49-F238E27FC236}">
                <a16:creationId xmlns:a16="http://schemas.microsoft.com/office/drawing/2014/main" id="{69BC5510-419D-4AC2-FA24-5BEAE97DFBA3}"/>
              </a:ext>
            </a:extLst>
          </p:cNvPr>
          <p:cNvSpPr/>
          <p:nvPr/>
        </p:nvSpPr>
        <p:spPr>
          <a:xfrm>
            <a:off x="2352782" y="1993187"/>
            <a:ext cx="5886343" cy="176918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7D9834E-F582-9E03-EB19-7388D651D853}"/>
              </a:ext>
            </a:extLst>
          </p:cNvPr>
          <p:cNvSpPr txBox="1"/>
          <p:nvPr/>
        </p:nvSpPr>
        <p:spPr>
          <a:xfrm>
            <a:off x="7430827" y="3373993"/>
            <a:ext cx="808298" cy="369332"/>
          </a:xfrm>
          <a:prstGeom prst="rect">
            <a:avLst/>
          </a:prstGeom>
          <a:noFill/>
        </p:spPr>
        <p:txBody>
          <a:bodyPr wrap="none" rtlCol="0">
            <a:spAutoFit/>
          </a:bodyPr>
          <a:lstStyle/>
          <a:p>
            <a:r>
              <a:rPr lang="en-US" b="1" dirty="0">
                <a:solidFill>
                  <a:srgbClr val="FF0000"/>
                </a:solidFill>
              </a:rPr>
              <a:t>Values</a:t>
            </a:r>
          </a:p>
        </p:txBody>
      </p:sp>
    </p:spTree>
    <p:extLst>
      <p:ext uri="{BB962C8B-B14F-4D97-AF65-F5344CB8AC3E}">
        <p14:creationId xmlns:p14="http://schemas.microsoft.com/office/powerpoint/2010/main" val="130300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5C8F0D6-E8D9-4E52-96F7-A464E5FC7B19}"/>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Concept map  Cases to conclusions</a:t>
            </a:r>
          </a:p>
        </p:txBody>
      </p:sp>
      <p:sp>
        <p:nvSpPr>
          <p:cNvPr id="2" name="Rectangle 1">
            <a:extLst>
              <a:ext uri="{FF2B5EF4-FFF2-40B4-BE49-F238E27FC236}">
                <a16:creationId xmlns:a16="http://schemas.microsoft.com/office/drawing/2014/main" id="{4A0F890E-3C03-47B2-89B4-6CC6FE001C5C}"/>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3C5717E8-D7E6-49DE-A8E8-974EFDE90FCD}"/>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A5DEBE11-2476-4706-9F93-514B38863AC7}"/>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7" name="Rectangle 6">
            <a:extLst>
              <a:ext uri="{FF2B5EF4-FFF2-40B4-BE49-F238E27FC236}">
                <a16:creationId xmlns:a16="http://schemas.microsoft.com/office/drawing/2014/main" id="{69473C98-E867-4638-A35A-4F2935AAD34C}"/>
              </a:ext>
            </a:extLst>
          </p:cNvPr>
          <p:cNvSpPr>
            <a:spLocks noGrp="1"/>
          </p:cNvSpPr>
          <p:nvPr/>
        </p:nvSpPr>
        <p:spPr>
          <a:xfrm>
            <a:off x="4552950" y="2238375"/>
            <a:ext cx="28575" cy="409575"/>
          </a:xfrm>
          <a:prstGeom prst="rect">
            <a:avLst/>
          </a:prstGeom>
          <a:solidFill>
            <a:srgbClr val="D6D9DE"/>
          </a:solidFill>
          <a:ln w="0">
            <a:noFill/>
          </a:ln>
        </p:spPr>
      </p:sp>
      <p:sp>
        <p:nvSpPr>
          <p:cNvPr id="8" name="Rectangle 7">
            <a:extLst>
              <a:ext uri="{FF2B5EF4-FFF2-40B4-BE49-F238E27FC236}">
                <a16:creationId xmlns:a16="http://schemas.microsoft.com/office/drawing/2014/main" id="{652BC766-428E-4826-9FC8-8EA861C42EC1}"/>
              </a:ext>
            </a:extLst>
          </p:cNvPr>
          <p:cNvSpPr>
            <a:spLocks noGrp="1"/>
          </p:cNvSpPr>
          <p:nvPr/>
        </p:nvSpPr>
        <p:spPr>
          <a:xfrm>
            <a:off x="2667000" y="2638425"/>
            <a:ext cx="3810000" cy="28575"/>
          </a:xfrm>
          <a:prstGeom prst="rect">
            <a:avLst/>
          </a:prstGeom>
          <a:solidFill>
            <a:srgbClr val="D6D9DE"/>
          </a:solidFill>
          <a:ln w="0">
            <a:noFill/>
          </a:ln>
        </p:spPr>
      </p:sp>
      <p:sp>
        <p:nvSpPr>
          <p:cNvPr id="9" name="Rectangle 8">
            <a:extLst>
              <a:ext uri="{FF2B5EF4-FFF2-40B4-BE49-F238E27FC236}">
                <a16:creationId xmlns:a16="http://schemas.microsoft.com/office/drawing/2014/main" id="{21436ACF-9536-4D98-BCCE-6C3D949FB340}"/>
              </a:ext>
            </a:extLst>
          </p:cNvPr>
          <p:cNvSpPr>
            <a:spLocks noGrp="1"/>
          </p:cNvSpPr>
          <p:nvPr/>
        </p:nvSpPr>
        <p:spPr>
          <a:xfrm>
            <a:off x="2667000" y="2638425"/>
            <a:ext cx="28575" cy="314325"/>
          </a:xfrm>
          <a:prstGeom prst="rect">
            <a:avLst/>
          </a:prstGeom>
          <a:solidFill>
            <a:srgbClr val="D6D9DE"/>
          </a:solidFill>
          <a:ln w="0">
            <a:noFill/>
          </a:ln>
        </p:spPr>
      </p:sp>
      <p:sp>
        <p:nvSpPr>
          <p:cNvPr id="10" name="Rectangle 9">
            <a:extLst>
              <a:ext uri="{FF2B5EF4-FFF2-40B4-BE49-F238E27FC236}">
                <a16:creationId xmlns:a16="http://schemas.microsoft.com/office/drawing/2014/main" id="{2238A210-9C09-4E4D-BD4E-394A4C796172}"/>
              </a:ext>
            </a:extLst>
          </p:cNvPr>
          <p:cNvSpPr>
            <a:spLocks noGrp="1"/>
          </p:cNvSpPr>
          <p:nvPr/>
        </p:nvSpPr>
        <p:spPr>
          <a:xfrm>
            <a:off x="6457950" y="2638425"/>
            <a:ext cx="28575" cy="314325"/>
          </a:xfrm>
          <a:prstGeom prst="rect">
            <a:avLst/>
          </a:prstGeom>
          <a:solidFill>
            <a:srgbClr val="D6D9DE"/>
          </a:solidFill>
          <a:ln w="0">
            <a:noFill/>
          </a:ln>
        </p:spPr>
      </p:sp>
      <p:sp>
        <p:nvSpPr>
          <p:cNvPr id="11" name="Rectangle 10">
            <a:extLst>
              <a:ext uri="{FF2B5EF4-FFF2-40B4-BE49-F238E27FC236}">
                <a16:creationId xmlns:a16="http://schemas.microsoft.com/office/drawing/2014/main" id="{76FC027D-BC94-4CE0-A133-6AD757ADDC89}"/>
              </a:ext>
            </a:extLst>
          </p:cNvPr>
          <p:cNvSpPr>
            <a:spLocks noGrp="1"/>
          </p:cNvSpPr>
          <p:nvPr/>
        </p:nvSpPr>
        <p:spPr>
          <a:xfrm>
            <a:off x="904875" y="1476375"/>
            <a:ext cx="1714500" cy="762000"/>
          </a:xfrm>
          <a:prstGeom prst="rect">
            <a:avLst/>
          </a:prstGeom>
          <a:solidFill>
            <a:srgbClr val="FFFFFF"/>
          </a:solidFill>
          <a:ln w="19050">
            <a:solidFill>
              <a:srgbClr val="1D4F91"/>
            </a:solidFill>
          </a:ln>
        </p:spPr>
      </p:sp>
      <p:sp>
        <p:nvSpPr>
          <p:cNvPr id="12" name="Rectangle 11">
            <a:extLst>
              <a:ext uri="{FF2B5EF4-FFF2-40B4-BE49-F238E27FC236}">
                <a16:creationId xmlns:a16="http://schemas.microsoft.com/office/drawing/2014/main" id="{3304A898-39B2-46C7-8CC9-0222FE84C76B}"/>
              </a:ext>
            </a:extLst>
          </p:cNvPr>
          <p:cNvSpPr>
            <a:spLocks noGrp="1"/>
          </p:cNvSpPr>
          <p:nvPr/>
        </p:nvSpPr>
        <p:spPr>
          <a:xfrm>
            <a:off x="981075" y="1552575"/>
            <a:ext cx="1562100" cy="609600"/>
          </a:xfrm>
          <a:prstGeom prst="rect">
            <a:avLst/>
          </a:prstGeom>
          <a:noFill/>
          <a:ln w="0">
            <a:noFill/>
          </a:ln>
        </p:spPr>
        <p:txBody>
          <a:bodyPr anchor="ctr">
            <a:normAutofit/>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Cases</a:t>
            </a:r>
          </a:p>
        </p:txBody>
      </p:sp>
      <p:sp>
        <p:nvSpPr>
          <p:cNvPr id="13" name="Rectangle 12">
            <a:extLst>
              <a:ext uri="{FF2B5EF4-FFF2-40B4-BE49-F238E27FC236}">
                <a16:creationId xmlns:a16="http://schemas.microsoft.com/office/drawing/2014/main" id="{D7261504-3407-43E1-AFAC-DF40DE7E94EB}"/>
              </a:ext>
            </a:extLst>
          </p:cNvPr>
          <p:cNvSpPr>
            <a:spLocks noGrp="1"/>
          </p:cNvSpPr>
          <p:nvPr/>
        </p:nvSpPr>
        <p:spPr>
          <a:xfrm>
            <a:off x="3667125" y="1476375"/>
            <a:ext cx="1809750" cy="762000"/>
          </a:xfrm>
          <a:prstGeom prst="rect">
            <a:avLst/>
          </a:prstGeom>
          <a:solidFill>
            <a:srgbClr val="FFFFFF"/>
          </a:solidFill>
          <a:ln w="19050">
            <a:solidFill>
              <a:srgbClr val="1D4F91"/>
            </a:solidFill>
          </a:ln>
        </p:spPr>
      </p:sp>
      <p:sp>
        <p:nvSpPr>
          <p:cNvPr id="14" name="Rectangle 13">
            <a:extLst>
              <a:ext uri="{FF2B5EF4-FFF2-40B4-BE49-F238E27FC236}">
                <a16:creationId xmlns:a16="http://schemas.microsoft.com/office/drawing/2014/main" id="{0CFF9085-3254-4577-80A1-64D2A36EE0D7}"/>
              </a:ext>
            </a:extLst>
          </p:cNvPr>
          <p:cNvSpPr>
            <a:spLocks noGrp="1"/>
          </p:cNvSpPr>
          <p:nvPr/>
        </p:nvSpPr>
        <p:spPr>
          <a:xfrm>
            <a:off x="3743325" y="1552575"/>
            <a:ext cx="1657350" cy="609600"/>
          </a:xfrm>
          <a:prstGeom prst="rect">
            <a:avLst/>
          </a:prstGeom>
          <a:noFill/>
          <a:ln w="0">
            <a:noFill/>
          </a:ln>
        </p:spPr>
        <p:txBody>
          <a:bodyPr anchor="ctr">
            <a:normAutofit/>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Values</a:t>
            </a:r>
          </a:p>
        </p:txBody>
      </p:sp>
      <p:sp>
        <p:nvSpPr>
          <p:cNvPr id="15" name="Rectangle 14">
            <a:extLst>
              <a:ext uri="{FF2B5EF4-FFF2-40B4-BE49-F238E27FC236}">
                <a16:creationId xmlns:a16="http://schemas.microsoft.com/office/drawing/2014/main" id="{5B1AA9CF-9864-4EFA-B27C-8A0D2FD57BC6}"/>
              </a:ext>
            </a:extLst>
          </p:cNvPr>
          <p:cNvSpPr>
            <a:spLocks noGrp="1"/>
          </p:cNvSpPr>
          <p:nvPr/>
        </p:nvSpPr>
        <p:spPr>
          <a:xfrm>
            <a:off x="6524625" y="1476375"/>
            <a:ext cx="1714500" cy="762000"/>
          </a:xfrm>
          <a:prstGeom prst="rect">
            <a:avLst/>
          </a:prstGeom>
          <a:solidFill>
            <a:srgbClr val="FFFFFF"/>
          </a:solidFill>
          <a:ln w="19050">
            <a:solidFill>
              <a:srgbClr val="1D4F91"/>
            </a:solidFill>
          </a:ln>
        </p:spPr>
      </p:sp>
      <p:sp>
        <p:nvSpPr>
          <p:cNvPr id="16" name="Rectangle 15">
            <a:extLst>
              <a:ext uri="{FF2B5EF4-FFF2-40B4-BE49-F238E27FC236}">
                <a16:creationId xmlns:a16="http://schemas.microsoft.com/office/drawing/2014/main" id="{436733CF-A77C-42F9-AAD1-D6C9E8EC0D8C}"/>
              </a:ext>
            </a:extLst>
          </p:cNvPr>
          <p:cNvSpPr>
            <a:spLocks noGrp="1"/>
          </p:cNvSpPr>
          <p:nvPr/>
        </p:nvSpPr>
        <p:spPr>
          <a:xfrm>
            <a:off x="6600825" y="1552575"/>
            <a:ext cx="1562100" cy="609600"/>
          </a:xfrm>
          <a:prstGeom prst="rect">
            <a:avLst/>
          </a:prstGeom>
          <a:noFill/>
          <a:ln w="0">
            <a:noFill/>
          </a:ln>
        </p:spPr>
        <p:txBody>
          <a:bodyPr anchor="ctr">
            <a:normAutofit/>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Variables</a:t>
            </a:r>
          </a:p>
        </p:txBody>
      </p:sp>
      <p:sp>
        <p:nvSpPr>
          <p:cNvPr id="17" name="Rectangle 16">
            <a:extLst>
              <a:ext uri="{FF2B5EF4-FFF2-40B4-BE49-F238E27FC236}">
                <a16:creationId xmlns:a16="http://schemas.microsoft.com/office/drawing/2014/main" id="{A541F747-C1F7-497D-85DD-BBC845695F3C}"/>
              </a:ext>
            </a:extLst>
          </p:cNvPr>
          <p:cNvSpPr>
            <a:spLocks noGrp="1"/>
          </p:cNvSpPr>
          <p:nvPr/>
        </p:nvSpPr>
        <p:spPr>
          <a:xfrm>
            <a:off x="1619250" y="2952750"/>
            <a:ext cx="2095500" cy="781050"/>
          </a:xfrm>
          <a:prstGeom prst="rect">
            <a:avLst/>
          </a:prstGeom>
          <a:solidFill>
            <a:srgbClr val="EAF5F0"/>
          </a:solidFill>
          <a:ln w="19050">
            <a:solidFill>
              <a:srgbClr val="1D4F91"/>
            </a:solidFill>
          </a:ln>
        </p:spPr>
      </p:sp>
      <p:sp>
        <p:nvSpPr>
          <p:cNvPr id="18" name="Rectangle 17">
            <a:extLst>
              <a:ext uri="{FF2B5EF4-FFF2-40B4-BE49-F238E27FC236}">
                <a16:creationId xmlns:a16="http://schemas.microsoft.com/office/drawing/2014/main" id="{9F7F1608-CDF9-47EB-B7FC-83990CEB14FD}"/>
              </a:ext>
            </a:extLst>
          </p:cNvPr>
          <p:cNvSpPr>
            <a:spLocks noGrp="1"/>
          </p:cNvSpPr>
          <p:nvPr/>
        </p:nvSpPr>
        <p:spPr>
          <a:xfrm>
            <a:off x="1695450" y="3028950"/>
            <a:ext cx="1943100" cy="628650"/>
          </a:xfrm>
          <a:prstGeom prst="rect">
            <a:avLst/>
          </a:prstGeom>
          <a:noFill/>
          <a:ln w="0">
            <a:noFill/>
          </a:ln>
        </p:spPr>
        <p:txBody>
          <a:bodyPr anchor="ctr">
            <a:normAutofit/>
          </a:bodyPr>
          <a:lstStyle/>
          <a:p>
            <a:pPr>
              <a:defRPr sz="1800" b="1" i="0">
                <a:solidFill>
                  <a:srgbClr val="2C7A62"/>
                </a:solidFill>
                <a:latin typeface="Montserrat"/>
                <a:ea typeface="Montserrat"/>
                <a:cs typeface="Montserrat"/>
              </a:defRPr>
            </a:pPr>
            <a:r>
              <a:rPr sz="1800" b="1" i="0">
                <a:solidFill>
                  <a:srgbClr val="2C7A62"/>
                </a:solidFill>
                <a:latin typeface="Montserrat"/>
                <a:ea typeface="Montserrat"/>
                <a:cs typeface="Montserrat"/>
              </a:rPr>
              <a:t>Statistic</a:t>
            </a:r>
          </a:p>
        </p:txBody>
      </p:sp>
      <p:sp>
        <p:nvSpPr>
          <p:cNvPr id="19" name="Rectangle 18">
            <a:extLst>
              <a:ext uri="{FF2B5EF4-FFF2-40B4-BE49-F238E27FC236}">
                <a16:creationId xmlns:a16="http://schemas.microsoft.com/office/drawing/2014/main" id="{42394257-6E76-48D8-B0E0-3C5B05D484A2}"/>
              </a:ext>
            </a:extLst>
          </p:cNvPr>
          <p:cNvSpPr>
            <a:spLocks noGrp="1"/>
          </p:cNvSpPr>
          <p:nvPr/>
        </p:nvSpPr>
        <p:spPr>
          <a:xfrm>
            <a:off x="5429250" y="2952750"/>
            <a:ext cx="2095500" cy="781050"/>
          </a:xfrm>
          <a:prstGeom prst="rect">
            <a:avLst/>
          </a:prstGeom>
          <a:solidFill>
            <a:srgbClr val="F9ECEC"/>
          </a:solidFill>
          <a:ln w="19050">
            <a:solidFill>
              <a:srgbClr val="1D4F91"/>
            </a:solidFill>
          </a:ln>
        </p:spPr>
      </p:sp>
      <p:sp>
        <p:nvSpPr>
          <p:cNvPr id="20" name="Rectangle 19">
            <a:extLst>
              <a:ext uri="{FF2B5EF4-FFF2-40B4-BE49-F238E27FC236}">
                <a16:creationId xmlns:a16="http://schemas.microsoft.com/office/drawing/2014/main" id="{74D88160-AE33-4283-A9D4-A1F2364185AF}"/>
              </a:ext>
            </a:extLst>
          </p:cNvPr>
          <p:cNvSpPr>
            <a:spLocks noGrp="1"/>
          </p:cNvSpPr>
          <p:nvPr/>
        </p:nvSpPr>
        <p:spPr>
          <a:xfrm>
            <a:off x="5505450" y="3028950"/>
            <a:ext cx="1943100" cy="628650"/>
          </a:xfrm>
          <a:prstGeom prst="rect">
            <a:avLst/>
          </a:prstGeom>
          <a:noFill/>
          <a:ln w="0">
            <a:noFill/>
          </a:ln>
        </p:spPr>
        <p:txBody>
          <a:bodyPr anchor="ctr">
            <a:normAutofit/>
          </a:bodyPr>
          <a:lstStyle/>
          <a:p>
            <a:pPr>
              <a:defRPr sz="1800" b="1" i="0">
                <a:solidFill>
                  <a:srgbClr val="B43A3A"/>
                </a:solidFill>
                <a:latin typeface="Montserrat"/>
                <a:ea typeface="Montserrat"/>
                <a:cs typeface="Montserrat"/>
              </a:defRPr>
            </a:pPr>
            <a:r>
              <a:rPr sz="1800" b="1" i="0">
                <a:solidFill>
                  <a:srgbClr val="B43A3A"/>
                </a:solidFill>
                <a:latin typeface="Montserrat"/>
                <a:ea typeface="Montserrat"/>
                <a:cs typeface="Montserrat"/>
              </a:rPr>
              <a:t>Parameter</a:t>
            </a:r>
          </a:p>
        </p:txBody>
      </p:sp>
      <p:sp>
        <p:nvSpPr>
          <p:cNvPr id="21" name="Rectangle 20">
            <a:extLst>
              <a:ext uri="{FF2B5EF4-FFF2-40B4-BE49-F238E27FC236}">
                <a16:creationId xmlns:a16="http://schemas.microsoft.com/office/drawing/2014/main" id="{CBDD1FC9-F646-4ECF-9C13-DD652122109C}"/>
              </a:ext>
            </a:extLst>
          </p:cNvPr>
          <p:cNvSpPr>
            <a:spLocks noGrp="1"/>
          </p:cNvSpPr>
          <p:nvPr/>
        </p:nvSpPr>
        <p:spPr>
          <a:xfrm>
            <a:off x="2491468" y="1140279"/>
            <a:ext cx="1284514" cy="228600"/>
          </a:xfrm>
          <a:prstGeom prst="rect">
            <a:avLst/>
          </a:prstGeom>
          <a:noFill/>
          <a:ln w="0">
            <a:noFill/>
          </a:ln>
        </p:spPr>
        <p:txBody>
          <a:bodyPr anchor="t">
            <a:noAutofit/>
          </a:bodyPr>
          <a:lstStyle/>
          <a:p>
            <a:pPr>
              <a:defRPr sz="1200" b="0" i="0">
                <a:solidFill>
                  <a:srgbClr val="606975"/>
                </a:solidFill>
                <a:latin typeface="Montserrat"/>
                <a:ea typeface="Montserrat"/>
                <a:cs typeface="Montserrat"/>
              </a:defRPr>
            </a:pPr>
            <a:r>
              <a:rPr sz="1400" b="0" i="0" dirty="0">
                <a:solidFill>
                  <a:srgbClr val="606975"/>
                </a:solidFill>
                <a:latin typeface="Montserrat"/>
                <a:ea typeface="Montserrat"/>
                <a:cs typeface="Montserrat"/>
              </a:rPr>
              <a:t>recorded for</a:t>
            </a:r>
          </a:p>
        </p:txBody>
      </p:sp>
      <p:sp>
        <p:nvSpPr>
          <p:cNvPr id="22" name="Rectangle 21">
            <a:extLst>
              <a:ext uri="{FF2B5EF4-FFF2-40B4-BE49-F238E27FC236}">
                <a16:creationId xmlns:a16="http://schemas.microsoft.com/office/drawing/2014/main" id="{1FC3F8D0-1F5E-483D-A757-5CC2E375ACF2}"/>
              </a:ext>
            </a:extLst>
          </p:cNvPr>
          <p:cNvSpPr>
            <a:spLocks noGrp="1"/>
          </p:cNvSpPr>
          <p:nvPr/>
        </p:nvSpPr>
        <p:spPr>
          <a:xfrm>
            <a:off x="5400675" y="1104900"/>
            <a:ext cx="1284513" cy="228600"/>
          </a:xfrm>
          <a:prstGeom prst="rect">
            <a:avLst/>
          </a:prstGeom>
          <a:noFill/>
          <a:ln w="0">
            <a:noFill/>
          </a:ln>
        </p:spPr>
        <p:txBody>
          <a:bodyPr anchor="t">
            <a:noAutofit/>
          </a:bodyPr>
          <a:lstStyle/>
          <a:p>
            <a:pPr>
              <a:defRPr sz="1200" b="0" i="0">
                <a:solidFill>
                  <a:srgbClr val="606975"/>
                </a:solidFill>
                <a:latin typeface="Montserrat"/>
                <a:ea typeface="Montserrat"/>
                <a:cs typeface="Montserrat"/>
              </a:defRPr>
            </a:pPr>
            <a:r>
              <a:rPr sz="1400" b="0" i="0" dirty="0">
                <a:solidFill>
                  <a:srgbClr val="606975"/>
                </a:solidFill>
                <a:latin typeface="Montserrat"/>
                <a:ea typeface="Montserrat"/>
                <a:cs typeface="Montserrat"/>
              </a:rPr>
              <a:t>one value of</a:t>
            </a:r>
          </a:p>
        </p:txBody>
      </p:sp>
      <p:sp>
        <p:nvSpPr>
          <p:cNvPr id="23" name="Rectangle 22">
            <a:extLst>
              <a:ext uri="{FF2B5EF4-FFF2-40B4-BE49-F238E27FC236}">
                <a16:creationId xmlns:a16="http://schemas.microsoft.com/office/drawing/2014/main" id="{09C1FA97-C729-4F59-92E2-80A035D28E1D}"/>
              </a:ext>
            </a:extLst>
          </p:cNvPr>
          <p:cNvSpPr>
            <a:spLocks noGrp="1"/>
          </p:cNvSpPr>
          <p:nvPr/>
        </p:nvSpPr>
        <p:spPr>
          <a:xfrm>
            <a:off x="1409700" y="3867151"/>
            <a:ext cx="3333750" cy="266700"/>
          </a:xfrm>
          <a:prstGeom prst="rect">
            <a:avLst/>
          </a:prstGeom>
          <a:noFill/>
          <a:ln w="0">
            <a:noFill/>
          </a:ln>
        </p:spPr>
        <p:txBody>
          <a:bodyPr anchor="t">
            <a:noAutofit/>
          </a:bodyPr>
          <a:lstStyle/>
          <a:p>
            <a:pPr>
              <a:defRPr sz="1350" b="0" i="0">
                <a:solidFill>
                  <a:srgbClr val="2C7A62"/>
                </a:solidFill>
                <a:latin typeface="Montserrat"/>
                <a:ea typeface="Montserrat"/>
                <a:cs typeface="Montserrat"/>
              </a:defRPr>
            </a:pPr>
            <a:r>
              <a:rPr sz="1600" b="1" i="0" dirty="0">
                <a:solidFill>
                  <a:srgbClr val="2C7A62"/>
                </a:solidFill>
                <a:latin typeface="Montserrat"/>
                <a:ea typeface="Montserrat"/>
                <a:cs typeface="Montserrat"/>
              </a:rPr>
              <a:t>sample</a:t>
            </a:r>
            <a:r>
              <a:rPr sz="1600" b="0" i="0" dirty="0">
                <a:solidFill>
                  <a:srgbClr val="2C7A62"/>
                </a:solidFill>
                <a:latin typeface="Montserrat"/>
                <a:ea typeface="Montserrat"/>
                <a:cs typeface="Montserrat"/>
              </a:rPr>
              <a:t> values produce</a:t>
            </a:r>
          </a:p>
        </p:txBody>
      </p:sp>
      <p:sp>
        <p:nvSpPr>
          <p:cNvPr id="24" name="Rectangle 23">
            <a:extLst>
              <a:ext uri="{FF2B5EF4-FFF2-40B4-BE49-F238E27FC236}">
                <a16:creationId xmlns:a16="http://schemas.microsoft.com/office/drawing/2014/main" id="{154BFA25-6654-400B-BC93-49D56EAAE08E}"/>
              </a:ext>
            </a:extLst>
          </p:cNvPr>
          <p:cNvSpPr>
            <a:spLocks noGrp="1"/>
          </p:cNvSpPr>
          <p:nvPr/>
        </p:nvSpPr>
        <p:spPr>
          <a:xfrm>
            <a:off x="5219700" y="3848101"/>
            <a:ext cx="3333750" cy="266700"/>
          </a:xfrm>
          <a:prstGeom prst="rect">
            <a:avLst/>
          </a:prstGeom>
          <a:noFill/>
          <a:ln w="0">
            <a:noFill/>
          </a:ln>
        </p:spPr>
        <p:txBody>
          <a:bodyPr anchor="t">
            <a:noAutofit/>
          </a:bodyPr>
          <a:lstStyle/>
          <a:p>
            <a:pPr>
              <a:defRPr sz="1350" b="0" i="0">
                <a:solidFill>
                  <a:srgbClr val="B43A3A"/>
                </a:solidFill>
                <a:latin typeface="Montserrat"/>
                <a:ea typeface="Montserrat"/>
                <a:cs typeface="Montserrat"/>
              </a:defRPr>
            </a:pPr>
            <a:r>
              <a:rPr sz="1600" b="1" i="0" dirty="0">
                <a:solidFill>
                  <a:srgbClr val="B43A3A"/>
                </a:solidFill>
                <a:latin typeface="Montserrat"/>
                <a:ea typeface="Montserrat"/>
                <a:cs typeface="Montserrat"/>
              </a:rPr>
              <a:t>population</a:t>
            </a:r>
            <a:r>
              <a:rPr sz="1600" b="0" i="0" dirty="0">
                <a:solidFill>
                  <a:srgbClr val="B43A3A"/>
                </a:solidFill>
                <a:latin typeface="Montserrat"/>
                <a:ea typeface="Montserrat"/>
                <a:cs typeface="Montserrat"/>
              </a:rPr>
              <a:t> values define</a:t>
            </a:r>
          </a:p>
        </p:txBody>
      </p:sp>
      <p:sp>
        <p:nvSpPr>
          <p:cNvPr id="25" name="Rectangle 24">
            <a:extLst>
              <a:ext uri="{FF2B5EF4-FFF2-40B4-BE49-F238E27FC236}">
                <a16:creationId xmlns:a16="http://schemas.microsoft.com/office/drawing/2014/main" id="{23280410-2921-4400-AD05-8525424F35DA}"/>
              </a:ext>
            </a:extLst>
          </p:cNvPr>
          <p:cNvSpPr>
            <a:spLocks noGrp="1"/>
          </p:cNvSpPr>
          <p:nvPr/>
        </p:nvSpPr>
        <p:spPr>
          <a:xfrm>
            <a:off x="590550" y="4248151"/>
            <a:ext cx="7458075" cy="323850"/>
          </a:xfrm>
          <a:prstGeom prst="rect">
            <a:avLst/>
          </a:prstGeom>
          <a:noFill/>
          <a:ln w="0">
            <a:noFill/>
          </a:ln>
        </p:spPr>
        <p:txBody>
          <a:bodyPr anchor="t">
            <a:noAutofit/>
          </a:bodyPr>
          <a:lstStyle/>
          <a:p>
            <a:pPr>
              <a:defRPr sz="1650" b="1" i="0">
                <a:solidFill>
                  <a:srgbClr val="1D4F91"/>
                </a:solidFill>
                <a:latin typeface="Montserrat"/>
                <a:ea typeface="Montserrat"/>
                <a:cs typeface="Montserrat"/>
              </a:defRPr>
            </a:pPr>
            <a:r>
              <a:rPr sz="1600" b="1" i="0" dirty="0">
                <a:solidFill>
                  <a:srgbClr val="1D4F91"/>
                </a:solidFill>
                <a:latin typeface="Montserrat"/>
                <a:ea typeface="Montserrat"/>
                <a:cs typeface="Montserrat"/>
              </a:rPr>
              <a:t>A statistic summarizes observed sample values. A parameter describes the target population.</a:t>
            </a:r>
          </a:p>
        </p:txBody>
      </p:sp>
      <p:cxnSp>
        <p:nvCxnSpPr>
          <p:cNvPr id="28" name="Straight Arrow Connector 27">
            <a:extLst>
              <a:ext uri="{FF2B5EF4-FFF2-40B4-BE49-F238E27FC236}">
                <a16:creationId xmlns:a16="http://schemas.microsoft.com/office/drawing/2014/main" id="{44F75F8E-8AA0-122D-241E-BBDFEFCBA922}"/>
              </a:ext>
            </a:extLst>
          </p:cNvPr>
          <p:cNvCxnSpPr>
            <a:stCxn id="13" idx="1"/>
            <a:endCxn id="11" idx="3"/>
          </p:cNvCxnSpPr>
          <p:nvPr/>
        </p:nvCxnSpPr>
        <p:spPr>
          <a:xfrm flipH="1">
            <a:off x="2619375" y="1857375"/>
            <a:ext cx="1047750"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8E2AD8D-97D3-A668-4C18-12198C83A953}"/>
              </a:ext>
            </a:extLst>
          </p:cNvPr>
          <p:cNvCxnSpPr>
            <a:stCxn id="13" idx="3"/>
            <a:endCxn id="15" idx="1"/>
          </p:cNvCxnSpPr>
          <p:nvPr/>
        </p:nvCxnSpPr>
        <p:spPr>
          <a:xfrm>
            <a:off x="5476875" y="1857375"/>
            <a:ext cx="1047750"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0667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C4067C3-B93E-4994-9F6D-32713AAC8331}"/>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Statistics and parameters</a:t>
            </a:r>
          </a:p>
        </p:txBody>
      </p:sp>
      <p:sp>
        <p:nvSpPr>
          <p:cNvPr id="2" name="Rectangle 1">
            <a:extLst>
              <a:ext uri="{FF2B5EF4-FFF2-40B4-BE49-F238E27FC236}">
                <a16:creationId xmlns:a16="http://schemas.microsoft.com/office/drawing/2014/main" id="{FD3D1CFC-DA6D-4961-B763-59F68D58D8AA}"/>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98016C94-D3D5-499E-879B-ABE0195876B3}"/>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EE304CE-3AE5-4260-90C1-F17A12449927}"/>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469FBBFE-D624-4C2A-A630-AAB9775A71A7}"/>
              </a:ext>
            </a:extLst>
          </p:cNvPr>
          <p:cNvSpPr>
            <a:spLocks noGrp="1"/>
          </p:cNvSpPr>
          <p:nvPr/>
        </p:nvSpPr>
        <p:spPr>
          <a:xfrm>
            <a:off x="809625" y="1190625"/>
            <a:ext cx="2381250" cy="285750"/>
          </a:xfrm>
          <a:prstGeom prst="rect">
            <a:avLst/>
          </a:prstGeom>
          <a:noFill/>
          <a:ln w="0">
            <a:noFill/>
          </a:ln>
        </p:spPr>
        <p:txBody>
          <a:bodyPr anchor="t">
            <a:normAutofit fontScale="92500" lnSpcReduction="10000"/>
          </a:bodyPr>
          <a:lstStyle/>
          <a:p>
            <a:pPr>
              <a:defRPr sz="1500" b="1" i="0">
                <a:solidFill>
                  <a:srgbClr val="1D4F91"/>
                </a:solidFill>
                <a:latin typeface="Montserrat"/>
                <a:ea typeface="Montserrat"/>
                <a:cs typeface="Montserrat"/>
              </a:defRPr>
            </a:pPr>
            <a:r>
              <a:rPr sz="1500" b="1" i="0" dirty="0">
                <a:solidFill>
                  <a:srgbClr val="1D4F91"/>
                </a:solidFill>
                <a:latin typeface="Montserrat"/>
                <a:ea typeface="Montserrat"/>
                <a:cs typeface="Montserrat"/>
              </a:rPr>
              <a:t>Research question</a:t>
            </a:r>
          </a:p>
        </p:txBody>
      </p:sp>
      <p:sp>
        <p:nvSpPr>
          <p:cNvPr id="6" name="Rectangle 5">
            <a:extLst>
              <a:ext uri="{FF2B5EF4-FFF2-40B4-BE49-F238E27FC236}">
                <a16:creationId xmlns:a16="http://schemas.microsoft.com/office/drawing/2014/main" id="{AD7EFB1A-715E-42AD-A4E3-EC5E763AFD47}"/>
              </a:ext>
            </a:extLst>
          </p:cNvPr>
          <p:cNvSpPr>
            <a:spLocks noGrp="1"/>
          </p:cNvSpPr>
          <p:nvPr/>
        </p:nvSpPr>
        <p:spPr>
          <a:xfrm>
            <a:off x="809625" y="1552575"/>
            <a:ext cx="7524750" cy="476250"/>
          </a:xfrm>
          <a:prstGeom prst="rect">
            <a:avLst/>
          </a:prstGeom>
          <a:noFill/>
          <a:ln w="0">
            <a:noFill/>
          </a:ln>
        </p:spPr>
        <p:txBody>
          <a:bodyPr anchor="t">
            <a:normAutofit fontScale="75843" lnSpcReduction="20000"/>
          </a:bodyPr>
          <a:lstStyle/>
          <a:p>
            <a:pPr>
              <a:defRPr sz="2025" b="1" i="0">
                <a:solidFill>
                  <a:srgbClr val="2D2D2D"/>
                </a:solidFill>
                <a:latin typeface="Montserrat"/>
                <a:ea typeface="Montserrat"/>
                <a:cs typeface="Montserrat"/>
              </a:defRPr>
            </a:pPr>
            <a:r>
              <a:rPr sz="2025" b="1" i="0" dirty="0">
                <a:solidFill>
                  <a:srgbClr val="2D2D2D"/>
                </a:solidFill>
                <a:latin typeface="Montserrat"/>
                <a:ea typeface="Montserrat"/>
                <a:cs typeface="Montserrat"/>
              </a:rPr>
              <a:t>What is the average Chapter 1 score among all STAT UN 1001 students?</a:t>
            </a:r>
          </a:p>
        </p:txBody>
      </p:sp>
      <p:sp>
        <p:nvSpPr>
          <p:cNvPr id="7" name="Rectangle 6">
            <a:extLst>
              <a:ext uri="{FF2B5EF4-FFF2-40B4-BE49-F238E27FC236}">
                <a16:creationId xmlns:a16="http://schemas.microsoft.com/office/drawing/2014/main" id="{CBB708B9-2C63-4E2F-AB4B-10B2615DF9A7}"/>
              </a:ext>
            </a:extLst>
          </p:cNvPr>
          <p:cNvSpPr>
            <a:spLocks noGrp="1"/>
          </p:cNvSpPr>
          <p:nvPr/>
        </p:nvSpPr>
        <p:spPr>
          <a:xfrm>
            <a:off x="904875" y="2286000"/>
            <a:ext cx="3143250" cy="19050"/>
          </a:xfrm>
          <a:prstGeom prst="rect">
            <a:avLst/>
          </a:prstGeom>
          <a:solidFill>
            <a:srgbClr val="00A9E0"/>
          </a:solidFill>
          <a:ln w="0">
            <a:noFill/>
          </a:ln>
        </p:spPr>
      </p:sp>
      <p:sp>
        <p:nvSpPr>
          <p:cNvPr id="8" name="Rectangle 7">
            <a:extLst>
              <a:ext uri="{FF2B5EF4-FFF2-40B4-BE49-F238E27FC236}">
                <a16:creationId xmlns:a16="http://schemas.microsoft.com/office/drawing/2014/main" id="{7B7B3252-582E-4D51-A3BC-4A4BBE82FD3E}"/>
              </a:ext>
            </a:extLst>
          </p:cNvPr>
          <p:cNvSpPr>
            <a:spLocks noGrp="1"/>
          </p:cNvSpPr>
          <p:nvPr/>
        </p:nvSpPr>
        <p:spPr>
          <a:xfrm>
            <a:off x="1047750" y="2505075"/>
            <a:ext cx="2857500" cy="323850"/>
          </a:xfrm>
          <a:prstGeom prst="rect">
            <a:avLst/>
          </a:prstGeom>
          <a:noFill/>
          <a:ln w="0">
            <a:noFill/>
          </a:ln>
        </p:spPr>
        <p:txBody>
          <a:bodyPr anchor="t">
            <a:normAutofit fontScale="82809" lnSpcReduction="20000"/>
          </a:bodyPr>
          <a:lstStyle/>
          <a:p>
            <a:pPr>
              <a:defRPr sz="2025" b="1" i="0">
                <a:solidFill>
                  <a:srgbClr val="2C7A62"/>
                </a:solidFill>
                <a:latin typeface="Montserrat"/>
                <a:ea typeface="Montserrat"/>
                <a:cs typeface="Montserrat"/>
              </a:defRPr>
            </a:pPr>
            <a:r>
              <a:rPr sz="2025" b="1" i="0">
                <a:solidFill>
                  <a:srgbClr val="2C7A62"/>
                </a:solidFill>
                <a:latin typeface="Montserrat"/>
                <a:ea typeface="Montserrat"/>
                <a:cs typeface="Montserrat"/>
              </a:rPr>
              <a:t>Statistic</a:t>
            </a:r>
          </a:p>
        </p:txBody>
      </p:sp>
      <p:sp>
        <p:nvSpPr>
          <p:cNvPr id="9" name="Rectangle 8">
            <a:extLst>
              <a:ext uri="{FF2B5EF4-FFF2-40B4-BE49-F238E27FC236}">
                <a16:creationId xmlns:a16="http://schemas.microsoft.com/office/drawing/2014/main" id="{E556ACAF-737B-47EB-ADC6-343B328381D4}"/>
              </a:ext>
            </a:extLst>
          </p:cNvPr>
          <p:cNvSpPr>
            <a:spLocks noGrp="1"/>
          </p:cNvSpPr>
          <p:nvPr/>
        </p:nvSpPr>
        <p:spPr>
          <a:xfrm>
            <a:off x="1047750" y="3000375"/>
            <a:ext cx="2857500" cy="742950"/>
          </a:xfrm>
          <a:prstGeom prst="rect">
            <a:avLst/>
          </a:prstGeom>
          <a:noFill/>
          <a:ln w="0">
            <a:noFill/>
          </a:ln>
        </p:spPr>
        <p:txBody>
          <a:bodyPr anchor="t">
            <a:normAutofit/>
          </a:bodyPr>
          <a:lstStyle/>
          <a:p>
            <a:pPr>
              <a:defRPr sz="1875" b="0" i="0">
                <a:solidFill>
                  <a:srgbClr val="2D2D2D"/>
                </a:solidFill>
                <a:latin typeface="Montserrat"/>
                <a:ea typeface="Montserrat"/>
                <a:cs typeface="Montserrat"/>
              </a:defRPr>
            </a:pPr>
            <a:r>
              <a:rPr sz="1600" b="0" i="0" dirty="0">
                <a:solidFill>
                  <a:srgbClr val="2D2D2D"/>
                </a:solidFill>
                <a:latin typeface="Montserrat"/>
                <a:ea typeface="Montserrat"/>
                <a:cs typeface="Montserrat"/>
              </a:rPr>
              <a:t>Mean score among the students in the sample</a:t>
            </a:r>
          </a:p>
        </p:txBody>
      </p:sp>
      <p:sp>
        <p:nvSpPr>
          <p:cNvPr id="10" name="Rectangle 9">
            <a:extLst>
              <a:ext uri="{FF2B5EF4-FFF2-40B4-BE49-F238E27FC236}">
                <a16:creationId xmlns:a16="http://schemas.microsoft.com/office/drawing/2014/main" id="{F31D954B-E688-432B-B9B5-ECB377CAACE4}"/>
              </a:ext>
            </a:extLst>
          </p:cNvPr>
          <p:cNvSpPr>
            <a:spLocks noGrp="1"/>
          </p:cNvSpPr>
          <p:nvPr/>
        </p:nvSpPr>
        <p:spPr>
          <a:xfrm>
            <a:off x="1047750" y="4067175"/>
            <a:ext cx="2667000" cy="323850"/>
          </a:xfrm>
          <a:prstGeom prst="rect">
            <a:avLst/>
          </a:prstGeom>
          <a:noFill/>
          <a:ln w="0">
            <a:noFill/>
          </a:ln>
        </p:spPr>
        <p:txBody>
          <a:bodyPr anchor="t">
            <a:noAutofit/>
          </a:bodyPr>
          <a:lstStyle/>
          <a:p>
            <a:pPr>
              <a:defRPr sz="1500" b="0" i="1">
                <a:solidFill>
                  <a:srgbClr val="606975"/>
                </a:solidFill>
                <a:latin typeface="Montserrat"/>
                <a:ea typeface="Montserrat"/>
                <a:cs typeface="Montserrat"/>
              </a:defRPr>
            </a:pPr>
            <a:r>
              <a:rPr sz="1600" b="1" i="1">
                <a:solidFill>
                  <a:schemeClr val="accent1"/>
                </a:solidFill>
                <a:latin typeface="Montserrat"/>
                <a:ea typeface="Montserrat"/>
                <a:cs typeface="Montserrat"/>
              </a:rPr>
              <a:t>Computed from observed data</a:t>
            </a:r>
          </a:p>
        </p:txBody>
      </p:sp>
      <p:sp>
        <p:nvSpPr>
          <p:cNvPr id="11" name="Rectangle 10">
            <a:extLst>
              <a:ext uri="{FF2B5EF4-FFF2-40B4-BE49-F238E27FC236}">
                <a16:creationId xmlns:a16="http://schemas.microsoft.com/office/drawing/2014/main" id="{CDF51123-5C89-4DBB-94AE-136B29E8B6C5}"/>
              </a:ext>
            </a:extLst>
          </p:cNvPr>
          <p:cNvSpPr>
            <a:spLocks noGrp="1"/>
          </p:cNvSpPr>
          <p:nvPr/>
        </p:nvSpPr>
        <p:spPr>
          <a:xfrm>
            <a:off x="5095875" y="2286000"/>
            <a:ext cx="3143250" cy="19050"/>
          </a:xfrm>
          <a:prstGeom prst="rect">
            <a:avLst/>
          </a:prstGeom>
          <a:solidFill>
            <a:srgbClr val="00A9E0"/>
          </a:solidFill>
          <a:ln w="0">
            <a:noFill/>
          </a:ln>
        </p:spPr>
      </p:sp>
      <p:sp>
        <p:nvSpPr>
          <p:cNvPr id="12" name="Rectangle 11">
            <a:extLst>
              <a:ext uri="{FF2B5EF4-FFF2-40B4-BE49-F238E27FC236}">
                <a16:creationId xmlns:a16="http://schemas.microsoft.com/office/drawing/2014/main" id="{21B5F8A7-11C8-45EB-92F7-2B32963016A7}"/>
              </a:ext>
            </a:extLst>
          </p:cNvPr>
          <p:cNvSpPr>
            <a:spLocks noGrp="1"/>
          </p:cNvSpPr>
          <p:nvPr/>
        </p:nvSpPr>
        <p:spPr>
          <a:xfrm>
            <a:off x="5238750" y="2505075"/>
            <a:ext cx="2857500" cy="323850"/>
          </a:xfrm>
          <a:prstGeom prst="rect">
            <a:avLst/>
          </a:prstGeom>
          <a:noFill/>
          <a:ln w="0">
            <a:noFill/>
          </a:ln>
        </p:spPr>
        <p:txBody>
          <a:bodyPr anchor="t">
            <a:normAutofit fontScale="82809" lnSpcReduction="20000"/>
          </a:bodyPr>
          <a:lstStyle/>
          <a:p>
            <a:pPr>
              <a:defRPr sz="2025" b="1" i="0">
                <a:solidFill>
                  <a:srgbClr val="B43A3A"/>
                </a:solidFill>
                <a:latin typeface="Montserrat"/>
                <a:ea typeface="Montserrat"/>
                <a:cs typeface="Montserrat"/>
              </a:defRPr>
            </a:pPr>
            <a:r>
              <a:rPr sz="2025" b="1" i="0">
                <a:solidFill>
                  <a:srgbClr val="B43A3A"/>
                </a:solidFill>
                <a:latin typeface="Montserrat"/>
                <a:ea typeface="Montserrat"/>
                <a:cs typeface="Montserrat"/>
              </a:rPr>
              <a:t>Parameter</a:t>
            </a:r>
          </a:p>
        </p:txBody>
      </p:sp>
      <p:sp>
        <p:nvSpPr>
          <p:cNvPr id="13" name="Rectangle 12">
            <a:extLst>
              <a:ext uri="{FF2B5EF4-FFF2-40B4-BE49-F238E27FC236}">
                <a16:creationId xmlns:a16="http://schemas.microsoft.com/office/drawing/2014/main" id="{3526A2D8-E239-43DD-96AF-B4E2637D22A3}"/>
              </a:ext>
            </a:extLst>
          </p:cNvPr>
          <p:cNvSpPr>
            <a:spLocks noGrp="1"/>
          </p:cNvSpPr>
          <p:nvPr/>
        </p:nvSpPr>
        <p:spPr>
          <a:xfrm>
            <a:off x="5238750" y="3000375"/>
            <a:ext cx="2857500" cy="742950"/>
          </a:xfrm>
          <a:prstGeom prst="rect">
            <a:avLst/>
          </a:prstGeom>
          <a:noFill/>
          <a:ln w="0">
            <a:noFill/>
          </a:ln>
        </p:spPr>
        <p:txBody>
          <a:bodyPr anchor="t">
            <a:noAutofit/>
          </a:bodyPr>
          <a:lstStyle/>
          <a:p>
            <a:pPr>
              <a:defRPr sz="1875" b="0" i="0">
                <a:solidFill>
                  <a:srgbClr val="2D2D2D"/>
                </a:solidFill>
                <a:latin typeface="Montserrat"/>
                <a:ea typeface="Montserrat"/>
                <a:cs typeface="Montserrat"/>
              </a:defRPr>
            </a:pPr>
            <a:r>
              <a:rPr sz="1600" b="0" i="0">
                <a:solidFill>
                  <a:srgbClr val="2D2D2D"/>
                </a:solidFill>
                <a:latin typeface="Montserrat"/>
                <a:ea typeface="Montserrat"/>
                <a:cs typeface="Montserrat"/>
              </a:rPr>
              <a:t>Mean score among every student in the target population</a:t>
            </a:r>
          </a:p>
        </p:txBody>
      </p:sp>
      <p:sp>
        <p:nvSpPr>
          <p:cNvPr id="14" name="Rectangle 13">
            <a:extLst>
              <a:ext uri="{FF2B5EF4-FFF2-40B4-BE49-F238E27FC236}">
                <a16:creationId xmlns:a16="http://schemas.microsoft.com/office/drawing/2014/main" id="{AABB9362-A393-46EF-8D45-5AF35C5AC094}"/>
              </a:ext>
            </a:extLst>
          </p:cNvPr>
          <p:cNvSpPr>
            <a:spLocks noGrp="1"/>
          </p:cNvSpPr>
          <p:nvPr/>
        </p:nvSpPr>
        <p:spPr>
          <a:xfrm>
            <a:off x="5238750" y="4067175"/>
            <a:ext cx="2667000" cy="323850"/>
          </a:xfrm>
          <a:prstGeom prst="rect">
            <a:avLst/>
          </a:prstGeom>
          <a:noFill/>
          <a:ln w="0">
            <a:noFill/>
          </a:ln>
        </p:spPr>
        <p:txBody>
          <a:bodyPr anchor="t">
            <a:noAutofit/>
          </a:bodyPr>
          <a:lstStyle/>
          <a:p>
            <a:pPr>
              <a:defRPr sz="1500" b="0" i="1">
                <a:solidFill>
                  <a:srgbClr val="606975"/>
                </a:solidFill>
                <a:latin typeface="Montserrat"/>
                <a:ea typeface="Montserrat"/>
                <a:cs typeface="Montserrat"/>
              </a:defRPr>
            </a:pPr>
            <a:r>
              <a:rPr sz="1600" b="1" i="1">
                <a:solidFill>
                  <a:schemeClr val="accent1"/>
                </a:solidFill>
                <a:latin typeface="Montserrat"/>
                <a:ea typeface="Montserrat"/>
                <a:cs typeface="Montserrat"/>
              </a:rPr>
              <a:t>Usually unknown</a:t>
            </a:r>
          </a:p>
        </p:txBody>
      </p:sp>
    </p:spTree>
    <p:extLst>
      <p:ext uri="{BB962C8B-B14F-4D97-AF65-F5344CB8AC3E}">
        <p14:creationId xmlns:p14="http://schemas.microsoft.com/office/powerpoint/2010/main" val="509958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9F81BAD-78C4-4468-9DA2-B9F59EE7A89C}"/>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Variable types</a:t>
            </a:r>
          </a:p>
        </p:txBody>
      </p:sp>
      <p:sp>
        <p:nvSpPr>
          <p:cNvPr id="2" name="Rectangle 1">
            <a:extLst>
              <a:ext uri="{FF2B5EF4-FFF2-40B4-BE49-F238E27FC236}">
                <a16:creationId xmlns:a16="http://schemas.microsoft.com/office/drawing/2014/main" id="{0DB866C8-69C2-4431-AD35-6761AE866473}"/>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22000643-882A-45AE-80AE-F2D1318729C3}"/>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D296CDDE-9D8F-4D94-AC35-AB46ABE4712D}"/>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DA48ACE0-853C-4018-B43B-7DFEDF8595FE}"/>
              </a:ext>
            </a:extLst>
          </p:cNvPr>
          <p:cNvSpPr>
            <a:spLocks noGrp="1"/>
          </p:cNvSpPr>
          <p:nvPr/>
        </p:nvSpPr>
        <p:spPr>
          <a:xfrm>
            <a:off x="590550" y="1095375"/>
            <a:ext cx="3143250" cy="361950"/>
          </a:xfrm>
          <a:prstGeom prst="rect">
            <a:avLst/>
          </a:prstGeom>
          <a:noFill/>
          <a:ln w="0">
            <a:noFill/>
          </a:ln>
        </p:spPr>
        <p:txBody>
          <a:bodyPr anchor="t">
            <a:normAutofit fontScale="86389" lnSpcReduction="10000"/>
          </a:bodyPr>
          <a:lstStyle/>
          <a:p>
            <a:pPr>
              <a:defRPr sz="2250" b="1" i="0">
                <a:solidFill>
                  <a:srgbClr val="1D4F91"/>
                </a:solidFill>
                <a:latin typeface="Montserrat"/>
                <a:ea typeface="Montserrat"/>
                <a:cs typeface="Montserrat"/>
              </a:defRPr>
            </a:pPr>
            <a:r>
              <a:rPr sz="2250" b="1" i="0">
                <a:solidFill>
                  <a:srgbClr val="1D4F91"/>
                </a:solidFill>
                <a:latin typeface="Montserrat"/>
                <a:ea typeface="Montserrat"/>
                <a:cs typeface="Montserrat"/>
              </a:rPr>
              <a:t>Categorical</a:t>
            </a:r>
          </a:p>
        </p:txBody>
      </p:sp>
      <p:sp>
        <p:nvSpPr>
          <p:cNvPr id="6" name="Rectangle 5">
            <a:extLst>
              <a:ext uri="{FF2B5EF4-FFF2-40B4-BE49-F238E27FC236}">
                <a16:creationId xmlns:a16="http://schemas.microsoft.com/office/drawing/2014/main" id="{6B3E6A18-5FF2-42A5-BA78-3CA64A72EA09}"/>
              </a:ext>
            </a:extLst>
          </p:cNvPr>
          <p:cNvSpPr>
            <a:spLocks noGrp="1"/>
          </p:cNvSpPr>
          <p:nvPr/>
        </p:nvSpPr>
        <p:spPr>
          <a:xfrm>
            <a:off x="733425" y="1638300"/>
            <a:ext cx="2857500" cy="609600"/>
          </a:xfrm>
          <a:prstGeom prst="rect">
            <a:avLst/>
          </a:prstGeom>
          <a:noFill/>
          <a:ln w="0">
            <a:noFill/>
          </a:ln>
        </p:spPr>
        <p:txBody>
          <a:bodyPr anchor="t">
            <a:normAutofit fontScale="94444"/>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Values place cases into groups or categories</a:t>
            </a:r>
          </a:p>
        </p:txBody>
      </p:sp>
      <p:sp>
        <p:nvSpPr>
          <p:cNvPr id="7" name="Rectangle 6">
            <a:extLst>
              <a:ext uri="{FF2B5EF4-FFF2-40B4-BE49-F238E27FC236}">
                <a16:creationId xmlns:a16="http://schemas.microsoft.com/office/drawing/2014/main" id="{30D024D2-2B9D-40F5-9140-73E8EBD6A71D}"/>
              </a:ext>
            </a:extLst>
          </p:cNvPr>
          <p:cNvSpPr>
            <a:spLocks noGrp="1"/>
          </p:cNvSpPr>
          <p:nvPr/>
        </p:nvSpPr>
        <p:spPr>
          <a:xfrm>
            <a:off x="876300" y="2590800"/>
            <a:ext cx="1190625" cy="285750"/>
          </a:xfrm>
          <a:prstGeom prst="rect">
            <a:avLst/>
          </a:prstGeom>
          <a:noFill/>
          <a:ln w="0">
            <a:noFill/>
          </a:ln>
        </p:spPr>
        <p:txBody>
          <a:bodyPr anchor="t">
            <a:normAutofit fontScale="92273" lnSpcReduction="20000"/>
          </a:bodyPr>
          <a:lstStyle/>
          <a:p>
            <a:pPr>
              <a:defRPr sz="1650" b="1" i="0">
                <a:solidFill>
                  <a:srgbClr val="2C7A62"/>
                </a:solidFill>
                <a:latin typeface="Montserrat"/>
                <a:ea typeface="Montserrat"/>
                <a:cs typeface="Montserrat"/>
              </a:defRPr>
            </a:pPr>
            <a:r>
              <a:rPr sz="1650" b="1" i="0">
                <a:solidFill>
                  <a:srgbClr val="2C7A62"/>
                </a:solidFill>
                <a:latin typeface="Montserrat"/>
                <a:ea typeface="Montserrat"/>
                <a:cs typeface="Montserrat"/>
              </a:rPr>
              <a:t>Nominal</a:t>
            </a:r>
          </a:p>
        </p:txBody>
      </p:sp>
      <p:sp>
        <p:nvSpPr>
          <p:cNvPr id="8" name="Rectangle 7">
            <a:extLst>
              <a:ext uri="{FF2B5EF4-FFF2-40B4-BE49-F238E27FC236}">
                <a16:creationId xmlns:a16="http://schemas.microsoft.com/office/drawing/2014/main" id="{88DC15CC-E045-45CF-80F3-0DF08F5AA050}"/>
              </a:ext>
            </a:extLst>
          </p:cNvPr>
          <p:cNvSpPr>
            <a:spLocks noGrp="1"/>
          </p:cNvSpPr>
          <p:nvPr/>
        </p:nvSpPr>
        <p:spPr>
          <a:xfrm>
            <a:off x="876300" y="2962275"/>
            <a:ext cx="3105150" cy="590550"/>
          </a:xfrm>
          <a:prstGeom prst="rect">
            <a:avLst/>
          </a:prstGeom>
          <a:noFill/>
          <a:ln w="0">
            <a:noFill/>
          </a:ln>
        </p:spPr>
        <p:txBody>
          <a:bodyPr anchor="t">
            <a:normAutofit/>
          </a:bodyPr>
          <a:lstStyle/>
          <a:p>
            <a:pPr>
              <a:defRPr sz="1575"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No natural order</a:t>
            </a:r>
          </a:p>
          <a:p>
            <a:pPr>
              <a:defRPr sz="1575"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Example: lecture section</a:t>
            </a:r>
          </a:p>
        </p:txBody>
      </p:sp>
      <p:sp>
        <p:nvSpPr>
          <p:cNvPr id="9" name="Rectangle 8">
            <a:extLst>
              <a:ext uri="{FF2B5EF4-FFF2-40B4-BE49-F238E27FC236}">
                <a16:creationId xmlns:a16="http://schemas.microsoft.com/office/drawing/2014/main" id="{FF3AB3A6-8E6F-4D5F-8091-D68CC7333CC6}"/>
              </a:ext>
            </a:extLst>
          </p:cNvPr>
          <p:cNvSpPr>
            <a:spLocks noGrp="1"/>
          </p:cNvSpPr>
          <p:nvPr/>
        </p:nvSpPr>
        <p:spPr>
          <a:xfrm>
            <a:off x="876300" y="3733800"/>
            <a:ext cx="1190625" cy="285750"/>
          </a:xfrm>
          <a:prstGeom prst="rect">
            <a:avLst/>
          </a:prstGeom>
          <a:noFill/>
          <a:ln w="0">
            <a:noFill/>
          </a:ln>
        </p:spPr>
        <p:txBody>
          <a:bodyPr anchor="t">
            <a:normAutofit fontScale="92273" lnSpcReduction="20000"/>
          </a:bodyPr>
          <a:lstStyle/>
          <a:p>
            <a:pPr>
              <a:defRPr sz="1650" b="1" i="0">
                <a:solidFill>
                  <a:srgbClr val="2C7A62"/>
                </a:solidFill>
                <a:latin typeface="Montserrat"/>
                <a:ea typeface="Montserrat"/>
                <a:cs typeface="Montserrat"/>
              </a:defRPr>
            </a:pPr>
            <a:r>
              <a:rPr sz="1650" b="1" i="0">
                <a:solidFill>
                  <a:srgbClr val="2C7A62"/>
                </a:solidFill>
                <a:latin typeface="Montserrat"/>
                <a:ea typeface="Montserrat"/>
                <a:cs typeface="Montserrat"/>
              </a:rPr>
              <a:t>Ordinal</a:t>
            </a:r>
          </a:p>
        </p:txBody>
      </p:sp>
      <p:sp>
        <p:nvSpPr>
          <p:cNvPr id="10" name="Rectangle 9">
            <a:extLst>
              <a:ext uri="{FF2B5EF4-FFF2-40B4-BE49-F238E27FC236}">
                <a16:creationId xmlns:a16="http://schemas.microsoft.com/office/drawing/2014/main" id="{08A53ECB-0DDC-4EE1-8B06-44E1F7B0D139}"/>
              </a:ext>
            </a:extLst>
          </p:cNvPr>
          <p:cNvSpPr>
            <a:spLocks noGrp="1"/>
          </p:cNvSpPr>
          <p:nvPr/>
        </p:nvSpPr>
        <p:spPr>
          <a:xfrm>
            <a:off x="876300" y="4048125"/>
            <a:ext cx="3105150" cy="457200"/>
          </a:xfrm>
          <a:prstGeom prst="rect">
            <a:avLst/>
          </a:prstGeom>
          <a:noFill/>
          <a:ln w="0">
            <a:noFill/>
          </a:ln>
        </p:spPr>
        <p:txBody>
          <a:bodyPr anchor="t">
            <a:noAutofit/>
          </a:bodyPr>
          <a:lstStyle/>
          <a:p>
            <a:pPr>
              <a:defRPr sz="1575"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Ordered categories</a:t>
            </a:r>
          </a:p>
          <a:p>
            <a:pPr>
              <a:defRPr sz="1575"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Example: confidence rating</a:t>
            </a:r>
          </a:p>
        </p:txBody>
      </p:sp>
      <p:sp>
        <p:nvSpPr>
          <p:cNvPr id="11" name="Rectangle 10">
            <a:extLst>
              <a:ext uri="{FF2B5EF4-FFF2-40B4-BE49-F238E27FC236}">
                <a16:creationId xmlns:a16="http://schemas.microsoft.com/office/drawing/2014/main" id="{2E8B6876-98A7-4105-BFC5-A9EBBCA094CD}"/>
              </a:ext>
            </a:extLst>
          </p:cNvPr>
          <p:cNvSpPr>
            <a:spLocks noGrp="1"/>
          </p:cNvSpPr>
          <p:nvPr/>
        </p:nvSpPr>
        <p:spPr>
          <a:xfrm>
            <a:off x="4343400" y="1114425"/>
            <a:ext cx="19050" cy="3190875"/>
          </a:xfrm>
          <a:prstGeom prst="rect">
            <a:avLst/>
          </a:prstGeom>
          <a:solidFill>
            <a:srgbClr val="00A9E0"/>
          </a:solidFill>
          <a:ln w="0">
            <a:noFill/>
          </a:ln>
        </p:spPr>
      </p:sp>
      <p:sp>
        <p:nvSpPr>
          <p:cNvPr id="12" name="Rectangle 11">
            <a:extLst>
              <a:ext uri="{FF2B5EF4-FFF2-40B4-BE49-F238E27FC236}">
                <a16:creationId xmlns:a16="http://schemas.microsoft.com/office/drawing/2014/main" id="{95613250-DEC7-4389-8D04-1F73C4CA309A}"/>
              </a:ext>
            </a:extLst>
          </p:cNvPr>
          <p:cNvSpPr>
            <a:spLocks noGrp="1"/>
          </p:cNvSpPr>
          <p:nvPr/>
        </p:nvSpPr>
        <p:spPr>
          <a:xfrm>
            <a:off x="4876800" y="1095375"/>
            <a:ext cx="3143250" cy="361950"/>
          </a:xfrm>
          <a:prstGeom prst="rect">
            <a:avLst/>
          </a:prstGeom>
          <a:noFill/>
          <a:ln w="0">
            <a:noFill/>
          </a:ln>
        </p:spPr>
        <p:txBody>
          <a:bodyPr anchor="t">
            <a:normAutofit fontScale="86389" lnSpcReduction="10000"/>
          </a:bodyPr>
          <a:lstStyle/>
          <a:p>
            <a:pPr>
              <a:defRPr sz="2250" b="1" i="0">
                <a:solidFill>
                  <a:srgbClr val="1D4F91"/>
                </a:solidFill>
                <a:latin typeface="Montserrat"/>
                <a:ea typeface="Montserrat"/>
                <a:cs typeface="Montserrat"/>
              </a:defRPr>
            </a:pPr>
            <a:r>
              <a:rPr sz="2250" b="1" i="0">
                <a:solidFill>
                  <a:srgbClr val="1D4F91"/>
                </a:solidFill>
                <a:latin typeface="Montserrat"/>
                <a:ea typeface="Montserrat"/>
                <a:cs typeface="Montserrat"/>
              </a:rPr>
              <a:t>Numerical</a:t>
            </a:r>
          </a:p>
        </p:txBody>
      </p:sp>
      <p:sp>
        <p:nvSpPr>
          <p:cNvPr id="13" name="Rectangle 12">
            <a:extLst>
              <a:ext uri="{FF2B5EF4-FFF2-40B4-BE49-F238E27FC236}">
                <a16:creationId xmlns:a16="http://schemas.microsoft.com/office/drawing/2014/main" id="{88EAC289-C357-4288-8B73-B1058FEFBDDE}"/>
              </a:ext>
            </a:extLst>
          </p:cNvPr>
          <p:cNvSpPr>
            <a:spLocks noGrp="1"/>
          </p:cNvSpPr>
          <p:nvPr/>
        </p:nvSpPr>
        <p:spPr>
          <a:xfrm>
            <a:off x="5019675" y="1638300"/>
            <a:ext cx="2857500" cy="609600"/>
          </a:xfrm>
          <a:prstGeom prst="rect">
            <a:avLst/>
          </a:prstGeom>
          <a:noFill/>
          <a:ln w="0">
            <a:noFill/>
          </a:ln>
        </p:spPr>
        <p:txBody>
          <a:bodyPr anchor="t">
            <a:normAutofit fontScale="94444"/>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Values record meaningful quantities</a:t>
            </a:r>
          </a:p>
        </p:txBody>
      </p:sp>
      <p:sp>
        <p:nvSpPr>
          <p:cNvPr id="14" name="Rectangle 13">
            <a:extLst>
              <a:ext uri="{FF2B5EF4-FFF2-40B4-BE49-F238E27FC236}">
                <a16:creationId xmlns:a16="http://schemas.microsoft.com/office/drawing/2014/main" id="{22AD37A8-90FD-4A4B-94B8-189AD5D655AE}"/>
              </a:ext>
            </a:extLst>
          </p:cNvPr>
          <p:cNvSpPr>
            <a:spLocks noGrp="1"/>
          </p:cNvSpPr>
          <p:nvPr/>
        </p:nvSpPr>
        <p:spPr>
          <a:xfrm>
            <a:off x="5162550" y="2590800"/>
            <a:ext cx="1190625" cy="285750"/>
          </a:xfrm>
          <a:prstGeom prst="rect">
            <a:avLst/>
          </a:prstGeom>
          <a:noFill/>
          <a:ln w="0">
            <a:noFill/>
          </a:ln>
        </p:spPr>
        <p:txBody>
          <a:bodyPr anchor="t">
            <a:normAutofit fontScale="92273" lnSpcReduction="20000"/>
          </a:bodyPr>
          <a:lstStyle/>
          <a:p>
            <a:pPr>
              <a:defRPr sz="1650" b="1" i="0">
                <a:solidFill>
                  <a:srgbClr val="B43A3A"/>
                </a:solidFill>
                <a:latin typeface="Montserrat"/>
                <a:ea typeface="Montserrat"/>
                <a:cs typeface="Montserrat"/>
              </a:defRPr>
            </a:pPr>
            <a:r>
              <a:rPr sz="1650" b="1" i="0">
                <a:solidFill>
                  <a:srgbClr val="B43A3A"/>
                </a:solidFill>
                <a:latin typeface="Montserrat"/>
                <a:ea typeface="Montserrat"/>
                <a:cs typeface="Montserrat"/>
              </a:rPr>
              <a:t>Discrete</a:t>
            </a:r>
          </a:p>
        </p:txBody>
      </p:sp>
      <p:sp>
        <p:nvSpPr>
          <p:cNvPr id="15" name="Rectangle 14">
            <a:extLst>
              <a:ext uri="{FF2B5EF4-FFF2-40B4-BE49-F238E27FC236}">
                <a16:creationId xmlns:a16="http://schemas.microsoft.com/office/drawing/2014/main" id="{DAF56603-AD57-4739-8DBF-CFFC3864137A}"/>
              </a:ext>
            </a:extLst>
          </p:cNvPr>
          <p:cNvSpPr>
            <a:spLocks noGrp="1"/>
          </p:cNvSpPr>
          <p:nvPr/>
        </p:nvSpPr>
        <p:spPr>
          <a:xfrm>
            <a:off x="5162550" y="2962275"/>
            <a:ext cx="3105150" cy="590550"/>
          </a:xfrm>
          <a:prstGeom prst="rect">
            <a:avLst/>
          </a:prstGeom>
          <a:noFill/>
          <a:ln w="0">
            <a:noFill/>
          </a:ln>
        </p:spPr>
        <p:txBody>
          <a:bodyPr anchor="t">
            <a:noAutofit/>
          </a:bodyPr>
          <a:lstStyle/>
          <a:p>
            <a:pPr>
              <a:defRPr sz="1575" b="0" i="0">
                <a:solidFill>
                  <a:srgbClr val="2D2D2D"/>
                </a:solidFill>
                <a:latin typeface="Montserrat"/>
                <a:ea typeface="Montserrat"/>
                <a:cs typeface="Montserrat"/>
              </a:defRPr>
            </a:pPr>
            <a:r>
              <a:rPr sz="1400" b="0" i="0">
                <a:solidFill>
                  <a:srgbClr val="2D2D2D"/>
                </a:solidFill>
                <a:latin typeface="Montserrat"/>
                <a:ea typeface="Montserrat"/>
                <a:cs typeface="Montserrat"/>
              </a:rPr>
              <a:t>Countable values</a:t>
            </a:r>
          </a:p>
          <a:p>
            <a:pPr>
              <a:defRPr sz="1575" b="0" i="0">
                <a:solidFill>
                  <a:srgbClr val="2D2D2D"/>
                </a:solidFill>
                <a:latin typeface="Montserrat"/>
                <a:ea typeface="Montserrat"/>
                <a:cs typeface="Montserrat"/>
              </a:defRPr>
            </a:pPr>
            <a:r>
              <a:rPr sz="1400" b="0" i="0">
                <a:solidFill>
                  <a:srgbClr val="2D2D2D"/>
                </a:solidFill>
                <a:latin typeface="Montserrat"/>
                <a:ea typeface="Montserrat"/>
                <a:cs typeface="Montserrat"/>
              </a:rPr>
              <a:t>Example: problems completed</a:t>
            </a:r>
          </a:p>
        </p:txBody>
      </p:sp>
      <p:sp>
        <p:nvSpPr>
          <p:cNvPr id="16" name="Rectangle 15">
            <a:extLst>
              <a:ext uri="{FF2B5EF4-FFF2-40B4-BE49-F238E27FC236}">
                <a16:creationId xmlns:a16="http://schemas.microsoft.com/office/drawing/2014/main" id="{C7C720A0-F469-4DB1-87DC-C3C422E3F6A9}"/>
              </a:ext>
            </a:extLst>
          </p:cNvPr>
          <p:cNvSpPr>
            <a:spLocks noGrp="1"/>
          </p:cNvSpPr>
          <p:nvPr/>
        </p:nvSpPr>
        <p:spPr>
          <a:xfrm>
            <a:off x="5162550" y="3733800"/>
            <a:ext cx="1381125" cy="285750"/>
          </a:xfrm>
          <a:prstGeom prst="rect">
            <a:avLst/>
          </a:prstGeom>
          <a:noFill/>
          <a:ln w="0">
            <a:noFill/>
          </a:ln>
        </p:spPr>
        <p:txBody>
          <a:bodyPr anchor="t">
            <a:normAutofit fontScale="92273" lnSpcReduction="20000"/>
          </a:bodyPr>
          <a:lstStyle/>
          <a:p>
            <a:pPr>
              <a:defRPr sz="1650" b="1" i="0">
                <a:solidFill>
                  <a:srgbClr val="B43A3A"/>
                </a:solidFill>
                <a:latin typeface="Montserrat"/>
                <a:ea typeface="Montserrat"/>
                <a:cs typeface="Montserrat"/>
              </a:defRPr>
            </a:pPr>
            <a:r>
              <a:rPr sz="1650" b="1" i="0">
                <a:solidFill>
                  <a:srgbClr val="B43A3A"/>
                </a:solidFill>
                <a:latin typeface="Montserrat"/>
                <a:ea typeface="Montserrat"/>
                <a:cs typeface="Montserrat"/>
              </a:rPr>
              <a:t>Continuous</a:t>
            </a:r>
          </a:p>
        </p:txBody>
      </p:sp>
      <p:sp>
        <p:nvSpPr>
          <p:cNvPr id="17" name="Rectangle 16">
            <a:extLst>
              <a:ext uri="{FF2B5EF4-FFF2-40B4-BE49-F238E27FC236}">
                <a16:creationId xmlns:a16="http://schemas.microsoft.com/office/drawing/2014/main" id="{15EFE024-F95A-4C74-83AD-BDA159AB779C}"/>
              </a:ext>
            </a:extLst>
          </p:cNvPr>
          <p:cNvSpPr>
            <a:spLocks noGrp="1"/>
          </p:cNvSpPr>
          <p:nvPr/>
        </p:nvSpPr>
        <p:spPr>
          <a:xfrm>
            <a:off x="5162550" y="4105275"/>
            <a:ext cx="3105150" cy="457200"/>
          </a:xfrm>
          <a:prstGeom prst="rect">
            <a:avLst/>
          </a:prstGeom>
          <a:noFill/>
          <a:ln w="0">
            <a:noFill/>
          </a:ln>
        </p:spPr>
        <p:txBody>
          <a:bodyPr anchor="t">
            <a:noAutofit/>
          </a:bodyPr>
          <a:lstStyle/>
          <a:p>
            <a:pPr>
              <a:defRPr sz="1575"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Measured along a scale</a:t>
            </a:r>
          </a:p>
          <a:p>
            <a:pPr>
              <a:defRPr sz="1575"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Example: study time</a:t>
            </a:r>
          </a:p>
        </p:txBody>
      </p:sp>
    </p:spTree>
    <p:extLst>
      <p:ext uri="{BB962C8B-B14F-4D97-AF65-F5344CB8AC3E}">
        <p14:creationId xmlns:p14="http://schemas.microsoft.com/office/powerpoint/2010/main" val="2062301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3CEB0C9-213A-416D-98DA-6BC4150D8B11}"/>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Variable classification  Round 1</a:t>
            </a:r>
          </a:p>
        </p:txBody>
      </p:sp>
      <p:sp>
        <p:nvSpPr>
          <p:cNvPr id="2" name="Rectangle 1">
            <a:extLst>
              <a:ext uri="{FF2B5EF4-FFF2-40B4-BE49-F238E27FC236}">
                <a16:creationId xmlns:a16="http://schemas.microsoft.com/office/drawing/2014/main" id="{C8BAF1A9-44CE-46AA-B96F-B5FBC8885F58}"/>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A27011D7-7122-4123-B1A3-D568FFBBC7DC}"/>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035CD9E-D33A-4762-ACF8-BB279B2E3F14}"/>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E09561D6-C7FD-45EC-99CE-DC5F9D4DE150}"/>
              </a:ext>
            </a:extLst>
          </p:cNvPr>
          <p:cNvSpPr>
            <a:spLocks noGrp="1"/>
          </p:cNvSpPr>
          <p:nvPr/>
        </p:nvSpPr>
        <p:spPr>
          <a:xfrm>
            <a:off x="590550" y="1143000"/>
            <a:ext cx="8121935" cy="495300"/>
          </a:xfrm>
          <a:prstGeom prst="rect">
            <a:avLst/>
          </a:prstGeom>
          <a:noFill/>
          <a:ln w="0">
            <a:noFill/>
          </a:ln>
        </p:spPr>
        <p:txBody>
          <a:bodyPr anchor="t">
            <a:normAutofit fontScale="84550" lnSpcReduction="10000"/>
          </a:bodyPr>
          <a:lstStyle/>
          <a:p>
            <a:pPr>
              <a:defRPr sz="1875" b="1" i="0">
                <a:solidFill>
                  <a:srgbClr val="1D4F91"/>
                </a:solidFill>
                <a:latin typeface="Montserrat"/>
                <a:ea typeface="Montserrat"/>
                <a:cs typeface="Montserrat"/>
              </a:defRPr>
            </a:pPr>
            <a:r>
              <a:rPr sz="1875" b="1" i="0" dirty="0">
                <a:solidFill>
                  <a:srgbClr val="1D4F91"/>
                </a:solidFill>
                <a:latin typeface="Montserrat"/>
                <a:ea typeface="Montserrat"/>
                <a:cs typeface="Montserrat"/>
              </a:rPr>
              <a:t>For each variable, choose categorical or numerical. Then give the subtype.</a:t>
            </a:r>
          </a:p>
        </p:txBody>
      </p:sp>
      <p:sp>
        <p:nvSpPr>
          <p:cNvPr id="6" name="Rectangle 5">
            <a:extLst>
              <a:ext uri="{FF2B5EF4-FFF2-40B4-BE49-F238E27FC236}">
                <a16:creationId xmlns:a16="http://schemas.microsoft.com/office/drawing/2014/main" id="{F095E6E8-6926-4352-B4F0-0BC14194A812}"/>
              </a:ext>
            </a:extLst>
          </p:cNvPr>
          <p:cNvSpPr>
            <a:spLocks noGrp="1"/>
          </p:cNvSpPr>
          <p:nvPr/>
        </p:nvSpPr>
        <p:spPr>
          <a:xfrm>
            <a:off x="719191" y="1847850"/>
            <a:ext cx="3833759" cy="514350"/>
          </a:xfrm>
          <a:prstGeom prst="rect">
            <a:avLst/>
          </a:prstGeom>
          <a:noFill/>
          <a:ln w="0">
            <a:noFill/>
          </a:ln>
        </p:spPr>
        <p:txBody>
          <a:bodyPr anchor="t">
            <a:normAutofit fontScale="95154"/>
          </a:bodyPr>
          <a:lstStyle/>
          <a:p>
            <a:pPr>
              <a:defRPr sz="2025" b="1" i="0">
                <a:solidFill>
                  <a:srgbClr val="2D2D2D"/>
                </a:solidFill>
                <a:latin typeface="Montserrat"/>
                <a:ea typeface="Montserrat"/>
                <a:cs typeface="Montserrat"/>
              </a:defRPr>
            </a:pPr>
            <a:r>
              <a:rPr sz="1600" b="1" i="0" dirty="0">
                <a:solidFill>
                  <a:srgbClr val="2D2D2D"/>
                </a:solidFill>
                <a:latin typeface="Montserrat"/>
                <a:ea typeface="Montserrat"/>
                <a:cs typeface="Montserrat"/>
              </a:rPr>
              <a:t>Lecture section</a:t>
            </a:r>
          </a:p>
        </p:txBody>
      </p:sp>
      <p:sp>
        <p:nvSpPr>
          <p:cNvPr id="7" name="Rectangle 6">
            <a:extLst>
              <a:ext uri="{FF2B5EF4-FFF2-40B4-BE49-F238E27FC236}">
                <a16:creationId xmlns:a16="http://schemas.microsoft.com/office/drawing/2014/main" id="{DC0A22BC-D632-4C0B-B087-C46E8041D04C}"/>
              </a:ext>
            </a:extLst>
          </p:cNvPr>
          <p:cNvSpPr>
            <a:spLocks noGrp="1"/>
          </p:cNvSpPr>
          <p:nvPr/>
        </p:nvSpPr>
        <p:spPr>
          <a:xfrm>
            <a:off x="719191" y="2473993"/>
            <a:ext cx="3833759" cy="812132"/>
          </a:xfrm>
          <a:prstGeom prst="rect">
            <a:avLst/>
          </a:prstGeom>
          <a:noFill/>
          <a:ln w="0">
            <a:noFill/>
          </a:ln>
        </p:spPr>
        <p:txBody>
          <a:bodyPr anchor="t">
            <a:noAutofit/>
          </a:bodyPr>
          <a:lstStyle/>
          <a:p>
            <a:pPr>
              <a:defRPr sz="2025" b="1" i="0">
                <a:solidFill>
                  <a:srgbClr val="2D2D2D"/>
                </a:solidFill>
                <a:latin typeface="Montserrat"/>
                <a:ea typeface="Montserrat"/>
                <a:cs typeface="Montserrat"/>
              </a:defRPr>
            </a:pPr>
            <a:r>
              <a:rPr sz="1600" b="1" i="0">
                <a:solidFill>
                  <a:srgbClr val="2D2D2D"/>
                </a:solidFill>
                <a:latin typeface="Montserrat"/>
                <a:ea typeface="Montserrat"/>
                <a:cs typeface="Montserrat"/>
              </a:rPr>
              <a:t>Number of practice problems completed</a:t>
            </a:r>
          </a:p>
        </p:txBody>
      </p:sp>
      <p:sp>
        <p:nvSpPr>
          <p:cNvPr id="8" name="Rectangle 7">
            <a:extLst>
              <a:ext uri="{FF2B5EF4-FFF2-40B4-BE49-F238E27FC236}">
                <a16:creationId xmlns:a16="http://schemas.microsoft.com/office/drawing/2014/main" id="{D0D45480-8EFE-404C-BEF2-9FC3CD53FF88}"/>
              </a:ext>
            </a:extLst>
          </p:cNvPr>
          <p:cNvSpPr>
            <a:spLocks noGrp="1"/>
          </p:cNvSpPr>
          <p:nvPr/>
        </p:nvSpPr>
        <p:spPr>
          <a:xfrm>
            <a:off x="719191" y="3467100"/>
            <a:ext cx="3833759" cy="514350"/>
          </a:xfrm>
          <a:prstGeom prst="rect">
            <a:avLst/>
          </a:prstGeom>
          <a:noFill/>
          <a:ln w="0">
            <a:noFill/>
          </a:ln>
        </p:spPr>
        <p:txBody>
          <a:bodyPr anchor="t">
            <a:normAutofit fontScale="95154"/>
          </a:bodyPr>
          <a:lstStyle/>
          <a:p>
            <a:pPr>
              <a:defRPr sz="2025" b="1" i="0">
                <a:solidFill>
                  <a:srgbClr val="2D2D2D"/>
                </a:solidFill>
                <a:latin typeface="Montserrat"/>
                <a:ea typeface="Montserrat"/>
                <a:cs typeface="Montserrat"/>
              </a:defRPr>
            </a:pPr>
            <a:r>
              <a:rPr sz="1600" b="1" i="0">
                <a:solidFill>
                  <a:srgbClr val="2D2D2D"/>
                </a:solidFill>
                <a:latin typeface="Montserrat"/>
                <a:ea typeface="Montserrat"/>
                <a:cs typeface="Montserrat"/>
              </a:rPr>
              <a:t>Minutes spent studying</a:t>
            </a:r>
          </a:p>
        </p:txBody>
      </p:sp>
      <p:sp>
        <p:nvSpPr>
          <p:cNvPr id="9" name="Rectangle 8">
            <a:extLst>
              <a:ext uri="{FF2B5EF4-FFF2-40B4-BE49-F238E27FC236}">
                <a16:creationId xmlns:a16="http://schemas.microsoft.com/office/drawing/2014/main" id="{17E8E4D0-E65A-42D7-81F7-ECFC13632E7D}"/>
              </a:ext>
            </a:extLst>
          </p:cNvPr>
          <p:cNvSpPr>
            <a:spLocks noGrp="1"/>
          </p:cNvSpPr>
          <p:nvPr/>
        </p:nvSpPr>
        <p:spPr>
          <a:xfrm>
            <a:off x="4719691" y="1759618"/>
            <a:ext cx="3833759" cy="812132"/>
          </a:xfrm>
          <a:prstGeom prst="rect">
            <a:avLst/>
          </a:prstGeom>
          <a:noFill/>
          <a:ln w="0">
            <a:noFill/>
          </a:ln>
        </p:spPr>
        <p:txBody>
          <a:bodyPr anchor="t">
            <a:noAutofit/>
          </a:bodyPr>
          <a:lstStyle/>
          <a:p>
            <a:pPr>
              <a:defRPr sz="2025" b="1" i="0">
                <a:solidFill>
                  <a:srgbClr val="2D2D2D"/>
                </a:solidFill>
                <a:latin typeface="Montserrat"/>
                <a:ea typeface="Montserrat"/>
                <a:cs typeface="Montserrat"/>
              </a:defRPr>
            </a:pPr>
            <a:r>
              <a:rPr sz="1600" b="1" i="0">
                <a:solidFill>
                  <a:srgbClr val="2D2D2D"/>
                </a:solidFill>
                <a:latin typeface="Montserrat"/>
                <a:ea typeface="Montserrat"/>
                <a:cs typeface="Montserrat"/>
              </a:rPr>
              <a:t>Confidence: low, medium, or high</a:t>
            </a:r>
          </a:p>
        </p:txBody>
      </p:sp>
      <p:sp>
        <p:nvSpPr>
          <p:cNvPr id="10" name="Rectangle 9">
            <a:extLst>
              <a:ext uri="{FF2B5EF4-FFF2-40B4-BE49-F238E27FC236}">
                <a16:creationId xmlns:a16="http://schemas.microsoft.com/office/drawing/2014/main" id="{D2FF1D55-E28C-4D07-B63F-178E17A29DD4}"/>
              </a:ext>
            </a:extLst>
          </p:cNvPr>
          <p:cNvSpPr>
            <a:spLocks noGrp="1"/>
          </p:cNvSpPr>
          <p:nvPr/>
        </p:nvSpPr>
        <p:spPr>
          <a:xfrm>
            <a:off x="4719691" y="2664493"/>
            <a:ext cx="3833759" cy="812132"/>
          </a:xfrm>
          <a:prstGeom prst="rect">
            <a:avLst/>
          </a:prstGeom>
          <a:noFill/>
          <a:ln w="0">
            <a:noFill/>
          </a:ln>
        </p:spPr>
        <p:txBody>
          <a:bodyPr anchor="t">
            <a:noAutofit/>
          </a:bodyPr>
          <a:lstStyle/>
          <a:p>
            <a:pPr>
              <a:defRPr sz="2025" b="1" i="0">
                <a:solidFill>
                  <a:srgbClr val="2D2D2D"/>
                </a:solidFill>
                <a:latin typeface="Montserrat"/>
                <a:ea typeface="Montserrat"/>
                <a:cs typeface="Montserrat"/>
              </a:defRPr>
            </a:pPr>
            <a:r>
              <a:rPr sz="1600" b="1" i="0">
                <a:solidFill>
                  <a:srgbClr val="2D2D2D"/>
                </a:solidFill>
                <a:latin typeface="Montserrat"/>
                <a:ea typeface="Montserrat"/>
                <a:cs typeface="Montserrat"/>
              </a:rPr>
              <a:t>Chapter 1 quiz score from 0 to 20</a:t>
            </a:r>
          </a:p>
        </p:txBody>
      </p:sp>
      <p:sp>
        <p:nvSpPr>
          <p:cNvPr id="11" name="Rectangle 10">
            <a:extLst>
              <a:ext uri="{FF2B5EF4-FFF2-40B4-BE49-F238E27FC236}">
                <a16:creationId xmlns:a16="http://schemas.microsoft.com/office/drawing/2014/main" id="{4AD83BA2-57B7-40A0-9C5C-5640FD3A77F0}"/>
              </a:ext>
            </a:extLst>
          </p:cNvPr>
          <p:cNvSpPr>
            <a:spLocks noGrp="1"/>
          </p:cNvSpPr>
          <p:nvPr/>
        </p:nvSpPr>
        <p:spPr>
          <a:xfrm>
            <a:off x="4719691" y="3569368"/>
            <a:ext cx="3833759" cy="812132"/>
          </a:xfrm>
          <a:prstGeom prst="rect">
            <a:avLst/>
          </a:prstGeom>
          <a:noFill/>
          <a:ln w="0">
            <a:noFill/>
          </a:ln>
        </p:spPr>
        <p:txBody>
          <a:bodyPr anchor="t">
            <a:noAutofit/>
          </a:bodyPr>
          <a:lstStyle/>
          <a:p>
            <a:pPr>
              <a:defRPr sz="2025" b="1" i="0">
                <a:solidFill>
                  <a:srgbClr val="2D2D2D"/>
                </a:solidFill>
                <a:latin typeface="Montserrat"/>
                <a:ea typeface="Montserrat"/>
                <a:cs typeface="Montserrat"/>
              </a:defRPr>
            </a:pPr>
            <a:r>
              <a:rPr sz="1600" b="1" i="0">
                <a:solidFill>
                  <a:srgbClr val="2D2D2D"/>
                </a:solidFill>
                <a:latin typeface="Montserrat"/>
                <a:ea typeface="Montserrat"/>
                <a:cs typeface="Montserrat"/>
              </a:rPr>
              <a:t>Used the practice tool: yes or no</a:t>
            </a:r>
          </a:p>
        </p:txBody>
      </p:sp>
    </p:spTree>
    <p:extLst>
      <p:ext uri="{BB962C8B-B14F-4D97-AF65-F5344CB8AC3E}">
        <p14:creationId xmlns:p14="http://schemas.microsoft.com/office/powerpoint/2010/main" val="84186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60B38BB-559E-4F0F-AC38-DE369A848394}"/>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Variable classification  Tricky examples</a:t>
            </a:r>
          </a:p>
        </p:txBody>
      </p:sp>
      <p:sp>
        <p:nvSpPr>
          <p:cNvPr id="2" name="Rectangle 1">
            <a:extLst>
              <a:ext uri="{FF2B5EF4-FFF2-40B4-BE49-F238E27FC236}">
                <a16:creationId xmlns:a16="http://schemas.microsoft.com/office/drawing/2014/main" id="{F02C50D4-A849-487E-B739-4F0573F59E54}"/>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B79C2C50-F008-4874-8A27-A057D95AD0B9}"/>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66692DCB-2721-4535-9B2D-2738CE7FFDB0}"/>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CC77818F-03F3-4478-8374-F8901718001F}"/>
              </a:ext>
            </a:extLst>
          </p:cNvPr>
          <p:cNvSpPr>
            <a:spLocks noGrp="1"/>
          </p:cNvSpPr>
          <p:nvPr/>
        </p:nvSpPr>
        <p:spPr>
          <a:xfrm>
            <a:off x="952500" y="1285875"/>
            <a:ext cx="3333750" cy="438150"/>
          </a:xfrm>
          <a:prstGeom prst="rect">
            <a:avLst/>
          </a:prstGeom>
          <a:noFill/>
          <a:ln w="0">
            <a:noFill/>
          </a:ln>
        </p:spPr>
        <p:txBody>
          <a:bodyPr anchor="t">
            <a:normAutofit/>
          </a:bodyPr>
          <a:lstStyle/>
          <a:p>
            <a:pPr>
              <a:defRPr sz="2100" b="1" i="0">
                <a:solidFill>
                  <a:srgbClr val="1D4F91"/>
                </a:solidFill>
                <a:latin typeface="Montserrat"/>
                <a:ea typeface="Montserrat"/>
                <a:cs typeface="Montserrat"/>
              </a:defRPr>
            </a:pPr>
            <a:r>
              <a:rPr sz="2100" b="1" i="0">
                <a:solidFill>
                  <a:srgbClr val="1D4F91"/>
                </a:solidFill>
                <a:latin typeface="Montserrat"/>
                <a:ea typeface="Montserrat"/>
                <a:cs typeface="Montserrat"/>
              </a:rPr>
              <a:t>Student ID: 384921</a:t>
            </a:r>
          </a:p>
        </p:txBody>
      </p:sp>
      <p:sp>
        <p:nvSpPr>
          <p:cNvPr id="6" name="Rectangle 5">
            <a:extLst>
              <a:ext uri="{FF2B5EF4-FFF2-40B4-BE49-F238E27FC236}">
                <a16:creationId xmlns:a16="http://schemas.microsoft.com/office/drawing/2014/main" id="{0DDD6BDF-E47C-4699-AEC8-CED039F84341}"/>
              </a:ext>
            </a:extLst>
          </p:cNvPr>
          <p:cNvSpPr>
            <a:spLocks noGrp="1"/>
          </p:cNvSpPr>
          <p:nvPr/>
        </p:nvSpPr>
        <p:spPr>
          <a:xfrm>
            <a:off x="952500" y="1771650"/>
            <a:ext cx="3333750" cy="552450"/>
          </a:xfrm>
          <a:prstGeom prst="rect">
            <a:avLst/>
          </a:prstGeom>
          <a:noFill/>
          <a:ln w="0">
            <a:noFill/>
          </a:ln>
        </p:spPr>
        <p:txBody>
          <a:bodyPr anchor="t">
            <a:normAutofit fontScale="99167" lnSpcReduction="10000"/>
          </a:bodyPr>
          <a:lstStyle/>
          <a:p>
            <a:pPr>
              <a:defRPr sz="1650" b="0" i="0">
                <a:solidFill>
                  <a:srgbClr val="2D2D2D"/>
                </a:solidFill>
                <a:latin typeface="Montserrat"/>
                <a:ea typeface="Montserrat"/>
                <a:cs typeface="Montserrat"/>
              </a:defRPr>
            </a:pPr>
            <a:r>
              <a:rPr sz="1650" b="0" i="0" dirty="0">
                <a:solidFill>
                  <a:srgbClr val="2D2D2D"/>
                </a:solidFill>
                <a:latin typeface="Montserrat"/>
                <a:ea typeface="Montserrat"/>
                <a:cs typeface="Montserrat"/>
              </a:rPr>
              <a:t>Categorical label. Averaging IDs has no meaning.</a:t>
            </a:r>
          </a:p>
        </p:txBody>
      </p:sp>
      <p:sp>
        <p:nvSpPr>
          <p:cNvPr id="7" name="Rectangle 6">
            <a:extLst>
              <a:ext uri="{FF2B5EF4-FFF2-40B4-BE49-F238E27FC236}">
                <a16:creationId xmlns:a16="http://schemas.microsoft.com/office/drawing/2014/main" id="{906CCF2F-EBD6-40C0-A078-21BAC2280935}"/>
              </a:ext>
            </a:extLst>
          </p:cNvPr>
          <p:cNvSpPr>
            <a:spLocks noGrp="1"/>
          </p:cNvSpPr>
          <p:nvPr/>
        </p:nvSpPr>
        <p:spPr>
          <a:xfrm>
            <a:off x="952500" y="2667000"/>
            <a:ext cx="3333750" cy="438150"/>
          </a:xfrm>
          <a:prstGeom prst="rect">
            <a:avLst/>
          </a:prstGeom>
          <a:noFill/>
          <a:ln w="0">
            <a:noFill/>
          </a:ln>
        </p:spPr>
        <p:txBody>
          <a:bodyPr anchor="t">
            <a:normAutofit fontScale="91523"/>
          </a:bodyPr>
          <a:lstStyle/>
          <a:p>
            <a:pPr>
              <a:defRPr sz="2100" b="1" i="0">
                <a:solidFill>
                  <a:srgbClr val="1D4F91"/>
                </a:solidFill>
                <a:latin typeface="Montserrat"/>
                <a:ea typeface="Montserrat"/>
                <a:cs typeface="Montserrat"/>
              </a:defRPr>
            </a:pPr>
            <a:r>
              <a:rPr sz="2100" b="1" i="0">
                <a:solidFill>
                  <a:srgbClr val="1D4F91"/>
                </a:solidFill>
                <a:latin typeface="Montserrat"/>
                <a:ea typeface="Montserrat"/>
                <a:cs typeface="Montserrat"/>
              </a:rPr>
              <a:t>Satisfaction rating: 1 to 5</a:t>
            </a:r>
          </a:p>
        </p:txBody>
      </p:sp>
      <p:sp>
        <p:nvSpPr>
          <p:cNvPr id="8" name="Rectangle 7">
            <a:extLst>
              <a:ext uri="{FF2B5EF4-FFF2-40B4-BE49-F238E27FC236}">
                <a16:creationId xmlns:a16="http://schemas.microsoft.com/office/drawing/2014/main" id="{243EC53B-A789-4D2E-AE69-D6C3C0284B8C}"/>
              </a:ext>
            </a:extLst>
          </p:cNvPr>
          <p:cNvSpPr>
            <a:spLocks noGrp="1"/>
          </p:cNvSpPr>
          <p:nvPr/>
        </p:nvSpPr>
        <p:spPr>
          <a:xfrm>
            <a:off x="952500" y="3219450"/>
            <a:ext cx="3333750" cy="742950"/>
          </a:xfrm>
          <a:prstGeom prst="rect">
            <a:avLst/>
          </a:prstGeom>
          <a:noFill/>
          <a:ln w="0">
            <a:noFill/>
          </a:ln>
        </p:spPr>
        <p:txBody>
          <a:bodyPr anchor="t">
            <a:normAutofit fontScale="93864" lnSpcReduction="10000"/>
          </a:bodyPr>
          <a:lstStyle/>
          <a:p>
            <a:pPr>
              <a:defRPr sz="1650" b="0" i="0">
                <a:solidFill>
                  <a:srgbClr val="2D2D2D"/>
                </a:solidFill>
                <a:latin typeface="Montserrat"/>
                <a:ea typeface="Montserrat"/>
                <a:cs typeface="Montserrat"/>
              </a:defRPr>
            </a:pPr>
            <a:r>
              <a:rPr sz="1650" b="0" i="0" dirty="0">
                <a:solidFill>
                  <a:srgbClr val="2D2D2D"/>
                </a:solidFill>
                <a:latin typeface="Montserrat"/>
                <a:ea typeface="Montserrat"/>
                <a:cs typeface="Montserrat"/>
              </a:rPr>
              <a:t>Usually categorical ordinal. The spacing between categories may not be equal.</a:t>
            </a:r>
          </a:p>
        </p:txBody>
      </p:sp>
      <p:sp>
        <p:nvSpPr>
          <p:cNvPr id="9" name="Rectangle 8">
            <a:extLst>
              <a:ext uri="{FF2B5EF4-FFF2-40B4-BE49-F238E27FC236}">
                <a16:creationId xmlns:a16="http://schemas.microsoft.com/office/drawing/2014/main" id="{52EE102D-DDF6-4921-8386-DB898332C32C}"/>
              </a:ext>
            </a:extLst>
          </p:cNvPr>
          <p:cNvSpPr>
            <a:spLocks noGrp="1"/>
          </p:cNvSpPr>
          <p:nvPr/>
        </p:nvSpPr>
        <p:spPr>
          <a:xfrm>
            <a:off x="5048250" y="1285875"/>
            <a:ext cx="3143250" cy="438150"/>
          </a:xfrm>
          <a:prstGeom prst="rect">
            <a:avLst/>
          </a:prstGeom>
          <a:noFill/>
          <a:ln w="0">
            <a:noFill/>
          </a:ln>
        </p:spPr>
        <p:txBody>
          <a:bodyPr anchor="t">
            <a:normAutofit fontScale="92500"/>
          </a:bodyPr>
          <a:lstStyle/>
          <a:p>
            <a:pPr>
              <a:defRPr sz="2100" b="1" i="0">
                <a:solidFill>
                  <a:srgbClr val="1D4F91"/>
                </a:solidFill>
                <a:latin typeface="Montserrat"/>
                <a:ea typeface="Montserrat"/>
                <a:cs typeface="Montserrat"/>
              </a:defRPr>
            </a:pPr>
            <a:r>
              <a:rPr sz="2100" b="1" i="0">
                <a:solidFill>
                  <a:srgbClr val="1D4F91"/>
                </a:solidFill>
                <a:latin typeface="Montserrat"/>
                <a:ea typeface="Montserrat"/>
                <a:cs typeface="Montserrat"/>
              </a:rPr>
              <a:t>Completion rate: 80%</a:t>
            </a:r>
          </a:p>
        </p:txBody>
      </p:sp>
      <p:sp>
        <p:nvSpPr>
          <p:cNvPr id="10" name="Rectangle 9">
            <a:extLst>
              <a:ext uri="{FF2B5EF4-FFF2-40B4-BE49-F238E27FC236}">
                <a16:creationId xmlns:a16="http://schemas.microsoft.com/office/drawing/2014/main" id="{DEEDFAEB-037E-4A04-BB2E-434AA20C5F07}"/>
              </a:ext>
            </a:extLst>
          </p:cNvPr>
          <p:cNvSpPr>
            <a:spLocks noGrp="1"/>
          </p:cNvSpPr>
          <p:nvPr/>
        </p:nvSpPr>
        <p:spPr>
          <a:xfrm>
            <a:off x="5048250" y="1771650"/>
            <a:ext cx="3143250" cy="742950"/>
          </a:xfrm>
          <a:prstGeom prst="rect">
            <a:avLst/>
          </a:prstGeom>
          <a:noFill/>
          <a:ln w="0">
            <a:noFill/>
          </a:ln>
        </p:spPr>
        <p:txBody>
          <a:bodyPr anchor="t">
            <a:normAutofit fontScale="93864" lnSpcReduction="10000"/>
          </a:bodyPr>
          <a:lstStyle/>
          <a:p>
            <a:pPr>
              <a:defRPr sz="1650" b="0" i="0">
                <a:solidFill>
                  <a:srgbClr val="2D2D2D"/>
                </a:solidFill>
                <a:latin typeface="Montserrat"/>
                <a:ea typeface="Montserrat"/>
                <a:cs typeface="Montserrat"/>
              </a:defRPr>
            </a:pPr>
            <a:r>
              <a:rPr sz="1650" b="0" i="0">
                <a:solidFill>
                  <a:srgbClr val="2D2D2D"/>
                </a:solidFill>
                <a:latin typeface="Montserrat"/>
                <a:ea typeface="Montserrat"/>
                <a:cs typeface="Montserrat"/>
              </a:rPr>
              <a:t>Numerical. Differences and ratios can carry meaning when the denominator is clear.</a:t>
            </a:r>
          </a:p>
        </p:txBody>
      </p:sp>
      <p:sp>
        <p:nvSpPr>
          <p:cNvPr id="11" name="Rectangle 10">
            <a:extLst>
              <a:ext uri="{FF2B5EF4-FFF2-40B4-BE49-F238E27FC236}">
                <a16:creationId xmlns:a16="http://schemas.microsoft.com/office/drawing/2014/main" id="{241E7BDE-C688-4A1B-91D9-47249BBD5460}"/>
              </a:ext>
            </a:extLst>
          </p:cNvPr>
          <p:cNvSpPr>
            <a:spLocks noGrp="1"/>
          </p:cNvSpPr>
          <p:nvPr/>
        </p:nvSpPr>
        <p:spPr>
          <a:xfrm>
            <a:off x="5048250" y="2667000"/>
            <a:ext cx="3143250" cy="438150"/>
          </a:xfrm>
          <a:prstGeom prst="rect">
            <a:avLst/>
          </a:prstGeom>
          <a:noFill/>
          <a:ln w="0">
            <a:noFill/>
          </a:ln>
        </p:spPr>
        <p:txBody>
          <a:bodyPr anchor="t">
            <a:normAutofit/>
          </a:bodyPr>
          <a:lstStyle/>
          <a:p>
            <a:pPr>
              <a:defRPr sz="2100" b="1" i="0">
                <a:solidFill>
                  <a:srgbClr val="1D4F91"/>
                </a:solidFill>
                <a:latin typeface="Montserrat"/>
                <a:ea typeface="Montserrat"/>
                <a:cs typeface="Montserrat"/>
              </a:defRPr>
            </a:pPr>
            <a:r>
              <a:rPr sz="2100" b="1" i="0" dirty="0">
                <a:solidFill>
                  <a:srgbClr val="1D4F91"/>
                </a:solidFill>
                <a:latin typeface="Montserrat"/>
                <a:ea typeface="Montserrat"/>
                <a:cs typeface="Montserrat"/>
              </a:rPr>
              <a:t>Class year: 1, 2, 3, 4</a:t>
            </a:r>
          </a:p>
        </p:txBody>
      </p:sp>
      <p:sp>
        <p:nvSpPr>
          <p:cNvPr id="12" name="Rectangle 11">
            <a:extLst>
              <a:ext uri="{FF2B5EF4-FFF2-40B4-BE49-F238E27FC236}">
                <a16:creationId xmlns:a16="http://schemas.microsoft.com/office/drawing/2014/main" id="{5FBC39FD-50FC-4105-A74E-2D875288C97F}"/>
              </a:ext>
            </a:extLst>
          </p:cNvPr>
          <p:cNvSpPr>
            <a:spLocks noGrp="1"/>
          </p:cNvSpPr>
          <p:nvPr/>
        </p:nvSpPr>
        <p:spPr>
          <a:xfrm>
            <a:off x="5048250" y="3257550"/>
            <a:ext cx="3143250" cy="742950"/>
          </a:xfrm>
          <a:prstGeom prst="rect">
            <a:avLst/>
          </a:prstGeom>
          <a:noFill/>
          <a:ln w="0">
            <a:noFill/>
          </a:ln>
        </p:spPr>
        <p:txBody>
          <a:bodyPr anchor="t">
            <a:normAutofit fontScale="93864" lnSpcReduction="10000"/>
          </a:bodyPr>
          <a:lstStyle/>
          <a:p>
            <a:pPr>
              <a:defRPr sz="1650" b="0" i="0">
                <a:solidFill>
                  <a:srgbClr val="2D2D2D"/>
                </a:solidFill>
                <a:latin typeface="Montserrat"/>
                <a:ea typeface="Montserrat"/>
                <a:cs typeface="Montserrat"/>
              </a:defRPr>
            </a:pPr>
            <a:r>
              <a:rPr sz="1650" b="0" i="0" dirty="0">
                <a:solidFill>
                  <a:srgbClr val="2D2D2D"/>
                </a:solidFill>
                <a:latin typeface="Montserrat"/>
                <a:ea typeface="Montserrat"/>
                <a:cs typeface="Montserrat"/>
              </a:rPr>
              <a:t>Categorical ordinal when the numbers label first-year through fourth-year students.</a:t>
            </a:r>
          </a:p>
        </p:txBody>
      </p:sp>
      <p:sp>
        <p:nvSpPr>
          <p:cNvPr id="13" name="Rectangle 12">
            <a:extLst>
              <a:ext uri="{FF2B5EF4-FFF2-40B4-BE49-F238E27FC236}">
                <a16:creationId xmlns:a16="http://schemas.microsoft.com/office/drawing/2014/main" id="{B98CFBD7-0E19-4A7A-89FD-F43E0C238231}"/>
              </a:ext>
            </a:extLst>
          </p:cNvPr>
          <p:cNvSpPr>
            <a:spLocks noGrp="1"/>
          </p:cNvSpPr>
          <p:nvPr/>
        </p:nvSpPr>
        <p:spPr>
          <a:xfrm>
            <a:off x="1238250" y="4291012"/>
            <a:ext cx="6667500" cy="323850"/>
          </a:xfrm>
          <a:prstGeom prst="rect">
            <a:avLst/>
          </a:prstGeom>
          <a:noFill/>
          <a:ln w="0">
            <a:noFill/>
          </a:ln>
        </p:spPr>
        <p:txBody>
          <a:bodyPr anchor="t">
            <a:noAutofit/>
          </a:bodyPr>
          <a:lstStyle/>
          <a:p>
            <a:pPr>
              <a:defRPr sz="1650" b="1" i="0">
                <a:solidFill>
                  <a:srgbClr val="B43A3A"/>
                </a:solidFill>
                <a:latin typeface="Montserrat"/>
                <a:ea typeface="Montserrat"/>
                <a:cs typeface="Montserrat"/>
              </a:defRPr>
            </a:pPr>
            <a:r>
              <a:rPr sz="1400" b="1" i="0" dirty="0">
                <a:solidFill>
                  <a:srgbClr val="B43A3A"/>
                </a:solidFill>
                <a:latin typeface="Montserrat"/>
                <a:ea typeface="Montserrat"/>
                <a:cs typeface="Montserrat"/>
              </a:rPr>
              <a:t>The same symbols can represent different variable types. Context determines the meaning.</a:t>
            </a:r>
          </a:p>
        </p:txBody>
      </p:sp>
    </p:spTree>
    <p:extLst>
      <p:ext uri="{BB962C8B-B14F-4D97-AF65-F5344CB8AC3E}">
        <p14:creationId xmlns:p14="http://schemas.microsoft.com/office/powerpoint/2010/main" val="78514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2EB"/>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8D2B41D-994B-4B26-BBF0-EB38A734BD57}"/>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Observational studies and experiments</a:t>
            </a:r>
          </a:p>
        </p:txBody>
      </p:sp>
      <p:sp>
        <p:nvSpPr>
          <p:cNvPr id="2" name="Rectangle 1">
            <a:extLst>
              <a:ext uri="{FF2B5EF4-FFF2-40B4-BE49-F238E27FC236}">
                <a16:creationId xmlns:a16="http://schemas.microsoft.com/office/drawing/2014/main" id="{45CFF12D-BC23-4A89-90E1-87FE2337F62B}"/>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66AB52A9-89D9-4893-ADF7-0FA50F671F50}"/>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79801628-FDDE-4D9D-BF5F-8D03ED7C19E0}"/>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1219BB7E-B77B-4E4E-B4A0-1B7B0DA6ABD4}"/>
              </a:ext>
            </a:extLst>
          </p:cNvPr>
          <p:cNvSpPr>
            <a:spLocks noGrp="1"/>
          </p:cNvSpPr>
          <p:nvPr/>
        </p:nvSpPr>
        <p:spPr>
          <a:xfrm>
            <a:off x="809625" y="1200150"/>
            <a:ext cx="3286125" cy="361950"/>
          </a:xfrm>
          <a:prstGeom prst="rect">
            <a:avLst/>
          </a:prstGeom>
          <a:noFill/>
          <a:ln w="0">
            <a:noFill/>
          </a:ln>
        </p:spPr>
        <p:txBody>
          <a:bodyPr anchor="t">
            <a:normAutofit fontScale="92024" lnSpcReduction="10000"/>
          </a:bodyPr>
          <a:lstStyle/>
          <a:p>
            <a:pPr>
              <a:defRPr sz="2100" b="1" i="0">
                <a:solidFill>
                  <a:srgbClr val="1D4F91"/>
                </a:solidFill>
                <a:latin typeface="Montserrat"/>
                <a:ea typeface="Montserrat"/>
                <a:cs typeface="Montserrat"/>
              </a:defRPr>
            </a:pPr>
            <a:r>
              <a:rPr sz="2100" b="1" i="0">
                <a:solidFill>
                  <a:srgbClr val="1D4F91"/>
                </a:solidFill>
                <a:latin typeface="Montserrat"/>
                <a:ea typeface="Montserrat"/>
                <a:cs typeface="Montserrat"/>
              </a:rPr>
              <a:t>Urban rat records</a:t>
            </a:r>
          </a:p>
        </p:txBody>
      </p:sp>
      <p:sp>
        <p:nvSpPr>
          <p:cNvPr id="6" name="Rectangle 5">
            <a:extLst>
              <a:ext uri="{FF2B5EF4-FFF2-40B4-BE49-F238E27FC236}">
                <a16:creationId xmlns:a16="http://schemas.microsoft.com/office/drawing/2014/main" id="{7FF03683-980A-4B12-A57C-FFF5B0D7DE5D}"/>
              </a:ext>
            </a:extLst>
          </p:cNvPr>
          <p:cNvSpPr>
            <a:spLocks noGrp="1"/>
          </p:cNvSpPr>
          <p:nvPr/>
        </p:nvSpPr>
        <p:spPr>
          <a:xfrm>
            <a:off x="700087" y="1771650"/>
            <a:ext cx="3505200" cy="1066800"/>
          </a:xfrm>
          <a:prstGeom prst="rect">
            <a:avLst/>
          </a:prstGeom>
          <a:noFill/>
          <a:ln w="0">
            <a:noFill/>
          </a:ln>
        </p:spPr>
        <p:txBody>
          <a:bodyPr anchor="t">
            <a:noAutofit/>
          </a:bodyPr>
          <a:lstStyle/>
          <a:p>
            <a:pPr>
              <a:defRPr sz="1800" b="0" i="0">
                <a:solidFill>
                  <a:srgbClr val="2D2D2D"/>
                </a:solidFill>
                <a:latin typeface="Montserrat"/>
                <a:ea typeface="Montserrat"/>
                <a:cs typeface="Montserrat"/>
              </a:defRPr>
            </a:pPr>
            <a:r>
              <a:rPr sz="1600" b="0" i="0" dirty="0">
                <a:solidFill>
                  <a:srgbClr val="2D2D2D"/>
                </a:solidFill>
                <a:latin typeface="Montserrat"/>
                <a:ea typeface="Montserrat"/>
                <a:cs typeface="Montserrat"/>
              </a:rPr>
              <a:t>Researchers analyzed complaints and official sightings. They did not assign cities to temperature conditions.</a:t>
            </a:r>
          </a:p>
        </p:txBody>
      </p:sp>
      <p:sp>
        <p:nvSpPr>
          <p:cNvPr id="7" name="Rectangle 6">
            <a:extLst>
              <a:ext uri="{FF2B5EF4-FFF2-40B4-BE49-F238E27FC236}">
                <a16:creationId xmlns:a16="http://schemas.microsoft.com/office/drawing/2014/main" id="{C98F2177-1366-4658-B240-9C3CC7111D79}"/>
              </a:ext>
            </a:extLst>
          </p:cNvPr>
          <p:cNvSpPr>
            <a:spLocks noGrp="1"/>
          </p:cNvSpPr>
          <p:nvPr/>
        </p:nvSpPr>
        <p:spPr>
          <a:xfrm>
            <a:off x="1095375" y="3086100"/>
            <a:ext cx="2724150" cy="361950"/>
          </a:xfrm>
          <a:prstGeom prst="rect">
            <a:avLst/>
          </a:prstGeom>
          <a:noFill/>
          <a:ln w="0">
            <a:noFill/>
          </a:ln>
        </p:spPr>
        <p:txBody>
          <a:bodyPr anchor="t">
            <a:normAutofit fontScale="94667" lnSpcReduction="10000"/>
          </a:bodyPr>
          <a:lstStyle/>
          <a:p>
            <a:pPr>
              <a:defRPr sz="1875" b="1" i="0">
                <a:solidFill>
                  <a:srgbClr val="B43A3A"/>
                </a:solidFill>
                <a:latin typeface="Montserrat"/>
                <a:ea typeface="Montserrat"/>
                <a:cs typeface="Montserrat"/>
              </a:defRPr>
            </a:pPr>
            <a:r>
              <a:rPr sz="1875" b="1" i="0">
                <a:solidFill>
                  <a:srgbClr val="B43A3A"/>
                </a:solidFill>
                <a:latin typeface="Montserrat"/>
                <a:ea typeface="Montserrat"/>
                <a:cs typeface="Montserrat"/>
              </a:rPr>
              <a:t>Observational study</a:t>
            </a:r>
          </a:p>
        </p:txBody>
      </p:sp>
      <p:sp>
        <p:nvSpPr>
          <p:cNvPr id="8" name="Rectangle 7">
            <a:extLst>
              <a:ext uri="{FF2B5EF4-FFF2-40B4-BE49-F238E27FC236}">
                <a16:creationId xmlns:a16="http://schemas.microsoft.com/office/drawing/2014/main" id="{CD09A1CD-A641-483E-A6E2-465AFDC8E6E2}"/>
              </a:ext>
            </a:extLst>
          </p:cNvPr>
          <p:cNvSpPr>
            <a:spLocks noGrp="1"/>
          </p:cNvSpPr>
          <p:nvPr/>
        </p:nvSpPr>
        <p:spPr>
          <a:xfrm>
            <a:off x="1066800" y="3562350"/>
            <a:ext cx="2781300" cy="666750"/>
          </a:xfrm>
          <a:prstGeom prst="rect">
            <a:avLst/>
          </a:prstGeom>
          <a:noFill/>
          <a:ln w="0">
            <a:noFill/>
          </a:ln>
        </p:spPr>
        <p:txBody>
          <a:bodyPr anchor="t">
            <a:normAutofit fontScale="87461" lnSpcReduction="20000"/>
          </a:bodyPr>
          <a:lstStyle/>
          <a:p>
            <a:pPr>
              <a:defRPr sz="1650" b="0" i="0">
                <a:solidFill>
                  <a:srgbClr val="2D2D2D"/>
                </a:solidFill>
                <a:latin typeface="Montserrat"/>
                <a:ea typeface="Montserrat"/>
                <a:cs typeface="Montserrat"/>
              </a:defRPr>
            </a:pPr>
            <a:r>
              <a:rPr sz="1650" b="0" i="0">
                <a:solidFill>
                  <a:srgbClr val="2D2D2D"/>
                </a:solidFill>
                <a:latin typeface="Montserrat"/>
                <a:ea typeface="Montserrat"/>
                <a:cs typeface="Montserrat"/>
              </a:rPr>
              <a:t>The data can show association. Other explanations may remain.</a:t>
            </a:r>
          </a:p>
        </p:txBody>
      </p:sp>
      <p:sp>
        <p:nvSpPr>
          <p:cNvPr id="9" name="Rectangle 8">
            <a:extLst>
              <a:ext uri="{FF2B5EF4-FFF2-40B4-BE49-F238E27FC236}">
                <a16:creationId xmlns:a16="http://schemas.microsoft.com/office/drawing/2014/main" id="{36A9A52E-AFB5-41F1-A943-8C58DD94DE81}"/>
              </a:ext>
            </a:extLst>
          </p:cNvPr>
          <p:cNvSpPr>
            <a:spLocks noGrp="1"/>
          </p:cNvSpPr>
          <p:nvPr/>
        </p:nvSpPr>
        <p:spPr>
          <a:xfrm>
            <a:off x="4562475" y="1238250"/>
            <a:ext cx="19050" cy="3000375"/>
          </a:xfrm>
          <a:prstGeom prst="rect">
            <a:avLst/>
          </a:prstGeom>
          <a:solidFill>
            <a:srgbClr val="00A9E0"/>
          </a:solidFill>
          <a:ln w="0">
            <a:noFill/>
          </a:ln>
        </p:spPr>
      </p:sp>
      <p:sp>
        <p:nvSpPr>
          <p:cNvPr id="10" name="Rectangle 9">
            <a:extLst>
              <a:ext uri="{FF2B5EF4-FFF2-40B4-BE49-F238E27FC236}">
                <a16:creationId xmlns:a16="http://schemas.microsoft.com/office/drawing/2014/main" id="{99834BED-DDE1-4EA0-8AC9-2C6FD2008117}"/>
              </a:ext>
            </a:extLst>
          </p:cNvPr>
          <p:cNvSpPr>
            <a:spLocks noGrp="1"/>
          </p:cNvSpPr>
          <p:nvPr/>
        </p:nvSpPr>
        <p:spPr>
          <a:xfrm>
            <a:off x="5048250" y="1200150"/>
            <a:ext cx="3286125" cy="361950"/>
          </a:xfrm>
          <a:prstGeom prst="rect">
            <a:avLst/>
          </a:prstGeom>
          <a:noFill/>
          <a:ln w="0">
            <a:noFill/>
          </a:ln>
        </p:spPr>
        <p:txBody>
          <a:bodyPr anchor="t">
            <a:normAutofit fontScale="92024" lnSpcReduction="10000"/>
          </a:bodyPr>
          <a:lstStyle/>
          <a:p>
            <a:pPr>
              <a:defRPr sz="2100" b="1" i="0">
                <a:solidFill>
                  <a:srgbClr val="1D4F91"/>
                </a:solidFill>
                <a:latin typeface="Montserrat"/>
                <a:ea typeface="Montserrat"/>
                <a:cs typeface="Montserrat"/>
              </a:defRPr>
            </a:pPr>
            <a:r>
              <a:rPr sz="2100" b="1" i="0">
                <a:solidFill>
                  <a:srgbClr val="1D4F91"/>
                </a:solidFill>
                <a:latin typeface="Montserrat"/>
                <a:ea typeface="Montserrat"/>
                <a:cs typeface="Montserrat"/>
              </a:rPr>
              <a:t>Vitamin C trial</a:t>
            </a:r>
          </a:p>
        </p:txBody>
      </p:sp>
      <p:sp>
        <p:nvSpPr>
          <p:cNvPr id="11" name="Rectangle 10">
            <a:extLst>
              <a:ext uri="{FF2B5EF4-FFF2-40B4-BE49-F238E27FC236}">
                <a16:creationId xmlns:a16="http://schemas.microsoft.com/office/drawing/2014/main" id="{48B613E6-425C-43B1-BD2F-62513A62ACA8}"/>
              </a:ext>
            </a:extLst>
          </p:cNvPr>
          <p:cNvSpPr>
            <a:spLocks noGrp="1"/>
          </p:cNvSpPr>
          <p:nvPr/>
        </p:nvSpPr>
        <p:spPr>
          <a:xfrm>
            <a:off x="5172075" y="1762125"/>
            <a:ext cx="3048000" cy="1066800"/>
          </a:xfrm>
          <a:prstGeom prst="rect">
            <a:avLst/>
          </a:prstGeom>
          <a:noFill/>
          <a:ln w="0">
            <a:noFill/>
          </a:ln>
        </p:spPr>
        <p:txBody>
          <a:bodyPr anchor="t">
            <a:normAutofit fontScale="96389" lnSpcReduction="10000"/>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Researchers assigned volunteers to placebo or vitamin-C treatments and measured cold outcomes.</a:t>
            </a:r>
          </a:p>
        </p:txBody>
      </p:sp>
      <p:sp>
        <p:nvSpPr>
          <p:cNvPr id="12" name="Rectangle 11">
            <a:extLst>
              <a:ext uri="{FF2B5EF4-FFF2-40B4-BE49-F238E27FC236}">
                <a16:creationId xmlns:a16="http://schemas.microsoft.com/office/drawing/2014/main" id="{390AE48F-2E6E-4171-8A6A-08ED7700C455}"/>
              </a:ext>
            </a:extLst>
          </p:cNvPr>
          <p:cNvSpPr>
            <a:spLocks noGrp="1"/>
          </p:cNvSpPr>
          <p:nvPr/>
        </p:nvSpPr>
        <p:spPr>
          <a:xfrm>
            <a:off x="5334000" y="3086100"/>
            <a:ext cx="2724150" cy="361950"/>
          </a:xfrm>
          <a:prstGeom prst="rect">
            <a:avLst/>
          </a:prstGeom>
          <a:noFill/>
          <a:ln w="0">
            <a:noFill/>
          </a:ln>
        </p:spPr>
        <p:txBody>
          <a:bodyPr anchor="t">
            <a:normAutofit fontScale="76714" lnSpcReduction="20000"/>
          </a:bodyPr>
          <a:lstStyle/>
          <a:p>
            <a:pPr>
              <a:defRPr sz="1875" b="1" i="0">
                <a:solidFill>
                  <a:srgbClr val="2C7A62"/>
                </a:solidFill>
                <a:latin typeface="Montserrat"/>
                <a:ea typeface="Montserrat"/>
                <a:cs typeface="Montserrat"/>
              </a:defRPr>
            </a:pPr>
            <a:r>
              <a:rPr sz="1875" b="1" i="0">
                <a:solidFill>
                  <a:srgbClr val="2C7A62"/>
                </a:solidFill>
                <a:latin typeface="Montserrat"/>
                <a:ea typeface="Montserrat"/>
                <a:cs typeface="Montserrat"/>
              </a:rPr>
              <a:t>Randomized experiment</a:t>
            </a:r>
          </a:p>
        </p:txBody>
      </p:sp>
      <p:sp>
        <p:nvSpPr>
          <p:cNvPr id="13" name="Rectangle 12">
            <a:extLst>
              <a:ext uri="{FF2B5EF4-FFF2-40B4-BE49-F238E27FC236}">
                <a16:creationId xmlns:a16="http://schemas.microsoft.com/office/drawing/2014/main" id="{5DBE7E6D-52CF-485D-A8BB-EB2602BF6FB4}"/>
              </a:ext>
            </a:extLst>
          </p:cNvPr>
          <p:cNvSpPr>
            <a:spLocks noGrp="1"/>
          </p:cNvSpPr>
          <p:nvPr/>
        </p:nvSpPr>
        <p:spPr>
          <a:xfrm>
            <a:off x="5295900" y="3493642"/>
            <a:ext cx="3048000" cy="666750"/>
          </a:xfrm>
          <a:prstGeom prst="rect">
            <a:avLst/>
          </a:prstGeom>
          <a:noFill/>
          <a:ln w="0">
            <a:noFill/>
          </a:ln>
        </p:spPr>
        <p:txBody>
          <a:bodyPr anchor="t">
            <a:noAutofit/>
          </a:bodyPr>
          <a:lstStyle/>
          <a:p>
            <a:pPr>
              <a:defRPr sz="1650"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Random assignment helps separate the treatment effect from confounding variables.</a:t>
            </a:r>
          </a:p>
        </p:txBody>
      </p:sp>
      <p:sp>
        <p:nvSpPr>
          <p:cNvPr id="15" name="TextBox 14">
            <a:extLst>
              <a:ext uri="{FF2B5EF4-FFF2-40B4-BE49-F238E27FC236}">
                <a16:creationId xmlns:a16="http://schemas.microsoft.com/office/drawing/2014/main" id="{0FA070C4-F3E2-9B0C-9025-1999990563F2}"/>
              </a:ext>
            </a:extLst>
          </p:cNvPr>
          <p:cNvSpPr txBox="1"/>
          <p:nvPr/>
        </p:nvSpPr>
        <p:spPr>
          <a:xfrm>
            <a:off x="411216" y="4358759"/>
            <a:ext cx="8340617" cy="369332"/>
          </a:xfrm>
          <a:prstGeom prst="rect">
            <a:avLst/>
          </a:prstGeom>
          <a:noFill/>
        </p:spPr>
        <p:txBody>
          <a:bodyPr wrap="none" rtlCol="0">
            <a:spAutoFit/>
          </a:bodyPr>
          <a:lstStyle/>
          <a:p>
            <a:r>
              <a:rPr lang="en-US" b="1" dirty="0">
                <a:solidFill>
                  <a:srgbClr val="FF0000"/>
                </a:solidFill>
              </a:rPr>
              <a:t>What are the variables and cases in these studies? How would you organize the data?</a:t>
            </a:r>
          </a:p>
        </p:txBody>
      </p:sp>
    </p:spTree>
    <p:extLst>
      <p:ext uri="{BB962C8B-B14F-4D97-AF65-F5344CB8AC3E}">
        <p14:creationId xmlns:p14="http://schemas.microsoft.com/office/powerpoint/2010/main" val="618333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3305E-31CB-10CA-F38D-0B5A14C87ACA}"/>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3451564-8114-326B-C17D-7FFC7D55BFD1}"/>
              </a:ext>
            </a:extLst>
          </p:cNvPr>
          <p:cNvGraphicFramePr>
            <a:graphicFrameLocks noGrp="1"/>
          </p:cNvGraphicFramePr>
          <p:nvPr>
            <p:extLst>
              <p:ext uri="{D42A27DB-BD31-4B8C-83A1-F6EECF244321}">
                <p14:modId xmlns:p14="http://schemas.microsoft.com/office/powerpoint/2010/main" val="2772339692"/>
              </p:ext>
            </p:extLst>
          </p:nvPr>
        </p:nvGraphicFramePr>
        <p:xfrm>
          <a:off x="1524000" y="1382231"/>
          <a:ext cx="6931631" cy="23977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555569091"/>
                    </a:ext>
                  </a:extLst>
                </a:gridCol>
                <a:gridCol w="1168971">
                  <a:extLst>
                    <a:ext uri="{9D8B030D-6E8A-4147-A177-3AD203B41FA5}">
                      <a16:colId xmlns:a16="http://schemas.microsoft.com/office/drawing/2014/main" val="3019040190"/>
                    </a:ext>
                  </a:extLst>
                </a:gridCol>
                <a:gridCol w="1592494">
                  <a:extLst>
                    <a:ext uri="{9D8B030D-6E8A-4147-A177-3AD203B41FA5}">
                      <a16:colId xmlns:a16="http://schemas.microsoft.com/office/drawing/2014/main" val="3373600778"/>
                    </a:ext>
                  </a:extLst>
                </a:gridCol>
                <a:gridCol w="955497">
                  <a:extLst>
                    <a:ext uri="{9D8B030D-6E8A-4147-A177-3AD203B41FA5}">
                      <a16:colId xmlns:a16="http://schemas.microsoft.com/office/drawing/2014/main" val="3549888564"/>
                    </a:ext>
                  </a:extLst>
                </a:gridCol>
                <a:gridCol w="1387011">
                  <a:extLst>
                    <a:ext uri="{9D8B030D-6E8A-4147-A177-3AD203B41FA5}">
                      <a16:colId xmlns:a16="http://schemas.microsoft.com/office/drawing/2014/main" val="3438552592"/>
                    </a:ext>
                  </a:extLst>
                </a:gridCol>
                <a:gridCol w="811658">
                  <a:extLst>
                    <a:ext uri="{9D8B030D-6E8A-4147-A177-3AD203B41FA5}">
                      <a16:colId xmlns:a16="http://schemas.microsoft.com/office/drawing/2014/main" val="914445784"/>
                    </a:ext>
                  </a:extLst>
                </a:gridCol>
              </a:tblGrid>
              <a:tr h="370840">
                <a:tc>
                  <a:txBody>
                    <a:bodyPr/>
                    <a:lstStyle/>
                    <a:p>
                      <a:r>
                        <a:rPr lang="en-US" dirty="0"/>
                        <a:t>Cases</a:t>
                      </a:r>
                    </a:p>
                  </a:txBody>
                  <a:tcPr/>
                </a:tc>
                <a:tc>
                  <a:txBody>
                    <a:bodyPr/>
                    <a:lstStyle/>
                    <a:p>
                      <a:r>
                        <a:rPr lang="en-US" dirty="0"/>
                        <a:t>Average temp</a:t>
                      </a:r>
                    </a:p>
                  </a:txBody>
                  <a:tcPr/>
                </a:tc>
                <a:tc>
                  <a:txBody>
                    <a:bodyPr/>
                    <a:lstStyle/>
                    <a:p>
                      <a:r>
                        <a:rPr lang="en-US" dirty="0"/>
                        <a:t>Number of rat-related complaints</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0979591"/>
                  </a:ext>
                </a:extLst>
              </a:tr>
              <a:tr h="370840">
                <a:tc>
                  <a:txBody>
                    <a:bodyPr/>
                    <a:lstStyle/>
                    <a:p>
                      <a:r>
                        <a:rPr lang="en-US" dirty="0"/>
                        <a:t>City 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01056546"/>
                  </a:ext>
                </a:extLst>
              </a:tr>
              <a:tr h="370840">
                <a:tc>
                  <a:txBody>
                    <a:bodyPr/>
                    <a:lstStyle/>
                    <a:p>
                      <a:r>
                        <a:rPr lang="en-US" dirty="0"/>
                        <a:t>City 2</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21452865"/>
                  </a:ext>
                </a:extLst>
              </a:tr>
              <a:tr h="370840">
                <a:tc>
                  <a:txBody>
                    <a:bodyPr/>
                    <a:lstStyle/>
                    <a:p>
                      <a:r>
                        <a:rPr lang="en-US" dirty="0"/>
                        <a:t>…</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36578444"/>
                  </a:ext>
                </a:extLst>
              </a:tr>
              <a:tr h="370840">
                <a:tc>
                  <a:txBody>
                    <a:bodyPr/>
                    <a:lstStyle/>
                    <a:p>
                      <a:r>
                        <a:rPr lang="en-US" dirty="0"/>
                        <a:t>City 16</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17448623"/>
                  </a:ext>
                </a:extLst>
              </a:tr>
            </a:tbl>
          </a:graphicData>
        </a:graphic>
      </p:graphicFrame>
    </p:spTree>
    <p:extLst>
      <p:ext uri="{BB962C8B-B14F-4D97-AF65-F5344CB8AC3E}">
        <p14:creationId xmlns:p14="http://schemas.microsoft.com/office/powerpoint/2010/main" val="1986902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FE0234F-9B58-7A21-C5DE-6885E2E3F25E}"/>
              </a:ext>
            </a:extLst>
          </p:cNvPr>
          <p:cNvGraphicFramePr>
            <a:graphicFrameLocks noGrp="1"/>
          </p:cNvGraphicFramePr>
          <p:nvPr>
            <p:extLst>
              <p:ext uri="{D42A27DB-BD31-4B8C-83A1-F6EECF244321}">
                <p14:modId xmlns:p14="http://schemas.microsoft.com/office/powerpoint/2010/main" val="3610316222"/>
              </p:ext>
            </p:extLst>
          </p:nvPr>
        </p:nvGraphicFramePr>
        <p:xfrm>
          <a:off x="1524000" y="1382231"/>
          <a:ext cx="6096000" cy="1854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555569091"/>
                    </a:ext>
                  </a:extLst>
                </a:gridCol>
                <a:gridCol w="1263721">
                  <a:extLst>
                    <a:ext uri="{9D8B030D-6E8A-4147-A177-3AD203B41FA5}">
                      <a16:colId xmlns:a16="http://schemas.microsoft.com/office/drawing/2014/main" val="3019040190"/>
                    </a:ext>
                  </a:extLst>
                </a:gridCol>
                <a:gridCol w="1715785">
                  <a:extLst>
                    <a:ext uri="{9D8B030D-6E8A-4147-A177-3AD203B41FA5}">
                      <a16:colId xmlns:a16="http://schemas.microsoft.com/office/drawing/2014/main" val="3373600778"/>
                    </a:ext>
                  </a:extLst>
                </a:gridCol>
                <a:gridCol w="1404762">
                  <a:extLst>
                    <a:ext uri="{9D8B030D-6E8A-4147-A177-3AD203B41FA5}">
                      <a16:colId xmlns:a16="http://schemas.microsoft.com/office/drawing/2014/main" val="3549888564"/>
                    </a:ext>
                  </a:extLst>
                </a:gridCol>
                <a:gridCol w="208280">
                  <a:extLst>
                    <a:ext uri="{9D8B030D-6E8A-4147-A177-3AD203B41FA5}">
                      <a16:colId xmlns:a16="http://schemas.microsoft.com/office/drawing/2014/main" val="3438552592"/>
                    </a:ext>
                  </a:extLst>
                </a:gridCol>
                <a:gridCol w="284252">
                  <a:extLst>
                    <a:ext uri="{9D8B030D-6E8A-4147-A177-3AD203B41FA5}">
                      <a16:colId xmlns:a16="http://schemas.microsoft.com/office/drawing/2014/main" val="914445784"/>
                    </a:ext>
                  </a:extLst>
                </a:gridCol>
              </a:tblGrid>
              <a:tr h="370840">
                <a:tc>
                  <a:txBody>
                    <a:bodyPr/>
                    <a:lstStyle/>
                    <a:p>
                      <a:r>
                        <a:rPr lang="en-US" dirty="0"/>
                        <a:t>Cases</a:t>
                      </a:r>
                    </a:p>
                  </a:txBody>
                  <a:tcPr/>
                </a:tc>
                <a:tc>
                  <a:txBody>
                    <a:bodyPr/>
                    <a:lstStyle/>
                    <a:p>
                      <a:r>
                        <a:rPr lang="en-US" dirty="0"/>
                        <a:t>Treatment</a:t>
                      </a:r>
                    </a:p>
                  </a:txBody>
                  <a:tcPr/>
                </a:tc>
                <a:tc>
                  <a:txBody>
                    <a:bodyPr/>
                    <a:lstStyle/>
                    <a:p>
                      <a:r>
                        <a:rPr lang="en-US" dirty="0"/>
                        <a:t>Cold Outcome</a:t>
                      </a:r>
                    </a:p>
                  </a:txBody>
                  <a:tcPr/>
                </a:tc>
                <a:tc>
                  <a:txBody>
                    <a:bodyPr/>
                    <a:lstStyle/>
                    <a:p>
                      <a:r>
                        <a:rPr lang="en-US" dirty="0"/>
                        <a:t>Sick day out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0979591"/>
                  </a:ext>
                </a:extLst>
              </a:tr>
              <a:tr h="370840">
                <a:tc>
                  <a:txBody>
                    <a:bodyPr/>
                    <a:lstStyle/>
                    <a:p>
                      <a:r>
                        <a:rPr lang="en-US" dirty="0"/>
                        <a:t>Subject 1</a:t>
                      </a:r>
                    </a:p>
                  </a:txBody>
                  <a:tcPr/>
                </a:tc>
                <a:tc>
                  <a:txBody>
                    <a:bodyPr/>
                    <a:lstStyle/>
                    <a:p>
                      <a:r>
                        <a:rPr lang="en-US" dirty="0"/>
                        <a:t>Placebo</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01056546"/>
                  </a:ext>
                </a:extLst>
              </a:tr>
              <a:tr h="370840">
                <a:tc>
                  <a:txBody>
                    <a:bodyPr/>
                    <a:lstStyle/>
                    <a:p>
                      <a:r>
                        <a:rPr lang="en-US" dirty="0"/>
                        <a:t>…</a:t>
                      </a:r>
                    </a:p>
                  </a:txBody>
                  <a:tcPr/>
                </a:tc>
                <a:tc>
                  <a:txBody>
                    <a:bodyPr/>
                    <a:lstStyle/>
                    <a:p>
                      <a:r>
                        <a:rPr lang="en-US" dirty="0"/>
                        <a:t>VC</a:t>
                      </a:r>
                    </a:p>
                  </a:txBody>
                  <a:tcPr/>
                </a:tc>
                <a:tc>
                  <a:txBody>
                    <a:bodyPr/>
                    <a:lstStyle/>
                    <a:p>
                      <a:r>
                        <a:rPr lang="en-US" dirty="0"/>
                        <a:t>0</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21452865"/>
                  </a:ext>
                </a:extLst>
              </a:tr>
              <a:tr h="370840">
                <a:tc>
                  <a:txBody>
                    <a:bodyPr/>
                    <a:lstStyle/>
                    <a:p>
                      <a:endParaRPr lang="en-US" dirty="0"/>
                    </a:p>
                  </a:txBody>
                  <a:tcPr/>
                </a:tc>
                <a:tc>
                  <a:txBody>
                    <a:bodyPr/>
                    <a:lstStyle/>
                    <a:p>
                      <a:r>
                        <a:rPr lang="en-US" dirty="0"/>
                        <a:t>VC</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36578444"/>
                  </a:ext>
                </a:extLst>
              </a:tr>
              <a:tr h="370840">
                <a:tc>
                  <a:txBody>
                    <a:bodyPr/>
                    <a:lstStyle/>
                    <a:p>
                      <a:r>
                        <a:rPr lang="en-US" dirty="0"/>
                        <a:t>Subject 20</a:t>
                      </a:r>
                    </a:p>
                  </a:txBody>
                  <a:tcPr/>
                </a:tc>
                <a:tc>
                  <a:txBody>
                    <a:bodyPr/>
                    <a:lstStyle/>
                    <a:p>
                      <a:r>
                        <a:rPr lang="en-US" dirty="0"/>
                        <a:t>Placebo</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17448623"/>
                  </a:ext>
                </a:extLst>
              </a:tr>
            </a:tbl>
          </a:graphicData>
        </a:graphic>
      </p:graphicFrame>
    </p:spTree>
    <p:extLst>
      <p:ext uri="{BB962C8B-B14F-4D97-AF65-F5344CB8AC3E}">
        <p14:creationId xmlns:p14="http://schemas.microsoft.com/office/powerpoint/2010/main" val="4106028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88FAA-08B9-484C-5AB7-C87238AF65F5}"/>
            </a:ext>
          </a:extLst>
        </p:cNvPr>
        <p:cNvGrpSpPr/>
        <p:nvPr/>
      </p:nvGrpSpPr>
      <p:grpSpPr>
        <a:xfrm>
          <a:off x="0" y="0"/>
          <a:ext cx="0" cy="0"/>
          <a:chOff x="0" y="0"/>
          <a:chExt cx="0" cy="0"/>
        </a:xfrm>
      </p:grpSpPr>
      <p:pic>
        <p:nvPicPr>
          <p:cNvPr id="121" name="Picture 3">
            <a:extLst>
              <a:ext uri="{FF2B5EF4-FFF2-40B4-BE49-F238E27FC236}">
                <a16:creationId xmlns:a16="http://schemas.microsoft.com/office/drawing/2014/main" id="{3509DE2D-0827-3EAA-B884-D8E300B8DB77}"/>
              </a:ext>
            </a:extLst>
          </p:cNvPr>
          <p:cNvPicPr>
            <a:picLocks noChangeAspect="1"/>
          </p:cNvPicPr>
          <p:nvPr/>
        </p:nvPicPr>
        <p:blipFill>
          <a:blip r:embed="rId3">
            <a:alphaModFix amt="35000"/>
          </a:blip>
          <a:stretch>
            <a:fillRect/>
          </a:stretch>
        </p:blipFill>
        <p:spPr>
          <a:xfrm>
            <a:off x="0" y="95677"/>
            <a:ext cx="9144000" cy="4260816"/>
          </a:xfrm>
          <a:prstGeom prst="rect">
            <a:avLst/>
          </a:prstGeom>
        </p:spPr>
      </p:pic>
      <p:sp>
        <p:nvSpPr>
          <p:cNvPr id="119" name="Shape 119">
            <a:extLst>
              <a:ext uri="{FF2B5EF4-FFF2-40B4-BE49-F238E27FC236}">
                <a16:creationId xmlns:a16="http://schemas.microsoft.com/office/drawing/2014/main" id="{EA009DE3-7AAD-9E63-44F7-A6023292F4F0}"/>
              </a:ext>
            </a:extLst>
          </p:cNvPr>
          <p:cNvSpPr>
            <a:spLocks noGrp="1"/>
          </p:cNvSpPr>
          <p:nvPr>
            <p:ph type="ctrTitle"/>
          </p:nvPr>
        </p:nvSpPr>
        <p:spPr>
          <a:xfrm>
            <a:off x="822960" y="1512951"/>
            <a:ext cx="7543800" cy="1257346"/>
          </a:xfrm>
          <a:prstGeom prst="rect">
            <a:avLst/>
          </a:prstGeom>
          <a:effectLst>
            <a:outerShdw blurRad="50800" dist="38100" dir="2700000" algn="tl" rotWithShape="0">
              <a:prstClr val="black">
                <a:alpha val="40000"/>
              </a:prstClr>
            </a:outerShdw>
          </a:effectLst>
        </p:spPr>
        <p:txBody>
          <a:bodyPr>
            <a:normAutofit fontScale="90115"/>
          </a:bodyPr>
          <a:lstStyle/>
          <a:p>
            <a:r>
              <a:rPr sz="4400">
                <a:solidFill>
                  <a:schemeClr val="tx1"/>
                </a:solidFill>
              </a:rPr>
              <a:t>Study design, sampling, and bias</a:t>
            </a:r>
          </a:p>
          <a:p>
            <a:r>
              <a:rPr sz="4400">
                <a:solidFill>
                  <a:schemeClr val="tx1"/>
                </a:solidFill>
              </a:rPr>
              <a:t>Two real studies</a:t>
            </a:r>
          </a:p>
        </p:txBody>
      </p:sp>
      <p:sp>
        <p:nvSpPr>
          <p:cNvPr id="2" name="Subtitle 1">
            <a:extLst>
              <a:ext uri="{FF2B5EF4-FFF2-40B4-BE49-F238E27FC236}">
                <a16:creationId xmlns:a16="http://schemas.microsoft.com/office/drawing/2014/main" id="{E2939766-5957-8C1E-A6E8-6598EE50ACA2}"/>
              </a:ext>
            </a:extLst>
          </p:cNvPr>
          <p:cNvSpPr>
            <a:spLocks noGrp="1"/>
          </p:cNvSpPr>
          <p:nvPr>
            <p:ph type="subTitle" idx="1"/>
          </p:nvPr>
        </p:nvSpPr>
        <p:spPr>
          <a:xfrm>
            <a:off x="822960" y="2930226"/>
            <a:ext cx="7543800" cy="1257345"/>
          </a:xfrm>
          <a:effectLst>
            <a:outerShdw blurRad="50800" dist="38100" dir="2700000" algn="tl" rotWithShape="0">
              <a:schemeClr val="tx1">
                <a:alpha val="46000"/>
              </a:schemeClr>
            </a:outerShdw>
          </a:effectLst>
        </p:spPr>
        <p:txBody>
          <a:bodyPr>
            <a:normAutofit/>
          </a:bodyPr>
          <a:lstStyle/>
          <a:p>
            <a:r>
              <a:rPr sz="2800" b="1" cap="small">
                <a:solidFill>
                  <a:schemeClr val="tx1"/>
                </a:solidFill>
              </a:rPr>
              <a:t>STAT UN 1001  ·  LECTURES 3–4</a:t>
            </a:r>
          </a:p>
          <a:p>
            <a:r>
              <a:rPr sz="2800" b="1" cap="small">
                <a:solidFill>
                  <a:schemeClr val="tx1"/>
                </a:solidFill>
              </a:rPr>
              <a:t>SEPTEMBER 15 AND 17, 2026</a:t>
            </a:r>
          </a:p>
        </p:txBody>
      </p:sp>
    </p:spTree>
    <p:extLst>
      <p:ext uri="{BB962C8B-B14F-4D97-AF65-F5344CB8AC3E}">
        <p14:creationId xmlns:p14="http://schemas.microsoft.com/office/powerpoint/2010/main" val="2813105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69B8993-0CF0-4C41-89F0-0D5F0514F8C6}"/>
              </a:ext>
            </a:extLst>
          </p:cNvPr>
          <p:cNvSpPr>
            <a:spLocks noGrp="1"/>
          </p:cNvSpPr>
          <p:nvPr/>
        </p:nvSpPr>
        <p:spPr>
          <a:xfrm>
            <a:off x="590549" y="285750"/>
            <a:ext cx="8414657" cy="552450"/>
          </a:xfrm>
          <a:prstGeom prst="rect">
            <a:avLst/>
          </a:prstGeom>
          <a:noFill/>
          <a:ln w="0">
            <a:noFill/>
          </a:ln>
        </p:spPr>
        <p:txBody>
          <a:bodyPr anchor="t">
            <a:normAutofit fontScale="92500"/>
          </a:bodyPr>
          <a:lstStyle/>
          <a:p>
            <a:pPr>
              <a:defRPr sz="2850" b="1" i="0">
                <a:solidFill>
                  <a:srgbClr val="2D2D2D"/>
                </a:solidFill>
                <a:latin typeface="Montserrat"/>
                <a:ea typeface="Montserrat"/>
                <a:cs typeface="Montserrat"/>
              </a:defRPr>
            </a:pPr>
            <a:r>
              <a:rPr sz="2850" b="1" i="0" dirty="0">
                <a:solidFill>
                  <a:srgbClr val="2D2D2D"/>
                </a:solidFill>
                <a:latin typeface="Montserrat"/>
                <a:ea typeface="Montserrat"/>
                <a:cs typeface="Montserrat"/>
              </a:rPr>
              <a:t>Random sampling and random assignment</a:t>
            </a:r>
          </a:p>
        </p:txBody>
      </p:sp>
      <p:sp>
        <p:nvSpPr>
          <p:cNvPr id="2" name="Rectangle 1">
            <a:extLst>
              <a:ext uri="{FF2B5EF4-FFF2-40B4-BE49-F238E27FC236}">
                <a16:creationId xmlns:a16="http://schemas.microsoft.com/office/drawing/2014/main" id="{453754EB-F1A5-44BC-B415-C324E862A694}"/>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F0D7A725-BFE3-4C47-90FD-08F26CE27032}"/>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F471654-D087-4F25-9BAA-DE1F96AD58A8}"/>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658F0DF2-D17C-4FB4-9A51-9616051FE61B}"/>
              </a:ext>
            </a:extLst>
          </p:cNvPr>
          <p:cNvSpPr>
            <a:spLocks noGrp="1"/>
          </p:cNvSpPr>
          <p:nvPr/>
        </p:nvSpPr>
        <p:spPr>
          <a:xfrm>
            <a:off x="472167" y="1004887"/>
            <a:ext cx="3143250" cy="266700"/>
          </a:xfrm>
          <a:prstGeom prst="rect">
            <a:avLst/>
          </a:prstGeom>
          <a:noFill/>
          <a:ln w="0">
            <a:noFill/>
          </a:ln>
        </p:spPr>
        <p:txBody>
          <a:bodyPr anchor="t">
            <a:normAutofit fontScale="85185"/>
          </a:bodyPr>
          <a:lstStyle/>
          <a:p>
            <a:pPr>
              <a:defRPr sz="1350" b="1" i="0">
                <a:solidFill>
                  <a:srgbClr val="1D4F91"/>
                </a:solidFill>
                <a:latin typeface="Montserrat"/>
                <a:ea typeface="Montserrat"/>
                <a:cs typeface="Montserrat"/>
              </a:defRPr>
            </a:pPr>
            <a:r>
              <a:rPr sz="1350" b="1" i="0" dirty="0">
                <a:solidFill>
                  <a:srgbClr val="1D4F91"/>
                </a:solidFill>
                <a:latin typeface="Montserrat"/>
                <a:ea typeface="Montserrat"/>
                <a:cs typeface="Montserrat"/>
              </a:rPr>
              <a:t>RANDOM SAMPLING</a:t>
            </a:r>
          </a:p>
        </p:txBody>
      </p:sp>
      <p:sp>
        <p:nvSpPr>
          <p:cNvPr id="6" name="Rectangle 5">
            <a:extLst>
              <a:ext uri="{FF2B5EF4-FFF2-40B4-BE49-F238E27FC236}">
                <a16:creationId xmlns:a16="http://schemas.microsoft.com/office/drawing/2014/main" id="{3F5148DD-C659-4884-BF3A-F694715F48DA}"/>
              </a:ext>
            </a:extLst>
          </p:cNvPr>
          <p:cNvSpPr>
            <a:spLocks noGrp="1"/>
          </p:cNvSpPr>
          <p:nvPr/>
        </p:nvSpPr>
        <p:spPr>
          <a:xfrm>
            <a:off x="491217" y="1482136"/>
            <a:ext cx="3556908" cy="400050"/>
          </a:xfrm>
          <a:prstGeom prst="rect">
            <a:avLst/>
          </a:prstGeom>
          <a:noFill/>
          <a:ln w="0">
            <a:noFill/>
          </a:ln>
        </p:spPr>
        <p:txBody>
          <a:bodyPr anchor="t">
            <a:normAutofit fontScale="93103"/>
          </a:bodyPr>
          <a:lstStyle/>
          <a:p>
            <a:pPr>
              <a:defRPr sz="2175" b="1" i="0">
                <a:solidFill>
                  <a:srgbClr val="2D2D2D"/>
                </a:solidFill>
                <a:latin typeface="Montserrat"/>
                <a:ea typeface="Montserrat"/>
                <a:cs typeface="Montserrat"/>
              </a:defRPr>
            </a:pPr>
            <a:r>
              <a:rPr sz="2175" b="1" i="0" dirty="0">
                <a:solidFill>
                  <a:srgbClr val="2D2D2D"/>
                </a:solidFill>
                <a:latin typeface="Montserrat"/>
                <a:ea typeface="Montserrat"/>
                <a:cs typeface="Montserrat"/>
              </a:rPr>
              <a:t>Who </a:t>
            </a:r>
            <a:r>
              <a:rPr sz="2175" b="1" i="0" dirty="0">
                <a:solidFill>
                  <a:srgbClr val="FF0000"/>
                </a:solidFill>
                <a:latin typeface="Montserrat"/>
                <a:ea typeface="Montserrat"/>
                <a:cs typeface="Montserrat"/>
              </a:rPr>
              <a:t>enters</a:t>
            </a:r>
            <a:r>
              <a:rPr sz="2175" b="1" i="0" dirty="0">
                <a:solidFill>
                  <a:srgbClr val="2D2D2D"/>
                </a:solidFill>
                <a:latin typeface="Montserrat"/>
                <a:ea typeface="Montserrat"/>
                <a:cs typeface="Montserrat"/>
              </a:rPr>
              <a:t> the study?</a:t>
            </a:r>
          </a:p>
        </p:txBody>
      </p:sp>
      <p:sp>
        <p:nvSpPr>
          <p:cNvPr id="7" name="Rectangle 6">
            <a:extLst>
              <a:ext uri="{FF2B5EF4-FFF2-40B4-BE49-F238E27FC236}">
                <a16:creationId xmlns:a16="http://schemas.microsoft.com/office/drawing/2014/main" id="{1CBC5E1D-99E2-4700-AFD3-184EE8120A32}"/>
              </a:ext>
            </a:extLst>
          </p:cNvPr>
          <p:cNvSpPr>
            <a:spLocks noGrp="1"/>
          </p:cNvSpPr>
          <p:nvPr/>
        </p:nvSpPr>
        <p:spPr>
          <a:xfrm>
            <a:off x="499383" y="2020979"/>
            <a:ext cx="3373208" cy="1097416"/>
          </a:xfrm>
          <a:prstGeom prst="rect">
            <a:avLst/>
          </a:prstGeom>
          <a:noFill/>
          <a:ln w="0">
            <a:noFill/>
          </a:ln>
        </p:spPr>
        <p:txBody>
          <a:bodyPr anchor="t">
            <a:normAutofit fontScale="98241" lnSpcReduction="10000"/>
          </a:bodyPr>
          <a:lstStyle/>
          <a:p>
            <a:pPr>
              <a:defRPr sz="1800" b="0" i="0">
                <a:solidFill>
                  <a:srgbClr val="2D2D2D"/>
                </a:solidFill>
                <a:latin typeface="Montserrat"/>
                <a:ea typeface="Montserrat"/>
                <a:cs typeface="Montserrat"/>
              </a:defRPr>
            </a:pPr>
            <a:r>
              <a:rPr sz="1800" b="0" i="0" dirty="0">
                <a:solidFill>
                  <a:srgbClr val="2D2D2D"/>
                </a:solidFill>
                <a:latin typeface="Montserrat"/>
                <a:ea typeface="Montserrat"/>
                <a:cs typeface="Montserrat"/>
              </a:rPr>
              <a:t>A probability sample can support generalization from the sample to the population.</a:t>
            </a:r>
          </a:p>
        </p:txBody>
      </p:sp>
      <p:sp>
        <p:nvSpPr>
          <p:cNvPr id="8" name="Rectangle 7">
            <a:extLst>
              <a:ext uri="{FF2B5EF4-FFF2-40B4-BE49-F238E27FC236}">
                <a16:creationId xmlns:a16="http://schemas.microsoft.com/office/drawing/2014/main" id="{CFD099D0-5391-4283-B3CD-6AB39604A86E}"/>
              </a:ext>
            </a:extLst>
          </p:cNvPr>
          <p:cNvSpPr>
            <a:spLocks noGrp="1"/>
          </p:cNvSpPr>
          <p:nvPr/>
        </p:nvSpPr>
        <p:spPr>
          <a:xfrm>
            <a:off x="499383" y="3257188"/>
            <a:ext cx="3324226" cy="342900"/>
          </a:xfrm>
          <a:prstGeom prst="rect">
            <a:avLst/>
          </a:prstGeom>
          <a:noFill/>
          <a:ln w="0">
            <a:noFill/>
          </a:ln>
        </p:spPr>
        <p:txBody>
          <a:bodyPr anchor="t">
            <a:normAutofit/>
          </a:bodyPr>
          <a:lstStyle/>
          <a:p>
            <a:pPr>
              <a:defRPr sz="1650" b="1" i="0">
                <a:solidFill>
                  <a:srgbClr val="B43A3A"/>
                </a:solidFill>
                <a:latin typeface="Montserrat"/>
                <a:ea typeface="Montserrat"/>
                <a:cs typeface="Montserrat"/>
              </a:defRPr>
            </a:pPr>
            <a:r>
              <a:rPr sz="1650" b="1" i="0" dirty="0">
                <a:solidFill>
                  <a:srgbClr val="B43A3A"/>
                </a:solidFill>
                <a:latin typeface="Montserrat"/>
                <a:ea typeface="Montserrat"/>
                <a:cs typeface="Montserrat"/>
              </a:rPr>
              <a:t>Main threat: selection bias</a:t>
            </a:r>
          </a:p>
        </p:txBody>
      </p:sp>
      <p:sp>
        <p:nvSpPr>
          <p:cNvPr id="9" name="Rectangle 8">
            <a:extLst>
              <a:ext uri="{FF2B5EF4-FFF2-40B4-BE49-F238E27FC236}">
                <a16:creationId xmlns:a16="http://schemas.microsoft.com/office/drawing/2014/main" id="{4835F238-A1A6-4F6B-BE24-50CB05AE3BFD}"/>
              </a:ext>
            </a:extLst>
          </p:cNvPr>
          <p:cNvSpPr>
            <a:spLocks noGrp="1"/>
          </p:cNvSpPr>
          <p:nvPr/>
        </p:nvSpPr>
        <p:spPr>
          <a:xfrm>
            <a:off x="4048125" y="1438274"/>
            <a:ext cx="19050" cy="2619375"/>
          </a:xfrm>
          <a:prstGeom prst="rect">
            <a:avLst/>
          </a:prstGeom>
          <a:solidFill>
            <a:srgbClr val="00A9E0"/>
          </a:solidFill>
          <a:ln w="0">
            <a:noFill/>
          </a:ln>
        </p:spPr>
      </p:sp>
      <p:sp>
        <p:nvSpPr>
          <p:cNvPr id="10" name="Rectangle 9">
            <a:extLst>
              <a:ext uri="{FF2B5EF4-FFF2-40B4-BE49-F238E27FC236}">
                <a16:creationId xmlns:a16="http://schemas.microsoft.com/office/drawing/2014/main" id="{2CFB5B07-B839-45F7-8AB5-C768901C62E9}"/>
              </a:ext>
            </a:extLst>
          </p:cNvPr>
          <p:cNvSpPr>
            <a:spLocks noGrp="1"/>
          </p:cNvSpPr>
          <p:nvPr/>
        </p:nvSpPr>
        <p:spPr>
          <a:xfrm>
            <a:off x="4663167" y="1004887"/>
            <a:ext cx="3143250" cy="266700"/>
          </a:xfrm>
          <a:prstGeom prst="rect">
            <a:avLst/>
          </a:prstGeom>
          <a:noFill/>
          <a:ln w="0">
            <a:noFill/>
          </a:ln>
        </p:spPr>
        <p:txBody>
          <a:bodyPr anchor="t">
            <a:normAutofit fontScale="85185"/>
          </a:bodyPr>
          <a:lstStyle/>
          <a:p>
            <a:pPr>
              <a:defRPr sz="1350" b="1" i="0">
                <a:solidFill>
                  <a:srgbClr val="1D4F91"/>
                </a:solidFill>
                <a:latin typeface="Montserrat"/>
                <a:ea typeface="Montserrat"/>
                <a:cs typeface="Montserrat"/>
              </a:defRPr>
            </a:pPr>
            <a:r>
              <a:rPr sz="1350" b="1" i="0" dirty="0">
                <a:solidFill>
                  <a:srgbClr val="1D4F91"/>
                </a:solidFill>
                <a:latin typeface="Montserrat"/>
                <a:ea typeface="Montserrat"/>
                <a:cs typeface="Montserrat"/>
              </a:rPr>
              <a:t>RANDOM ASSIGNMENT</a:t>
            </a:r>
          </a:p>
        </p:txBody>
      </p:sp>
      <p:sp>
        <p:nvSpPr>
          <p:cNvPr id="11" name="Rectangle 10">
            <a:extLst>
              <a:ext uri="{FF2B5EF4-FFF2-40B4-BE49-F238E27FC236}">
                <a16:creationId xmlns:a16="http://schemas.microsoft.com/office/drawing/2014/main" id="{009F0949-4D89-4491-A6A8-7D6BEE3F609B}"/>
              </a:ext>
            </a:extLst>
          </p:cNvPr>
          <p:cNvSpPr>
            <a:spLocks noGrp="1"/>
          </p:cNvSpPr>
          <p:nvPr/>
        </p:nvSpPr>
        <p:spPr>
          <a:xfrm>
            <a:off x="4242709" y="1465808"/>
            <a:ext cx="4410074" cy="400050"/>
          </a:xfrm>
          <a:prstGeom prst="rect">
            <a:avLst/>
          </a:prstGeom>
          <a:noFill/>
          <a:ln w="0">
            <a:noFill/>
          </a:ln>
        </p:spPr>
        <p:txBody>
          <a:bodyPr anchor="t">
            <a:noAutofit/>
          </a:bodyPr>
          <a:lstStyle/>
          <a:p>
            <a:pPr>
              <a:defRPr sz="2175" b="1" i="0">
                <a:solidFill>
                  <a:srgbClr val="2D2D2D"/>
                </a:solidFill>
                <a:latin typeface="Montserrat"/>
                <a:ea typeface="Montserrat"/>
                <a:cs typeface="Montserrat"/>
              </a:defRPr>
            </a:pPr>
            <a:r>
              <a:rPr sz="2000" b="1" i="0" dirty="0">
                <a:solidFill>
                  <a:srgbClr val="2D2D2D"/>
                </a:solidFill>
                <a:latin typeface="Montserrat"/>
                <a:ea typeface="Montserrat"/>
                <a:cs typeface="Montserrat"/>
              </a:rPr>
              <a:t>Who </a:t>
            </a:r>
            <a:r>
              <a:rPr sz="2000" b="1" i="0" dirty="0">
                <a:solidFill>
                  <a:srgbClr val="FF0000"/>
                </a:solidFill>
                <a:latin typeface="Montserrat"/>
                <a:ea typeface="Montserrat"/>
                <a:cs typeface="Montserrat"/>
              </a:rPr>
              <a:t>receives</a:t>
            </a:r>
            <a:r>
              <a:rPr sz="2000" b="1" i="0" dirty="0">
                <a:solidFill>
                  <a:srgbClr val="2D2D2D"/>
                </a:solidFill>
                <a:latin typeface="Montserrat"/>
                <a:ea typeface="Montserrat"/>
                <a:cs typeface="Montserrat"/>
              </a:rPr>
              <a:t> each treatment?</a:t>
            </a:r>
          </a:p>
        </p:txBody>
      </p:sp>
      <p:sp>
        <p:nvSpPr>
          <p:cNvPr id="12" name="Rectangle 11">
            <a:extLst>
              <a:ext uri="{FF2B5EF4-FFF2-40B4-BE49-F238E27FC236}">
                <a16:creationId xmlns:a16="http://schemas.microsoft.com/office/drawing/2014/main" id="{D03D1135-2DEE-4333-AE70-798DA67364A4}"/>
              </a:ext>
            </a:extLst>
          </p:cNvPr>
          <p:cNvSpPr>
            <a:spLocks noGrp="1"/>
          </p:cNvSpPr>
          <p:nvPr/>
        </p:nvSpPr>
        <p:spPr>
          <a:xfrm>
            <a:off x="4291691" y="2036628"/>
            <a:ext cx="3852184" cy="1317852"/>
          </a:xfrm>
          <a:prstGeom prst="rect">
            <a:avLst/>
          </a:prstGeom>
          <a:noFill/>
          <a:ln w="0">
            <a:noFill/>
          </a:ln>
        </p:spPr>
        <p:txBody>
          <a:bodyPr anchor="t">
            <a:normAutofit fontScale="98241"/>
          </a:bodyPr>
          <a:lstStyle/>
          <a:p>
            <a:pPr>
              <a:defRPr sz="1800" b="0" i="0">
                <a:solidFill>
                  <a:srgbClr val="2D2D2D"/>
                </a:solidFill>
                <a:latin typeface="Montserrat"/>
                <a:ea typeface="Montserrat"/>
                <a:cs typeface="Montserrat"/>
              </a:defRPr>
            </a:pPr>
            <a:r>
              <a:rPr sz="1800" b="0" i="0" dirty="0">
                <a:solidFill>
                  <a:srgbClr val="2D2D2D"/>
                </a:solidFill>
                <a:latin typeface="Montserrat"/>
                <a:ea typeface="Montserrat"/>
                <a:cs typeface="Montserrat"/>
              </a:rPr>
              <a:t>Random assignment can support a causal comparison among the study participants.</a:t>
            </a:r>
          </a:p>
        </p:txBody>
      </p:sp>
      <p:sp>
        <p:nvSpPr>
          <p:cNvPr id="13" name="Rectangle 12">
            <a:extLst>
              <a:ext uri="{FF2B5EF4-FFF2-40B4-BE49-F238E27FC236}">
                <a16:creationId xmlns:a16="http://schemas.microsoft.com/office/drawing/2014/main" id="{D0102565-BDD3-450D-8A00-5685C093FD93}"/>
              </a:ext>
            </a:extLst>
          </p:cNvPr>
          <p:cNvSpPr>
            <a:spLocks noGrp="1"/>
          </p:cNvSpPr>
          <p:nvPr/>
        </p:nvSpPr>
        <p:spPr>
          <a:xfrm>
            <a:off x="4291691" y="3257187"/>
            <a:ext cx="3332392" cy="423183"/>
          </a:xfrm>
          <a:prstGeom prst="rect">
            <a:avLst/>
          </a:prstGeom>
          <a:noFill/>
          <a:ln w="0">
            <a:noFill/>
          </a:ln>
        </p:spPr>
        <p:txBody>
          <a:bodyPr anchor="t">
            <a:normAutofit/>
          </a:bodyPr>
          <a:lstStyle/>
          <a:p>
            <a:pPr>
              <a:defRPr sz="1650" b="1" i="0">
                <a:solidFill>
                  <a:srgbClr val="B43A3A"/>
                </a:solidFill>
                <a:latin typeface="Montserrat"/>
                <a:ea typeface="Montserrat"/>
                <a:cs typeface="Montserrat"/>
              </a:defRPr>
            </a:pPr>
            <a:r>
              <a:rPr sz="1650" b="1" i="0" dirty="0">
                <a:solidFill>
                  <a:srgbClr val="B43A3A"/>
                </a:solidFill>
                <a:latin typeface="Montserrat"/>
                <a:ea typeface="Montserrat"/>
                <a:cs typeface="Montserrat"/>
              </a:rPr>
              <a:t>Main threat: confounding</a:t>
            </a:r>
          </a:p>
        </p:txBody>
      </p:sp>
      <p:sp>
        <p:nvSpPr>
          <p:cNvPr id="16" name="TextBox 15">
            <a:extLst>
              <a:ext uri="{FF2B5EF4-FFF2-40B4-BE49-F238E27FC236}">
                <a16:creationId xmlns:a16="http://schemas.microsoft.com/office/drawing/2014/main" id="{EB8A24F8-3460-C729-BDF2-A5AAEE6C3421}"/>
              </a:ext>
            </a:extLst>
          </p:cNvPr>
          <p:cNvSpPr txBox="1"/>
          <p:nvPr/>
        </p:nvSpPr>
        <p:spPr>
          <a:xfrm>
            <a:off x="6675009" y="919163"/>
            <a:ext cx="1898148" cy="369332"/>
          </a:xfrm>
          <a:prstGeom prst="rect">
            <a:avLst/>
          </a:prstGeom>
          <a:noFill/>
        </p:spPr>
        <p:txBody>
          <a:bodyPr wrap="none" rtlCol="0">
            <a:spAutoFit/>
          </a:bodyPr>
          <a:lstStyle/>
          <a:p>
            <a:r>
              <a:rPr lang="en-US" altLang="zh-CN" dirty="0">
                <a:highlight>
                  <a:srgbClr val="FFFF00"/>
                </a:highlight>
              </a:rPr>
              <a:t>Experiments</a:t>
            </a:r>
            <a:r>
              <a:rPr lang="zh-CN" altLang="en-US" dirty="0">
                <a:highlight>
                  <a:srgbClr val="FFFF00"/>
                </a:highlight>
              </a:rPr>
              <a:t> </a:t>
            </a:r>
            <a:r>
              <a:rPr lang="en-US" altLang="zh-CN" dirty="0">
                <a:highlight>
                  <a:srgbClr val="FFFF00"/>
                </a:highlight>
              </a:rPr>
              <a:t>ONLY</a:t>
            </a:r>
            <a:endParaRPr lang="en-US" dirty="0">
              <a:highlight>
                <a:srgbClr val="FFFF00"/>
              </a:highlight>
            </a:endParaRPr>
          </a:p>
        </p:txBody>
      </p:sp>
      <p:sp>
        <p:nvSpPr>
          <p:cNvPr id="17" name="TextBox 16">
            <a:extLst>
              <a:ext uri="{FF2B5EF4-FFF2-40B4-BE49-F238E27FC236}">
                <a16:creationId xmlns:a16="http://schemas.microsoft.com/office/drawing/2014/main" id="{EDC1AD2D-6AA2-E04E-D677-4BA98623035E}"/>
              </a:ext>
            </a:extLst>
          </p:cNvPr>
          <p:cNvSpPr txBox="1"/>
          <p:nvPr/>
        </p:nvSpPr>
        <p:spPr>
          <a:xfrm>
            <a:off x="2184297" y="953266"/>
            <a:ext cx="2301079" cy="369332"/>
          </a:xfrm>
          <a:prstGeom prst="rect">
            <a:avLst/>
          </a:prstGeom>
          <a:noFill/>
        </p:spPr>
        <p:txBody>
          <a:bodyPr wrap="none" rtlCol="0">
            <a:spAutoFit/>
          </a:bodyPr>
          <a:lstStyle/>
          <a:p>
            <a:r>
              <a:rPr lang="en-US" altLang="zh-CN" dirty="0">
                <a:highlight>
                  <a:srgbClr val="FFFF00"/>
                </a:highlight>
              </a:rPr>
              <a:t>Applicability</a:t>
            </a:r>
            <a:r>
              <a:rPr lang="zh-CN" altLang="en-US" dirty="0">
                <a:highlight>
                  <a:srgbClr val="FFFF00"/>
                </a:highlight>
              </a:rPr>
              <a:t> </a:t>
            </a:r>
            <a:r>
              <a:rPr lang="en-US" altLang="zh-CN" dirty="0">
                <a:highlight>
                  <a:srgbClr val="FFFF00"/>
                </a:highlight>
              </a:rPr>
              <a:t>of</a:t>
            </a:r>
            <a:r>
              <a:rPr lang="zh-CN" altLang="en-US" dirty="0">
                <a:highlight>
                  <a:srgbClr val="FFFF00"/>
                </a:highlight>
              </a:rPr>
              <a:t> </a:t>
            </a:r>
            <a:r>
              <a:rPr lang="en-US" altLang="zh-CN" dirty="0">
                <a:highlight>
                  <a:srgbClr val="FFFF00"/>
                </a:highlight>
              </a:rPr>
              <a:t>Results</a:t>
            </a:r>
            <a:endParaRPr lang="en-US" dirty="0">
              <a:highlight>
                <a:srgbClr val="FFFF00"/>
              </a:highlight>
            </a:endParaRPr>
          </a:p>
        </p:txBody>
      </p:sp>
    </p:spTree>
    <p:extLst>
      <p:ext uri="{BB962C8B-B14F-4D97-AF65-F5344CB8AC3E}">
        <p14:creationId xmlns:p14="http://schemas.microsoft.com/office/powerpoint/2010/main" val="429475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FF7FE27-7515-4F0A-AAD6-76476A9AD37E}"/>
              </a:ext>
            </a:extLst>
          </p:cNvPr>
          <p:cNvSpPr>
            <a:spLocks noGrp="1"/>
          </p:cNvSpPr>
          <p:nvPr/>
        </p:nvSpPr>
        <p:spPr>
          <a:xfrm>
            <a:off x="590550" y="219076"/>
            <a:ext cx="7962900" cy="857250"/>
          </a:xfrm>
          <a:prstGeom prst="rect">
            <a:avLst/>
          </a:prstGeom>
          <a:noFill/>
          <a:ln w="0">
            <a:noFill/>
          </a:ln>
        </p:spPr>
        <p:txBody>
          <a:bodyPr anchor="t">
            <a:normAutofit fontScale="80791" lnSpcReduction="10000"/>
          </a:bodyPr>
          <a:lstStyle/>
          <a:p>
            <a:pPr>
              <a:defRPr sz="2850" b="1" i="0">
                <a:solidFill>
                  <a:srgbClr val="2D2D2D"/>
                </a:solidFill>
                <a:latin typeface="Montserrat"/>
                <a:ea typeface="Montserrat"/>
                <a:cs typeface="Montserrat"/>
              </a:defRPr>
            </a:pPr>
            <a:r>
              <a:rPr lang="en-US" altLang="zh-CN" sz="2850" b="1" i="0" dirty="0">
                <a:solidFill>
                  <a:srgbClr val="2D2D2D"/>
                </a:solidFill>
                <a:latin typeface="Montserrat"/>
                <a:ea typeface="Montserrat"/>
                <a:cs typeface="Montserrat"/>
              </a:rPr>
              <a:t>Why</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Random</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Assignment?</a:t>
            </a:r>
          </a:p>
          <a:p>
            <a:pPr>
              <a:defRPr sz="2850" b="1" i="0">
                <a:solidFill>
                  <a:srgbClr val="2D2D2D"/>
                </a:solidFill>
                <a:latin typeface="Montserrat"/>
                <a:ea typeface="Montserrat"/>
                <a:cs typeface="Montserrat"/>
              </a:defRPr>
            </a:pPr>
            <a:r>
              <a:rPr sz="2850" b="1" i="0" dirty="0">
                <a:solidFill>
                  <a:srgbClr val="2D2D2D"/>
                </a:solidFill>
                <a:latin typeface="Montserrat"/>
                <a:ea typeface="Montserrat"/>
                <a:cs typeface="Montserrat"/>
              </a:rPr>
              <a:t>Example  Ice cream sales and drowning deaths</a:t>
            </a:r>
          </a:p>
        </p:txBody>
      </p:sp>
      <p:sp>
        <p:nvSpPr>
          <p:cNvPr id="2" name="Rectangle 1">
            <a:extLst>
              <a:ext uri="{FF2B5EF4-FFF2-40B4-BE49-F238E27FC236}">
                <a16:creationId xmlns:a16="http://schemas.microsoft.com/office/drawing/2014/main" id="{D54ECB52-05AD-4A48-A3EF-925F86318EC2}"/>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8214CA2B-7927-4C23-BD43-82F8A168BE3C}"/>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67569898-6A54-4BD7-B336-5A1682612925}"/>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6830109F-D179-4278-AB14-BE6136566AA3}"/>
              </a:ext>
            </a:extLst>
          </p:cNvPr>
          <p:cNvSpPr>
            <a:spLocks noGrp="1"/>
          </p:cNvSpPr>
          <p:nvPr/>
        </p:nvSpPr>
        <p:spPr>
          <a:xfrm>
            <a:off x="3466234" y="3033712"/>
            <a:ext cx="2494338" cy="561974"/>
          </a:xfrm>
          <a:prstGeom prst="rect">
            <a:avLst/>
          </a:prstGeom>
          <a:noFill/>
          <a:ln w="0">
            <a:noFill/>
          </a:ln>
        </p:spPr>
        <p:txBody>
          <a:bodyPr anchor="t">
            <a:normAutofit fontScale="99167"/>
          </a:bodyPr>
          <a:lstStyle/>
          <a:p>
            <a:pPr>
              <a:defRPr sz="1500" b="1" i="0">
                <a:solidFill>
                  <a:srgbClr val="1D4F91"/>
                </a:solidFill>
                <a:latin typeface="Montserrat"/>
                <a:ea typeface="Montserrat"/>
                <a:cs typeface="Montserrat"/>
              </a:defRPr>
            </a:pPr>
            <a:r>
              <a:rPr lang="en-US" altLang="zh-CN" sz="1500" b="1" i="0" dirty="0">
                <a:solidFill>
                  <a:srgbClr val="1D4F91"/>
                </a:solidFill>
                <a:latin typeface="Montserrat"/>
                <a:ea typeface="Montserrat"/>
                <a:cs typeface="Montserrat"/>
              </a:rPr>
              <a:t>Observed</a:t>
            </a:r>
            <a:r>
              <a:rPr lang="zh-CN" altLang="en-US" sz="1500" b="1" i="0" dirty="0">
                <a:solidFill>
                  <a:srgbClr val="1D4F91"/>
                </a:solidFill>
                <a:latin typeface="Montserrat"/>
                <a:ea typeface="Montserrat"/>
                <a:cs typeface="Montserrat"/>
              </a:rPr>
              <a:t> </a:t>
            </a:r>
            <a:r>
              <a:rPr lang="en-US" altLang="zh-CN" sz="1500" b="1" i="0" dirty="0">
                <a:solidFill>
                  <a:srgbClr val="1D4F91"/>
                </a:solidFill>
                <a:latin typeface="Montserrat"/>
                <a:ea typeface="Montserrat"/>
                <a:cs typeface="Montserrat"/>
              </a:rPr>
              <a:t>Association</a:t>
            </a:r>
            <a:r>
              <a:rPr lang="zh-CN" altLang="en-US" sz="1500" b="1" i="0" dirty="0">
                <a:solidFill>
                  <a:srgbClr val="1D4F91"/>
                </a:solidFill>
                <a:latin typeface="Montserrat"/>
                <a:ea typeface="Montserrat"/>
                <a:cs typeface="Montserrat"/>
              </a:rPr>
              <a:t> </a:t>
            </a:r>
            <a:endParaRPr sz="1500" b="1" i="0" dirty="0">
              <a:solidFill>
                <a:srgbClr val="1D4F91"/>
              </a:solidFill>
              <a:latin typeface="Montserrat"/>
              <a:ea typeface="Montserrat"/>
              <a:cs typeface="Montserrat"/>
            </a:endParaRPr>
          </a:p>
        </p:txBody>
      </p:sp>
      <p:sp>
        <p:nvSpPr>
          <p:cNvPr id="6" name="Rectangle 5">
            <a:extLst>
              <a:ext uri="{FF2B5EF4-FFF2-40B4-BE49-F238E27FC236}">
                <a16:creationId xmlns:a16="http://schemas.microsoft.com/office/drawing/2014/main" id="{3A7CB1D9-CB68-4467-A79E-6BDB5DF22552}"/>
              </a:ext>
            </a:extLst>
          </p:cNvPr>
          <p:cNvSpPr>
            <a:spLocks noGrp="1"/>
          </p:cNvSpPr>
          <p:nvPr/>
        </p:nvSpPr>
        <p:spPr>
          <a:xfrm>
            <a:off x="714375" y="1504950"/>
            <a:ext cx="7715250" cy="552450"/>
          </a:xfrm>
          <a:prstGeom prst="rect">
            <a:avLst/>
          </a:prstGeom>
          <a:noFill/>
          <a:ln w="0">
            <a:noFill/>
          </a:ln>
        </p:spPr>
        <p:txBody>
          <a:bodyPr anchor="t">
            <a:normAutofit fontScale="82060" lnSpcReduction="20000"/>
          </a:bodyPr>
          <a:lstStyle/>
          <a:p>
            <a:pPr>
              <a:defRPr sz="2175" b="1" i="0">
                <a:solidFill>
                  <a:srgbClr val="2D2D2D"/>
                </a:solidFill>
                <a:latin typeface="Montserrat"/>
                <a:ea typeface="Montserrat"/>
                <a:cs typeface="Montserrat"/>
              </a:defRPr>
            </a:pPr>
            <a:r>
              <a:rPr sz="2175" b="1" i="0" dirty="0">
                <a:solidFill>
                  <a:srgbClr val="2D2D2D"/>
                </a:solidFill>
                <a:latin typeface="Montserrat"/>
                <a:ea typeface="Montserrat"/>
                <a:cs typeface="Montserrat"/>
              </a:rPr>
              <a:t>Months with higher ice cream sales also tend to have more drowning deaths.</a:t>
            </a:r>
          </a:p>
        </p:txBody>
      </p:sp>
      <p:sp>
        <p:nvSpPr>
          <p:cNvPr id="11" name="Rectangle 10">
            <a:extLst>
              <a:ext uri="{FF2B5EF4-FFF2-40B4-BE49-F238E27FC236}">
                <a16:creationId xmlns:a16="http://schemas.microsoft.com/office/drawing/2014/main" id="{A295127C-9912-4DFD-B276-124A915E9D13}"/>
              </a:ext>
            </a:extLst>
          </p:cNvPr>
          <p:cNvSpPr>
            <a:spLocks noGrp="1"/>
          </p:cNvSpPr>
          <p:nvPr/>
        </p:nvSpPr>
        <p:spPr>
          <a:xfrm>
            <a:off x="666750" y="2638425"/>
            <a:ext cx="1714500" cy="742950"/>
          </a:xfrm>
          <a:prstGeom prst="rect">
            <a:avLst/>
          </a:prstGeom>
          <a:solidFill>
            <a:srgbClr val="FFFFFF"/>
          </a:solidFill>
          <a:ln w="19050">
            <a:solidFill>
              <a:srgbClr val="1D4F91"/>
            </a:solidFill>
          </a:ln>
        </p:spPr>
      </p:sp>
      <p:sp>
        <p:nvSpPr>
          <p:cNvPr id="12" name="Rectangle 11">
            <a:extLst>
              <a:ext uri="{FF2B5EF4-FFF2-40B4-BE49-F238E27FC236}">
                <a16:creationId xmlns:a16="http://schemas.microsoft.com/office/drawing/2014/main" id="{82681430-DE2F-4606-9F11-F1BD4ED33DE8}"/>
              </a:ext>
            </a:extLst>
          </p:cNvPr>
          <p:cNvSpPr>
            <a:spLocks noGrp="1"/>
          </p:cNvSpPr>
          <p:nvPr/>
        </p:nvSpPr>
        <p:spPr>
          <a:xfrm>
            <a:off x="762000" y="2733675"/>
            <a:ext cx="1524000" cy="552450"/>
          </a:xfrm>
          <a:prstGeom prst="rect">
            <a:avLst/>
          </a:prstGeom>
          <a:noFill/>
          <a:ln w="0">
            <a:noFill/>
          </a:ln>
        </p:spPr>
        <p:txBody>
          <a:bodyPr anchor="ctr">
            <a:normAutofit fontScale="88167" lnSpcReduction="20000"/>
          </a:bodyPr>
          <a:lstStyle/>
          <a:p>
            <a:pPr>
              <a:defRPr sz="1875" b="1" i="0">
                <a:solidFill>
                  <a:srgbClr val="2C7A62"/>
                </a:solidFill>
                <a:latin typeface="Montserrat"/>
                <a:ea typeface="Montserrat"/>
                <a:cs typeface="Montserrat"/>
              </a:defRPr>
            </a:pPr>
            <a:r>
              <a:rPr sz="1875" b="1" i="0">
                <a:solidFill>
                  <a:srgbClr val="2C7A62"/>
                </a:solidFill>
                <a:latin typeface="Montserrat"/>
                <a:ea typeface="Montserrat"/>
                <a:cs typeface="Montserrat"/>
              </a:rPr>
              <a:t>Ice cream sales</a:t>
            </a:r>
          </a:p>
        </p:txBody>
      </p:sp>
      <p:sp>
        <p:nvSpPr>
          <p:cNvPr id="13" name="Rectangle 12">
            <a:extLst>
              <a:ext uri="{FF2B5EF4-FFF2-40B4-BE49-F238E27FC236}">
                <a16:creationId xmlns:a16="http://schemas.microsoft.com/office/drawing/2014/main" id="{CE8F1967-70D8-438D-8F90-FFE8EE71D5A7}"/>
              </a:ext>
            </a:extLst>
          </p:cNvPr>
          <p:cNvSpPr>
            <a:spLocks noGrp="1"/>
          </p:cNvSpPr>
          <p:nvPr/>
        </p:nvSpPr>
        <p:spPr>
          <a:xfrm>
            <a:off x="6762750" y="2638425"/>
            <a:ext cx="1714500" cy="742950"/>
          </a:xfrm>
          <a:prstGeom prst="rect">
            <a:avLst/>
          </a:prstGeom>
          <a:solidFill>
            <a:srgbClr val="FFFFFF"/>
          </a:solidFill>
          <a:ln w="19050">
            <a:solidFill>
              <a:srgbClr val="1D4F91"/>
            </a:solidFill>
          </a:ln>
        </p:spPr>
      </p:sp>
      <p:sp>
        <p:nvSpPr>
          <p:cNvPr id="14" name="Rectangle 13">
            <a:extLst>
              <a:ext uri="{FF2B5EF4-FFF2-40B4-BE49-F238E27FC236}">
                <a16:creationId xmlns:a16="http://schemas.microsoft.com/office/drawing/2014/main" id="{CCDB1976-BD86-414A-A03A-878985333546}"/>
              </a:ext>
            </a:extLst>
          </p:cNvPr>
          <p:cNvSpPr>
            <a:spLocks noGrp="1"/>
          </p:cNvSpPr>
          <p:nvPr/>
        </p:nvSpPr>
        <p:spPr>
          <a:xfrm>
            <a:off x="6858000" y="2733675"/>
            <a:ext cx="1524000" cy="552450"/>
          </a:xfrm>
          <a:prstGeom prst="rect">
            <a:avLst/>
          </a:prstGeom>
          <a:noFill/>
          <a:ln w="0">
            <a:noFill/>
          </a:ln>
        </p:spPr>
        <p:txBody>
          <a:bodyPr anchor="ctr">
            <a:normAutofit fontScale="88167" lnSpcReduction="20000"/>
          </a:bodyPr>
          <a:lstStyle/>
          <a:p>
            <a:pPr>
              <a:defRPr sz="1875" b="1" i="0">
                <a:solidFill>
                  <a:srgbClr val="B43A3A"/>
                </a:solidFill>
                <a:latin typeface="Montserrat"/>
                <a:ea typeface="Montserrat"/>
                <a:cs typeface="Montserrat"/>
              </a:defRPr>
            </a:pPr>
            <a:r>
              <a:rPr sz="1875" b="1" i="0">
                <a:solidFill>
                  <a:srgbClr val="B43A3A"/>
                </a:solidFill>
                <a:latin typeface="Montserrat"/>
                <a:ea typeface="Montserrat"/>
                <a:cs typeface="Montserrat"/>
              </a:rPr>
              <a:t>Drowning deaths</a:t>
            </a:r>
          </a:p>
        </p:txBody>
      </p:sp>
      <p:sp>
        <p:nvSpPr>
          <p:cNvPr id="15" name="Rectangle 14">
            <a:extLst>
              <a:ext uri="{FF2B5EF4-FFF2-40B4-BE49-F238E27FC236}">
                <a16:creationId xmlns:a16="http://schemas.microsoft.com/office/drawing/2014/main" id="{515FF39D-168A-4FA4-B223-5C3E3A662B1E}"/>
              </a:ext>
            </a:extLst>
          </p:cNvPr>
          <p:cNvSpPr>
            <a:spLocks noGrp="1"/>
          </p:cNvSpPr>
          <p:nvPr/>
        </p:nvSpPr>
        <p:spPr>
          <a:xfrm>
            <a:off x="3476625" y="1905000"/>
            <a:ext cx="2190750" cy="742950"/>
          </a:xfrm>
          <a:prstGeom prst="rect">
            <a:avLst/>
          </a:prstGeom>
          <a:solidFill>
            <a:srgbClr val="F9ECEC"/>
          </a:solidFill>
          <a:ln w="19050">
            <a:solidFill>
              <a:srgbClr val="1D4F91"/>
            </a:solidFill>
          </a:ln>
        </p:spPr>
      </p:sp>
      <p:sp>
        <p:nvSpPr>
          <p:cNvPr id="16" name="Rectangle 15">
            <a:extLst>
              <a:ext uri="{FF2B5EF4-FFF2-40B4-BE49-F238E27FC236}">
                <a16:creationId xmlns:a16="http://schemas.microsoft.com/office/drawing/2014/main" id="{FF29C98F-8664-4FCF-8F29-C38930ABC287}"/>
              </a:ext>
            </a:extLst>
          </p:cNvPr>
          <p:cNvSpPr>
            <a:spLocks noGrp="1"/>
          </p:cNvSpPr>
          <p:nvPr/>
        </p:nvSpPr>
        <p:spPr>
          <a:xfrm>
            <a:off x="3571875" y="2000250"/>
            <a:ext cx="2000250" cy="552450"/>
          </a:xfrm>
          <a:prstGeom prst="rect">
            <a:avLst/>
          </a:prstGeom>
          <a:noFill/>
          <a:ln w="0">
            <a:noFill/>
          </a:ln>
        </p:spPr>
        <p:txBody>
          <a:bodyPr anchor="ctr">
            <a:normAutofit/>
          </a:bodyPr>
          <a:lstStyle/>
          <a:p>
            <a:pPr algn="ctr">
              <a:defRPr sz="1875" b="1" i="0">
                <a:solidFill>
                  <a:srgbClr val="1D4F91"/>
                </a:solidFill>
                <a:latin typeface="Montserrat"/>
                <a:ea typeface="Montserrat"/>
                <a:cs typeface="Montserrat"/>
              </a:defRPr>
            </a:pPr>
            <a:r>
              <a:rPr sz="1875" b="1" i="0" dirty="0">
                <a:solidFill>
                  <a:srgbClr val="1D4F91"/>
                </a:solidFill>
                <a:latin typeface="Montserrat"/>
                <a:ea typeface="Montserrat"/>
                <a:cs typeface="Montserrat"/>
              </a:rPr>
              <a:t>Hot weather</a:t>
            </a:r>
          </a:p>
        </p:txBody>
      </p:sp>
      <p:sp>
        <p:nvSpPr>
          <p:cNvPr id="17" name="Rectangle 16">
            <a:extLst>
              <a:ext uri="{FF2B5EF4-FFF2-40B4-BE49-F238E27FC236}">
                <a16:creationId xmlns:a16="http://schemas.microsoft.com/office/drawing/2014/main" id="{2E5516E9-0C98-4C6E-A9F7-E15008AC0B43}"/>
              </a:ext>
            </a:extLst>
          </p:cNvPr>
          <p:cNvSpPr>
            <a:spLocks noGrp="1"/>
          </p:cNvSpPr>
          <p:nvPr/>
        </p:nvSpPr>
        <p:spPr>
          <a:xfrm>
            <a:off x="2353714" y="3371849"/>
            <a:ext cx="1778231" cy="533400"/>
          </a:xfrm>
          <a:prstGeom prst="rect">
            <a:avLst/>
          </a:prstGeom>
          <a:noFill/>
          <a:ln w="0">
            <a:noFill/>
          </a:ln>
        </p:spPr>
        <p:txBody>
          <a:bodyPr anchor="t">
            <a:normAutofit fontScale="93898" lnSpcReduction="10000"/>
          </a:bodyPr>
          <a:lstStyle/>
          <a:p>
            <a:pPr>
              <a:defRPr sz="1575" b="0" i="0">
                <a:solidFill>
                  <a:srgbClr val="2C7A62"/>
                </a:solidFill>
                <a:latin typeface="Montserrat"/>
                <a:ea typeface="Montserrat"/>
                <a:cs typeface="Montserrat"/>
              </a:defRPr>
            </a:pPr>
            <a:r>
              <a:rPr sz="1575" b="0" i="0" dirty="0">
                <a:solidFill>
                  <a:srgbClr val="2C7A62"/>
                </a:solidFill>
                <a:latin typeface="Montserrat"/>
                <a:ea typeface="Montserrat"/>
                <a:cs typeface="Montserrat"/>
              </a:rPr>
              <a:t>More people buy ice cream</a:t>
            </a:r>
          </a:p>
        </p:txBody>
      </p:sp>
      <p:sp>
        <p:nvSpPr>
          <p:cNvPr id="18" name="Rectangle 17">
            <a:extLst>
              <a:ext uri="{FF2B5EF4-FFF2-40B4-BE49-F238E27FC236}">
                <a16:creationId xmlns:a16="http://schemas.microsoft.com/office/drawing/2014/main" id="{07897D20-D68B-4DF1-B3CE-2EC59E260DD5}"/>
              </a:ext>
            </a:extLst>
          </p:cNvPr>
          <p:cNvSpPr>
            <a:spLocks noGrp="1"/>
          </p:cNvSpPr>
          <p:nvPr/>
        </p:nvSpPr>
        <p:spPr>
          <a:xfrm>
            <a:off x="5511338" y="3400426"/>
            <a:ext cx="1463040" cy="561975"/>
          </a:xfrm>
          <a:prstGeom prst="rect">
            <a:avLst/>
          </a:prstGeom>
          <a:noFill/>
          <a:ln w="0">
            <a:noFill/>
          </a:ln>
        </p:spPr>
        <p:txBody>
          <a:bodyPr anchor="t">
            <a:normAutofit lnSpcReduction="10000"/>
          </a:bodyPr>
          <a:lstStyle/>
          <a:p>
            <a:pPr>
              <a:defRPr sz="1575" b="0" i="0">
                <a:solidFill>
                  <a:srgbClr val="B43A3A"/>
                </a:solidFill>
                <a:latin typeface="Montserrat"/>
                <a:ea typeface="Montserrat"/>
                <a:cs typeface="Montserrat"/>
              </a:defRPr>
            </a:pPr>
            <a:r>
              <a:rPr sz="1575" b="0" i="0" dirty="0">
                <a:solidFill>
                  <a:srgbClr val="B43A3A"/>
                </a:solidFill>
                <a:latin typeface="Montserrat"/>
                <a:ea typeface="Montserrat"/>
                <a:cs typeface="Montserrat"/>
              </a:rPr>
              <a:t>More people swim</a:t>
            </a:r>
          </a:p>
        </p:txBody>
      </p:sp>
      <p:cxnSp>
        <p:nvCxnSpPr>
          <p:cNvPr id="22" name="Straight Arrow Connector 21">
            <a:extLst>
              <a:ext uri="{FF2B5EF4-FFF2-40B4-BE49-F238E27FC236}">
                <a16:creationId xmlns:a16="http://schemas.microsoft.com/office/drawing/2014/main" id="{C8EE07D8-36BF-7324-1CF2-040F9543039A}"/>
              </a:ext>
            </a:extLst>
          </p:cNvPr>
          <p:cNvCxnSpPr>
            <a:stCxn id="11" idx="3"/>
            <a:endCxn id="13" idx="1"/>
          </p:cNvCxnSpPr>
          <p:nvPr/>
        </p:nvCxnSpPr>
        <p:spPr>
          <a:xfrm>
            <a:off x="2381250" y="3009900"/>
            <a:ext cx="4381500" cy="0"/>
          </a:xfrm>
          <a:prstGeom prst="straightConnector1">
            <a:avLst/>
          </a:prstGeom>
          <a:ln>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4" name="Curved Connector 23">
            <a:extLst>
              <a:ext uri="{FF2B5EF4-FFF2-40B4-BE49-F238E27FC236}">
                <a16:creationId xmlns:a16="http://schemas.microsoft.com/office/drawing/2014/main" id="{D518448A-1D9C-A217-BF52-206605EACFD1}"/>
              </a:ext>
            </a:extLst>
          </p:cNvPr>
          <p:cNvCxnSpPr>
            <a:stCxn id="15" idx="2"/>
            <a:endCxn id="11" idx="3"/>
          </p:cNvCxnSpPr>
          <p:nvPr/>
        </p:nvCxnSpPr>
        <p:spPr>
          <a:xfrm rot="5400000">
            <a:off x="3295650" y="1733550"/>
            <a:ext cx="361950" cy="2190750"/>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Curved Connector 25">
            <a:extLst>
              <a:ext uri="{FF2B5EF4-FFF2-40B4-BE49-F238E27FC236}">
                <a16:creationId xmlns:a16="http://schemas.microsoft.com/office/drawing/2014/main" id="{A913211B-4ECD-5245-D073-8447EDF06435}"/>
              </a:ext>
            </a:extLst>
          </p:cNvPr>
          <p:cNvCxnSpPr>
            <a:stCxn id="15" idx="2"/>
            <a:endCxn id="13" idx="1"/>
          </p:cNvCxnSpPr>
          <p:nvPr/>
        </p:nvCxnSpPr>
        <p:spPr>
          <a:xfrm rot="16200000" flipH="1">
            <a:off x="5486400" y="1733550"/>
            <a:ext cx="361950" cy="2190750"/>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450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FFD406-6D4E-64EA-25E3-447F943497FE}"/>
              </a:ext>
            </a:extLst>
          </p:cNvPr>
          <p:cNvPicPr>
            <a:picLocks noChangeAspect="1"/>
          </p:cNvPicPr>
          <p:nvPr/>
        </p:nvPicPr>
        <p:blipFill>
          <a:blip r:embed="rId2"/>
          <a:stretch>
            <a:fillRect/>
          </a:stretch>
        </p:blipFill>
        <p:spPr>
          <a:xfrm>
            <a:off x="0" y="71249"/>
            <a:ext cx="9140380" cy="4766757"/>
          </a:xfrm>
          <a:prstGeom prst="rect">
            <a:avLst/>
          </a:prstGeom>
        </p:spPr>
      </p:pic>
    </p:spTree>
    <p:extLst>
      <p:ext uri="{BB962C8B-B14F-4D97-AF65-F5344CB8AC3E}">
        <p14:creationId xmlns:p14="http://schemas.microsoft.com/office/powerpoint/2010/main" val="3683636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5CF0DAA-7EA7-468F-9F70-8594AB3DB596}"/>
              </a:ext>
            </a:extLst>
          </p:cNvPr>
          <p:cNvSpPr>
            <a:spLocks noGrp="1"/>
          </p:cNvSpPr>
          <p:nvPr/>
        </p:nvSpPr>
        <p:spPr>
          <a:xfrm>
            <a:off x="590550" y="66675"/>
            <a:ext cx="7962900" cy="866775"/>
          </a:xfrm>
          <a:prstGeom prst="rect">
            <a:avLst/>
          </a:prstGeom>
          <a:noFill/>
          <a:ln w="0">
            <a:noFill/>
          </a:ln>
        </p:spPr>
        <p:txBody>
          <a:bodyPr anchor="t">
            <a:normAutofit fontScale="92500" lnSpcReduction="10000"/>
          </a:bodyPr>
          <a:lstStyle/>
          <a:p>
            <a:pPr>
              <a:defRPr sz="2850" b="1" i="0">
                <a:solidFill>
                  <a:srgbClr val="2D2D2D"/>
                </a:solidFill>
                <a:latin typeface="Montserrat"/>
                <a:ea typeface="Montserrat"/>
                <a:cs typeface="Montserrat"/>
              </a:defRPr>
            </a:pPr>
            <a:r>
              <a:rPr lang="en-US" altLang="zh-CN" sz="2850" b="1" dirty="0">
                <a:solidFill>
                  <a:srgbClr val="2D2D2D"/>
                </a:solidFill>
                <a:latin typeface="Montserrat"/>
                <a:ea typeface="Montserrat"/>
                <a:cs typeface="Montserrat"/>
              </a:rPr>
              <a:t>Why</a:t>
            </a:r>
            <a:r>
              <a:rPr lang="zh-CN" altLang="en-US" sz="2850" b="1" dirty="0">
                <a:solidFill>
                  <a:srgbClr val="2D2D2D"/>
                </a:solidFill>
                <a:latin typeface="Montserrat"/>
                <a:ea typeface="Montserrat"/>
                <a:cs typeface="Montserrat"/>
              </a:rPr>
              <a:t> </a:t>
            </a:r>
            <a:r>
              <a:rPr lang="en-US" altLang="zh-CN" sz="2850" b="1" dirty="0">
                <a:solidFill>
                  <a:srgbClr val="2D2D2D"/>
                </a:solidFill>
                <a:latin typeface="Montserrat"/>
                <a:ea typeface="Montserrat"/>
                <a:cs typeface="Montserrat"/>
              </a:rPr>
              <a:t>Random</a:t>
            </a:r>
            <a:r>
              <a:rPr lang="zh-CN" altLang="en-US" sz="2850" b="1" dirty="0">
                <a:solidFill>
                  <a:srgbClr val="2D2D2D"/>
                </a:solidFill>
                <a:latin typeface="Montserrat"/>
                <a:ea typeface="Montserrat"/>
                <a:cs typeface="Montserrat"/>
              </a:rPr>
              <a:t> </a:t>
            </a:r>
            <a:r>
              <a:rPr lang="en-US" altLang="zh-CN" sz="2850" b="1" dirty="0">
                <a:solidFill>
                  <a:srgbClr val="2D2D2D"/>
                </a:solidFill>
                <a:latin typeface="Montserrat"/>
                <a:ea typeface="Montserrat"/>
                <a:cs typeface="Montserrat"/>
              </a:rPr>
              <a:t>Assignment?</a:t>
            </a:r>
          </a:p>
          <a:p>
            <a:pPr>
              <a:defRPr sz="2850" b="1" i="0">
                <a:solidFill>
                  <a:srgbClr val="2D2D2D"/>
                </a:solidFill>
                <a:latin typeface="Montserrat"/>
                <a:ea typeface="Montserrat"/>
                <a:cs typeface="Montserrat"/>
              </a:defRPr>
            </a:pPr>
            <a:r>
              <a:rPr sz="2850" b="1" i="0" dirty="0">
                <a:solidFill>
                  <a:srgbClr val="2D2D2D"/>
                </a:solidFill>
                <a:latin typeface="Montserrat"/>
                <a:ea typeface="Montserrat"/>
                <a:cs typeface="Montserrat"/>
              </a:rPr>
              <a:t>Example  Practice-tool use and quiz scores</a:t>
            </a:r>
          </a:p>
        </p:txBody>
      </p:sp>
      <p:sp>
        <p:nvSpPr>
          <p:cNvPr id="2" name="Rectangle 1">
            <a:extLst>
              <a:ext uri="{FF2B5EF4-FFF2-40B4-BE49-F238E27FC236}">
                <a16:creationId xmlns:a16="http://schemas.microsoft.com/office/drawing/2014/main" id="{71B188F1-A4A3-4714-8F85-B69A9037349B}"/>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B820F1F4-0B41-4F67-8DD9-4E9956FDD7ED}"/>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7F1FDDBE-A016-48F5-8DA7-7FAC4BD9822B}"/>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dirty="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6FF5733-A3CB-4246-882D-8A1E2C6204ED}"/>
              </a:ext>
            </a:extLst>
          </p:cNvPr>
          <p:cNvSpPr>
            <a:spLocks noGrp="1"/>
          </p:cNvSpPr>
          <p:nvPr/>
        </p:nvSpPr>
        <p:spPr>
          <a:xfrm>
            <a:off x="714375" y="1190625"/>
            <a:ext cx="3333750" cy="342900"/>
          </a:xfrm>
          <a:prstGeom prst="rect">
            <a:avLst/>
          </a:prstGeom>
          <a:noFill/>
          <a:ln w="0">
            <a:noFill/>
          </a:ln>
        </p:spPr>
        <p:txBody>
          <a:bodyPr anchor="t">
            <a:normAutofit fontScale="88981" lnSpcReduction="10000"/>
          </a:bodyPr>
          <a:lstStyle/>
          <a:p>
            <a:pPr>
              <a:defRPr sz="2025" b="1" i="0">
                <a:solidFill>
                  <a:srgbClr val="B43A3A"/>
                </a:solidFill>
                <a:latin typeface="Montserrat"/>
                <a:ea typeface="Montserrat"/>
                <a:cs typeface="Montserrat"/>
              </a:defRPr>
            </a:pPr>
            <a:r>
              <a:rPr sz="2025" b="1" i="0">
                <a:solidFill>
                  <a:srgbClr val="B43A3A"/>
                </a:solidFill>
                <a:latin typeface="Montserrat"/>
                <a:ea typeface="Montserrat"/>
                <a:cs typeface="Montserrat"/>
              </a:rPr>
              <a:t>Self-selected comparison</a:t>
            </a:r>
          </a:p>
        </p:txBody>
      </p:sp>
      <p:sp>
        <p:nvSpPr>
          <p:cNvPr id="6" name="Rectangle 5">
            <a:extLst>
              <a:ext uri="{FF2B5EF4-FFF2-40B4-BE49-F238E27FC236}">
                <a16:creationId xmlns:a16="http://schemas.microsoft.com/office/drawing/2014/main" id="{6CC04939-C05F-480B-A48C-16152586A5E5}"/>
              </a:ext>
            </a:extLst>
          </p:cNvPr>
          <p:cNvSpPr>
            <a:spLocks noGrp="1"/>
          </p:cNvSpPr>
          <p:nvPr/>
        </p:nvSpPr>
        <p:spPr>
          <a:xfrm>
            <a:off x="857250" y="1733550"/>
            <a:ext cx="3048000" cy="495300"/>
          </a:xfrm>
          <a:prstGeom prst="rect">
            <a:avLst/>
          </a:prstGeom>
          <a:noFill/>
          <a:ln w="0">
            <a:noFill/>
          </a:ln>
        </p:spPr>
        <p:txBody>
          <a:bodyPr anchor="t">
            <a:normAutofit fontScale="81111" lnSpcReduction="20000"/>
          </a:bodyPr>
          <a:lstStyle/>
          <a:p>
            <a:pPr>
              <a:defRPr sz="1800" b="0" i="0">
                <a:solidFill>
                  <a:srgbClr val="2D2D2D"/>
                </a:solidFill>
                <a:latin typeface="Montserrat"/>
                <a:ea typeface="Montserrat"/>
                <a:cs typeface="Montserrat"/>
              </a:defRPr>
            </a:pPr>
            <a:r>
              <a:rPr sz="1800" b="0" i="0" dirty="0">
                <a:solidFill>
                  <a:srgbClr val="2D2D2D"/>
                </a:solidFill>
                <a:latin typeface="Montserrat"/>
                <a:ea typeface="Montserrat"/>
                <a:cs typeface="Montserrat"/>
              </a:rPr>
              <a:t>Students choose whether to use the tool.</a:t>
            </a:r>
          </a:p>
        </p:txBody>
      </p:sp>
      <p:sp>
        <p:nvSpPr>
          <p:cNvPr id="7" name="Rectangle 6">
            <a:extLst>
              <a:ext uri="{FF2B5EF4-FFF2-40B4-BE49-F238E27FC236}">
                <a16:creationId xmlns:a16="http://schemas.microsoft.com/office/drawing/2014/main" id="{3B746035-FB2E-498D-9D61-4E2B265B3756}"/>
              </a:ext>
            </a:extLst>
          </p:cNvPr>
          <p:cNvSpPr>
            <a:spLocks noGrp="1"/>
          </p:cNvSpPr>
          <p:nvPr/>
        </p:nvSpPr>
        <p:spPr>
          <a:xfrm>
            <a:off x="857250" y="2457450"/>
            <a:ext cx="3048000" cy="781050"/>
          </a:xfrm>
          <a:prstGeom prst="rect">
            <a:avLst/>
          </a:prstGeom>
          <a:noFill/>
          <a:ln w="0">
            <a:noFill/>
          </a:ln>
        </p:spPr>
        <p:txBody>
          <a:bodyPr anchor="t">
            <a:normAutofit fontScale="92185" lnSpcReduction="20000"/>
          </a:bodyPr>
          <a:lstStyle/>
          <a:p>
            <a:pPr>
              <a:defRPr sz="1800" b="1" i="0">
                <a:solidFill>
                  <a:srgbClr val="1D4F91"/>
                </a:solidFill>
                <a:latin typeface="Montserrat"/>
                <a:ea typeface="Montserrat"/>
                <a:cs typeface="Montserrat"/>
              </a:defRPr>
            </a:pPr>
            <a:r>
              <a:rPr sz="1800" b="1" i="0" dirty="0">
                <a:solidFill>
                  <a:srgbClr val="1D4F91"/>
                </a:solidFill>
                <a:latin typeface="Montserrat"/>
                <a:ea typeface="Montserrat"/>
                <a:cs typeface="Montserrat"/>
              </a:rPr>
              <a:t>Motivation can increase both tool use and quiz performance.</a:t>
            </a:r>
          </a:p>
        </p:txBody>
      </p:sp>
      <p:sp>
        <p:nvSpPr>
          <p:cNvPr id="8" name="Rectangle 7">
            <a:extLst>
              <a:ext uri="{FF2B5EF4-FFF2-40B4-BE49-F238E27FC236}">
                <a16:creationId xmlns:a16="http://schemas.microsoft.com/office/drawing/2014/main" id="{A78B9CB7-C5FC-4F1F-99EE-D5AA9CA6E65A}"/>
              </a:ext>
            </a:extLst>
          </p:cNvPr>
          <p:cNvSpPr>
            <a:spLocks noGrp="1"/>
          </p:cNvSpPr>
          <p:nvPr/>
        </p:nvSpPr>
        <p:spPr>
          <a:xfrm>
            <a:off x="857250" y="3505200"/>
            <a:ext cx="3048000" cy="685800"/>
          </a:xfrm>
          <a:prstGeom prst="rect">
            <a:avLst/>
          </a:prstGeom>
          <a:noFill/>
          <a:ln w="0">
            <a:noFill/>
          </a:ln>
        </p:spPr>
        <p:txBody>
          <a:bodyPr anchor="t">
            <a:normAutofit fontScale="89063" lnSpcReduction="20000"/>
          </a:bodyPr>
          <a:lstStyle/>
          <a:p>
            <a:pPr>
              <a:defRPr sz="1725" b="0" i="0">
                <a:solidFill>
                  <a:srgbClr val="B43A3A"/>
                </a:solidFill>
                <a:latin typeface="Montserrat"/>
                <a:ea typeface="Montserrat"/>
                <a:cs typeface="Montserrat"/>
              </a:defRPr>
            </a:pPr>
            <a:r>
              <a:rPr sz="1725" b="0" i="0" dirty="0">
                <a:solidFill>
                  <a:srgbClr val="B43A3A"/>
                </a:solidFill>
                <a:latin typeface="Montserrat"/>
                <a:ea typeface="Montserrat"/>
                <a:cs typeface="Montserrat"/>
              </a:rPr>
              <a:t>A score difference may mix the tool effect with motivation.</a:t>
            </a:r>
          </a:p>
        </p:txBody>
      </p:sp>
      <p:sp>
        <p:nvSpPr>
          <p:cNvPr id="9" name="Rectangle 8">
            <a:extLst>
              <a:ext uri="{FF2B5EF4-FFF2-40B4-BE49-F238E27FC236}">
                <a16:creationId xmlns:a16="http://schemas.microsoft.com/office/drawing/2014/main" id="{27DAF504-8279-4ED0-91D3-83363E5744B2}"/>
              </a:ext>
            </a:extLst>
          </p:cNvPr>
          <p:cNvSpPr>
            <a:spLocks noGrp="1"/>
          </p:cNvSpPr>
          <p:nvPr/>
        </p:nvSpPr>
        <p:spPr>
          <a:xfrm>
            <a:off x="4562475" y="1238250"/>
            <a:ext cx="19050" cy="2952750"/>
          </a:xfrm>
          <a:prstGeom prst="rect">
            <a:avLst/>
          </a:prstGeom>
          <a:solidFill>
            <a:srgbClr val="00A9E0"/>
          </a:solidFill>
          <a:ln w="0">
            <a:noFill/>
          </a:ln>
        </p:spPr>
      </p:sp>
      <p:sp>
        <p:nvSpPr>
          <p:cNvPr id="10" name="Rectangle 9">
            <a:extLst>
              <a:ext uri="{FF2B5EF4-FFF2-40B4-BE49-F238E27FC236}">
                <a16:creationId xmlns:a16="http://schemas.microsoft.com/office/drawing/2014/main" id="{F5DF57C2-7FE4-4F28-BE7E-10D5D4997EAA}"/>
              </a:ext>
            </a:extLst>
          </p:cNvPr>
          <p:cNvSpPr>
            <a:spLocks noGrp="1"/>
          </p:cNvSpPr>
          <p:nvPr/>
        </p:nvSpPr>
        <p:spPr>
          <a:xfrm>
            <a:off x="5095875" y="1190625"/>
            <a:ext cx="3333750" cy="342900"/>
          </a:xfrm>
          <a:prstGeom prst="rect">
            <a:avLst/>
          </a:prstGeom>
          <a:noFill/>
          <a:ln w="0">
            <a:noFill/>
          </a:ln>
        </p:spPr>
        <p:txBody>
          <a:bodyPr anchor="t">
            <a:normAutofit fontScale="88981" lnSpcReduction="10000"/>
          </a:bodyPr>
          <a:lstStyle/>
          <a:p>
            <a:pPr>
              <a:defRPr sz="2025" b="1" i="0">
                <a:solidFill>
                  <a:srgbClr val="2C7A62"/>
                </a:solidFill>
                <a:latin typeface="Montserrat"/>
                <a:ea typeface="Montserrat"/>
                <a:cs typeface="Montserrat"/>
              </a:defRPr>
            </a:pPr>
            <a:r>
              <a:rPr sz="2025" b="1" i="0" dirty="0">
                <a:solidFill>
                  <a:srgbClr val="2C7A62"/>
                </a:solidFill>
                <a:latin typeface="Montserrat"/>
                <a:ea typeface="Montserrat"/>
                <a:cs typeface="Montserrat"/>
              </a:rPr>
              <a:t>Randomized comparison</a:t>
            </a:r>
          </a:p>
        </p:txBody>
      </p:sp>
      <p:sp>
        <p:nvSpPr>
          <p:cNvPr id="11" name="Rectangle 10">
            <a:extLst>
              <a:ext uri="{FF2B5EF4-FFF2-40B4-BE49-F238E27FC236}">
                <a16:creationId xmlns:a16="http://schemas.microsoft.com/office/drawing/2014/main" id="{0CE2D6B7-E65B-48E4-9ACD-D296F982D53D}"/>
              </a:ext>
            </a:extLst>
          </p:cNvPr>
          <p:cNvSpPr>
            <a:spLocks noGrp="1"/>
          </p:cNvSpPr>
          <p:nvPr/>
        </p:nvSpPr>
        <p:spPr>
          <a:xfrm>
            <a:off x="5238750" y="1733550"/>
            <a:ext cx="3048000" cy="495300"/>
          </a:xfrm>
          <a:prstGeom prst="rect">
            <a:avLst/>
          </a:prstGeom>
          <a:noFill/>
          <a:ln w="0">
            <a:noFill/>
          </a:ln>
        </p:spPr>
        <p:txBody>
          <a:bodyPr anchor="t">
            <a:normAutofit fontScale="81111" lnSpcReduction="20000"/>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Researchers assign the tool at random.</a:t>
            </a:r>
          </a:p>
        </p:txBody>
      </p:sp>
      <p:sp>
        <p:nvSpPr>
          <p:cNvPr id="12" name="Rectangle 11">
            <a:extLst>
              <a:ext uri="{FF2B5EF4-FFF2-40B4-BE49-F238E27FC236}">
                <a16:creationId xmlns:a16="http://schemas.microsoft.com/office/drawing/2014/main" id="{C3627AB5-AF41-4B2D-AD95-94C24E972490}"/>
              </a:ext>
            </a:extLst>
          </p:cNvPr>
          <p:cNvSpPr>
            <a:spLocks noGrp="1"/>
          </p:cNvSpPr>
          <p:nvPr/>
        </p:nvSpPr>
        <p:spPr>
          <a:xfrm>
            <a:off x="5238750" y="2457450"/>
            <a:ext cx="3048000" cy="781050"/>
          </a:xfrm>
          <a:prstGeom prst="rect">
            <a:avLst/>
          </a:prstGeom>
          <a:noFill/>
          <a:ln w="0">
            <a:noFill/>
          </a:ln>
        </p:spPr>
        <p:txBody>
          <a:bodyPr anchor="t">
            <a:normAutofit fontScale="78990" lnSpcReduction="20000"/>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Random assignment balances motivation and other background variables on average.</a:t>
            </a:r>
          </a:p>
        </p:txBody>
      </p:sp>
      <p:sp>
        <p:nvSpPr>
          <p:cNvPr id="13" name="Rectangle 12">
            <a:extLst>
              <a:ext uri="{FF2B5EF4-FFF2-40B4-BE49-F238E27FC236}">
                <a16:creationId xmlns:a16="http://schemas.microsoft.com/office/drawing/2014/main" id="{7CB8F4E4-2E92-4697-8C0A-261D8EFCFA7B}"/>
              </a:ext>
            </a:extLst>
          </p:cNvPr>
          <p:cNvSpPr>
            <a:spLocks noGrp="1"/>
          </p:cNvSpPr>
          <p:nvPr/>
        </p:nvSpPr>
        <p:spPr>
          <a:xfrm>
            <a:off x="5238750" y="3505200"/>
            <a:ext cx="3048000" cy="685800"/>
          </a:xfrm>
          <a:prstGeom prst="rect">
            <a:avLst/>
          </a:prstGeom>
          <a:noFill/>
          <a:ln w="0">
            <a:noFill/>
          </a:ln>
        </p:spPr>
        <p:txBody>
          <a:bodyPr anchor="t">
            <a:normAutofit fontScale="82862" lnSpcReduction="10000"/>
          </a:bodyPr>
          <a:lstStyle/>
          <a:p>
            <a:pPr>
              <a:defRPr sz="1725" b="0" i="0">
                <a:solidFill>
                  <a:srgbClr val="2C7A62"/>
                </a:solidFill>
                <a:latin typeface="Montserrat"/>
                <a:ea typeface="Montserrat"/>
                <a:cs typeface="Montserrat"/>
              </a:defRPr>
            </a:pPr>
            <a:r>
              <a:rPr sz="1725" b="0" i="0" dirty="0">
                <a:solidFill>
                  <a:srgbClr val="2C7A62"/>
                </a:solidFill>
                <a:latin typeface="Montserrat"/>
                <a:ea typeface="Montserrat"/>
                <a:cs typeface="Montserrat"/>
              </a:rPr>
              <a:t>A later score difference supports a causal comparison for the participants.</a:t>
            </a:r>
          </a:p>
        </p:txBody>
      </p:sp>
      <p:sp>
        <p:nvSpPr>
          <p:cNvPr id="14" name="Rectangle 13">
            <a:extLst>
              <a:ext uri="{FF2B5EF4-FFF2-40B4-BE49-F238E27FC236}">
                <a16:creationId xmlns:a16="http://schemas.microsoft.com/office/drawing/2014/main" id="{2AC09A27-AC46-4D99-BA1B-70E68A313589}"/>
              </a:ext>
            </a:extLst>
          </p:cNvPr>
          <p:cNvSpPr>
            <a:spLocks noGrp="1"/>
          </p:cNvSpPr>
          <p:nvPr/>
        </p:nvSpPr>
        <p:spPr>
          <a:xfrm>
            <a:off x="1133475" y="4391025"/>
            <a:ext cx="6858000" cy="323850"/>
          </a:xfrm>
          <a:prstGeom prst="rect">
            <a:avLst/>
          </a:prstGeom>
          <a:noFill/>
          <a:ln w="0">
            <a:noFill/>
          </a:ln>
        </p:spPr>
        <p:txBody>
          <a:bodyPr anchor="t">
            <a:normAutofit fontScale="63307" lnSpcReduction="20000"/>
          </a:bodyPr>
          <a:lstStyle/>
          <a:p>
            <a:pPr>
              <a:defRPr sz="1575" b="1" i="0">
                <a:solidFill>
                  <a:srgbClr val="1D4F91"/>
                </a:solidFill>
                <a:latin typeface="Montserrat"/>
                <a:ea typeface="Montserrat"/>
                <a:cs typeface="Montserrat"/>
              </a:defRPr>
            </a:pPr>
            <a:r>
              <a:rPr sz="1575" b="1" i="0" dirty="0">
                <a:solidFill>
                  <a:srgbClr val="1D4F91"/>
                </a:solidFill>
                <a:highlight>
                  <a:srgbClr val="FFFF00"/>
                </a:highlight>
                <a:latin typeface="Montserrat"/>
                <a:ea typeface="Montserrat"/>
                <a:cs typeface="Montserrat"/>
              </a:rPr>
              <a:t>Blocking by prior quiz score </a:t>
            </a:r>
            <a:r>
              <a:rPr sz="1575" b="1" i="0" dirty="0">
                <a:solidFill>
                  <a:srgbClr val="1D4F91"/>
                </a:solidFill>
                <a:latin typeface="Montserrat"/>
                <a:ea typeface="Montserrat"/>
                <a:cs typeface="Montserrat"/>
              </a:rPr>
              <a:t>can further reduce </a:t>
            </a:r>
            <a:r>
              <a:rPr sz="1575" b="1" i="0" dirty="0">
                <a:solidFill>
                  <a:srgbClr val="1D4F91"/>
                </a:solidFill>
                <a:highlight>
                  <a:srgbClr val="FFFF00"/>
                </a:highlight>
                <a:latin typeface="Montserrat"/>
                <a:ea typeface="Montserrat"/>
                <a:cs typeface="Montserrat"/>
              </a:rPr>
              <a:t>chance</a:t>
            </a:r>
            <a:r>
              <a:rPr sz="1575" b="1" i="0" dirty="0">
                <a:solidFill>
                  <a:srgbClr val="1D4F91"/>
                </a:solidFill>
                <a:latin typeface="Montserrat"/>
                <a:ea typeface="Montserrat"/>
                <a:cs typeface="Montserrat"/>
              </a:rPr>
              <a:t> imbalance in an important known predictor.</a:t>
            </a:r>
          </a:p>
        </p:txBody>
      </p:sp>
    </p:spTree>
    <p:extLst>
      <p:ext uri="{BB962C8B-B14F-4D97-AF65-F5344CB8AC3E}">
        <p14:creationId xmlns:p14="http://schemas.microsoft.com/office/powerpoint/2010/main" val="156475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ot A Box Of Lego Bricks? This Amazing App Scans Them And Suggests New  Builds">
            <a:extLst>
              <a:ext uri="{FF2B5EF4-FFF2-40B4-BE49-F238E27FC236}">
                <a16:creationId xmlns:a16="http://schemas.microsoft.com/office/drawing/2014/main" id="{0AFF2B36-B99E-CCCA-CBD8-EEA28F8A5D51}"/>
              </a:ext>
            </a:extLst>
          </p:cNvPr>
          <p:cNvPicPr>
            <a:picLocks noChangeAspect="1"/>
          </p:cNvPicPr>
          <p:nvPr/>
        </p:nvPicPr>
        <p:blipFill>
          <a:blip r:embed="rId2"/>
          <a:stretch>
            <a:fillRect/>
          </a:stretch>
        </p:blipFill>
        <p:spPr>
          <a:xfrm>
            <a:off x="2071254" y="1124526"/>
            <a:ext cx="5001491" cy="3334327"/>
          </a:xfrm>
          <a:prstGeom prst="rect">
            <a:avLst/>
          </a:prstGeom>
        </p:spPr>
      </p:pic>
      <p:sp>
        <p:nvSpPr>
          <p:cNvPr id="7" name="Rectangle 6">
            <a:extLst>
              <a:ext uri="{FF2B5EF4-FFF2-40B4-BE49-F238E27FC236}">
                <a16:creationId xmlns:a16="http://schemas.microsoft.com/office/drawing/2014/main" id="{AC207498-5543-EB49-0E6C-BBC99BFBA80A}"/>
              </a:ext>
            </a:extLst>
          </p:cNvPr>
          <p:cNvSpPr>
            <a:spLocks noGrp="1"/>
          </p:cNvSpPr>
          <p:nvPr/>
        </p:nvSpPr>
        <p:spPr>
          <a:xfrm>
            <a:off x="0" y="4819650"/>
            <a:ext cx="9144000" cy="47625"/>
          </a:xfrm>
          <a:prstGeom prst="rect">
            <a:avLst/>
          </a:prstGeom>
          <a:solidFill>
            <a:srgbClr val="00A9E0"/>
          </a:solidFill>
          <a:ln w="0">
            <a:noFill/>
          </a:ln>
        </p:spPr>
      </p:sp>
      <p:sp>
        <p:nvSpPr>
          <p:cNvPr id="8" name="Rectangle 7">
            <a:extLst>
              <a:ext uri="{FF2B5EF4-FFF2-40B4-BE49-F238E27FC236}">
                <a16:creationId xmlns:a16="http://schemas.microsoft.com/office/drawing/2014/main" id="{1295161D-6B34-D738-31A4-0CE75198CCB2}"/>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dirty="0">
                <a:solidFill>
                  <a:srgbClr val="1D4F91"/>
                </a:solidFill>
                <a:latin typeface="Montserrat"/>
                <a:ea typeface="Montserrat"/>
                <a:cs typeface="Montserrat"/>
              </a:rPr>
              <a:t>COLUMBIA UNIVERSITY  ·  DEPARTMENT OF STATISTICS</a:t>
            </a:r>
          </a:p>
        </p:txBody>
      </p:sp>
      <p:sp>
        <p:nvSpPr>
          <p:cNvPr id="9" name="Rectangle 8">
            <a:extLst>
              <a:ext uri="{FF2B5EF4-FFF2-40B4-BE49-F238E27FC236}">
                <a16:creationId xmlns:a16="http://schemas.microsoft.com/office/drawing/2014/main" id="{59745573-1F4D-72CD-3C24-F502975D1128}"/>
              </a:ext>
            </a:extLst>
          </p:cNvPr>
          <p:cNvSpPr>
            <a:spLocks noGrp="1"/>
          </p:cNvSpPr>
          <p:nvPr/>
        </p:nvSpPr>
        <p:spPr>
          <a:xfrm>
            <a:off x="590549" y="158115"/>
            <a:ext cx="7962900" cy="866775"/>
          </a:xfrm>
          <a:prstGeom prst="rect">
            <a:avLst/>
          </a:prstGeom>
          <a:noFill/>
          <a:ln w="0">
            <a:noFill/>
          </a:ln>
        </p:spPr>
        <p:txBody>
          <a:bodyPr anchor="t">
            <a:normAutofit fontScale="92500" lnSpcReduction="10000"/>
          </a:bodyPr>
          <a:lstStyle/>
          <a:p>
            <a:pPr>
              <a:defRPr sz="2850" b="1" i="0">
                <a:solidFill>
                  <a:srgbClr val="2D2D2D"/>
                </a:solidFill>
                <a:latin typeface="Montserrat"/>
                <a:ea typeface="Montserrat"/>
                <a:cs typeface="Montserrat"/>
              </a:defRPr>
            </a:pPr>
            <a:r>
              <a:rPr lang="en-US" altLang="zh-CN" sz="2850" b="1" dirty="0">
                <a:solidFill>
                  <a:srgbClr val="2D2D2D"/>
                </a:solidFill>
                <a:latin typeface="Montserrat"/>
                <a:ea typeface="Montserrat"/>
                <a:cs typeface="Montserrat"/>
              </a:rPr>
              <a:t>Why</a:t>
            </a:r>
            <a:r>
              <a:rPr lang="zh-CN" altLang="en-US" sz="2850" b="1" dirty="0">
                <a:solidFill>
                  <a:srgbClr val="2D2D2D"/>
                </a:solidFill>
                <a:latin typeface="Montserrat"/>
                <a:ea typeface="Montserrat"/>
                <a:cs typeface="Montserrat"/>
              </a:rPr>
              <a:t> </a:t>
            </a:r>
            <a:r>
              <a:rPr lang="en-US" altLang="zh-CN" sz="2850" b="1" dirty="0">
                <a:solidFill>
                  <a:srgbClr val="2D2D2D"/>
                </a:solidFill>
                <a:latin typeface="Montserrat"/>
                <a:ea typeface="Montserrat"/>
                <a:cs typeface="Montserrat"/>
              </a:rPr>
              <a:t>Random</a:t>
            </a:r>
            <a:r>
              <a:rPr lang="zh-CN" altLang="en-US" sz="2850" b="1" dirty="0">
                <a:solidFill>
                  <a:srgbClr val="2D2D2D"/>
                </a:solidFill>
                <a:latin typeface="Montserrat"/>
                <a:ea typeface="Montserrat"/>
                <a:cs typeface="Montserrat"/>
              </a:rPr>
              <a:t> </a:t>
            </a:r>
            <a:r>
              <a:rPr lang="en-US" altLang="zh-CN" sz="2850" b="1" dirty="0">
                <a:solidFill>
                  <a:srgbClr val="2D2D2D"/>
                </a:solidFill>
                <a:latin typeface="Montserrat"/>
                <a:ea typeface="Montserrat"/>
                <a:cs typeface="Montserrat"/>
              </a:rPr>
              <a:t>Sample?</a:t>
            </a:r>
            <a:r>
              <a:rPr lang="zh-CN" altLang="en-US" sz="2850" b="1" dirty="0">
                <a:solidFill>
                  <a:srgbClr val="2D2D2D"/>
                </a:solidFill>
                <a:latin typeface="Montserrat"/>
                <a:ea typeface="Montserrat"/>
                <a:cs typeface="Montserrat"/>
              </a:rPr>
              <a:t> </a:t>
            </a:r>
            <a:endParaRPr lang="en-US" altLang="zh-CN" sz="2850" b="1" dirty="0">
              <a:solidFill>
                <a:srgbClr val="2D2D2D"/>
              </a:solidFill>
              <a:latin typeface="Montserrat"/>
              <a:ea typeface="Montserrat"/>
              <a:cs typeface="Montserrat"/>
            </a:endParaRPr>
          </a:p>
          <a:p>
            <a:pPr>
              <a:defRPr sz="2850" b="1" i="0">
                <a:solidFill>
                  <a:srgbClr val="2D2D2D"/>
                </a:solidFill>
                <a:latin typeface="Montserrat"/>
                <a:ea typeface="Montserrat"/>
                <a:cs typeface="Montserrat"/>
              </a:defRPr>
            </a:pPr>
            <a:r>
              <a:rPr lang="en-US" altLang="zh-CN" sz="2850" b="1" dirty="0">
                <a:solidFill>
                  <a:srgbClr val="2D2D2D"/>
                </a:solidFill>
                <a:latin typeface="Montserrat"/>
                <a:ea typeface="Montserrat"/>
                <a:cs typeface="Montserrat"/>
              </a:rPr>
              <a:t>How</a:t>
            </a:r>
            <a:r>
              <a:rPr lang="zh-CN" altLang="en-US" sz="2850" b="1" dirty="0">
                <a:solidFill>
                  <a:srgbClr val="2D2D2D"/>
                </a:solidFill>
                <a:latin typeface="Montserrat"/>
                <a:ea typeface="Montserrat"/>
                <a:cs typeface="Montserrat"/>
              </a:rPr>
              <a:t> </a:t>
            </a:r>
            <a:r>
              <a:rPr lang="en-US" altLang="zh-CN" sz="2850" b="1" dirty="0">
                <a:solidFill>
                  <a:srgbClr val="2D2D2D"/>
                </a:solidFill>
                <a:latin typeface="Montserrat"/>
                <a:ea typeface="Montserrat"/>
                <a:cs typeface="Montserrat"/>
              </a:rPr>
              <a:t>to</a:t>
            </a:r>
            <a:r>
              <a:rPr lang="zh-CN" altLang="en-US" sz="2850" b="1" dirty="0">
                <a:solidFill>
                  <a:srgbClr val="2D2D2D"/>
                </a:solidFill>
                <a:latin typeface="Montserrat"/>
                <a:ea typeface="Montserrat"/>
                <a:cs typeface="Montserrat"/>
              </a:rPr>
              <a:t> </a:t>
            </a:r>
            <a:r>
              <a:rPr lang="en-US" altLang="zh-CN" sz="2850" b="1" dirty="0">
                <a:solidFill>
                  <a:srgbClr val="2D2D2D"/>
                </a:solidFill>
                <a:latin typeface="Montserrat"/>
                <a:ea typeface="Montserrat"/>
                <a:cs typeface="Montserrat"/>
              </a:rPr>
              <a:t>randomly</a:t>
            </a:r>
            <a:r>
              <a:rPr lang="zh-CN" altLang="en-US" sz="2850" b="1" dirty="0">
                <a:solidFill>
                  <a:srgbClr val="2D2D2D"/>
                </a:solidFill>
                <a:latin typeface="Montserrat"/>
                <a:ea typeface="Montserrat"/>
                <a:cs typeface="Montserrat"/>
              </a:rPr>
              <a:t> </a:t>
            </a:r>
            <a:r>
              <a:rPr lang="en-US" altLang="zh-CN" sz="2850" b="1" dirty="0">
                <a:solidFill>
                  <a:srgbClr val="2D2D2D"/>
                </a:solidFill>
                <a:latin typeface="Montserrat"/>
                <a:ea typeface="Montserrat"/>
                <a:cs typeface="Montserrat"/>
              </a:rPr>
              <a:t>sample?</a:t>
            </a:r>
          </a:p>
        </p:txBody>
      </p:sp>
    </p:spTree>
    <p:extLst>
      <p:ext uri="{BB962C8B-B14F-4D97-AF65-F5344CB8AC3E}">
        <p14:creationId xmlns:p14="http://schemas.microsoft.com/office/powerpoint/2010/main" val="775244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3D5FA6B-CF17-44AC-8409-5A38270ADF43}"/>
              </a:ext>
            </a:extLst>
          </p:cNvPr>
          <p:cNvSpPr>
            <a:spLocks noGrp="1"/>
          </p:cNvSpPr>
          <p:nvPr/>
        </p:nvSpPr>
        <p:spPr>
          <a:xfrm>
            <a:off x="590550" y="285750"/>
            <a:ext cx="7962900" cy="552450"/>
          </a:xfrm>
          <a:prstGeom prst="rect">
            <a:avLst/>
          </a:prstGeom>
          <a:noFill/>
          <a:ln w="0">
            <a:noFill/>
          </a:ln>
        </p:spPr>
        <p:txBody>
          <a:bodyPr anchor="t">
            <a:normAutofit fontScale="76504" lnSpcReduction="20000"/>
          </a:bodyPr>
          <a:lstStyle/>
          <a:p>
            <a:pPr>
              <a:defRPr sz="2850" b="1" i="0">
                <a:solidFill>
                  <a:srgbClr val="2D2D2D"/>
                </a:solidFill>
                <a:latin typeface="Montserrat"/>
                <a:ea typeface="Montserrat"/>
                <a:cs typeface="Montserrat"/>
              </a:defRPr>
            </a:pPr>
            <a:r>
              <a:rPr sz="2850" b="1" i="0" dirty="0">
                <a:solidFill>
                  <a:srgbClr val="2D2D2D"/>
                </a:solidFill>
                <a:latin typeface="Montserrat"/>
                <a:ea typeface="Montserrat"/>
                <a:cs typeface="Montserrat"/>
              </a:rPr>
              <a:t>Probability sampling designs Individual selection</a:t>
            </a:r>
          </a:p>
        </p:txBody>
      </p:sp>
      <p:sp>
        <p:nvSpPr>
          <p:cNvPr id="2" name="Rectangle 1">
            <a:extLst>
              <a:ext uri="{FF2B5EF4-FFF2-40B4-BE49-F238E27FC236}">
                <a16:creationId xmlns:a16="http://schemas.microsoft.com/office/drawing/2014/main" id="{C65C64AB-62DE-46DB-9733-63722BC5081C}"/>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6FC5139E-010C-4688-9AA6-873DA8C2466D}"/>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9B2C1817-E2E8-4041-997B-0D4F81D61EDD}"/>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3235C148-7E0D-4290-9E56-60AA1A939622}"/>
              </a:ext>
            </a:extLst>
          </p:cNvPr>
          <p:cNvSpPr>
            <a:spLocks noGrp="1"/>
          </p:cNvSpPr>
          <p:nvPr/>
        </p:nvSpPr>
        <p:spPr>
          <a:xfrm>
            <a:off x="714375" y="1190625"/>
            <a:ext cx="3476625" cy="361950"/>
          </a:xfrm>
          <a:prstGeom prst="rect">
            <a:avLst/>
          </a:prstGeom>
          <a:noFill/>
          <a:ln w="0">
            <a:noFill/>
          </a:ln>
        </p:spPr>
        <p:txBody>
          <a:bodyPr anchor="t">
            <a:normAutofit fontScale="92024" lnSpcReduction="10000"/>
          </a:bodyPr>
          <a:lstStyle/>
          <a:p>
            <a:pPr>
              <a:defRPr sz="2100" b="1" i="0">
                <a:solidFill>
                  <a:srgbClr val="1D4F91"/>
                </a:solidFill>
                <a:latin typeface="Montserrat"/>
                <a:ea typeface="Montserrat"/>
                <a:cs typeface="Montserrat"/>
              </a:defRPr>
            </a:pPr>
            <a:r>
              <a:rPr sz="2100" b="1" i="0" dirty="0">
                <a:solidFill>
                  <a:srgbClr val="1D4F91"/>
                </a:solidFill>
                <a:latin typeface="Montserrat"/>
                <a:ea typeface="Montserrat"/>
                <a:cs typeface="Montserrat"/>
              </a:rPr>
              <a:t>Simple random sample</a:t>
            </a:r>
          </a:p>
        </p:txBody>
      </p:sp>
      <p:sp>
        <p:nvSpPr>
          <p:cNvPr id="6" name="Rectangle 5">
            <a:extLst>
              <a:ext uri="{FF2B5EF4-FFF2-40B4-BE49-F238E27FC236}">
                <a16:creationId xmlns:a16="http://schemas.microsoft.com/office/drawing/2014/main" id="{711B5000-0798-42F7-A9A1-5D4D046E45C0}"/>
              </a:ext>
            </a:extLst>
          </p:cNvPr>
          <p:cNvSpPr>
            <a:spLocks noGrp="1"/>
          </p:cNvSpPr>
          <p:nvPr/>
        </p:nvSpPr>
        <p:spPr>
          <a:xfrm>
            <a:off x="714375" y="1714500"/>
            <a:ext cx="3476625" cy="1047750"/>
          </a:xfrm>
          <a:prstGeom prst="rect">
            <a:avLst/>
          </a:prstGeom>
          <a:noFill/>
          <a:ln w="0">
            <a:noFill/>
          </a:ln>
        </p:spPr>
        <p:txBody>
          <a:bodyPr anchor="t">
            <a:normAutofit fontScale="94948" lnSpcReduction="10000"/>
          </a:bodyPr>
          <a:lstStyle/>
          <a:p>
            <a:pPr>
              <a:defRPr sz="1800" b="0" i="0">
                <a:solidFill>
                  <a:srgbClr val="2D2D2D"/>
                </a:solidFill>
                <a:latin typeface="Montserrat"/>
                <a:ea typeface="Montserrat"/>
                <a:cs typeface="Montserrat"/>
              </a:defRPr>
            </a:pPr>
            <a:r>
              <a:rPr sz="1800" b="0" i="0" dirty="0">
                <a:solidFill>
                  <a:srgbClr val="2D2D2D"/>
                </a:solidFill>
                <a:latin typeface="Montserrat"/>
                <a:ea typeface="Montserrat"/>
                <a:cs typeface="Montserrat"/>
              </a:rPr>
              <a:t>Use the full course roster. Select 60 students so every set of 60 has the same chance of selection.</a:t>
            </a:r>
          </a:p>
        </p:txBody>
      </p:sp>
      <p:sp>
        <p:nvSpPr>
          <p:cNvPr id="7" name="Rectangle 6">
            <a:extLst>
              <a:ext uri="{FF2B5EF4-FFF2-40B4-BE49-F238E27FC236}">
                <a16:creationId xmlns:a16="http://schemas.microsoft.com/office/drawing/2014/main" id="{04C076C8-0F2D-4661-819C-99916B572EA0}"/>
              </a:ext>
            </a:extLst>
          </p:cNvPr>
          <p:cNvSpPr>
            <a:spLocks noGrp="1"/>
          </p:cNvSpPr>
          <p:nvPr/>
        </p:nvSpPr>
        <p:spPr>
          <a:xfrm>
            <a:off x="714375" y="3000375"/>
            <a:ext cx="1238250" cy="266700"/>
          </a:xfrm>
          <a:prstGeom prst="rect">
            <a:avLst/>
          </a:prstGeom>
          <a:noFill/>
          <a:ln w="0">
            <a:noFill/>
          </a:ln>
        </p:spPr>
        <p:txBody>
          <a:bodyPr anchor="t">
            <a:normAutofit fontScale="80516" lnSpcReduction="20000"/>
          </a:bodyPr>
          <a:lstStyle/>
          <a:p>
            <a:pPr>
              <a:defRPr sz="1575" b="1" i="0">
                <a:solidFill>
                  <a:srgbClr val="2C7A62"/>
                </a:solidFill>
                <a:latin typeface="Montserrat"/>
                <a:ea typeface="Montserrat"/>
                <a:cs typeface="Montserrat"/>
              </a:defRPr>
            </a:pPr>
            <a:r>
              <a:rPr sz="1575" b="1" i="0">
                <a:solidFill>
                  <a:srgbClr val="2C7A62"/>
                </a:solidFill>
                <a:latin typeface="Montserrat"/>
                <a:ea typeface="Montserrat"/>
                <a:cs typeface="Montserrat"/>
              </a:rPr>
              <a:t>Strength</a:t>
            </a:r>
          </a:p>
        </p:txBody>
      </p:sp>
      <p:sp>
        <p:nvSpPr>
          <p:cNvPr id="8" name="Rectangle 7">
            <a:extLst>
              <a:ext uri="{FF2B5EF4-FFF2-40B4-BE49-F238E27FC236}">
                <a16:creationId xmlns:a16="http://schemas.microsoft.com/office/drawing/2014/main" id="{CD22DAAA-0D36-467E-A887-024E53E0D04A}"/>
              </a:ext>
            </a:extLst>
          </p:cNvPr>
          <p:cNvSpPr>
            <a:spLocks noGrp="1"/>
          </p:cNvSpPr>
          <p:nvPr/>
        </p:nvSpPr>
        <p:spPr>
          <a:xfrm>
            <a:off x="2000250" y="3000375"/>
            <a:ext cx="2190750" cy="514350"/>
          </a:xfrm>
          <a:prstGeom prst="rect">
            <a:avLst/>
          </a:prstGeom>
          <a:noFill/>
          <a:ln w="0">
            <a:noFill/>
          </a:ln>
        </p:spPr>
        <p:txBody>
          <a:bodyPr anchor="t">
            <a:normAutofit fontScale="88095" lnSpcReduction="10000"/>
          </a:bodyPr>
          <a:lstStyle/>
          <a:p>
            <a:pPr>
              <a:defRPr sz="1575" b="0" i="0">
                <a:solidFill>
                  <a:srgbClr val="2D2D2D"/>
                </a:solidFill>
                <a:latin typeface="Montserrat"/>
                <a:ea typeface="Montserrat"/>
                <a:cs typeface="Montserrat"/>
              </a:defRPr>
            </a:pPr>
            <a:r>
              <a:rPr sz="1575" b="0" i="0">
                <a:solidFill>
                  <a:srgbClr val="2D2D2D"/>
                </a:solidFill>
                <a:latin typeface="Montserrat"/>
                <a:ea typeface="Montserrat"/>
                <a:cs typeface="Montserrat"/>
              </a:rPr>
              <a:t>Known and equal inclusion probabilities</a:t>
            </a:r>
          </a:p>
        </p:txBody>
      </p:sp>
      <p:sp>
        <p:nvSpPr>
          <p:cNvPr id="9" name="Rectangle 8">
            <a:extLst>
              <a:ext uri="{FF2B5EF4-FFF2-40B4-BE49-F238E27FC236}">
                <a16:creationId xmlns:a16="http://schemas.microsoft.com/office/drawing/2014/main" id="{9E9EA9D8-B454-4FD2-9409-DC12476DB26B}"/>
              </a:ext>
            </a:extLst>
          </p:cNvPr>
          <p:cNvSpPr>
            <a:spLocks noGrp="1"/>
          </p:cNvSpPr>
          <p:nvPr/>
        </p:nvSpPr>
        <p:spPr>
          <a:xfrm>
            <a:off x="4953000" y="1190625"/>
            <a:ext cx="3476625" cy="361950"/>
          </a:xfrm>
          <a:prstGeom prst="rect">
            <a:avLst/>
          </a:prstGeom>
          <a:noFill/>
          <a:ln w="0">
            <a:noFill/>
          </a:ln>
        </p:spPr>
        <p:txBody>
          <a:bodyPr anchor="t">
            <a:normAutofit fontScale="92024" lnSpcReduction="10000"/>
          </a:bodyPr>
          <a:lstStyle/>
          <a:p>
            <a:pPr>
              <a:defRPr sz="2100" b="1" i="0">
                <a:solidFill>
                  <a:srgbClr val="1D4F91"/>
                </a:solidFill>
                <a:latin typeface="Montserrat"/>
                <a:ea typeface="Montserrat"/>
                <a:cs typeface="Montserrat"/>
              </a:defRPr>
            </a:pPr>
            <a:r>
              <a:rPr sz="2100" b="1" i="0" dirty="0">
                <a:solidFill>
                  <a:srgbClr val="1D4F91"/>
                </a:solidFill>
                <a:latin typeface="Montserrat"/>
                <a:ea typeface="Montserrat"/>
                <a:cs typeface="Montserrat"/>
              </a:rPr>
              <a:t>Systematic sample</a:t>
            </a:r>
          </a:p>
        </p:txBody>
      </p:sp>
      <p:sp>
        <p:nvSpPr>
          <p:cNvPr id="10" name="Rectangle 9">
            <a:extLst>
              <a:ext uri="{FF2B5EF4-FFF2-40B4-BE49-F238E27FC236}">
                <a16:creationId xmlns:a16="http://schemas.microsoft.com/office/drawing/2014/main" id="{2D5A9784-BDA0-4582-9C1F-9A6343CC9224}"/>
              </a:ext>
            </a:extLst>
          </p:cNvPr>
          <p:cNvSpPr>
            <a:spLocks noGrp="1"/>
          </p:cNvSpPr>
          <p:nvPr/>
        </p:nvSpPr>
        <p:spPr>
          <a:xfrm>
            <a:off x="4953000" y="1714500"/>
            <a:ext cx="3476625" cy="1047750"/>
          </a:xfrm>
          <a:prstGeom prst="rect">
            <a:avLst/>
          </a:prstGeom>
          <a:noFill/>
          <a:ln w="0">
            <a:noFill/>
          </a:ln>
        </p:spPr>
        <p:txBody>
          <a:bodyPr anchor="t">
            <a:normAutofit/>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Choose a random starting point on the roster, then select every kth student.</a:t>
            </a:r>
          </a:p>
        </p:txBody>
      </p:sp>
      <p:sp>
        <p:nvSpPr>
          <p:cNvPr id="11" name="Rectangle 10">
            <a:extLst>
              <a:ext uri="{FF2B5EF4-FFF2-40B4-BE49-F238E27FC236}">
                <a16:creationId xmlns:a16="http://schemas.microsoft.com/office/drawing/2014/main" id="{EF84649A-6162-431B-A83A-FCC3C0EAE06C}"/>
              </a:ext>
            </a:extLst>
          </p:cNvPr>
          <p:cNvSpPr>
            <a:spLocks noGrp="1"/>
          </p:cNvSpPr>
          <p:nvPr/>
        </p:nvSpPr>
        <p:spPr>
          <a:xfrm>
            <a:off x="4953000" y="3000375"/>
            <a:ext cx="1238250" cy="266700"/>
          </a:xfrm>
          <a:prstGeom prst="rect">
            <a:avLst/>
          </a:prstGeom>
          <a:noFill/>
          <a:ln w="0">
            <a:noFill/>
          </a:ln>
        </p:spPr>
        <p:txBody>
          <a:bodyPr anchor="t">
            <a:normAutofit fontScale="80516" lnSpcReduction="20000"/>
          </a:bodyPr>
          <a:lstStyle/>
          <a:p>
            <a:pPr>
              <a:defRPr sz="1575" b="1" i="0">
                <a:solidFill>
                  <a:srgbClr val="B43A3A"/>
                </a:solidFill>
                <a:latin typeface="Montserrat"/>
                <a:ea typeface="Montserrat"/>
                <a:cs typeface="Montserrat"/>
              </a:defRPr>
            </a:pPr>
            <a:r>
              <a:rPr sz="1575" b="1" i="0">
                <a:solidFill>
                  <a:srgbClr val="B43A3A"/>
                </a:solidFill>
                <a:latin typeface="Montserrat"/>
                <a:ea typeface="Montserrat"/>
                <a:cs typeface="Montserrat"/>
              </a:rPr>
              <a:t>Watch for</a:t>
            </a:r>
          </a:p>
        </p:txBody>
      </p:sp>
      <p:sp>
        <p:nvSpPr>
          <p:cNvPr id="12" name="Rectangle 11">
            <a:extLst>
              <a:ext uri="{FF2B5EF4-FFF2-40B4-BE49-F238E27FC236}">
                <a16:creationId xmlns:a16="http://schemas.microsoft.com/office/drawing/2014/main" id="{2CDD1206-CCA2-403A-90FF-CF757FB37FD0}"/>
              </a:ext>
            </a:extLst>
          </p:cNvPr>
          <p:cNvSpPr>
            <a:spLocks noGrp="1"/>
          </p:cNvSpPr>
          <p:nvPr/>
        </p:nvSpPr>
        <p:spPr>
          <a:xfrm>
            <a:off x="6238875" y="3000375"/>
            <a:ext cx="2190750" cy="666750"/>
          </a:xfrm>
          <a:prstGeom prst="rect">
            <a:avLst/>
          </a:prstGeom>
          <a:noFill/>
          <a:ln w="0">
            <a:noFill/>
          </a:ln>
        </p:spPr>
        <p:txBody>
          <a:bodyPr anchor="t">
            <a:normAutofit fontScale="87394" lnSpcReduction="20000"/>
          </a:bodyPr>
          <a:lstStyle/>
          <a:p>
            <a:pPr>
              <a:defRPr sz="1575" b="0" i="0">
                <a:solidFill>
                  <a:srgbClr val="2D2D2D"/>
                </a:solidFill>
                <a:latin typeface="Montserrat"/>
                <a:ea typeface="Montserrat"/>
                <a:cs typeface="Montserrat"/>
              </a:defRPr>
            </a:pPr>
            <a:r>
              <a:rPr sz="1575" b="0" i="0">
                <a:solidFill>
                  <a:srgbClr val="2D2D2D"/>
                </a:solidFill>
                <a:latin typeface="Montserrat"/>
                <a:ea typeface="Montserrat"/>
                <a:cs typeface="Montserrat"/>
              </a:rPr>
              <a:t>A roster pattern that matches the sampling interval</a:t>
            </a:r>
          </a:p>
        </p:txBody>
      </p:sp>
      <p:sp>
        <p:nvSpPr>
          <p:cNvPr id="13" name="Rectangle 12">
            <a:extLst>
              <a:ext uri="{FF2B5EF4-FFF2-40B4-BE49-F238E27FC236}">
                <a16:creationId xmlns:a16="http://schemas.microsoft.com/office/drawing/2014/main" id="{BA2F03B8-84F3-423E-8D82-7D065A9D675B}"/>
              </a:ext>
            </a:extLst>
          </p:cNvPr>
          <p:cNvSpPr>
            <a:spLocks noGrp="1"/>
          </p:cNvSpPr>
          <p:nvPr/>
        </p:nvSpPr>
        <p:spPr>
          <a:xfrm>
            <a:off x="809624" y="3867150"/>
            <a:ext cx="7173395" cy="666750"/>
          </a:xfrm>
          <a:prstGeom prst="rect">
            <a:avLst/>
          </a:prstGeom>
          <a:noFill/>
          <a:ln w="0">
            <a:noFill/>
          </a:ln>
        </p:spPr>
        <p:txBody>
          <a:bodyPr anchor="t">
            <a:normAutofit fontScale="92654"/>
          </a:bodyPr>
          <a:lstStyle/>
          <a:p>
            <a:pPr>
              <a:defRPr sz="1725" b="1" i="0">
                <a:solidFill>
                  <a:srgbClr val="1D4F91"/>
                </a:solidFill>
                <a:latin typeface="Montserrat"/>
                <a:ea typeface="Montserrat"/>
                <a:cs typeface="Montserrat"/>
              </a:defRPr>
            </a:pPr>
            <a:r>
              <a:rPr sz="1725" b="1" i="0" dirty="0">
                <a:solidFill>
                  <a:srgbClr val="1D4F91"/>
                </a:solidFill>
                <a:latin typeface="Montserrat"/>
                <a:ea typeface="Montserrat"/>
                <a:cs typeface="Montserrat"/>
              </a:rPr>
              <a:t>Both designs select individual students directly from a complete </a:t>
            </a:r>
            <a:r>
              <a:rPr sz="1725" b="1" i="0" dirty="0">
                <a:solidFill>
                  <a:srgbClr val="FF0000"/>
                </a:solidFill>
                <a:latin typeface="Montserrat"/>
                <a:ea typeface="Montserrat"/>
                <a:cs typeface="Montserrat"/>
              </a:rPr>
              <a:t>sampling frame</a:t>
            </a:r>
            <a:r>
              <a:rPr sz="1725" b="1" i="0" dirty="0">
                <a:solidFill>
                  <a:srgbClr val="1D4F91"/>
                </a:solidFill>
                <a:latin typeface="Montserrat"/>
                <a:ea typeface="Montserrat"/>
                <a:cs typeface="Montserrat"/>
              </a:rPr>
              <a:t>.</a:t>
            </a:r>
          </a:p>
        </p:txBody>
      </p:sp>
    </p:spTree>
    <p:extLst>
      <p:ext uri="{BB962C8B-B14F-4D97-AF65-F5344CB8AC3E}">
        <p14:creationId xmlns:p14="http://schemas.microsoft.com/office/powerpoint/2010/main" val="92712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240649D-41BB-4087-9319-49178F107166}"/>
              </a:ext>
            </a:extLst>
          </p:cNvPr>
          <p:cNvSpPr>
            <a:spLocks noGrp="1"/>
          </p:cNvSpPr>
          <p:nvPr/>
        </p:nvSpPr>
        <p:spPr>
          <a:xfrm>
            <a:off x="590550" y="285750"/>
            <a:ext cx="7962900" cy="552450"/>
          </a:xfrm>
          <a:prstGeom prst="rect">
            <a:avLst/>
          </a:prstGeom>
          <a:noFill/>
          <a:ln w="0">
            <a:noFill/>
          </a:ln>
        </p:spPr>
        <p:txBody>
          <a:bodyPr anchor="t">
            <a:normAutofit fontScale="92500"/>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Stratified, cluster, and multistage sampling</a:t>
            </a:r>
          </a:p>
        </p:txBody>
      </p:sp>
      <p:sp>
        <p:nvSpPr>
          <p:cNvPr id="2" name="Rectangle 1">
            <a:extLst>
              <a:ext uri="{FF2B5EF4-FFF2-40B4-BE49-F238E27FC236}">
                <a16:creationId xmlns:a16="http://schemas.microsoft.com/office/drawing/2014/main" id="{D14E55E1-4194-484B-98CB-263BFFE8018B}"/>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82E4872C-C9D8-43C1-B7A5-62AEBC568DA7}"/>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0FBB897-8A3C-4BFB-B8EC-03D512253056}"/>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6EB35595-5199-42FF-A3E2-97F5C193DC77}"/>
              </a:ext>
            </a:extLst>
          </p:cNvPr>
          <p:cNvSpPr>
            <a:spLocks noGrp="1"/>
          </p:cNvSpPr>
          <p:nvPr/>
        </p:nvSpPr>
        <p:spPr>
          <a:xfrm>
            <a:off x="714375" y="1190625"/>
            <a:ext cx="2381250" cy="361950"/>
          </a:xfrm>
          <a:prstGeom prst="rect">
            <a:avLst/>
          </a:prstGeom>
          <a:noFill/>
          <a:ln w="0">
            <a:noFill/>
          </a:ln>
        </p:spPr>
        <p:txBody>
          <a:bodyPr anchor="t">
            <a:normAutofit fontScale="87654" lnSpcReduction="10000"/>
          </a:bodyPr>
          <a:lstStyle/>
          <a:p>
            <a:pPr>
              <a:defRPr sz="2025" b="1" i="0">
                <a:solidFill>
                  <a:srgbClr val="1D4F91"/>
                </a:solidFill>
                <a:latin typeface="Montserrat"/>
                <a:ea typeface="Montserrat"/>
                <a:cs typeface="Montserrat"/>
              </a:defRPr>
            </a:pPr>
            <a:r>
              <a:rPr sz="2025" b="1" i="0">
                <a:solidFill>
                  <a:srgbClr val="1D4F91"/>
                </a:solidFill>
                <a:latin typeface="Montserrat"/>
                <a:ea typeface="Montserrat"/>
                <a:cs typeface="Montserrat"/>
              </a:rPr>
              <a:t>Stratified sample</a:t>
            </a:r>
          </a:p>
        </p:txBody>
      </p:sp>
      <p:sp>
        <p:nvSpPr>
          <p:cNvPr id="6" name="Rectangle 5">
            <a:extLst>
              <a:ext uri="{FF2B5EF4-FFF2-40B4-BE49-F238E27FC236}">
                <a16:creationId xmlns:a16="http://schemas.microsoft.com/office/drawing/2014/main" id="{8525FA75-A86A-4F35-9791-81073D25D598}"/>
              </a:ext>
            </a:extLst>
          </p:cNvPr>
          <p:cNvSpPr>
            <a:spLocks noGrp="1"/>
          </p:cNvSpPr>
          <p:nvPr/>
        </p:nvSpPr>
        <p:spPr>
          <a:xfrm>
            <a:off x="714375" y="1695450"/>
            <a:ext cx="2381250" cy="1285875"/>
          </a:xfrm>
          <a:prstGeom prst="rect">
            <a:avLst/>
          </a:prstGeom>
          <a:noFill/>
          <a:ln w="0">
            <a:noFill/>
          </a:ln>
        </p:spPr>
        <p:txBody>
          <a:bodyPr anchor="t">
            <a:normAutofit fontScale="95000"/>
          </a:bodyPr>
          <a:lstStyle/>
          <a:p>
            <a:pPr>
              <a:defRPr sz="1650"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Separate students by lecture section or prior performance, then randomly sample within every group.</a:t>
            </a:r>
          </a:p>
        </p:txBody>
      </p:sp>
      <p:sp>
        <p:nvSpPr>
          <p:cNvPr id="7" name="Rectangle 6">
            <a:extLst>
              <a:ext uri="{FF2B5EF4-FFF2-40B4-BE49-F238E27FC236}">
                <a16:creationId xmlns:a16="http://schemas.microsoft.com/office/drawing/2014/main" id="{66A03ACA-DA10-48E7-BB03-818AD7E9CEB3}"/>
              </a:ext>
            </a:extLst>
          </p:cNvPr>
          <p:cNvSpPr>
            <a:spLocks noGrp="1"/>
          </p:cNvSpPr>
          <p:nvPr/>
        </p:nvSpPr>
        <p:spPr>
          <a:xfrm>
            <a:off x="714375" y="2952750"/>
            <a:ext cx="2381250" cy="571500"/>
          </a:xfrm>
          <a:prstGeom prst="rect">
            <a:avLst/>
          </a:prstGeom>
          <a:noFill/>
          <a:ln w="0">
            <a:noFill/>
          </a:ln>
        </p:spPr>
        <p:txBody>
          <a:bodyPr anchor="t">
            <a:noAutofit/>
          </a:bodyPr>
          <a:lstStyle/>
          <a:p>
            <a:pPr>
              <a:defRPr sz="1500" b="1" i="0">
                <a:solidFill>
                  <a:srgbClr val="2C7A62"/>
                </a:solidFill>
                <a:latin typeface="Montserrat"/>
                <a:ea typeface="Montserrat"/>
                <a:cs typeface="Montserrat"/>
              </a:defRPr>
            </a:pPr>
            <a:r>
              <a:rPr sz="1400" b="1" i="0">
                <a:solidFill>
                  <a:srgbClr val="2C7A62"/>
                </a:solidFill>
                <a:latin typeface="Montserrat"/>
                <a:ea typeface="Montserrat"/>
                <a:cs typeface="Montserrat"/>
              </a:rPr>
              <a:t>Purpose: representation and precision</a:t>
            </a:r>
          </a:p>
        </p:txBody>
      </p:sp>
      <p:sp>
        <p:nvSpPr>
          <p:cNvPr id="8" name="Rectangle 7">
            <a:extLst>
              <a:ext uri="{FF2B5EF4-FFF2-40B4-BE49-F238E27FC236}">
                <a16:creationId xmlns:a16="http://schemas.microsoft.com/office/drawing/2014/main" id="{77AE1491-2B6D-4FD1-9773-F6DAC8D07A53}"/>
              </a:ext>
            </a:extLst>
          </p:cNvPr>
          <p:cNvSpPr>
            <a:spLocks noGrp="1"/>
          </p:cNvSpPr>
          <p:nvPr/>
        </p:nvSpPr>
        <p:spPr>
          <a:xfrm>
            <a:off x="3381375" y="1190625"/>
            <a:ext cx="2381250" cy="361950"/>
          </a:xfrm>
          <a:prstGeom prst="rect">
            <a:avLst/>
          </a:prstGeom>
          <a:noFill/>
          <a:ln w="0">
            <a:noFill/>
          </a:ln>
        </p:spPr>
        <p:txBody>
          <a:bodyPr anchor="t">
            <a:normAutofit fontScale="87654" lnSpcReduction="10000"/>
          </a:bodyPr>
          <a:lstStyle/>
          <a:p>
            <a:pPr>
              <a:defRPr sz="2025" b="1" i="0">
                <a:solidFill>
                  <a:srgbClr val="1D4F91"/>
                </a:solidFill>
                <a:latin typeface="Montserrat"/>
                <a:ea typeface="Montserrat"/>
                <a:cs typeface="Montserrat"/>
              </a:defRPr>
            </a:pPr>
            <a:r>
              <a:rPr sz="2025" b="1" i="0" dirty="0">
                <a:solidFill>
                  <a:srgbClr val="1D4F91"/>
                </a:solidFill>
                <a:latin typeface="Montserrat"/>
                <a:ea typeface="Montserrat"/>
                <a:cs typeface="Montserrat"/>
              </a:rPr>
              <a:t>Cluster sample</a:t>
            </a:r>
          </a:p>
        </p:txBody>
      </p:sp>
      <p:sp>
        <p:nvSpPr>
          <p:cNvPr id="9" name="Rectangle 8">
            <a:extLst>
              <a:ext uri="{FF2B5EF4-FFF2-40B4-BE49-F238E27FC236}">
                <a16:creationId xmlns:a16="http://schemas.microsoft.com/office/drawing/2014/main" id="{6B6633A9-B2A6-420A-97E2-878FA05EE1EF}"/>
              </a:ext>
            </a:extLst>
          </p:cNvPr>
          <p:cNvSpPr>
            <a:spLocks noGrp="1"/>
          </p:cNvSpPr>
          <p:nvPr/>
        </p:nvSpPr>
        <p:spPr>
          <a:xfrm>
            <a:off x="3381375" y="1695450"/>
            <a:ext cx="2381250" cy="1285875"/>
          </a:xfrm>
          <a:prstGeom prst="rect">
            <a:avLst/>
          </a:prstGeom>
          <a:noFill/>
          <a:ln w="0">
            <a:noFill/>
          </a:ln>
        </p:spPr>
        <p:txBody>
          <a:bodyPr anchor="t">
            <a:normAutofit fontScale="98084"/>
          </a:bodyPr>
          <a:lstStyle/>
          <a:p>
            <a:pPr>
              <a:defRPr sz="1650" b="0" i="0">
                <a:solidFill>
                  <a:srgbClr val="2D2D2D"/>
                </a:solidFill>
                <a:latin typeface="Montserrat"/>
                <a:ea typeface="Montserrat"/>
                <a:cs typeface="Montserrat"/>
              </a:defRPr>
            </a:pPr>
            <a:r>
              <a:rPr sz="1400" b="0" i="0" dirty="0">
                <a:solidFill>
                  <a:srgbClr val="2D2D2D"/>
                </a:solidFill>
                <a:latin typeface="Montserrat"/>
                <a:ea typeface="Montserrat"/>
                <a:cs typeface="Montserrat"/>
              </a:rPr>
              <a:t>Randomly select whole recitation sections, then invite every student in the selected sections.</a:t>
            </a:r>
          </a:p>
        </p:txBody>
      </p:sp>
      <p:sp>
        <p:nvSpPr>
          <p:cNvPr id="10" name="Rectangle 9">
            <a:extLst>
              <a:ext uri="{FF2B5EF4-FFF2-40B4-BE49-F238E27FC236}">
                <a16:creationId xmlns:a16="http://schemas.microsoft.com/office/drawing/2014/main" id="{F6F84DE8-6CF9-4CEA-B2BA-3621CDDC0127}"/>
              </a:ext>
            </a:extLst>
          </p:cNvPr>
          <p:cNvSpPr>
            <a:spLocks noGrp="1"/>
          </p:cNvSpPr>
          <p:nvPr/>
        </p:nvSpPr>
        <p:spPr>
          <a:xfrm>
            <a:off x="3381375" y="2952750"/>
            <a:ext cx="2381250" cy="571500"/>
          </a:xfrm>
          <a:prstGeom prst="rect">
            <a:avLst/>
          </a:prstGeom>
          <a:noFill/>
          <a:ln w="0">
            <a:noFill/>
          </a:ln>
        </p:spPr>
        <p:txBody>
          <a:bodyPr anchor="t">
            <a:normAutofit/>
          </a:bodyPr>
          <a:lstStyle/>
          <a:p>
            <a:pPr>
              <a:defRPr sz="1500" b="1" i="0">
                <a:solidFill>
                  <a:srgbClr val="2C7A62"/>
                </a:solidFill>
                <a:latin typeface="Montserrat"/>
                <a:ea typeface="Montserrat"/>
                <a:cs typeface="Montserrat"/>
              </a:defRPr>
            </a:pPr>
            <a:r>
              <a:rPr sz="1400" b="1" i="0" dirty="0">
                <a:solidFill>
                  <a:srgbClr val="2C7A62"/>
                </a:solidFill>
                <a:latin typeface="Montserrat"/>
                <a:ea typeface="Montserrat"/>
                <a:cs typeface="Montserrat"/>
              </a:rPr>
              <a:t>Purpose: lower collection cost</a:t>
            </a:r>
          </a:p>
        </p:txBody>
      </p:sp>
      <p:sp>
        <p:nvSpPr>
          <p:cNvPr id="11" name="Rectangle 10">
            <a:extLst>
              <a:ext uri="{FF2B5EF4-FFF2-40B4-BE49-F238E27FC236}">
                <a16:creationId xmlns:a16="http://schemas.microsoft.com/office/drawing/2014/main" id="{741893B1-EB09-48AC-82A5-6285B0F42551}"/>
              </a:ext>
            </a:extLst>
          </p:cNvPr>
          <p:cNvSpPr>
            <a:spLocks noGrp="1"/>
          </p:cNvSpPr>
          <p:nvPr/>
        </p:nvSpPr>
        <p:spPr>
          <a:xfrm>
            <a:off x="6048375" y="1190625"/>
            <a:ext cx="2381250" cy="361950"/>
          </a:xfrm>
          <a:prstGeom prst="rect">
            <a:avLst/>
          </a:prstGeom>
          <a:noFill/>
          <a:ln w="0">
            <a:noFill/>
          </a:ln>
        </p:spPr>
        <p:txBody>
          <a:bodyPr anchor="t">
            <a:normAutofit fontScale="80154" lnSpcReduction="10000"/>
          </a:bodyPr>
          <a:lstStyle/>
          <a:p>
            <a:pPr>
              <a:defRPr sz="2025" b="1" i="0">
                <a:solidFill>
                  <a:srgbClr val="1D4F91"/>
                </a:solidFill>
                <a:latin typeface="Montserrat"/>
                <a:ea typeface="Montserrat"/>
                <a:cs typeface="Montserrat"/>
              </a:defRPr>
            </a:pPr>
            <a:r>
              <a:rPr sz="2025" b="1" i="0" dirty="0">
                <a:solidFill>
                  <a:srgbClr val="1D4F91"/>
                </a:solidFill>
                <a:latin typeface="Montserrat"/>
                <a:ea typeface="Montserrat"/>
                <a:cs typeface="Montserrat"/>
              </a:rPr>
              <a:t>Multistage sample</a:t>
            </a:r>
          </a:p>
        </p:txBody>
      </p:sp>
      <p:sp>
        <p:nvSpPr>
          <p:cNvPr id="12" name="Rectangle 11">
            <a:extLst>
              <a:ext uri="{FF2B5EF4-FFF2-40B4-BE49-F238E27FC236}">
                <a16:creationId xmlns:a16="http://schemas.microsoft.com/office/drawing/2014/main" id="{8BD7E425-EFAC-4316-86A3-106A63CFF975}"/>
              </a:ext>
            </a:extLst>
          </p:cNvPr>
          <p:cNvSpPr>
            <a:spLocks noGrp="1"/>
          </p:cNvSpPr>
          <p:nvPr/>
        </p:nvSpPr>
        <p:spPr>
          <a:xfrm>
            <a:off x="6048375" y="1695450"/>
            <a:ext cx="2381250" cy="1285875"/>
          </a:xfrm>
          <a:prstGeom prst="rect">
            <a:avLst/>
          </a:prstGeom>
          <a:noFill/>
          <a:ln w="0">
            <a:noFill/>
          </a:ln>
        </p:spPr>
        <p:txBody>
          <a:bodyPr anchor="t">
            <a:normAutofit fontScale="95000"/>
          </a:bodyPr>
          <a:lstStyle/>
          <a:p>
            <a:pPr>
              <a:defRPr sz="1650" b="0" i="0">
                <a:solidFill>
                  <a:srgbClr val="2D2D2D"/>
                </a:solidFill>
                <a:latin typeface="Montserrat"/>
                <a:ea typeface="Montserrat"/>
                <a:cs typeface="Montserrat"/>
              </a:defRPr>
            </a:pPr>
            <a:r>
              <a:rPr sz="1400" b="0" i="0">
                <a:solidFill>
                  <a:srgbClr val="2D2D2D"/>
                </a:solidFill>
                <a:latin typeface="Montserrat"/>
                <a:ea typeface="Montserrat"/>
                <a:cs typeface="Montserrat"/>
              </a:rPr>
              <a:t>Randomly select recitation sections, then randomly select students within those sections.</a:t>
            </a:r>
          </a:p>
        </p:txBody>
      </p:sp>
      <p:sp>
        <p:nvSpPr>
          <p:cNvPr id="13" name="Rectangle 12">
            <a:extLst>
              <a:ext uri="{FF2B5EF4-FFF2-40B4-BE49-F238E27FC236}">
                <a16:creationId xmlns:a16="http://schemas.microsoft.com/office/drawing/2014/main" id="{DAEF4E5E-BB46-4A42-8255-36DD12E28B90}"/>
              </a:ext>
            </a:extLst>
          </p:cNvPr>
          <p:cNvSpPr>
            <a:spLocks noGrp="1"/>
          </p:cNvSpPr>
          <p:nvPr/>
        </p:nvSpPr>
        <p:spPr>
          <a:xfrm>
            <a:off x="6048375" y="2952750"/>
            <a:ext cx="2381250" cy="571500"/>
          </a:xfrm>
          <a:prstGeom prst="rect">
            <a:avLst/>
          </a:prstGeom>
          <a:noFill/>
          <a:ln w="0">
            <a:noFill/>
          </a:ln>
        </p:spPr>
        <p:txBody>
          <a:bodyPr anchor="t">
            <a:normAutofit/>
          </a:bodyPr>
          <a:lstStyle/>
          <a:p>
            <a:pPr>
              <a:defRPr sz="1500" b="1" i="0">
                <a:solidFill>
                  <a:srgbClr val="2C7A62"/>
                </a:solidFill>
                <a:latin typeface="Montserrat"/>
                <a:ea typeface="Montserrat"/>
                <a:cs typeface="Montserrat"/>
              </a:defRPr>
            </a:pPr>
            <a:r>
              <a:rPr sz="1400" b="1" i="0">
                <a:solidFill>
                  <a:srgbClr val="2C7A62"/>
                </a:solidFill>
                <a:latin typeface="Montserrat"/>
                <a:ea typeface="Montserrat"/>
                <a:cs typeface="Montserrat"/>
              </a:rPr>
              <a:t>Purpose: balance cost and coverage</a:t>
            </a:r>
          </a:p>
        </p:txBody>
      </p:sp>
      <p:sp>
        <p:nvSpPr>
          <p:cNvPr id="14" name="Rectangle 13">
            <a:extLst>
              <a:ext uri="{FF2B5EF4-FFF2-40B4-BE49-F238E27FC236}">
                <a16:creationId xmlns:a16="http://schemas.microsoft.com/office/drawing/2014/main" id="{18C75521-FDC2-4E08-A655-1B3A47CEDF5C}"/>
              </a:ext>
            </a:extLst>
          </p:cNvPr>
          <p:cNvSpPr>
            <a:spLocks noGrp="1"/>
          </p:cNvSpPr>
          <p:nvPr/>
        </p:nvSpPr>
        <p:spPr>
          <a:xfrm>
            <a:off x="1143000" y="3845069"/>
            <a:ext cx="6858000" cy="787111"/>
          </a:xfrm>
          <a:prstGeom prst="rect">
            <a:avLst/>
          </a:prstGeom>
          <a:noFill/>
          <a:ln w="0">
            <a:noFill/>
          </a:ln>
        </p:spPr>
        <p:txBody>
          <a:bodyPr anchor="t">
            <a:noAutofit/>
          </a:bodyPr>
          <a:lstStyle/>
          <a:p>
            <a:pPr algn="ctr">
              <a:defRPr sz="1650" b="1" i="0">
                <a:solidFill>
                  <a:srgbClr val="B43A3A"/>
                </a:solidFill>
                <a:latin typeface="Montserrat"/>
                <a:ea typeface="Montserrat"/>
                <a:cs typeface="Montserrat"/>
              </a:defRPr>
            </a:pPr>
            <a:r>
              <a:rPr sz="1400" b="1" i="0" dirty="0">
                <a:solidFill>
                  <a:srgbClr val="B43A3A"/>
                </a:solidFill>
                <a:latin typeface="Montserrat"/>
                <a:ea typeface="Montserrat"/>
                <a:cs typeface="Montserrat"/>
              </a:rPr>
              <a:t>Strata all contribute observations. </a:t>
            </a:r>
            <a:r>
              <a:rPr lang="en-US" altLang="zh-CN" sz="1400" b="1" i="0" dirty="0">
                <a:solidFill>
                  <a:srgbClr val="B43A3A"/>
                </a:solidFill>
                <a:latin typeface="Montserrat"/>
                <a:ea typeface="Montserrat"/>
                <a:cs typeface="Montserrat"/>
              </a:rPr>
              <a:t>–</a:t>
            </a:r>
            <a:r>
              <a:rPr lang="zh-CN" altLang="en-US" sz="1400" b="1" i="0" dirty="0">
                <a:solidFill>
                  <a:srgbClr val="B43A3A"/>
                </a:solidFill>
                <a:latin typeface="Montserrat"/>
                <a:ea typeface="Montserrat"/>
                <a:cs typeface="Montserrat"/>
              </a:rPr>
              <a:t> </a:t>
            </a:r>
            <a:r>
              <a:rPr lang="en-US" altLang="zh-CN" sz="1400" b="1" i="0" dirty="0">
                <a:solidFill>
                  <a:srgbClr val="B43A3A"/>
                </a:solidFill>
                <a:latin typeface="Montserrat"/>
                <a:ea typeface="Montserrat"/>
                <a:cs typeface="Montserrat"/>
              </a:rPr>
              <a:t>more</a:t>
            </a:r>
            <a:r>
              <a:rPr lang="zh-CN" altLang="en-US" sz="1400" b="1" i="0" dirty="0">
                <a:solidFill>
                  <a:srgbClr val="B43A3A"/>
                </a:solidFill>
                <a:latin typeface="Montserrat"/>
                <a:ea typeface="Montserrat"/>
                <a:cs typeface="Montserrat"/>
              </a:rPr>
              <a:t> </a:t>
            </a:r>
            <a:r>
              <a:rPr lang="en-US" altLang="zh-CN" sz="1400" b="1" i="0" dirty="0">
                <a:solidFill>
                  <a:srgbClr val="B43A3A"/>
                </a:solidFill>
                <a:latin typeface="Montserrat"/>
                <a:ea typeface="Montserrat"/>
                <a:cs typeface="Montserrat"/>
              </a:rPr>
              <a:t>balanced</a:t>
            </a:r>
            <a:r>
              <a:rPr lang="zh-CN" altLang="en-US" sz="1400" b="1" i="0" dirty="0">
                <a:solidFill>
                  <a:srgbClr val="B43A3A"/>
                </a:solidFill>
                <a:latin typeface="Montserrat"/>
                <a:ea typeface="Montserrat"/>
                <a:cs typeface="Montserrat"/>
              </a:rPr>
              <a:t> </a:t>
            </a:r>
            <a:r>
              <a:rPr lang="en-US" altLang="zh-CN" sz="1400" b="1" i="0" dirty="0">
                <a:solidFill>
                  <a:srgbClr val="B43A3A"/>
                </a:solidFill>
                <a:latin typeface="Montserrat"/>
                <a:ea typeface="Montserrat"/>
                <a:cs typeface="Montserrat"/>
              </a:rPr>
              <a:t>representation</a:t>
            </a:r>
          </a:p>
          <a:p>
            <a:pPr algn="ctr">
              <a:defRPr sz="1650" b="1" i="0">
                <a:solidFill>
                  <a:srgbClr val="B43A3A"/>
                </a:solidFill>
                <a:latin typeface="Montserrat"/>
                <a:ea typeface="Montserrat"/>
                <a:cs typeface="Montserrat"/>
              </a:defRPr>
            </a:pPr>
            <a:r>
              <a:rPr lang="en-US" altLang="zh-CN" sz="1400" b="1" i="0" dirty="0">
                <a:solidFill>
                  <a:srgbClr val="B43A3A"/>
                </a:solidFill>
                <a:latin typeface="Montserrat"/>
                <a:ea typeface="Montserrat"/>
                <a:cs typeface="Montserrat"/>
              </a:rPr>
              <a:t>Versus</a:t>
            </a:r>
            <a:endParaRPr lang="en-US" sz="1400" b="1" i="0" dirty="0">
              <a:solidFill>
                <a:srgbClr val="B43A3A"/>
              </a:solidFill>
              <a:latin typeface="Montserrat"/>
              <a:ea typeface="Montserrat"/>
              <a:cs typeface="Montserrat"/>
            </a:endParaRPr>
          </a:p>
          <a:p>
            <a:pPr algn="ctr">
              <a:defRPr sz="1650" b="1" i="0">
                <a:solidFill>
                  <a:srgbClr val="B43A3A"/>
                </a:solidFill>
                <a:latin typeface="Montserrat"/>
                <a:ea typeface="Montserrat"/>
                <a:cs typeface="Montserrat"/>
              </a:defRPr>
            </a:pPr>
            <a:r>
              <a:rPr sz="1400" b="1" i="0" dirty="0">
                <a:solidFill>
                  <a:srgbClr val="B43A3A"/>
                </a:solidFill>
                <a:latin typeface="Montserrat"/>
                <a:ea typeface="Montserrat"/>
                <a:cs typeface="Montserrat"/>
              </a:rPr>
              <a:t>A cluster sample observes only the selected clusters.</a:t>
            </a:r>
          </a:p>
        </p:txBody>
      </p:sp>
    </p:spTree>
    <p:extLst>
      <p:ext uri="{BB962C8B-B14F-4D97-AF65-F5344CB8AC3E}">
        <p14:creationId xmlns:p14="http://schemas.microsoft.com/office/powerpoint/2010/main" val="64839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F1A510-18F4-4123-8599-51450A043AD5}"/>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The selection rule for today</a:t>
            </a:r>
          </a:p>
        </p:txBody>
      </p:sp>
      <p:sp>
        <p:nvSpPr>
          <p:cNvPr id="2" name="Rectangle 1">
            <a:extLst>
              <a:ext uri="{FF2B5EF4-FFF2-40B4-BE49-F238E27FC236}">
                <a16:creationId xmlns:a16="http://schemas.microsoft.com/office/drawing/2014/main" id="{D362BE67-8E37-4827-9674-615F1B3E32E3}"/>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04C350FA-9DAE-4246-A1F1-399916682631}"/>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4977E071-61C0-47BA-9D81-531FAFEEF471}"/>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91CB54E5-AE92-4894-AA54-FDCAFA44189D}"/>
              </a:ext>
            </a:extLst>
          </p:cNvPr>
          <p:cNvSpPr>
            <a:spLocks noGrp="1"/>
          </p:cNvSpPr>
          <p:nvPr/>
        </p:nvSpPr>
        <p:spPr>
          <a:xfrm>
            <a:off x="904875" y="1285875"/>
            <a:ext cx="7334250" cy="914400"/>
          </a:xfrm>
          <a:prstGeom prst="rect">
            <a:avLst/>
          </a:prstGeom>
          <a:noFill/>
          <a:ln w="0">
            <a:noFill/>
          </a:ln>
        </p:spPr>
        <p:txBody>
          <a:bodyPr anchor="ctr">
            <a:normAutofit/>
          </a:bodyPr>
          <a:lstStyle/>
          <a:p>
            <a:pPr>
              <a:defRPr sz="2550" b="1" i="0">
                <a:solidFill>
                  <a:srgbClr val="1D4F91"/>
                </a:solidFill>
                <a:latin typeface="Montserrat"/>
                <a:ea typeface="Montserrat"/>
                <a:cs typeface="Montserrat"/>
              </a:defRPr>
            </a:pPr>
            <a:r>
              <a:rPr sz="2550" b="1" i="0">
                <a:solidFill>
                  <a:srgbClr val="1D4F91"/>
                </a:solidFill>
                <a:latin typeface="Montserrat"/>
                <a:ea typeface="Montserrat"/>
                <a:cs typeface="Montserrat"/>
              </a:rPr>
              <a:t>Does every individual in the population have an equal chance of being selected?</a:t>
            </a:r>
          </a:p>
        </p:txBody>
      </p:sp>
      <p:sp>
        <p:nvSpPr>
          <p:cNvPr id="6" name="Rectangle 5">
            <a:extLst>
              <a:ext uri="{FF2B5EF4-FFF2-40B4-BE49-F238E27FC236}">
                <a16:creationId xmlns:a16="http://schemas.microsoft.com/office/drawing/2014/main" id="{6609CE34-F99D-4DC2-9C7E-E6DB69E2ECE8}"/>
              </a:ext>
            </a:extLst>
          </p:cNvPr>
          <p:cNvSpPr>
            <a:spLocks noGrp="1"/>
          </p:cNvSpPr>
          <p:nvPr/>
        </p:nvSpPr>
        <p:spPr>
          <a:xfrm>
            <a:off x="1190625" y="2571750"/>
            <a:ext cx="6762750" cy="666750"/>
          </a:xfrm>
          <a:prstGeom prst="rect">
            <a:avLst/>
          </a:prstGeom>
          <a:noFill/>
          <a:ln w="0">
            <a:noFill/>
          </a:ln>
        </p:spPr>
        <p:txBody>
          <a:bodyPr anchor="t">
            <a:normAutofit fontScale="93210" lnSpcReduction="10000"/>
          </a:bodyPr>
          <a:lstStyle/>
          <a:p>
            <a:pPr>
              <a:defRPr sz="2025" b="0" i="0">
                <a:solidFill>
                  <a:srgbClr val="2D2D2D"/>
                </a:solidFill>
                <a:latin typeface="Montserrat"/>
                <a:ea typeface="Montserrat"/>
                <a:cs typeface="Montserrat"/>
              </a:defRPr>
            </a:pPr>
            <a:r>
              <a:rPr sz="2025" b="0" i="0">
                <a:solidFill>
                  <a:srgbClr val="2D2D2D"/>
                </a:solidFill>
                <a:latin typeface="Montserrat"/>
                <a:ea typeface="Montserrat"/>
                <a:cs typeface="Montserrat"/>
              </a:rPr>
              <a:t>If not, ask which individuals have larger, smaller, or zero chances of entering the data.</a:t>
            </a:r>
          </a:p>
        </p:txBody>
      </p:sp>
      <p:sp>
        <p:nvSpPr>
          <p:cNvPr id="7" name="Rectangle 6">
            <a:extLst>
              <a:ext uri="{FF2B5EF4-FFF2-40B4-BE49-F238E27FC236}">
                <a16:creationId xmlns:a16="http://schemas.microsoft.com/office/drawing/2014/main" id="{7E501DA2-C29B-47A4-A0D0-2CB5746EF5F2}"/>
              </a:ext>
            </a:extLst>
          </p:cNvPr>
          <p:cNvSpPr>
            <a:spLocks noGrp="1"/>
          </p:cNvSpPr>
          <p:nvPr/>
        </p:nvSpPr>
        <p:spPr>
          <a:xfrm>
            <a:off x="1257300" y="3657600"/>
            <a:ext cx="6629400" cy="609600"/>
          </a:xfrm>
          <a:prstGeom prst="rect">
            <a:avLst/>
          </a:prstGeom>
          <a:noFill/>
          <a:ln w="0">
            <a:noFill/>
          </a:ln>
        </p:spPr>
        <p:txBody>
          <a:bodyPr anchor="t">
            <a:normAutofit/>
          </a:bodyPr>
          <a:lstStyle/>
          <a:p>
            <a:pPr>
              <a:defRPr sz="1650" b="1" i="0">
                <a:solidFill>
                  <a:srgbClr val="B43A3A"/>
                </a:solidFill>
                <a:latin typeface="Montserrat"/>
                <a:ea typeface="Montserrat"/>
                <a:cs typeface="Montserrat"/>
              </a:defRPr>
            </a:pPr>
            <a:r>
              <a:rPr sz="1650" b="1" i="0">
                <a:solidFill>
                  <a:srgbClr val="B43A3A"/>
                </a:solidFill>
                <a:latin typeface="Montserrat"/>
                <a:ea typeface="Montserrat"/>
                <a:cs typeface="Montserrat"/>
              </a:rPr>
              <a:t>Unequal probabilities are most dangerous when they are unknown or related to the variable we want to measure.</a:t>
            </a:r>
          </a:p>
        </p:txBody>
      </p:sp>
    </p:spTree>
    <p:extLst>
      <p:ext uri="{BB962C8B-B14F-4D97-AF65-F5344CB8AC3E}">
        <p14:creationId xmlns:p14="http://schemas.microsoft.com/office/powerpoint/2010/main" val="743970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1B826B-C2A0-442C-8786-035C623C1BD1}"/>
              </a:ext>
            </a:extLst>
          </p:cNvPr>
          <p:cNvSpPr>
            <a:spLocks noGrp="1"/>
          </p:cNvSpPr>
          <p:nvPr/>
        </p:nvSpPr>
        <p:spPr>
          <a:xfrm>
            <a:off x="590550" y="285750"/>
            <a:ext cx="7962900" cy="552450"/>
          </a:xfrm>
          <a:prstGeom prst="rect">
            <a:avLst/>
          </a:prstGeom>
          <a:noFill/>
          <a:ln w="0">
            <a:noFill/>
          </a:ln>
        </p:spPr>
        <p:txBody>
          <a:bodyPr anchor="t">
            <a:normAutofit fontScale="75264" lnSpcReduction="20000"/>
          </a:bodyPr>
          <a:lstStyle/>
          <a:p>
            <a:pPr>
              <a:defRPr sz="2850" b="1" i="0">
                <a:solidFill>
                  <a:srgbClr val="2D2D2D"/>
                </a:solidFill>
                <a:latin typeface="Montserrat"/>
                <a:ea typeface="Montserrat"/>
                <a:cs typeface="Montserrat"/>
              </a:defRPr>
            </a:pPr>
            <a:r>
              <a:rPr sz="2850" b="1" i="0" dirty="0">
                <a:solidFill>
                  <a:srgbClr val="2D2D2D"/>
                </a:solidFill>
                <a:highlight>
                  <a:srgbClr val="FFFF00"/>
                </a:highlight>
                <a:latin typeface="Montserrat"/>
                <a:ea typeface="Montserrat"/>
                <a:cs typeface="Montserrat"/>
              </a:rPr>
              <a:t>News brief</a:t>
            </a:r>
            <a:r>
              <a:rPr sz="2850" b="1" i="0" dirty="0">
                <a:solidFill>
                  <a:srgbClr val="2D2D2D"/>
                </a:solidFill>
                <a:latin typeface="Montserrat"/>
                <a:ea typeface="Montserrat"/>
                <a:cs typeface="Montserrat"/>
              </a:rPr>
              <a:t>  Happy adopters still report challenges</a:t>
            </a:r>
          </a:p>
        </p:txBody>
      </p:sp>
      <p:sp>
        <p:nvSpPr>
          <p:cNvPr id="2" name="Rectangle 1">
            <a:extLst>
              <a:ext uri="{FF2B5EF4-FFF2-40B4-BE49-F238E27FC236}">
                <a16:creationId xmlns:a16="http://schemas.microsoft.com/office/drawing/2014/main" id="{0C7DED7F-60B4-40A8-9E24-E328EC082B08}"/>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787DA3B1-00B6-489E-9F06-906F4F5CD0D4}"/>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012F2784-3789-43CB-8209-B3D2921BAA5A}"/>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61F04C29-FA1B-491E-8112-04E8E9EF7E6F}"/>
              </a:ext>
            </a:extLst>
          </p:cNvPr>
          <p:cNvSpPr>
            <a:spLocks noGrp="1"/>
          </p:cNvSpPr>
          <p:nvPr/>
        </p:nvSpPr>
        <p:spPr>
          <a:xfrm>
            <a:off x="781050" y="1143000"/>
            <a:ext cx="7581900" cy="228600"/>
          </a:xfrm>
          <a:prstGeom prst="rect">
            <a:avLst/>
          </a:prstGeom>
          <a:noFill/>
          <a:ln w="0">
            <a:noFill/>
          </a:ln>
        </p:spPr>
        <p:txBody>
          <a:bodyPr anchor="t">
            <a:normAutofit fontScale="87500" lnSpcReduction="10000"/>
          </a:bodyPr>
          <a:lstStyle/>
          <a:p>
            <a:pPr>
              <a:defRPr sz="1125" b="1" i="0">
                <a:solidFill>
                  <a:srgbClr val="1D4F91"/>
                </a:solidFill>
                <a:latin typeface="Montserrat"/>
                <a:ea typeface="Montserrat"/>
                <a:cs typeface="Montserrat"/>
              </a:defRPr>
            </a:pPr>
            <a:r>
              <a:rPr sz="1125" b="1" i="0">
                <a:solidFill>
                  <a:srgbClr val="1D4F91"/>
                </a:solidFill>
                <a:latin typeface="Montserrat"/>
                <a:ea typeface="Montserrat"/>
                <a:cs typeface="Montserrat"/>
              </a:rPr>
              <a:t>SHELTER MEDICINE  ·  FEBRUARY 20, 2026</a:t>
            </a:r>
          </a:p>
        </p:txBody>
      </p:sp>
      <p:sp>
        <p:nvSpPr>
          <p:cNvPr id="6" name="Rectangle 5">
            <a:extLst>
              <a:ext uri="{FF2B5EF4-FFF2-40B4-BE49-F238E27FC236}">
                <a16:creationId xmlns:a16="http://schemas.microsoft.com/office/drawing/2014/main" id="{628187C3-CC89-40C0-B746-D6C073502935}"/>
              </a:ext>
            </a:extLst>
          </p:cNvPr>
          <p:cNvSpPr>
            <a:spLocks noGrp="1"/>
          </p:cNvSpPr>
          <p:nvPr/>
        </p:nvSpPr>
        <p:spPr>
          <a:xfrm>
            <a:off x="990600" y="1581150"/>
            <a:ext cx="7162800" cy="781050"/>
          </a:xfrm>
          <a:prstGeom prst="rect">
            <a:avLst/>
          </a:prstGeom>
          <a:noFill/>
          <a:ln w="0">
            <a:noFill/>
          </a:ln>
        </p:spPr>
        <p:txBody>
          <a:bodyPr anchor="ctr">
            <a:normAutofit fontScale="90857" lnSpcReduction="20000"/>
          </a:bodyPr>
          <a:lstStyle/>
          <a:p>
            <a:pPr>
              <a:defRPr sz="2025" b="1" i="0">
                <a:solidFill>
                  <a:srgbClr val="2D2D2D"/>
                </a:solidFill>
                <a:latin typeface="Montserrat"/>
                <a:ea typeface="Montserrat"/>
                <a:cs typeface="Montserrat"/>
              </a:defRPr>
            </a:pPr>
            <a:r>
              <a:rPr sz="2025" b="1" i="0">
                <a:solidFill>
                  <a:srgbClr val="2D2D2D"/>
                </a:solidFill>
                <a:latin typeface="Montserrat"/>
                <a:ea typeface="Montserrat"/>
                <a:cs typeface="Montserrat"/>
              </a:rPr>
              <a:t>More than 22,000 adopters from 112 shelters and rescues in 40 states answered surveys during the first month after adoption.</a:t>
            </a:r>
          </a:p>
        </p:txBody>
      </p:sp>
      <p:sp>
        <p:nvSpPr>
          <p:cNvPr id="7" name="Rectangle 6">
            <a:extLst>
              <a:ext uri="{FF2B5EF4-FFF2-40B4-BE49-F238E27FC236}">
                <a16:creationId xmlns:a16="http://schemas.microsoft.com/office/drawing/2014/main" id="{372B6690-8F29-480B-8A8D-93FDF9EF70BB}"/>
              </a:ext>
            </a:extLst>
          </p:cNvPr>
          <p:cNvSpPr>
            <a:spLocks noGrp="1"/>
          </p:cNvSpPr>
          <p:nvPr/>
        </p:nvSpPr>
        <p:spPr>
          <a:xfrm>
            <a:off x="1428750" y="2571750"/>
            <a:ext cx="6286500" cy="19050"/>
          </a:xfrm>
          <a:prstGeom prst="rect">
            <a:avLst/>
          </a:prstGeom>
          <a:solidFill>
            <a:srgbClr val="D6D9DE"/>
          </a:solidFill>
          <a:ln w="0">
            <a:noFill/>
          </a:ln>
        </p:spPr>
      </p:sp>
      <p:sp>
        <p:nvSpPr>
          <p:cNvPr id="8" name="Rectangle 7">
            <a:extLst>
              <a:ext uri="{FF2B5EF4-FFF2-40B4-BE49-F238E27FC236}">
                <a16:creationId xmlns:a16="http://schemas.microsoft.com/office/drawing/2014/main" id="{6338A70D-C79F-4AEB-B189-23CE2BF6F267}"/>
              </a:ext>
            </a:extLst>
          </p:cNvPr>
          <p:cNvSpPr>
            <a:spLocks noGrp="1"/>
          </p:cNvSpPr>
          <p:nvPr/>
        </p:nvSpPr>
        <p:spPr>
          <a:xfrm>
            <a:off x="1285875" y="2800350"/>
            <a:ext cx="6572250" cy="933450"/>
          </a:xfrm>
          <a:prstGeom prst="rect">
            <a:avLst/>
          </a:prstGeom>
          <a:noFill/>
          <a:ln w="0">
            <a:noFill/>
          </a:ln>
        </p:spPr>
        <p:txBody>
          <a:bodyPr anchor="t">
            <a:normAutofit/>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More than 94% rated the adoption positively at each survey time. Yet more than 78% of dog adopters and 50% of cat adopters reported at least one challenge.</a:t>
            </a:r>
          </a:p>
        </p:txBody>
      </p:sp>
      <p:sp>
        <p:nvSpPr>
          <p:cNvPr id="9" name="Rectangle 8">
            <a:extLst>
              <a:ext uri="{FF2B5EF4-FFF2-40B4-BE49-F238E27FC236}">
                <a16:creationId xmlns:a16="http://schemas.microsoft.com/office/drawing/2014/main" id="{4037A9C9-C4F0-49D0-92ED-0922745D3472}"/>
              </a:ext>
            </a:extLst>
          </p:cNvPr>
          <p:cNvSpPr>
            <a:spLocks noGrp="1"/>
          </p:cNvSpPr>
          <p:nvPr/>
        </p:nvSpPr>
        <p:spPr>
          <a:xfrm>
            <a:off x="1285875" y="3900487"/>
            <a:ext cx="6191250" cy="542925"/>
          </a:xfrm>
          <a:prstGeom prst="rect">
            <a:avLst/>
          </a:prstGeom>
          <a:noFill/>
          <a:ln w="0">
            <a:noFill/>
          </a:ln>
        </p:spPr>
        <p:txBody>
          <a:bodyPr anchor="t">
            <a:normAutofit fontScale="94048" lnSpcReduction="10000"/>
          </a:bodyPr>
          <a:lstStyle/>
          <a:p>
            <a:pPr>
              <a:defRPr sz="1575" b="0" i="1">
                <a:solidFill>
                  <a:srgbClr val="B43A3A"/>
                </a:solidFill>
                <a:latin typeface="Montserrat"/>
                <a:ea typeface="Montserrat"/>
                <a:cs typeface="Montserrat"/>
              </a:defRPr>
            </a:pPr>
            <a:r>
              <a:rPr sz="1575" b="0" i="1" dirty="0">
                <a:solidFill>
                  <a:srgbClr val="B43A3A"/>
                </a:solidFill>
                <a:latin typeface="Montserrat"/>
                <a:ea typeface="Montserrat"/>
                <a:cs typeface="Montserrat"/>
              </a:rPr>
              <a:t>Surveys were sent on Day 1, Week 1, and Month 1. A response counted only while the pet remained in the home.</a:t>
            </a:r>
          </a:p>
        </p:txBody>
      </p:sp>
      <p:sp>
        <p:nvSpPr>
          <p:cNvPr id="10" name="Rectangle 9">
            <a:extLst>
              <a:ext uri="{FF2B5EF4-FFF2-40B4-BE49-F238E27FC236}">
                <a16:creationId xmlns:a16="http://schemas.microsoft.com/office/drawing/2014/main" id="{F112ADAC-4E85-4EBF-832A-AEAE01B3C486}"/>
              </a:ext>
            </a:extLst>
          </p:cNvPr>
          <p:cNvSpPr>
            <a:spLocks noGrp="1"/>
          </p:cNvSpPr>
          <p:nvPr/>
        </p:nvSpPr>
        <p:spPr>
          <a:xfrm>
            <a:off x="2047875" y="4524375"/>
            <a:ext cx="5048250" cy="171450"/>
          </a:xfrm>
          <a:prstGeom prst="rect">
            <a:avLst/>
          </a:prstGeom>
          <a:noFill/>
          <a:ln w="0">
            <a:noFill/>
          </a:ln>
        </p:spPr>
        <p:txBody>
          <a:bodyPr anchor="t">
            <a:normAutofit fontScale="65833" lnSpcReduction="20000"/>
          </a:bodyPr>
          <a:lstStyle/>
          <a:p>
            <a:pPr>
              <a:defRPr sz="900" b="0" i="0">
                <a:solidFill>
                  <a:srgbClr val="606975"/>
                </a:solidFill>
                <a:latin typeface="Montserrat"/>
                <a:ea typeface="Montserrat"/>
                <a:cs typeface="Montserrat"/>
              </a:defRPr>
            </a:pPr>
            <a:r>
              <a:rPr sz="900" b="0" i="0">
                <a:solidFill>
                  <a:srgbClr val="606975"/>
                </a:solidFill>
                <a:latin typeface="Montserrat"/>
                <a:ea typeface="Montserrat"/>
                <a:cs typeface="Montserrat"/>
              </a:rPr>
              <a:t>Paraphrased from the University of Florida Shelter Medicine Program</a:t>
            </a:r>
          </a:p>
        </p:txBody>
      </p:sp>
    </p:spTree>
    <p:extLst>
      <p:ext uri="{BB962C8B-B14F-4D97-AF65-F5344CB8AC3E}">
        <p14:creationId xmlns:p14="http://schemas.microsoft.com/office/powerpoint/2010/main" val="1094373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2EB"/>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2FE104A-3CFD-493E-9639-FB6F4DB6A55C}"/>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Case 1  Adoption satisfaction</a:t>
            </a:r>
          </a:p>
        </p:txBody>
      </p:sp>
      <p:sp>
        <p:nvSpPr>
          <p:cNvPr id="2" name="Rectangle 1">
            <a:extLst>
              <a:ext uri="{FF2B5EF4-FFF2-40B4-BE49-F238E27FC236}">
                <a16:creationId xmlns:a16="http://schemas.microsoft.com/office/drawing/2014/main" id="{713CCDC0-C7CE-4F7E-81FE-0BD4E6DE93E6}"/>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B2A67316-57E6-4218-8AD1-E976CB7F9910}"/>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C8E5CF4-CFD1-47E6-92D8-E4FF228BA159}"/>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7B529CBA-B3D7-4C62-8FA1-CAA175DF03AF}"/>
              </a:ext>
            </a:extLst>
          </p:cNvPr>
          <p:cNvSpPr>
            <a:spLocks noGrp="1"/>
          </p:cNvSpPr>
          <p:nvPr/>
        </p:nvSpPr>
        <p:spPr>
          <a:xfrm>
            <a:off x="714375" y="1219200"/>
            <a:ext cx="2095500" cy="323850"/>
          </a:xfrm>
          <a:prstGeom prst="rect">
            <a:avLst/>
          </a:prstGeom>
          <a:noFill/>
          <a:ln w="0">
            <a:noFill/>
          </a:ln>
        </p:spPr>
        <p:txBody>
          <a:bodyPr anchor="t">
            <a:normAutofit/>
          </a:bodyPr>
          <a:lstStyle/>
          <a:p>
            <a:pPr>
              <a:defRPr sz="1425" b="0" i="0">
                <a:solidFill>
                  <a:srgbClr val="606975"/>
                </a:solidFill>
                <a:latin typeface="Montserrat"/>
                <a:ea typeface="Montserrat"/>
                <a:cs typeface="Montserrat"/>
              </a:defRPr>
            </a:pPr>
            <a:r>
              <a:rPr sz="1425" b="0" i="0">
                <a:solidFill>
                  <a:srgbClr val="606975"/>
                </a:solidFill>
                <a:latin typeface="Montserrat"/>
                <a:ea typeface="Montserrat"/>
                <a:cs typeface="Montserrat"/>
              </a:rPr>
              <a:t>More than</a:t>
            </a:r>
          </a:p>
        </p:txBody>
      </p:sp>
      <p:sp>
        <p:nvSpPr>
          <p:cNvPr id="6" name="Rectangle 5">
            <a:extLst>
              <a:ext uri="{FF2B5EF4-FFF2-40B4-BE49-F238E27FC236}">
                <a16:creationId xmlns:a16="http://schemas.microsoft.com/office/drawing/2014/main" id="{A6EE91E1-2366-4165-BFB4-7C5401BC500B}"/>
              </a:ext>
            </a:extLst>
          </p:cNvPr>
          <p:cNvSpPr>
            <a:spLocks noGrp="1"/>
          </p:cNvSpPr>
          <p:nvPr/>
        </p:nvSpPr>
        <p:spPr>
          <a:xfrm>
            <a:off x="714375" y="1562100"/>
            <a:ext cx="2095500" cy="742950"/>
          </a:xfrm>
          <a:prstGeom prst="rect">
            <a:avLst/>
          </a:prstGeom>
          <a:noFill/>
          <a:ln w="0">
            <a:noFill/>
          </a:ln>
        </p:spPr>
        <p:txBody>
          <a:bodyPr anchor="t">
            <a:normAutofit fontScale="98276" lnSpcReduction="10000"/>
          </a:bodyPr>
          <a:lstStyle/>
          <a:p>
            <a:pPr>
              <a:defRPr sz="4350" b="1" i="0">
                <a:solidFill>
                  <a:srgbClr val="1D4F91"/>
                </a:solidFill>
                <a:latin typeface="Montserrat"/>
                <a:ea typeface="Montserrat"/>
                <a:cs typeface="Montserrat"/>
              </a:defRPr>
            </a:pPr>
            <a:r>
              <a:rPr sz="4350" b="1" i="0">
                <a:solidFill>
                  <a:srgbClr val="1D4F91"/>
                </a:solidFill>
                <a:latin typeface="Montserrat"/>
                <a:ea typeface="Montserrat"/>
                <a:cs typeface="Montserrat"/>
              </a:rPr>
              <a:t>22,000</a:t>
            </a:r>
          </a:p>
        </p:txBody>
      </p:sp>
      <p:sp>
        <p:nvSpPr>
          <p:cNvPr id="7" name="Rectangle 6">
            <a:extLst>
              <a:ext uri="{FF2B5EF4-FFF2-40B4-BE49-F238E27FC236}">
                <a16:creationId xmlns:a16="http://schemas.microsoft.com/office/drawing/2014/main" id="{26DBDD5B-FECB-4A6C-8ABB-7A9CD1468D42}"/>
              </a:ext>
            </a:extLst>
          </p:cNvPr>
          <p:cNvSpPr>
            <a:spLocks noGrp="1"/>
          </p:cNvSpPr>
          <p:nvPr/>
        </p:nvSpPr>
        <p:spPr>
          <a:xfrm>
            <a:off x="714375" y="2324100"/>
            <a:ext cx="2095500" cy="323850"/>
          </a:xfrm>
          <a:prstGeom prst="rect">
            <a:avLst/>
          </a:prstGeom>
          <a:noFill/>
          <a:ln w="0">
            <a:noFill/>
          </a:ln>
        </p:spPr>
        <p:txBody>
          <a:bodyPr anchor="t">
            <a:normAutofit/>
          </a:bodyPr>
          <a:lstStyle/>
          <a:p>
            <a:pPr>
              <a:defRPr sz="1500" b="0" i="0">
                <a:solidFill>
                  <a:srgbClr val="2D2D2D"/>
                </a:solidFill>
                <a:latin typeface="Montserrat"/>
                <a:ea typeface="Montserrat"/>
                <a:cs typeface="Montserrat"/>
              </a:defRPr>
            </a:pPr>
            <a:r>
              <a:rPr sz="1500" b="0" i="0">
                <a:solidFill>
                  <a:srgbClr val="2D2D2D"/>
                </a:solidFill>
                <a:latin typeface="Montserrat"/>
                <a:ea typeface="Montserrat"/>
                <a:cs typeface="Montserrat"/>
              </a:rPr>
              <a:t>adopters surveyed</a:t>
            </a:r>
          </a:p>
        </p:txBody>
      </p:sp>
      <p:sp>
        <p:nvSpPr>
          <p:cNvPr id="8" name="Rectangle 7">
            <a:extLst>
              <a:ext uri="{FF2B5EF4-FFF2-40B4-BE49-F238E27FC236}">
                <a16:creationId xmlns:a16="http://schemas.microsoft.com/office/drawing/2014/main" id="{3DCF22D9-373C-4022-B7DF-78B88C48F0FE}"/>
              </a:ext>
            </a:extLst>
          </p:cNvPr>
          <p:cNvSpPr>
            <a:spLocks noGrp="1"/>
          </p:cNvSpPr>
          <p:nvPr/>
        </p:nvSpPr>
        <p:spPr>
          <a:xfrm>
            <a:off x="3524250" y="1562100"/>
            <a:ext cx="2095500" cy="742950"/>
          </a:xfrm>
          <a:prstGeom prst="rect">
            <a:avLst/>
          </a:prstGeom>
          <a:noFill/>
          <a:ln w="0">
            <a:noFill/>
          </a:ln>
        </p:spPr>
        <p:txBody>
          <a:bodyPr anchor="t">
            <a:normAutofit fontScale="98276" lnSpcReduction="10000"/>
          </a:bodyPr>
          <a:lstStyle/>
          <a:p>
            <a:pPr>
              <a:defRPr sz="4350" b="1" i="0">
                <a:solidFill>
                  <a:srgbClr val="1D4F91"/>
                </a:solidFill>
                <a:latin typeface="Montserrat"/>
                <a:ea typeface="Montserrat"/>
                <a:cs typeface="Montserrat"/>
              </a:defRPr>
            </a:pPr>
            <a:r>
              <a:rPr sz="4350" b="1" i="0">
                <a:solidFill>
                  <a:srgbClr val="1D4F91"/>
                </a:solidFill>
                <a:latin typeface="Montserrat"/>
                <a:ea typeface="Montserrat"/>
                <a:cs typeface="Montserrat"/>
              </a:rPr>
              <a:t>112</a:t>
            </a:r>
          </a:p>
        </p:txBody>
      </p:sp>
      <p:sp>
        <p:nvSpPr>
          <p:cNvPr id="9" name="Rectangle 8">
            <a:extLst>
              <a:ext uri="{FF2B5EF4-FFF2-40B4-BE49-F238E27FC236}">
                <a16:creationId xmlns:a16="http://schemas.microsoft.com/office/drawing/2014/main" id="{2A48416C-B37D-4550-94FC-21E00A35A053}"/>
              </a:ext>
            </a:extLst>
          </p:cNvPr>
          <p:cNvSpPr>
            <a:spLocks noGrp="1"/>
          </p:cNvSpPr>
          <p:nvPr/>
        </p:nvSpPr>
        <p:spPr>
          <a:xfrm>
            <a:off x="3524250" y="2324100"/>
            <a:ext cx="2095500" cy="323850"/>
          </a:xfrm>
          <a:prstGeom prst="rect">
            <a:avLst/>
          </a:prstGeom>
          <a:noFill/>
          <a:ln w="0">
            <a:noFill/>
          </a:ln>
        </p:spPr>
        <p:txBody>
          <a:bodyPr anchor="t">
            <a:normAutofit fontScale="92500"/>
          </a:bodyPr>
          <a:lstStyle/>
          <a:p>
            <a:pPr>
              <a:defRPr sz="1500" b="0" i="0">
                <a:solidFill>
                  <a:srgbClr val="2D2D2D"/>
                </a:solidFill>
                <a:latin typeface="Montserrat"/>
                <a:ea typeface="Montserrat"/>
                <a:cs typeface="Montserrat"/>
              </a:defRPr>
            </a:pPr>
            <a:r>
              <a:rPr sz="1500" b="0" i="0">
                <a:solidFill>
                  <a:srgbClr val="2D2D2D"/>
                </a:solidFill>
                <a:latin typeface="Montserrat"/>
                <a:ea typeface="Montserrat"/>
                <a:cs typeface="Montserrat"/>
              </a:rPr>
              <a:t>shelters and rescues</a:t>
            </a:r>
          </a:p>
        </p:txBody>
      </p:sp>
      <p:sp>
        <p:nvSpPr>
          <p:cNvPr id="10" name="Rectangle 9">
            <a:extLst>
              <a:ext uri="{FF2B5EF4-FFF2-40B4-BE49-F238E27FC236}">
                <a16:creationId xmlns:a16="http://schemas.microsoft.com/office/drawing/2014/main" id="{99F5B097-BE84-4A81-A8E4-2513F5609DE6}"/>
              </a:ext>
            </a:extLst>
          </p:cNvPr>
          <p:cNvSpPr>
            <a:spLocks noGrp="1"/>
          </p:cNvSpPr>
          <p:nvPr/>
        </p:nvSpPr>
        <p:spPr>
          <a:xfrm>
            <a:off x="6334125" y="1562100"/>
            <a:ext cx="2095500" cy="742950"/>
          </a:xfrm>
          <a:prstGeom prst="rect">
            <a:avLst/>
          </a:prstGeom>
          <a:noFill/>
          <a:ln w="0">
            <a:noFill/>
          </a:ln>
        </p:spPr>
        <p:txBody>
          <a:bodyPr anchor="t">
            <a:normAutofit fontScale="98276" lnSpcReduction="10000"/>
          </a:bodyPr>
          <a:lstStyle/>
          <a:p>
            <a:pPr>
              <a:defRPr sz="4350" b="1" i="0">
                <a:solidFill>
                  <a:srgbClr val="1D4F91"/>
                </a:solidFill>
                <a:latin typeface="Montserrat"/>
                <a:ea typeface="Montserrat"/>
                <a:cs typeface="Montserrat"/>
              </a:defRPr>
            </a:pPr>
            <a:r>
              <a:rPr sz="4350" b="1" i="0">
                <a:solidFill>
                  <a:srgbClr val="1D4F91"/>
                </a:solidFill>
                <a:latin typeface="Montserrat"/>
                <a:ea typeface="Montserrat"/>
                <a:cs typeface="Montserrat"/>
              </a:rPr>
              <a:t>40</a:t>
            </a:r>
          </a:p>
        </p:txBody>
      </p:sp>
      <p:sp>
        <p:nvSpPr>
          <p:cNvPr id="11" name="Rectangle 10">
            <a:extLst>
              <a:ext uri="{FF2B5EF4-FFF2-40B4-BE49-F238E27FC236}">
                <a16:creationId xmlns:a16="http://schemas.microsoft.com/office/drawing/2014/main" id="{105E1BB7-E6B2-4420-9697-922540804F4E}"/>
              </a:ext>
            </a:extLst>
          </p:cNvPr>
          <p:cNvSpPr>
            <a:spLocks noGrp="1"/>
          </p:cNvSpPr>
          <p:nvPr/>
        </p:nvSpPr>
        <p:spPr>
          <a:xfrm>
            <a:off x="6334125" y="2324100"/>
            <a:ext cx="2095500" cy="323850"/>
          </a:xfrm>
          <a:prstGeom prst="rect">
            <a:avLst/>
          </a:prstGeom>
          <a:noFill/>
          <a:ln w="0">
            <a:noFill/>
          </a:ln>
        </p:spPr>
        <p:txBody>
          <a:bodyPr anchor="t">
            <a:normAutofit/>
          </a:bodyPr>
          <a:lstStyle/>
          <a:p>
            <a:pPr>
              <a:defRPr sz="1500" b="0" i="0">
                <a:solidFill>
                  <a:srgbClr val="2D2D2D"/>
                </a:solidFill>
                <a:latin typeface="Montserrat"/>
                <a:ea typeface="Montserrat"/>
                <a:cs typeface="Montserrat"/>
              </a:defRPr>
            </a:pPr>
            <a:r>
              <a:rPr sz="1500" b="0" i="0">
                <a:solidFill>
                  <a:srgbClr val="2D2D2D"/>
                </a:solidFill>
                <a:latin typeface="Montserrat"/>
                <a:ea typeface="Montserrat"/>
                <a:cs typeface="Montserrat"/>
              </a:rPr>
              <a:t>states represented</a:t>
            </a:r>
          </a:p>
        </p:txBody>
      </p:sp>
      <p:sp>
        <p:nvSpPr>
          <p:cNvPr id="12" name="Rectangle 11">
            <a:extLst>
              <a:ext uri="{FF2B5EF4-FFF2-40B4-BE49-F238E27FC236}">
                <a16:creationId xmlns:a16="http://schemas.microsoft.com/office/drawing/2014/main" id="{D735449C-D33A-4CAE-8D1E-881A211CCF94}"/>
              </a:ext>
            </a:extLst>
          </p:cNvPr>
          <p:cNvSpPr>
            <a:spLocks noGrp="1"/>
          </p:cNvSpPr>
          <p:nvPr/>
        </p:nvSpPr>
        <p:spPr>
          <a:xfrm>
            <a:off x="1000125" y="3067050"/>
            <a:ext cx="7143750" cy="514350"/>
          </a:xfrm>
          <a:prstGeom prst="rect">
            <a:avLst/>
          </a:prstGeom>
          <a:noFill/>
          <a:ln w="0">
            <a:noFill/>
          </a:ln>
        </p:spPr>
        <p:txBody>
          <a:bodyPr anchor="t">
            <a:normAutofit fontScale="73864" lnSpcReduction="20000"/>
          </a:bodyPr>
          <a:lstStyle/>
          <a:p>
            <a:pPr>
              <a:defRPr sz="2175" b="1" i="0">
                <a:solidFill>
                  <a:srgbClr val="2C7A62"/>
                </a:solidFill>
                <a:latin typeface="Montserrat"/>
                <a:ea typeface="Montserrat"/>
                <a:cs typeface="Montserrat"/>
              </a:defRPr>
            </a:pPr>
            <a:r>
              <a:rPr sz="2175" b="1" i="0">
                <a:solidFill>
                  <a:srgbClr val="2C7A62"/>
                </a:solidFill>
                <a:latin typeface="Montserrat"/>
                <a:ea typeface="Montserrat"/>
                <a:cs typeface="Montserrat"/>
              </a:rPr>
              <a:t>Over 94% rated the adoption positively at each survey time.</a:t>
            </a:r>
          </a:p>
        </p:txBody>
      </p:sp>
      <p:sp>
        <p:nvSpPr>
          <p:cNvPr id="13" name="Rectangle 12">
            <a:extLst>
              <a:ext uri="{FF2B5EF4-FFF2-40B4-BE49-F238E27FC236}">
                <a16:creationId xmlns:a16="http://schemas.microsoft.com/office/drawing/2014/main" id="{EE6F66BF-88E8-4DCD-AA8E-D3FEA1782CB1}"/>
              </a:ext>
            </a:extLst>
          </p:cNvPr>
          <p:cNvSpPr>
            <a:spLocks noGrp="1"/>
          </p:cNvSpPr>
          <p:nvPr/>
        </p:nvSpPr>
        <p:spPr>
          <a:xfrm>
            <a:off x="1190625" y="3876675"/>
            <a:ext cx="6762750" cy="457200"/>
          </a:xfrm>
          <a:prstGeom prst="rect">
            <a:avLst/>
          </a:prstGeom>
          <a:noFill/>
          <a:ln w="0">
            <a:noFill/>
          </a:ln>
        </p:spPr>
        <p:txBody>
          <a:bodyPr anchor="t">
            <a:normAutofit fontScale="87246"/>
          </a:bodyPr>
          <a:lstStyle/>
          <a:p>
            <a:pPr>
              <a:defRPr sz="1875" b="1" i="0">
                <a:solidFill>
                  <a:srgbClr val="B43A3A"/>
                </a:solidFill>
                <a:latin typeface="Montserrat"/>
                <a:ea typeface="Montserrat"/>
                <a:cs typeface="Montserrat"/>
              </a:defRPr>
            </a:pPr>
            <a:r>
              <a:rPr sz="1875" b="1" i="0">
                <a:solidFill>
                  <a:srgbClr val="B43A3A"/>
                </a:solidFill>
                <a:latin typeface="Montserrat"/>
                <a:ea typeface="Montserrat"/>
                <a:cs typeface="Montserrat"/>
              </a:rPr>
              <a:t>Responses counted only when the pet remained in the home.</a:t>
            </a:r>
          </a:p>
        </p:txBody>
      </p:sp>
    </p:spTree>
    <p:extLst>
      <p:ext uri="{BB962C8B-B14F-4D97-AF65-F5344CB8AC3E}">
        <p14:creationId xmlns:p14="http://schemas.microsoft.com/office/powerpoint/2010/main" val="154575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F641E1-D8B9-412D-A24A-E13DC1A572CB}"/>
              </a:ext>
            </a:extLst>
          </p:cNvPr>
          <p:cNvSpPr>
            <a:spLocks noGrp="1"/>
          </p:cNvSpPr>
          <p:nvPr/>
        </p:nvSpPr>
        <p:spPr>
          <a:xfrm>
            <a:off x="590550" y="285750"/>
            <a:ext cx="7962900" cy="552450"/>
          </a:xfrm>
          <a:prstGeom prst="rect">
            <a:avLst/>
          </a:prstGeom>
          <a:noFill/>
          <a:ln w="0">
            <a:noFill/>
          </a:ln>
        </p:spPr>
        <p:txBody>
          <a:bodyPr anchor="t">
            <a:normAutofit fontScale="92500"/>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Adoption study  Population and individuals</a:t>
            </a:r>
          </a:p>
        </p:txBody>
      </p:sp>
      <p:sp>
        <p:nvSpPr>
          <p:cNvPr id="2" name="Rectangle 1">
            <a:extLst>
              <a:ext uri="{FF2B5EF4-FFF2-40B4-BE49-F238E27FC236}">
                <a16:creationId xmlns:a16="http://schemas.microsoft.com/office/drawing/2014/main" id="{CBBA91CC-03D3-4959-8CD2-6FD5CDC1410A}"/>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701AF85A-B519-462F-B575-017D84E1D2D3}"/>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13D8D06-B24E-4AC0-BFF6-59E8A5FA717A}"/>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A63A5C8E-0782-43B0-93A5-A307FD1BFA6C}"/>
              </a:ext>
            </a:extLst>
          </p:cNvPr>
          <p:cNvSpPr>
            <a:spLocks noGrp="1"/>
          </p:cNvSpPr>
          <p:nvPr/>
        </p:nvSpPr>
        <p:spPr>
          <a:xfrm>
            <a:off x="600075" y="1047750"/>
            <a:ext cx="4000500" cy="228600"/>
          </a:xfrm>
          <a:prstGeom prst="rect">
            <a:avLst/>
          </a:prstGeom>
          <a:noFill/>
          <a:ln w="0">
            <a:noFill/>
          </a:ln>
        </p:spPr>
        <p:txBody>
          <a:bodyPr anchor="t">
            <a:normAutofit fontScale="90000" lnSpcReduction="20000"/>
          </a:bodyPr>
          <a:lstStyle/>
          <a:p>
            <a:pPr>
              <a:defRPr sz="1200" b="1" i="0">
                <a:solidFill>
                  <a:srgbClr val="1D4F91"/>
                </a:solidFill>
                <a:latin typeface="Montserrat"/>
                <a:ea typeface="Montserrat"/>
                <a:cs typeface="Montserrat"/>
              </a:defRPr>
            </a:pPr>
            <a:r>
              <a:rPr sz="1200" b="1" i="0">
                <a:solidFill>
                  <a:srgbClr val="1D4F91"/>
                </a:solidFill>
                <a:latin typeface="Montserrat"/>
                <a:ea typeface="Montserrat"/>
                <a:cs typeface="Montserrat"/>
              </a:rPr>
              <a:t>PAIR DISCUSSION   4 MINUTES</a:t>
            </a:r>
          </a:p>
        </p:txBody>
      </p:sp>
      <p:sp>
        <p:nvSpPr>
          <p:cNvPr id="6" name="Rectangle 5">
            <a:extLst>
              <a:ext uri="{FF2B5EF4-FFF2-40B4-BE49-F238E27FC236}">
                <a16:creationId xmlns:a16="http://schemas.microsoft.com/office/drawing/2014/main" id="{E147090A-50BE-4B1B-9F45-72BB42C8A20A}"/>
              </a:ext>
            </a:extLst>
          </p:cNvPr>
          <p:cNvSpPr>
            <a:spLocks noGrp="1"/>
          </p:cNvSpPr>
          <p:nvPr/>
        </p:nvSpPr>
        <p:spPr>
          <a:xfrm>
            <a:off x="742950" y="1571625"/>
            <a:ext cx="2095500" cy="361950"/>
          </a:xfrm>
          <a:prstGeom prst="rect">
            <a:avLst/>
          </a:prstGeom>
          <a:noFill/>
          <a:ln w="0">
            <a:noFill/>
          </a:ln>
        </p:spPr>
        <p:txBody>
          <a:bodyPr anchor="t">
            <a:normAutofit fontScale="98611" lnSpcReduction="10000"/>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Population</a:t>
            </a:r>
          </a:p>
        </p:txBody>
      </p:sp>
      <p:sp>
        <p:nvSpPr>
          <p:cNvPr id="7" name="Rectangle 6">
            <a:extLst>
              <a:ext uri="{FF2B5EF4-FFF2-40B4-BE49-F238E27FC236}">
                <a16:creationId xmlns:a16="http://schemas.microsoft.com/office/drawing/2014/main" id="{2AEEFA5A-F05D-414C-B8F1-1E7FEDA72FB5}"/>
              </a:ext>
            </a:extLst>
          </p:cNvPr>
          <p:cNvSpPr>
            <a:spLocks noGrp="1"/>
          </p:cNvSpPr>
          <p:nvPr/>
        </p:nvSpPr>
        <p:spPr>
          <a:xfrm>
            <a:off x="2857500" y="1571625"/>
            <a:ext cx="5429250" cy="533400"/>
          </a:xfrm>
          <a:prstGeom prst="rect">
            <a:avLst/>
          </a:prstGeom>
          <a:noFill/>
          <a:ln w="0">
            <a:noFill/>
          </a:ln>
        </p:spPr>
        <p:txBody>
          <a:bodyPr anchor="t">
            <a:normAutofit fontScale="85465" lnSpcReduction="20000"/>
          </a:bodyPr>
          <a:lstStyle/>
          <a:p>
            <a:pPr>
              <a:defRPr sz="2025" b="0" i="0">
                <a:solidFill>
                  <a:srgbClr val="2D2D2D"/>
                </a:solidFill>
                <a:latin typeface="Montserrat"/>
                <a:ea typeface="Montserrat"/>
                <a:cs typeface="Montserrat"/>
              </a:defRPr>
            </a:pPr>
            <a:r>
              <a:rPr sz="2025" b="0" i="0">
                <a:solidFill>
                  <a:srgbClr val="2D2D2D"/>
                </a:solidFill>
                <a:latin typeface="Montserrat"/>
                <a:ea typeface="Montserrat"/>
                <a:cs typeface="Montserrat"/>
              </a:rPr>
              <a:t>Which larger group do we want the 94% to describe?</a:t>
            </a:r>
          </a:p>
        </p:txBody>
      </p:sp>
      <p:sp>
        <p:nvSpPr>
          <p:cNvPr id="8" name="Rectangle 7">
            <a:extLst>
              <a:ext uri="{FF2B5EF4-FFF2-40B4-BE49-F238E27FC236}">
                <a16:creationId xmlns:a16="http://schemas.microsoft.com/office/drawing/2014/main" id="{43B2E4DA-65F4-45F3-8D70-75AD7922E0B3}"/>
              </a:ext>
            </a:extLst>
          </p:cNvPr>
          <p:cNvSpPr>
            <a:spLocks noGrp="1"/>
          </p:cNvSpPr>
          <p:nvPr/>
        </p:nvSpPr>
        <p:spPr>
          <a:xfrm>
            <a:off x="742950" y="2495550"/>
            <a:ext cx="2095500" cy="361950"/>
          </a:xfrm>
          <a:prstGeom prst="rect">
            <a:avLst/>
          </a:prstGeom>
          <a:noFill/>
          <a:ln w="0">
            <a:noFill/>
          </a:ln>
        </p:spPr>
        <p:txBody>
          <a:bodyPr anchor="t">
            <a:normAutofit fontScale="98611" lnSpcReduction="10000"/>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Individual</a:t>
            </a:r>
          </a:p>
        </p:txBody>
      </p:sp>
      <p:sp>
        <p:nvSpPr>
          <p:cNvPr id="9" name="Rectangle 8">
            <a:extLst>
              <a:ext uri="{FF2B5EF4-FFF2-40B4-BE49-F238E27FC236}">
                <a16:creationId xmlns:a16="http://schemas.microsoft.com/office/drawing/2014/main" id="{3E606367-C37A-4A66-8641-C4E266130E2A}"/>
              </a:ext>
            </a:extLst>
          </p:cNvPr>
          <p:cNvSpPr>
            <a:spLocks noGrp="1"/>
          </p:cNvSpPr>
          <p:nvPr/>
        </p:nvSpPr>
        <p:spPr>
          <a:xfrm>
            <a:off x="2857500" y="2495550"/>
            <a:ext cx="5429250" cy="619125"/>
          </a:xfrm>
          <a:prstGeom prst="rect">
            <a:avLst/>
          </a:prstGeom>
          <a:noFill/>
          <a:ln w="0">
            <a:noFill/>
          </a:ln>
        </p:spPr>
        <p:txBody>
          <a:bodyPr anchor="t">
            <a:normAutofit fontScale="92994" lnSpcReduction="10000"/>
          </a:bodyPr>
          <a:lstStyle/>
          <a:p>
            <a:pPr>
              <a:defRPr sz="2025" b="0" i="0">
                <a:solidFill>
                  <a:srgbClr val="2D2D2D"/>
                </a:solidFill>
                <a:latin typeface="Montserrat"/>
                <a:ea typeface="Montserrat"/>
                <a:cs typeface="Montserrat"/>
              </a:defRPr>
            </a:pPr>
            <a:r>
              <a:rPr sz="2025" b="0" i="0">
                <a:solidFill>
                  <a:srgbClr val="2D2D2D"/>
                </a:solidFill>
                <a:latin typeface="Montserrat"/>
                <a:ea typeface="Montserrat"/>
                <a:cs typeface="Montserrat"/>
              </a:rPr>
              <a:t>Is one individual an adopter, an adoption, a pet, or a survey response?</a:t>
            </a:r>
          </a:p>
        </p:txBody>
      </p:sp>
      <p:sp>
        <p:nvSpPr>
          <p:cNvPr id="10" name="Rectangle 9">
            <a:extLst>
              <a:ext uri="{FF2B5EF4-FFF2-40B4-BE49-F238E27FC236}">
                <a16:creationId xmlns:a16="http://schemas.microsoft.com/office/drawing/2014/main" id="{91F5E0D7-378E-434A-8EEF-B5842D8557B4}"/>
              </a:ext>
            </a:extLst>
          </p:cNvPr>
          <p:cNvSpPr>
            <a:spLocks noGrp="1"/>
          </p:cNvSpPr>
          <p:nvPr/>
        </p:nvSpPr>
        <p:spPr>
          <a:xfrm>
            <a:off x="742950" y="3524250"/>
            <a:ext cx="2095500" cy="361950"/>
          </a:xfrm>
          <a:prstGeom prst="rect">
            <a:avLst/>
          </a:prstGeom>
          <a:noFill/>
          <a:ln w="0">
            <a:noFill/>
          </a:ln>
        </p:spPr>
        <p:txBody>
          <a:bodyPr anchor="t">
            <a:normAutofit fontScale="83611" lnSpcReduction="10000"/>
          </a:bodyPr>
          <a:lstStyle/>
          <a:p>
            <a:pPr>
              <a:defRPr sz="1800" b="1" i="0">
                <a:solidFill>
                  <a:srgbClr val="1D4F91"/>
                </a:solidFill>
                <a:latin typeface="Montserrat"/>
                <a:ea typeface="Montserrat"/>
                <a:cs typeface="Montserrat"/>
              </a:defRPr>
            </a:pPr>
            <a:r>
              <a:rPr sz="1800" b="1" i="0" dirty="0">
                <a:solidFill>
                  <a:srgbClr val="1D4F91"/>
                </a:solidFill>
                <a:latin typeface="Montserrat"/>
                <a:ea typeface="Montserrat"/>
                <a:cs typeface="Montserrat"/>
              </a:rPr>
              <a:t>Observation</a:t>
            </a:r>
            <a:r>
              <a:rPr lang="zh-CN" altLang="en-US" sz="1800" b="1" i="0" dirty="0">
                <a:solidFill>
                  <a:srgbClr val="1D4F91"/>
                </a:solidFill>
                <a:latin typeface="Montserrat"/>
                <a:ea typeface="Montserrat"/>
                <a:cs typeface="Montserrat"/>
              </a:rPr>
              <a:t> </a:t>
            </a:r>
            <a:r>
              <a:rPr lang="en-US" altLang="zh-CN" sz="1800" b="1" i="0" dirty="0">
                <a:solidFill>
                  <a:srgbClr val="1D4F91"/>
                </a:solidFill>
                <a:latin typeface="Montserrat"/>
                <a:ea typeface="Montserrat"/>
                <a:cs typeface="Montserrat"/>
              </a:rPr>
              <a:t>(cases)</a:t>
            </a:r>
            <a:endParaRPr sz="1800" b="1" i="0" dirty="0">
              <a:solidFill>
                <a:srgbClr val="1D4F91"/>
              </a:solidFill>
              <a:latin typeface="Montserrat"/>
              <a:ea typeface="Montserrat"/>
              <a:cs typeface="Montserrat"/>
            </a:endParaRPr>
          </a:p>
        </p:txBody>
      </p:sp>
      <p:sp>
        <p:nvSpPr>
          <p:cNvPr id="11" name="Rectangle 10">
            <a:extLst>
              <a:ext uri="{FF2B5EF4-FFF2-40B4-BE49-F238E27FC236}">
                <a16:creationId xmlns:a16="http://schemas.microsoft.com/office/drawing/2014/main" id="{DF83D07D-0E14-4B82-A818-39C284405E18}"/>
              </a:ext>
            </a:extLst>
          </p:cNvPr>
          <p:cNvSpPr>
            <a:spLocks noGrp="1"/>
          </p:cNvSpPr>
          <p:nvPr/>
        </p:nvSpPr>
        <p:spPr>
          <a:xfrm>
            <a:off x="2857500" y="3524250"/>
            <a:ext cx="5429250" cy="628650"/>
          </a:xfrm>
          <a:prstGeom prst="rect">
            <a:avLst/>
          </a:prstGeom>
          <a:noFill/>
          <a:ln w="0">
            <a:noFill/>
          </a:ln>
        </p:spPr>
        <p:txBody>
          <a:bodyPr anchor="t">
            <a:normAutofit fontScale="97917" lnSpcReduction="10000"/>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The same adoption may produce a response on Day 1, Week 1, and Month 1.</a:t>
            </a:r>
          </a:p>
        </p:txBody>
      </p:sp>
      <p:sp>
        <p:nvSpPr>
          <p:cNvPr id="13" name="TextBox 12">
            <a:extLst>
              <a:ext uri="{FF2B5EF4-FFF2-40B4-BE49-F238E27FC236}">
                <a16:creationId xmlns:a16="http://schemas.microsoft.com/office/drawing/2014/main" id="{358F4A19-EDD0-28F3-D346-A17F53805ECA}"/>
              </a:ext>
            </a:extLst>
          </p:cNvPr>
          <p:cNvSpPr txBox="1"/>
          <p:nvPr/>
        </p:nvSpPr>
        <p:spPr>
          <a:xfrm>
            <a:off x="3108961" y="933450"/>
            <a:ext cx="3433119" cy="369332"/>
          </a:xfrm>
          <a:prstGeom prst="rect">
            <a:avLst/>
          </a:prstGeom>
          <a:noFill/>
        </p:spPr>
        <p:txBody>
          <a:bodyPr wrap="none" rtlCol="0">
            <a:spAutoFit/>
          </a:bodyPr>
          <a:lstStyle/>
          <a:p>
            <a:r>
              <a:rPr lang="en-US" altLang="zh-CN" dirty="0">
                <a:highlight>
                  <a:srgbClr val="FFFF00"/>
                </a:highlight>
              </a:rPr>
              <a:t>How</a:t>
            </a:r>
            <a:r>
              <a:rPr lang="zh-CN" altLang="en-US" dirty="0">
                <a:highlight>
                  <a:srgbClr val="FFFF00"/>
                </a:highlight>
              </a:rPr>
              <a:t> </a:t>
            </a:r>
            <a:r>
              <a:rPr lang="en-US" altLang="zh-CN" dirty="0">
                <a:highlight>
                  <a:srgbClr val="FFFF00"/>
                </a:highlight>
              </a:rPr>
              <a:t>would</a:t>
            </a:r>
            <a:r>
              <a:rPr lang="zh-CN" altLang="en-US" dirty="0">
                <a:highlight>
                  <a:srgbClr val="FFFF00"/>
                </a:highlight>
              </a:rPr>
              <a:t> </a:t>
            </a:r>
            <a:r>
              <a:rPr lang="en-US" altLang="zh-CN" dirty="0">
                <a:highlight>
                  <a:srgbClr val="FFFF00"/>
                </a:highlight>
              </a:rPr>
              <a:t>you</a:t>
            </a:r>
            <a:r>
              <a:rPr lang="zh-CN" altLang="en-US" dirty="0">
                <a:highlight>
                  <a:srgbClr val="FFFF00"/>
                </a:highlight>
              </a:rPr>
              <a:t> </a:t>
            </a:r>
            <a:r>
              <a:rPr lang="en-US" altLang="zh-CN" dirty="0">
                <a:highlight>
                  <a:srgbClr val="FFFF00"/>
                </a:highlight>
              </a:rPr>
              <a:t>organize</a:t>
            </a:r>
            <a:r>
              <a:rPr lang="zh-CN" altLang="en-US" dirty="0">
                <a:highlight>
                  <a:srgbClr val="FFFF00"/>
                </a:highlight>
              </a:rPr>
              <a:t> </a:t>
            </a:r>
            <a:r>
              <a:rPr lang="en-US" altLang="zh-CN" dirty="0">
                <a:highlight>
                  <a:srgbClr val="FFFF00"/>
                </a:highlight>
              </a:rPr>
              <a:t>the</a:t>
            </a:r>
            <a:r>
              <a:rPr lang="zh-CN" altLang="en-US" dirty="0">
                <a:highlight>
                  <a:srgbClr val="FFFF00"/>
                </a:highlight>
              </a:rPr>
              <a:t> </a:t>
            </a:r>
            <a:r>
              <a:rPr lang="en-US" altLang="zh-CN" dirty="0">
                <a:highlight>
                  <a:srgbClr val="FFFF00"/>
                </a:highlight>
              </a:rPr>
              <a:t>data?</a:t>
            </a:r>
            <a:endParaRPr lang="en-US" dirty="0">
              <a:highlight>
                <a:srgbClr val="FFFF00"/>
              </a:highlight>
            </a:endParaRPr>
          </a:p>
        </p:txBody>
      </p:sp>
    </p:spTree>
    <p:extLst>
      <p:ext uri="{BB962C8B-B14F-4D97-AF65-F5344CB8AC3E}">
        <p14:creationId xmlns:p14="http://schemas.microsoft.com/office/powerpoint/2010/main" val="2049433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CA37-550A-C81E-1C68-686D5B87F2E3}"/>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C00FE5F-52C7-A475-8A87-AA84472CC50F}"/>
              </a:ext>
            </a:extLst>
          </p:cNvPr>
          <p:cNvGraphicFramePr>
            <a:graphicFrameLocks noGrp="1"/>
          </p:cNvGraphicFramePr>
          <p:nvPr>
            <p:extLst>
              <p:ext uri="{D42A27DB-BD31-4B8C-83A1-F6EECF244321}">
                <p14:modId xmlns:p14="http://schemas.microsoft.com/office/powerpoint/2010/main" val="1756655626"/>
              </p:ext>
            </p:extLst>
          </p:nvPr>
        </p:nvGraphicFramePr>
        <p:xfrm>
          <a:off x="1524000" y="1382231"/>
          <a:ext cx="6096000" cy="1854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555569091"/>
                    </a:ext>
                  </a:extLst>
                </a:gridCol>
                <a:gridCol w="1263721">
                  <a:extLst>
                    <a:ext uri="{9D8B030D-6E8A-4147-A177-3AD203B41FA5}">
                      <a16:colId xmlns:a16="http://schemas.microsoft.com/office/drawing/2014/main" val="3019040190"/>
                    </a:ext>
                  </a:extLst>
                </a:gridCol>
                <a:gridCol w="1715785">
                  <a:extLst>
                    <a:ext uri="{9D8B030D-6E8A-4147-A177-3AD203B41FA5}">
                      <a16:colId xmlns:a16="http://schemas.microsoft.com/office/drawing/2014/main" val="3373600778"/>
                    </a:ext>
                  </a:extLst>
                </a:gridCol>
                <a:gridCol w="960727">
                  <a:extLst>
                    <a:ext uri="{9D8B030D-6E8A-4147-A177-3AD203B41FA5}">
                      <a16:colId xmlns:a16="http://schemas.microsoft.com/office/drawing/2014/main" val="3549888564"/>
                    </a:ext>
                  </a:extLst>
                </a:gridCol>
                <a:gridCol w="652315">
                  <a:extLst>
                    <a:ext uri="{9D8B030D-6E8A-4147-A177-3AD203B41FA5}">
                      <a16:colId xmlns:a16="http://schemas.microsoft.com/office/drawing/2014/main" val="3438552592"/>
                    </a:ext>
                  </a:extLst>
                </a:gridCol>
                <a:gridCol w="284252">
                  <a:extLst>
                    <a:ext uri="{9D8B030D-6E8A-4147-A177-3AD203B41FA5}">
                      <a16:colId xmlns:a16="http://schemas.microsoft.com/office/drawing/2014/main" val="914445784"/>
                    </a:ext>
                  </a:extLst>
                </a:gridCol>
              </a:tblGrid>
              <a:tr h="370840">
                <a:tc>
                  <a:txBody>
                    <a:bodyPr/>
                    <a:lstStyle/>
                    <a:p>
                      <a:r>
                        <a:rPr lang="en-US" dirty="0"/>
                        <a:t>Cases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0979591"/>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01056546"/>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21452865"/>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36578444"/>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17448623"/>
                  </a:ext>
                </a:extLst>
              </a:tr>
            </a:tbl>
          </a:graphicData>
        </a:graphic>
      </p:graphicFrame>
    </p:spTree>
    <p:extLst>
      <p:ext uri="{BB962C8B-B14F-4D97-AF65-F5344CB8AC3E}">
        <p14:creationId xmlns:p14="http://schemas.microsoft.com/office/powerpoint/2010/main" val="393888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CF21D09-B516-459F-B0B4-3CFE08E7E3FE}"/>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dirty="0">
                <a:solidFill>
                  <a:srgbClr val="2D2D2D"/>
                </a:solidFill>
                <a:latin typeface="Montserrat"/>
                <a:ea typeface="Montserrat"/>
                <a:cs typeface="Montserrat"/>
              </a:rPr>
              <a:t>Adoption study </a:t>
            </a:r>
            <a:r>
              <a:rPr lang="en-US" altLang="zh-CN" sz="2850" b="1" i="0" dirty="0">
                <a:solidFill>
                  <a:srgbClr val="2D2D2D"/>
                </a:solidFill>
                <a:latin typeface="Montserrat"/>
                <a:ea typeface="Montserrat"/>
                <a:cs typeface="Montserrat"/>
              </a:rPr>
              <a:t>-</a:t>
            </a:r>
            <a:r>
              <a:rPr sz="2850" b="1" i="0" dirty="0">
                <a:solidFill>
                  <a:srgbClr val="2D2D2D"/>
                </a:solidFill>
                <a:latin typeface="Montserrat"/>
                <a:ea typeface="Montserrat"/>
                <a:cs typeface="Montserrat"/>
              </a:rPr>
              <a:t> Who entered the data?</a:t>
            </a:r>
          </a:p>
        </p:txBody>
      </p:sp>
      <p:sp>
        <p:nvSpPr>
          <p:cNvPr id="2" name="Rectangle 1">
            <a:extLst>
              <a:ext uri="{FF2B5EF4-FFF2-40B4-BE49-F238E27FC236}">
                <a16:creationId xmlns:a16="http://schemas.microsoft.com/office/drawing/2014/main" id="{6D65D972-6428-4519-ABE1-205AD4393958}"/>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6D4E2F8B-E263-43B4-A750-439A6369407F}"/>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EC9B5C23-70C8-451C-A2FC-39D0284C93E6}"/>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E534374-2F9A-49FD-BB0A-89E1D27E7B93}"/>
              </a:ext>
            </a:extLst>
          </p:cNvPr>
          <p:cNvSpPr>
            <a:spLocks noGrp="1"/>
          </p:cNvSpPr>
          <p:nvPr/>
        </p:nvSpPr>
        <p:spPr>
          <a:xfrm>
            <a:off x="600075" y="1047750"/>
            <a:ext cx="4000500" cy="228600"/>
          </a:xfrm>
          <a:prstGeom prst="rect">
            <a:avLst/>
          </a:prstGeom>
          <a:noFill/>
          <a:ln w="0">
            <a:noFill/>
          </a:ln>
        </p:spPr>
        <p:txBody>
          <a:bodyPr anchor="t">
            <a:normAutofit fontScale="90000" lnSpcReduction="20000"/>
          </a:bodyPr>
          <a:lstStyle/>
          <a:p>
            <a:pPr>
              <a:defRPr sz="1200" b="1" i="0">
                <a:solidFill>
                  <a:srgbClr val="1D4F91"/>
                </a:solidFill>
                <a:latin typeface="Montserrat"/>
                <a:ea typeface="Montserrat"/>
                <a:cs typeface="Montserrat"/>
              </a:defRPr>
            </a:pPr>
            <a:r>
              <a:rPr sz="1200" b="1" i="0">
                <a:solidFill>
                  <a:srgbClr val="1D4F91"/>
                </a:solidFill>
                <a:latin typeface="Montserrat"/>
                <a:ea typeface="Montserrat"/>
                <a:cs typeface="Montserrat"/>
              </a:rPr>
              <a:t>PAIR DISCUSSION   5 MINUTES</a:t>
            </a:r>
          </a:p>
        </p:txBody>
      </p:sp>
      <p:sp>
        <p:nvSpPr>
          <p:cNvPr id="6" name="Rectangle 5">
            <a:extLst>
              <a:ext uri="{FF2B5EF4-FFF2-40B4-BE49-F238E27FC236}">
                <a16:creationId xmlns:a16="http://schemas.microsoft.com/office/drawing/2014/main" id="{46DAD19A-EBD8-4313-90EA-264C1CC6957B}"/>
              </a:ext>
            </a:extLst>
          </p:cNvPr>
          <p:cNvSpPr>
            <a:spLocks noGrp="1"/>
          </p:cNvSpPr>
          <p:nvPr/>
        </p:nvSpPr>
        <p:spPr>
          <a:xfrm>
            <a:off x="904875" y="1762125"/>
            <a:ext cx="7334250" cy="38100"/>
          </a:xfrm>
          <a:prstGeom prst="rect">
            <a:avLst/>
          </a:prstGeom>
          <a:solidFill>
            <a:srgbClr val="D6D9DE"/>
          </a:solidFill>
          <a:ln w="0">
            <a:noFill/>
          </a:ln>
        </p:spPr>
      </p:sp>
      <p:sp>
        <p:nvSpPr>
          <p:cNvPr id="7" name="Oval 6">
            <a:extLst>
              <a:ext uri="{FF2B5EF4-FFF2-40B4-BE49-F238E27FC236}">
                <a16:creationId xmlns:a16="http://schemas.microsoft.com/office/drawing/2014/main" id="{464A8F8C-EC59-46AA-B2DF-A8CA9201A37D}"/>
              </a:ext>
            </a:extLst>
          </p:cNvPr>
          <p:cNvSpPr>
            <a:spLocks noGrp="1"/>
          </p:cNvSpPr>
          <p:nvPr/>
        </p:nvSpPr>
        <p:spPr>
          <a:xfrm>
            <a:off x="1000125" y="1609725"/>
            <a:ext cx="323850" cy="323850"/>
          </a:xfrm>
          <a:prstGeom prst="ellipse">
            <a:avLst/>
          </a:prstGeom>
          <a:solidFill>
            <a:srgbClr val="1D4F91"/>
          </a:solidFill>
          <a:ln w="9525">
            <a:solidFill>
              <a:srgbClr val="1D4F91"/>
            </a:solidFill>
          </a:ln>
        </p:spPr>
      </p:sp>
      <p:sp>
        <p:nvSpPr>
          <p:cNvPr id="8" name="Rectangle 7">
            <a:extLst>
              <a:ext uri="{FF2B5EF4-FFF2-40B4-BE49-F238E27FC236}">
                <a16:creationId xmlns:a16="http://schemas.microsoft.com/office/drawing/2014/main" id="{F42CE909-17A6-47FC-A44A-9001D3D83650}"/>
              </a:ext>
            </a:extLst>
          </p:cNvPr>
          <p:cNvSpPr>
            <a:spLocks noGrp="1"/>
          </p:cNvSpPr>
          <p:nvPr/>
        </p:nvSpPr>
        <p:spPr>
          <a:xfrm>
            <a:off x="1000125" y="1638300"/>
            <a:ext cx="323850" cy="247650"/>
          </a:xfrm>
          <a:prstGeom prst="rect">
            <a:avLst/>
          </a:prstGeom>
          <a:noFill/>
          <a:ln w="0">
            <a:noFill/>
          </a:ln>
        </p:spPr>
        <p:txBody>
          <a:bodyPr anchor="ctr">
            <a:normAutofit fontScale="87892" lnSpcReduction="10000"/>
          </a:bodyPr>
          <a:lstStyle/>
          <a:p>
            <a:pPr>
              <a:defRPr sz="1275" b="1" i="0">
                <a:solidFill>
                  <a:srgbClr val="FFFFFF"/>
                </a:solidFill>
                <a:latin typeface="Montserrat"/>
                <a:ea typeface="Montserrat"/>
                <a:cs typeface="Montserrat"/>
              </a:defRPr>
            </a:pPr>
            <a:r>
              <a:rPr sz="1275" b="1" i="0">
                <a:solidFill>
                  <a:srgbClr val="FFFFFF"/>
                </a:solidFill>
                <a:latin typeface="Montserrat"/>
                <a:ea typeface="Montserrat"/>
                <a:cs typeface="Montserrat"/>
              </a:rPr>
              <a:t>1</a:t>
            </a:r>
          </a:p>
        </p:txBody>
      </p:sp>
      <p:sp>
        <p:nvSpPr>
          <p:cNvPr id="9" name="Rectangle 8">
            <a:extLst>
              <a:ext uri="{FF2B5EF4-FFF2-40B4-BE49-F238E27FC236}">
                <a16:creationId xmlns:a16="http://schemas.microsoft.com/office/drawing/2014/main" id="{BABB2B43-C553-445D-81F6-E2BE189F84C0}"/>
              </a:ext>
            </a:extLst>
          </p:cNvPr>
          <p:cNvSpPr>
            <a:spLocks noGrp="1"/>
          </p:cNvSpPr>
          <p:nvPr/>
        </p:nvSpPr>
        <p:spPr>
          <a:xfrm>
            <a:off x="885825" y="2066925"/>
            <a:ext cx="1657350" cy="381000"/>
          </a:xfrm>
          <a:prstGeom prst="rect">
            <a:avLst/>
          </a:prstGeom>
          <a:noFill/>
          <a:ln w="0">
            <a:noFill/>
          </a:ln>
        </p:spPr>
        <p:txBody>
          <a:bodyPr anchor="t">
            <a:normAutofit/>
          </a:bodyPr>
          <a:lstStyle/>
          <a:p>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All adoptions</a:t>
            </a:r>
          </a:p>
        </p:txBody>
      </p:sp>
      <p:sp>
        <p:nvSpPr>
          <p:cNvPr id="10" name="Rectangle 9">
            <a:extLst>
              <a:ext uri="{FF2B5EF4-FFF2-40B4-BE49-F238E27FC236}">
                <a16:creationId xmlns:a16="http://schemas.microsoft.com/office/drawing/2014/main" id="{9D5C8C4F-8A67-4346-B2DE-08F77087339C}"/>
              </a:ext>
            </a:extLst>
          </p:cNvPr>
          <p:cNvSpPr>
            <a:spLocks noGrp="1"/>
          </p:cNvSpPr>
          <p:nvPr/>
        </p:nvSpPr>
        <p:spPr>
          <a:xfrm>
            <a:off x="885825" y="2514600"/>
            <a:ext cx="1657350" cy="990600"/>
          </a:xfrm>
          <a:prstGeom prst="rect">
            <a:avLst/>
          </a:prstGeom>
          <a:noFill/>
          <a:ln w="0">
            <a:noFill/>
          </a:ln>
        </p:spPr>
        <p:txBody>
          <a:bodyPr anchor="t">
            <a:normAutofit fontScale="92500"/>
          </a:bodyPr>
          <a:lstStyle/>
          <a:p>
            <a:pPr>
              <a:defRPr sz="1350" b="0" i="0">
                <a:solidFill>
                  <a:srgbClr val="2D2D2D"/>
                </a:solidFill>
                <a:latin typeface="Montserrat"/>
                <a:ea typeface="Montserrat"/>
                <a:cs typeface="Montserrat"/>
              </a:defRPr>
            </a:pPr>
            <a:r>
              <a:rPr sz="1350" b="0" i="0">
                <a:solidFill>
                  <a:srgbClr val="2D2D2D"/>
                </a:solidFill>
                <a:latin typeface="Montserrat"/>
                <a:ea typeface="Montserrat"/>
                <a:cs typeface="Montserrat"/>
              </a:rPr>
              <a:t>Target population of shelter and rescue placements</a:t>
            </a:r>
          </a:p>
        </p:txBody>
      </p:sp>
      <p:sp>
        <p:nvSpPr>
          <p:cNvPr id="11" name="Oval 10">
            <a:extLst>
              <a:ext uri="{FF2B5EF4-FFF2-40B4-BE49-F238E27FC236}">
                <a16:creationId xmlns:a16="http://schemas.microsoft.com/office/drawing/2014/main" id="{3203B857-A60F-4E7F-9609-DEA59E8F6A74}"/>
              </a:ext>
            </a:extLst>
          </p:cNvPr>
          <p:cNvSpPr>
            <a:spLocks noGrp="1"/>
          </p:cNvSpPr>
          <p:nvPr/>
        </p:nvSpPr>
        <p:spPr>
          <a:xfrm>
            <a:off x="2952750" y="1609725"/>
            <a:ext cx="323850" cy="323850"/>
          </a:xfrm>
          <a:prstGeom prst="ellipse">
            <a:avLst/>
          </a:prstGeom>
          <a:solidFill>
            <a:srgbClr val="1D4F91"/>
          </a:solidFill>
          <a:ln w="9525">
            <a:solidFill>
              <a:srgbClr val="1D4F91"/>
            </a:solidFill>
          </a:ln>
        </p:spPr>
      </p:sp>
      <p:sp>
        <p:nvSpPr>
          <p:cNvPr id="12" name="Rectangle 11">
            <a:extLst>
              <a:ext uri="{FF2B5EF4-FFF2-40B4-BE49-F238E27FC236}">
                <a16:creationId xmlns:a16="http://schemas.microsoft.com/office/drawing/2014/main" id="{9050B5CF-BDDC-4F97-9DE4-E75ED6BC7A20}"/>
              </a:ext>
            </a:extLst>
          </p:cNvPr>
          <p:cNvSpPr>
            <a:spLocks noGrp="1"/>
          </p:cNvSpPr>
          <p:nvPr/>
        </p:nvSpPr>
        <p:spPr>
          <a:xfrm>
            <a:off x="2952750" y="1638300"/>
            <a:ext cx="323850" cy="247650"/>
          </a:xfrm>
          <a:prstGeom prst="rect">
            <a:avLst/>
          </a:prstGeom>
          <a:noFill/>
          <a:ln w="0">
            <a:noFill/>
          </a:ln>
        </p:spPr>
        <p:txBody>
          <a:bodyPr anchor="ctr">
            <a:normAutofit fontScale="87892" lnSpcReduction="10000"/>
          </a:bodyPr>
          <a:lstStyle/>
          <a:p>
            <a:pPr>
              <a:defRPr sz="1275" b="1" i="0">
                <a:solidFill>
                  <a:srgbClr val="FFFFFF"/>
                </a:solidFill>
                <a:latin typeface="Montserrat"/>
                <a:ea typeface="Montserrat"/>
                <a:cs typeface="Montserrat"/>
              </a:defRPr>
            </a:pPr>
            <a:r>
              <a:rPr sz="1275" b="1" i="0">
                <a:solidFill>
                  <a:srgbClr val="FFFFFF"/>
                </a:solidFill>
                <a:latin typeface="Montserrat"/>
                <a:ea typeface="Montserrat"/>
                <a:cs typeface="Montserrat"/>
              </a:rPr>
              <a:t>2</a:t>
            </a:r>
          </a:p>
        </p:txBody>
      </p:sp>
      <p:sp>
        <p:nvSpPr>
          <p:cNvPr id="13" name="Rectangle 12">
            <a:extLst>
              <a:ext uri="{FF2B5EF4-FFF2-40B4-BE49-F238E27FC236}">
                <a16:creationId xmlns:a16="http://schemas.microsoft.com/office/drawing/2014/main" id="{7A38C8AB-EC13-4522-9996-A2026B4FCB4F}"/>
              </a:ext>
            </a:extLst>
          </p:cNvPr>
          <p:cNvSpPr>
            <a:spLocks noGrp="1"/>
          </p:cNvSpPr>
          <p:nvPr/>
        </p:nvSpPr>
        <p:spPr>
          <a:xfrm>
            <a:off x="2838450" y="2066925"/>
            <a:ext cx="1657350" cy="381000"/>
          </a:xfrm>
          <a:prstGeom prst="rect">
            <a:avLst/>
          </a:prstGeom>
          <a:noFill/>
          <a:ln w="0">
            <a:noFill/>
          </a:ln>
        </p:spPr>
        <p:txBody>
          <a:bodyPr anchor="t">
            <a:normAutofit/>
          </a:bodyPr>
          <a:lstStyle/>
          <a:p>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Organizations</a:t>
            </a:r>
          </a:p>
        </p:txBody>
      </p:sp>
      <p:sp>
        <p:nvSpPr>
          <p:cNvPr id="14" name="Rectangle 13">
            <a:extLst>
              <a:ext uri="{FF2B5EF4-FFF2-40B4-BE49-F238E27FC236}">
                <a16:creationId xmlns:a16="http://schemas.microsoft.com/office/drawing/2014/main" id="{DBFF7CE4-640E-49D6-80AA-A3E65CD87BFD}"/>
              </a:ext>
            </a:extLst>
          </p:cNvPr>
          <p:cNvSpPr>
            <a:spLocks noGrp="1"/>
          </p:cNvSpPr>
          <p:nvPr/>
        </p:nvSpPr>
        <p:spPr>
          <a:xfrm>
            <a:off x="2838450" y="2514600"/>
            <a:ext cx="1657350" cy="990600"/>
          </a:xfrm>
          <a:prstGeom prst="rect">
            <a:avLst/>
          </a:prstGeom>
          <a:noFill/>
          <a:ln w="0">
            <a:noFill/>
          </a:ln>
        </p:spPr>
        <p:txBody>
          <a:bodyPr anchor="t">
            <a:normAutofit/>
          </a:bodyPr>
          <a:lstStyle/>
          <a:p>
            <a:pPr>
              <a:defRPr sz="1350" b="0" i="0">
                <a:solidFill>
                  <a:srgbClr val="2D2D2D"/>
                </a:solidFill>
                <a:latin typeface="Montserrat"/>
                <a:ea typeface="Montserrat"/>
                <a:cs typeface="Montserrat"/>
              </a:defRPr>
            </a:pPr>
            <a:r>
              <a:rPr sz="1350" b="0" i="0">
                <a:solidFill>
                  <a:srgbClr val="2D2D2D"/>
                </a:solidFill>
                <a:latin typeface="Montserrat"/>
                <a:ea typeface="Montserrat"/>
                <a:cs typeface="Montserrat"/>
              </a:rPr>
              <a:t>Only participating shelters and rescues</a:t>
            </a:r>
          </a:p>
        </p:txBody>
      </p:sp>
      <p:sp>
        <p:nvSpPr>
          <p:cNvPr id="15" name="Oval 14">
            <a:extLst>
              <a:ext uri="{FF2B5EF4-FFF2-40B4-BE49-F238E27FC236}">
                <a16:creationId xmlns:a16="http://schemas.microsoft.com/office/drawing/2014/main" id="{33D0E99D-B203-49D5-A299-08C8EA368A3D}"/>
              </a:ext>
            </a:extLst>
          </p:cNvPr>
          <p:cNvSpPr>
            <a:spLocks noGrp="1"/>
          </p:cNvSpPr>
          <p:nvPr/>
        </p:nvSpPr>
        <p:spPr>
          <a:xfrm>
            <a:off x="4905375" y="1609725"/>
            <a:ext cx="323850" cy="323850"/>
          </a:xfrm>
          <a:prstGeom prst="ellipse">
            <a:avLst/>
          </a:prstGeom>
          <a:solidFill>
            <a:srgbClr val="1D4F91"/>
          </a:solidFill>
          <a:ln w="9525">
            <a:solidFill>
              <a:srgbClr val="1D4F91"/>
            </a:solidFill>
          </a:ln>
        </p:spPr>
      </p:sp>
      <p:sp>
        <p:nvSpPr>
          <p:cNvPr id="16" name="Rectangle 15">
            <a:extLst>
              <a:ext uri="{FF2B5EF4-FFF2-40B4-BE49-F238E27FC236}">
                <a16:creationId xmlns:a16="http://schemas.microsoft.com/office/drawing/2014/main" id="{F92F4EC1-3191-4F3A-B801-5434C1888690}"/>
              </a:ext>
            </a:extLst>
          </p:cNvPr>
          <p:cNvSpPr>
            <a:spLocks noGrp="1"/>
          </p:cNvSpPr>
          <p:nvPr/>
        </p:nvSpPr>
        <p:spPr>
          <a:xfrm>
            <a:off x="4905375" y="1638300"/>
            <a:ext cx="323850" cy="247650"/>
          </a:xfrm>
          <a:prstGeom prst="rect">
            <a:avLst/>
          </a:prstGeom>
          <a:noFill/>
          <a:ln w="0">
            <a:noFill/>
          </a:ln>
        </p:spPr>
        <p:txBody>
          <a:bodyPr anchor="ctr">
            <a:normAutofit fontScale="87892" lnSpcReduction="10000"/>
          </a:bodyPr>
          <a:lstStyle/>
          <a:p>
            <a:pPr>
              <a:defRPr sz="1275" b="1" i="0">
                <a:solidFill>
                  <a:srgbClr val="FFFFFF"/>
                </a:solidFill>
                <a:latin typeface="Montserrat"/>
                <a:ea typeface="Montserrat"/>
                <a:cs typeface="Montserrat"/>
              </a:defRPr>
            </a:pPr>
            <a:r>
              <a:rPr sz="1275" b="1" i="0">
                <a:solidFill>
                  <a:srgbClr val="FFFFFF"/>
                </a:solidFill>
                <a:latin typeface="Montserrat"/>
                <a:ea typeface="Montserrat"/>
                <a:cs typeface="Montserrat"/>
              </a:rPr>
              <a:t>3</a:t>
            </a:r>
          </a:p>
        </p:txBody>
      </p:sp>
      <p:sp>
        <p:nvSpPr>
          <p:cNvPr id="17" name="Rectangle 16">
            <a:extLst>
              <a:ext uri="{FF2B5EF4-FFF2-40B4-BE49-F238E27FC236}">
                <a16:creationId xmlns:a16="http://schemas.microsoft.com/office/drawing/2014/main" id="{DBC2681E-C202-4757-9DCC-DF0749C8C84F}"/>
              </a:ext>
            </a:extLst>
          </p:cNvPr>
          <p:cNvSpPr>
            <a:spLocks noGrp="1"/>
          </p:cNvSpPr>
          <p:nvPr/>
        </p:nvSpPr>
        <p:spPr>
          <a:xfrm>
            <a:off x="4791075" y="2066925"/>
            <a:ext cx="1657350" cy="381000"/>
          </a:xfrm>
          <a:prstGeom prst="rect">
            <a:avLst/>
          </a:prstGeom>
          <a:noFill/>
          <a:ln w="0">
            <a:noFill/>
          </a:ln>
        </p:spPr>
        <p:txBody>
          <a:bodyPr anchor="t">
            <a:normAutofit/>
          </a:bodyPr>
          <a:lstStyle/>
          <a:p>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Respondents</a:t>
            </a:r>
          </a:p>
        </p:txBody>
      </p:sp>
      <p:sp>
        <p:nvSpPr>
          <p:cNvPr id="18" name="Rectangle 17">
            <a:extLst>
              <a:ext uri="{FF2B5EF4-FFF2-40B4-BE49-F238E27FC236}">
                <a16:creationId xmlns:a16="http://schemas.microsoft.com/office/drawing/2014/main" id="{18314D29-4D37-436A-88D6-6B2E7999A84F}"/>
              </a:ext>
            </a:extLst>
          </p:cNvPr>
          <p:cNvSpPr>
            <a:spLocks noGrp="1"/>
          </p:cNvSpPr>
          <p:nvPr/>
        </p:nvSpPr>
        <p:spPr>
          <a:xfrm>
            <a:off x="4791075" y="2514600"/>
            <a:ext cx="1657350" cy="990600"/>
          </a:xfrm>
          <a:prstGeom prst="rect">
            <a:avLst/>
          </a:prstGeom>
          <a:noFill/>
          <a:ln w="0">
            <a:noFill/>
          </a:ln>
        </p:spPr>
        <p:txBody>
          <a:bodyPr anchor="t">
            <a:normAutofit/>
          </a:bodyPr>
          <a:lstStyle/>
          <a:p>
            <a:pPr>
              <a:defRPr sz="1350" b="0" i="0">
                <a:solidFill>
                  <a:srgbClr val="2D2D2D"/>
                </a:solidFill>
                <a:latin typeface="Montserrat"/>
                <a:ea typeface="Montserrat"/>
                <a:cs typeface="Montserrat"/>
              </a:defRPr>
            </a:pPr>
            <a:r>
              <a:rPr sz="1350" b="0" i="0">
                <a:solidFill>
                  <a:srgbClr val="2D2D2D"/>
                </a:solidFill>
                <a:latin typeface="Montserrat"/>
                <a:ea typeface="Montserrat"/>
                <a:cs typeface="Montserrat"/>
              </a:rPr>
              <a:t>Only adopters who answered a survey wave</a:t>
            </a:r>
          </a:p>
        </p:txBody>
      </p:sp>
      <p:sp>
        <p:nvSpPr>
          <p:cNvPr id="19" name="Oval 18">
            <a:extLst>
              <a:ext uri="{FF2B5EF4-FFF2-40B4-BE49-F238E27FC236}">
                <a16:creationId xmlns:a16="http://schemas.microsoft.com/office/drawing/2014/main" id="{BE5788C2-44FD-4A81-B0D2-4495EAE210CB}"/>
              </a:ext>
            </a:extLst>
          </p:cNvPr>
          <p:cNvSpPr>
            <a:spLocks noGrp="1"/>
          </p:cNvSpPr>
          <p:nvPr/>
        </p:nvSpPr>
        <p:spPr>
          <a:xfrm>
            <a:off x="6858000" y="1609725"/>
            <a:ext cx="323850" cy="323850"/>
          </a:xfrm>
          <a:prstGeom prst="ellipse">
            <a:avLst/>
          </a:prstGeom>
          <a:solidFill>
            <a:srgbClr val="B43A3A"/>
          </a:solidFill>
          <a:ln w="9525">
            <a:solidFill>
              <a:srgbClr val="B43A3A"/>
            </a:solidFill>
          </a:ln>
        </p:spPr>
      </p:sp>
      <p:sp>
        <p:nvSpPr>
          <p:cNvPr id="20" name="Rectangle 19">
            <a:extLst>
              <a:ext uri="{FF2B5EF4-FFF2-40B4-BE49-F238E27FC236}">
                <a16:creationId xmlns:a16="http://schemas.microsoft.com/office/drawing/2014/main" id="{F83611A8-8C82-4980-BD15-EEB966DBCD25}"/>
              </a:ext>
            </a:extLst>
          </p:cNvPr>
          <p:cNvSpPr>
            <a:spLocks noGrp="1"/>
          </p:cNvSpPr>
          <p:nvPr/>
        </p:nvSpPr>
        <p:spPr>
          <a:xfrm>
            <a:off x="6858000" y="1638300"/>
            <a:ext cx="323850" cy="247650"/>
          </a:xfrm>
          <a:prstGeom prst="rect">
            <a:avLst/>
          </a:prstGeom>
          <a:noFill/>
          <a:ln w="0">
            <a:noFill/>
          </a:ln>
        </p:spPr>
        <p:txBody>
          <a:bodyPr anchor="ctr">
            <a:normAutofit fontScale="87892" lnSpcReduction="10000"/>
          </a:bodyPr>
          <a:lstStyle/>
          <a:p>
            <a:pPr>
              <a:defRPr sz="1275" b="1" i="0">
                <a:solidFill>
                  <a:srgbClr val="FFFFFF"/>
                </a:solidFill>
                <a:latin typeface="Montserrat"/>
                <a:ea typeface="Montserrat"/>
                <a:cs typeface="Montserrat"/>
              </a:defRPr>
            </a:pPr>
            <a:r>
              <a:rPr sz="1275" b="1" i="0">
                <a:solidFill>
                  <a:srgbClr val="FFFFFF"/>
                </a:solidFill>
                <a:latin typeface="Montserrat"/>
                <a:ea typeface="Montserrat"/>
                <a:cs typeface="Montserrat"/>
              </a:rPr>
              <a:t>4</a:t>
            </a:r>
          </a:p>
        </p:txBody>
      </p:sp>
      <p:sp>
        <p:nvSpPr>
          <p:cNvPr id="21" name="Rectangle 20">
            <a:extLst>
              <a:ext uri="{FF2B5EF4-FFF2-40B4-BE49-F238E27FC236}">
                <a16:creationId xmlns:a16="http://schemas.microsoft.com/office/drawing/2014/main" id="{9C38804D-F099-4F04-808A-50E442BF1F91}"/>
              </a:ext>
            </a:extLst>
          </p:cNvPr>
          <p:cNvSpPr>
            <a:spLocks noGrp="1"/>
          </p:cNvSpPr>
          <p:nvPr/>
        </p:nvSpPr>
        <p:spPr>
          <a:xfrm>
            <a:off x="6743700" y="2066925"/>
            <a:ext cx="1657350" cy="381000"/>
          </a:xfrm>
          <a:prstGeom prst="rect">
            <a:avLst/>
          </a:prstGeom>
          <a:noFill/>
          <a:ln w="0">
            <a:noFill/>
          </a:ln>
        </p:spPr>
        <p:txBody>
          <a:bodyPr anchor="t">
            <a:normAutofit/>
          </a:bodyPr>
          <a:lstStyle/>
          <a:p>
            <a:pPr>
              <a:defRPr sz="1500" b="1" i="0">
                <a:solidFill>
                  <a:srgbClr val="B43A3A"/>
                </a:solidFill>
                <a:latin typeface="Montserrat"/>
                <a:ea typeface="Montserrat"/>
                <a:cs typeface="Montserrat"/>
              </a:defRPr>
            </a:pPr>
            <a:r>
              <a:rPr sz="1500" b="1" i="0">
                <a:solidFill>
                  <a:srgbClr val="B43A3A"/>
                </a:solidFill>
                <a:latin typeface="Montserrat"/>
                <a:ea typeface="Montserrat"/>
                <a:cs typeface="Montserrat"/>
              </a:rPr>
              <a:t>Pet still home</a:t>
            </a:r>
          </a:p>
        </p:txBody>
      </p:sp>
      <p:sp>
        <p:nvSpPr>
          <p:cNvPr id="22" name="Rectangle 21">
            <a:extLst>
              <a:ext uri="{FF2B5EF4-FFF2-40B4-BE49-F238E27FC236}">
                <a16:creationId xmlns:a16="http://schemas.microsoft.com/office/drawing/2014/main" id="{36D6B85B-649F-4A5D-AC1E-BD8F35FB9F00}"/>
              </a:ext>
            </a:extLst>
          </p:cNvPr>
          <p:cNvSpPr>
            <a:spLocks noGrp="1"/>
          </p:cNvSpPr>
          <p:nvPr/>
        </p:nvSpPr>
        <p:spPr>
          <a:xfrm>
            <a:off x="6743700" y="2514600"/>
            <a:ext cx="1657350" cy="990600"/>
          </a:xfrm>
          <a:prstGeom prst="rect">
            <a:avLst/>
          </a:prstGeom>
          <a:noFill/>
          <a:ln w="0">
            <a:noFill/>
          </a:ln>
        </p:spPr>
        <p:txBody>
          <a:bodyPr anchor="t">
            <a:normAutofit/>
          </a:bodyPr>
          <a:lstStyle/>
          <a:p>
            <a:pPr>
              <a:defRPr sz="1350" b="0" i="0">
                <a:solidFill>
                  <a:srgbClr val="2D2D2D"/>
                </a:solidFill>
                <a:latin typeface="Montserrat"/>
                <a:ea typeface="Montserrat"/>
                <a:cs typeface="Montserrat"/>
              </a:defRPr>
            </a:pPr>
            <a:r>
              <a:rPr sz="1350" b="0" i="0">
                <a:solidFill>
                  <a:srgbClr val="2D2D2D"/>
                </a:solidFill>
                <a:latin typeface="Montserrat"/>
                <a:ea typeface="Montserrat"/>
                <a:cs typeface="Montserrat"/>
              </a:rPr>
              <a:t>Responses excluded after a return or other departure</a:t>
            </a:r>
          </a:p>
        </p:txBody>
      </p:sp>
      <p:sp>
        <p:nvSpPr>
          <p:cNvPr id="23" name="Rectangle 22">
            <a:extLst>
              <a:ext uri="{FF2B5EF4-FFF2-40B4-BE49-F238E27FC236}">
                <a16:creationId xmlns:a16="http://schemas.microsoft.com/office/drawing/2014/main" id="{6716B5D3-078C-46E6-88AB-5C6EB6489D84}"/>
              </a:ext>
            </a:extLst>
          </p:cNvPr>
          <p:cNvSpPr>
            <a:spLocks noGrp="1"/>
          </p:cNvSpPr>
          <p:nvPr/>
        </p:nvSpPr>
        <p:spPr>
          <a:xfrm>
            <a:off x="1095375" y="3876675"/>
            <a:ext cx="6953250" cy="523875"/>
          </a:xfrm>
          <a:prstGeom prst="rect">
            <a:avLst/>
          </a:prstGeom>
          <a:noFill/>
          <a:ln w="0">
            <a:noFill/>
          </a:ln>
        </p:spPr>
        <p:txBody>
          <a:bodyPr anchor="t">
            <a:normAutofit fontScale="83167" lnSpcReduction="20000"/>
          </a:bodyPr>
          <a:lstStyle/>
          <a:p>
            <a:pPr>
              <a:defRPr sz="1875" b="1" i="0">
                <a:solidFill>
                  <a:srgbClr val="1D4F91"/>
                </a:solidFill>
                <a:latin typeface="Montserrat"/>
                <a:ea typeface="Montserrat"/>
                <a:cs typeface="Montserrat"/>
              </a:defRPr>
            </a:pPr>
            <a:r>
              <a:rPr sz="1875" b="1" i="0">
                <a:solidFill>
                  <a:srgbClr val="1D4F91"/>
                </a:solidFill>
                <a:latin typeface="Montserrat"/>
                <a:ea typeface="Montserrat"/>
                <a:cs typeface="Montserrat"/>
              </a:rPr>
              <a:t>At which step do some individuals receive a smaller or zero chance of appearing?</a:t>
            </a:r>
          </a:p>
        </p:txBody>
      </p:sp>
    </p:spTree>
    <p:extLst>
      <p:ext uri="{BB962C8B-B14F-4D97-AF65-F5344CB8AC3E}">
        <p14:creationId xmlns:p14="http://schemas.microsoft.com/office/powerpoint/2010/main" val="857499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6705AC-CCF6-4144-82E5-4F1EC6A58B02}"/>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dirty="0">
                <a:solidFill>
                  <a:srgbClr val="2D2D2D"/>
                </a:solidFill>
                <a:latin typeface="Montserrat"/>
                <a:ea typeface="Montserrat"/>
                <a:cs typeface="Montserrat"/>
              </a:rPr>
              <a:t>Adoption satisfaction </a:t>
            </a:r>
            <a:r>
              <a:rPr lang="en-US" altLang="zh-CN" sz="2850" b="1" i="0" dirty="0">
                <a:solidFill>
                  <a:srgbClr val="2D2D2D"/>
                </a:solidFill>
                <a:latin typeface="Montserrat"/>
                <a:ea typeface="Montserrat"/>
                <a:cs typeface="Montserrat"/>
              </a:rPr>
              <a:t>-</a:t>
            </a:r>
            <a:r>
              <a:rPr lang="zh-CN" altLang="en-US" sz="2850" b="1" i="0" dirty="0">
                <a:solidFill>
                  <a:srgbClr val="2D2D2D"/>
                </a:solidFill>
                <a:latin typeface="Montserrat"/>
                <a:ea typeface="Montserrat"/>
                <a:cs typeface="Montserrat"/>
              </a:rPr>
              <a:t> </a:t>
            </a:r>
            <a:r>
              <a:rPr sz="2850" b="1" i="0" dirty="0">
                <a:solidFill>
                  <a:srgbClr val="2D2D2D"/>
                </a:solidFill>
                <a:latin typeface="Montserrat"/>
                <a:ea typeface="Montserrat"/>
                <a:cs typeface="Montserrat"/>
              </a:rPr>
              <a:t>measurement</a:t>
            </a:r>
          </a:p>
        </p:txBody>
      </p:sp>
      <p:sp>
        <p:nvSpPr>
          <p:cNvPr id="2" name="Rectangle 1">
            <a:extLst>
              <a:ext uri="{FF2B5EF4-FFF2-40B4-BE49-F238E27FC236}">
                <a16:creationId xmlns:a16="http://schemas.microsoft.com/office/drawing/2014/main" id="{AA2CAA40-3D23-4967-ACAD-2BFCDE50CF2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5C6E71EC-5B36-43DA-82CA-622FC6259F01}"/>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1F01C723-84BB-4FEC-919A-507D4A7834DC}"/>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17EA1631-A475-4673-8067-519CA917A286}"/>
              </a:ext>
            </a:extLst>
          </p:cNvPr>
          <p:cNvSpPr>
            <a:spLocks noGrp="1"/>
          </p:cNvSpPr>
          <p:nvPr/>
        </p:nvSpPr>
        <p:spPr>
          <a:xfrm>
            <a:off x="714375" y="1238250"/>
            <a:ext cx="2857500" cy="323850"/>
          </a:xfrm>
          <a:prstGeom prst="rect">
            <a:avLst/>
          </a:prstGeom>
          <a:noFill/>
          <a:ln w="0">
            <a:noFill/>
          </a:ln>
        </p:spPr>
        <p:txBody>
          <a:bodyPr anchor="t">
            <a:normAutofit fontScale="88406"/>
          </a:bodyPr>
          <a:lstStyle/>
          <a:p>
            <a:pPr>
              <a:defRPr sz="1725" b="1" i="0">
                <a:solidFill>
                  <a:srgbClr val="1D4F91"/>
                </a:solidFill>
                <a:latin typeface="Montserrat"/>
                <a:ea typeface="Montserrat"/>
                <a:cs typeface="Montserrat"/>
              </a:defRPr>
            </a:pPr>
            <a:r>
              <a:rPr sz="1725" b="1" i="0">
                <a:solidFill>
                  <a:srgbClr val="1D4F91"/>
                </a:solidFill>
                <a:latin typeface="Montserrat"/>
                <a:ea typeface="Montserrat"/>
                <a:cs typeface="Montserrat"/>
              </a:rPr>
              <a:t>Variable of interest</a:t>
            </a:r>
          </a:p>
        </p:txBody>
      </p:sp>
      <p:sp>
        <p:nvSpPr>
          <p:cNvPr id="6" name="Rectangle 5">
            <a:extLst>
              <a:ext uri="{FF2B5EF4-FFF2-40B4-BE49-F238E27FC236}">
                <a16:creationId xmlns:a16="http://schemas.microsoft.com/office/drawing/2014/main" id="{1940F4A8-E9C2-42F7-96E5-7AD27D7FC4E4}"/>
              </a:ext>
            </a:extLst>
          </p:cNvPr>
          <p:cNvSpPr>
            <a:spLocks noGrp="1"/>
          </p:cNvSpPr>
          <p:nvPr/>
        </p:nvSpPr>
        <p:spPr>
          <a:xfrm>
            <a:off x="742950" y="1714500"/>
            <a:ext cx="2800350" cy="742950"/>
          </a:xfrm>
          <a:prstGeom prst="rect">
            <a:avLst/>
          </a:prstGeom>
          <a:noFill/>
          <a:ln w="0">
            <a:noFill/>
          </a:ln>
        </p:spPr>
        <p:txBody>
          <a:bodyPr anchor="t">
            <a:normAutofit fontScale="82091" lnSpcReduction="10000"/>
          </a:bodyPr>
          <a:lstStyle/>
          <a:p>
            <a:pPr>
              <a:defRPr sz="2175" b="1" i="0">
                <a:solidFill>
                  <a:srgbClr val="2D2D2D"/>
                </a:solidFill>
                <a:latin typeface="Montserrat"/>
                <a:ea typeface="Montserrat"/>
                <a:cs typeface="Montserrat"/>
              </a:defRPr>
            </a:pPr>
            <a:r>
              <a:rPr sz="2175" b="1" i="0">
                <a:solidFill>
                  <a:srgbClr val="2D2D2D"/>
                </a:solidFill>
                <a:latin typeface="Montserrat"/>
                <a:ea typeface="Montserrat"/>
                <a:cs typeface="Montserrat"/>
              </a:rPr>
              <a:t>Satisfaction with the adoption experience</a:t>
            </a:r>
          </a:p>
        </p:txBody>
      </p:sp>
      <p:sp>
        <p:nvSpPr>
          <p:cNvPr id="7" name="Rectangle 6">
            <a:extLst>
              <a:ext uri="{FF2B5EF4-FFF2-40B4-BE49-F238E27FC236}">
                <a16:creationId xmlns:a16="http://schemas.microsoft.com/office/drawing/2014/main" id="{7C24CCE4-A33C-45B6-80BB-B9AC718D1ECB}"/>
              </a:ext>
            </a:extLst>
          </p:cNvPr>
          <p:cNvSpPr>
            <a:spLocks noGrp="1"/>
          </p:cNvSpPr>
          <p:nvPr/>
        </p:nvSpPr>
        <p:spPr>
          <a:xfrm>
            <a:off x="5572125" y="1238250"/>
            <a:ext cx="2857500" cy="323850"/>
          </a:xfrm>
          <a:prstGeom prst="rect">
            <a:avLst/>
          </a:prstGeom>
          <a:noFill/>
          <a:ln w="0">
            <a:noFill/>
          </a:ln>
        </p:spPr>
        <p:txBody>
          <a:bodyPr anchor="t">
            <a:normAutofit fontScale="88406"/>
          </a:bodyPr>
          <a:lstStyle/>
          <a:p>
            <a:pPr>
              <a:defRPr sz="1725" b="1" i="0">
                <a:solidFill>
                  <a:srgbClr val="1D4F91"/>
                </a:solidFill>
                <a:latin typeface="Montserrat"/>
                <a:ea typeface="Montserrat"/>
                <a:cs typeface="Montserrat"/>
              </a:defRPr>
            </a:pPr>
            <a:r>
              <a:rPr sz="1725" b="1" i="0">
                <a:solidFill>
                  <a:srgbClr val="1D4F91"/>
                </a:solidFill>
                <a:latin typeface="Montserrat"/>
                <a:ea typeface="Montserrat"/>
                <a:cs typeface="Montserrat"/>
              </a:rPr>
              <a:t>Measured value</a:t>
            </a:r>
          </a:p>
        </p:txBody>
      </p:sp>
      <p:sp>
        <p:nvSpPr>
          <p:cNvPr id="8" name="Rectangle 7">
            <a:extLst>
              <a:ext uri="{FF2B5EF4-FFF2-40B4-BE49-F238E27FC236}">
                <a16:creationId xmlns:a16="http://schemas.microsoft.com/office/drawing/2014/main" id="{7E3BFFC8-9B8B-41C2-8D1F-ABB12379A1CB}"/>
              </a:ext>
            </a:extLst>
          </p:cNvPr>
          <p:cNvSpPr>
            <a:spLocks noGrp="1"/>
          </p:cNvSpPr>
          <p:nvPr/>
        </p:nvSpPr>
        <p:spPr>
          <a:xfrm>
            <a:off x="5619750" y="1762125"/>
            <a:ext cx="2762250" cy="419100"/>
          </a:xfrm>
          <a:prstGeom prst="rect">
            <a:avLst/>
          </a:prstGeom>
          <a:noFill/>
          <a:ln w="0">
            <a:noFill/>
          </a:ln>
        </p:spPr>
        <p:txBody>
          <a:bodyPr anchor="t">
            <a:normAutofit fontScale="95556" lnSpcReduction="10000"/>
          </a:bodyPr>
          <a:lstStyle/>
          <a:p>
            <a:pPr>
              <a:defRPr sz="2250" b="1" i="0">
                <a:solidFill>
                  <a:srgbClr val="2D2D2D"/>
                </a:solidFill>
                <a:latin typeface="Montserrat"/>
                <a:ea typeface="Montserrat"/>
                <a:cs typeface="Montserrat"/>
              </a:defRPr>
            </a:pPr>
            <a:r>
              <a:rPr sz="2250" b="1" i="0">
                <a:solidFill>
                  <a:srgbClr val="2D2D2D"/>
                </a:solidFill>
                <a:latin typeface="Montserrat"/>
                <a:ea typeface="Montserrat"/>
                <a:cs typeface="Montserrat"/>
              </a:rPr>
              <a:t>Rating from 1 to 5</a:t>
            </a:r>
          </a:p>
        </p:txBody>
      </p:sp>
      <p:sp>
        <p:nvSpPr>
          <p:cNvPr id="9" name="Rectangle 8">
            <a:extLst>
              <a:ext uri="{FF2B5EF4-FFF2-40B4-BE49-F238E27FC236}">
                <a16:creationId xmlns:a16="http://schemas.microsoft.com/office/drawing/2014/main" id="{94D59F51-60D7-4202-B309-A366E17F7D63}"/>
              </a:ext>
            </a:extLst>
          </p:cNvPr>
          <p:cNvSpPr>
            <a:spLocks noGrp="1"/>
          </p:cNvSpPr>
          <p:nvPr/>
        </p:nvSpPr>
        <p:spPr>
          <a:xfrm>
            <a:off x="5715000" y="2343150"/>
            <a:ext cx="2571750" cy="666750"/>
          </a:xfrm>
          <a:prstGeom prst="rect">
            <a:avLst/>
          </a:prstGeom>
          <a:noFill/>
          <a:ln w="0">
            <a:noFill/>
          </a:ln>
        </p:spPr>
        <p:txBody>
          <a:bodyPr anchor="t">
            <a:normAutofit/>
          </a:bodyPr>
          <a:lstStyle/>
          <a:p>
            <a:pPr>
              <a:defRPr sz="1725" b="0" i="0">
                <a:solidFill>
                  <a:srgbClr val="2D2D2D"/>
                </a:solidFill>
                <a:latin typeface="Montserrat"/>
                <a:ea typeface="Montserrat"/>
                <a:cs typeface="Montserrat"/>
              </a:defRPr>
            </a:pPr>
            <a:r>
              <a:rPr sz="1725" b="0" i="0">
                <a:solidFill>
                  <a:srgbClr val="2D2D2D"/>
                </a:solidFill>
                <a:latin typeface="Montserrat"/>
                <a:ea typeface="Montserrat"/>
                <a:cs typeface="Montserrat"/>
              </a:rPr>
              <a:t>Ratings 4 or 5 were classified as positive</a:t>
            </a:r>
          </a:p>
        </p:txBody>
      </p:sp>
      <p:sp>
        <p:nvSpPr>
          <p:cNvPr id="10" name="Rectangle 9">
            <a:extLst>
              <a:ext uri="{FF2B5EF4-FFF2-40B4-BE49-F238E27FC236}">
                <a16:creationId xmlns:a16="http://schemas.microsoft.com/office/drawing/2014/main" id="{0A563307-4FE3-47B7-B868-548FE72EE7F3}"/>
              </a:ext>
            </a:extLst>
          </p:cNvPr>
          <p:cNvSpPr>
            <a:spLocks noGrp="1"/>
          </p:cNvSpPr>
          <p:nvPr/>
        </p:nvSpPr>
        <p:spPr>
          <a:xfrm>
            <a:off x="1143000" y="3381375"/>
            <a:ext cx="6858000" cy="638175"/>
          </a:xfrm>
          <a:prstGeom prst="rect">
            <a:avLst/>
          </a:prstGeom>
          <a:noFill/>
          <a:ln w="0">
            <a:noFill/>
          </a:ln>
        </p:spPr>
        <p:txBody>
          <a:bodyPr anchor="t">
            <a:normAutofit fontScale="91987" lnSpcReduction="10000"/>
          </a:bodyPr>
          <a:lstStyle/>
          <a:p>
            <a:pPr>
              <a:defRPr sz="1950" b="1" i="0">
                <a:solidFill>
                  <a:srgbClr val="2C7A62"/>
                </a:solidFill>
                <a:latin typeface="Montserrat"/>
                <a:ea typeface="Montserrat"/>
                <a:cs typeface="Montserrat"/>
              </a:defRPr>
            </a:pPr>
            <a:r>
              <a:rPr sz="1950" b="1" i="0">
                <a:solidFill>
                  <a:srgbClr val="2C7A62"/>
                </a:solidFill>
                <a:latin typeface="Montserrat"/>
                <a:ea typeface="Montserrat"/>
                <a:cs typeface="Montserrat"/>
              </a:rPr>
              <a:t>Challenges were measured separately, so an adopter could be satisfied and still report a problem.</a:t>
            </a:r>
          </a:p>
        </p:txBody>
      </p:sp>
      <p:sp>
        <p:nvSpPr>
          <p:cNvPr id="11" name="Rectangle 10">
            <a:extLst>
              <a:ext uri="{FF2B5EF4-FFF2-40B4-BE49-F238E27FC236}">
                <a16:creationId xmlns:a16="http://schemas.microsoft.com/office/drawing/2014/main" id="{475CD4CF-7CC4-4620-BD68-E7417BF7AF9C}"/>
              </a:ext>
            </a:extLst>
          </p:cNvPr>
          <p:cNvSpPr>
            <a:spLocks noGrp="1"/>
          </p:cNvSpPr>
          <p:nvPr/>
        </p:nvSpPr>
        <p:spPr>
          <a:xfrm>
            <a:off x="1381125" y="4191000"/>
            <a:ext cx="6381750" cy="342900"/>
          </a:xfrm>
          <a:prstGeom prst="rect">
            <a:avLst/>
          </a:prstGeom>
          <a:noFill/>
          <a:ln w="0">
            <a:noFill/>
          </a:ln>
        </p:spPr>
        <p:txBody>
          <a:bodyPr anchor="t">
            <a:normAutofit fontScale="72627" lnSpcReduction="20000"/>
          </a:bodyPr>
          <a:lstStyle/>
          <a:p>
            <a:pPr>
              <a:defRPr sz="1500" b="0" i="1">
                <a:solidFill>
                  <a:srgbClr val="606975"/>
                </a:solidFill>
                <a:latin typeface="Montserrat"/>
                <a:ea typeface="Montserrat"/>
                <a:cs typeface="Montserrat"/>
              </a:defRPr>
            </a:pPr>
            <a:r>
              <a:rPr sz="1500" b="0" i="1" dirty="0">
                <a:solidFill>
                  <a:srgbClr val="606975"/>
                </a:solidFill>
                <a:latin typeface="Montserrat"/>
                <a:ea typeface="Montserrat"/>
                <a:cs typeface="Montserrat"/>
              </a:rPr>
              <a:t>Does this operational definition capture everything meant by a successful adoption?</a:t>
            </a:r>
          </a:p>
        </p:txBody>
      </p:sp>
    </p:spTree>
    <p:extLst>
      <p:ext uri="{BB962C8B-B14F-4D97-AF65-F5344CB8AC3E}">
        <p14:creationId xmlns:p14="http://schemas.microsoft.com/office/powerpoint/2010/main" val="1669634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AF5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F0B5ED8-0D83-4386-8FD4-0531526E72B1}"/>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Adoption selection bias and redesign</a:t>
            </a:r>
          </a:p>
        </p:txBody>
      </p:sp>
      <p:sp>
        <p:nvSpPr>
          <p:cNvPr id="2" name="Rectangle 1">
            <a:extLst>
              <a:ext uri="{FF2B5EF4-FFF2-40B4-BE49-F238E27FC236}">
                <a16:creationId xmlns:a16="http://schemas.microsoft.com/office/drawing/2014/main" id="{205B1F97-6E68-442D-B245-887633DCD663}"/>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85718C77-4B69-4EDB-AB72-D7BC078D0BA7}"/>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5A0B1AC-8A14-43DC-9B76-11F9C4E6DA91}"/>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7FC9DFB2-B182-4950-85C0-941CCDDABA91}"/>
              </a:ext>
            </a:extLst>
          </p:cNvPr>
          <p:cNvSpPr>
            <a:spLocks noGrp="1"/>
          </p:cNvSpPr>
          <p:nvPr/>
        </p:nvSpPr>
        <p:spPr>
          <a:xfrm>
            <a:off x="647700" y="1219200"/>
            <a:ext cx="3905250" cy="361950"/>
          </a:xfrm>
          <a:prstGeom prst="rect">
            <a:avLst/>
          </a:prstGeom>
          <a:noFill/>
          <a:ln w="0">
            <a:noFill/>
          </a:ln>
        </p:spPr>
        <p:txBody>
          <a:bodyPr anchor="t">
            <a:normAutofit fontScale="75878" lnSpcReduction="20000"/>
          </a:bodyPr>
          <a:lstStyle/>
          <a:p>
            <a:pPr>
              <a:defRPr sz="1875" b="1" i="0">
                <a:solidFill>
                  <a:srgbClr val="B43A3A"/>
                </a:solidFill>
                <a:latin typeface="Montserrat"/>
                <a:ea typeface="Montserrat"/>
                <a:cs typeface="Montserrat"/>
              </a:defRPr>
            </a:pPr>
            <a:r>
              <a:rPr sz="1875" b="1" i="0">
                <a:solidFill>
                  <a:srgbClr val="B43A3A"/>
                </a:solidFill>
                <a:latin typeface="Montserrat"/>
                <a:ea typeface="Montserrat"/>
                <a:cs typeface="Montserrat"/>
              </a:rPr>
              <a:t>Why observed satisfaction may shift</a:t>
            </a:r>
          </a:p>
        </p:txBody>
      </p:sp>
      <p:sp>
        <p:nvSpPr>
          <p:cNvPr id="6" name="Rectangle 5">
            <a:extLst>
              <a:ext uri="{FF2B5EF4-FFF2-40B4-BE49-F238E27FC236}">
                <a16:creationId xmlns:a16="http://schemas.microsoft.com/office/drawing/2014/main" id="{23BF683A-F36C-4DB3-9B20-38AE89187F9F}"/>
              </a:ext>
            </a:extLst>
          </p:cNvPr>
          <p:cNvSpPr>
            <a:spLocks noGrp="1"/>
          </p:cNvSpPr>
          <p:nvPr/>
        </p:nvSpPr>
        <p:spPr>
          <a:xfrm>
            <a:off x="666749" y="1619250"/>
            <a:ext cx="3905251" cy="2057400"/>
          </a:xfrm>
          <a:prstGeom prst="rect">
            <a:avLst/>
          </a:prstGeom>
          <a:noFill/>
          <a:ln w="0">
            <a:noFill/>
          </a:ln>
        </p:spPr>
        <p:txBody>
          <a:bodyPr anchor="t">
            <a:normAutofit fontScale="91667" lnSpcReduction="10000"/>
          </a:bodyPr>
          <a:lstStyle/>
          <a:p>
            <a:pPr>
              <a:defRPr sz="1800" b="0" i="0">
                <a:solidFill>
                  <a:srgbClr val="2D2D2D"/>
                </a:solidFill>
                <a:latin typeface="Montserrat"/>
                <a:ea typeface="Montserrat"/>
                <a:cs typeface="Montserrat"/>
              </a:defRPr>
            </a:pPr>
            <a:r>
              <a:rPr sz="1800" b="0" i="0" dirty="0">
                <a:solidFill>
                  <a:srgbClr val="2D2D2D"/>
                </a:solidFill>
                <a:latin typeface="Montserrat"/>
                <a:ea typeface="Montserrat"/>
                <a:cs typeface="Montserrat"/>
              </a:rPr>
              <a:t>Adoptions ending </a:t>
            </a:r>
            <a:r>
              <a:rPr sz="1800" b="0" i="0" dirty="0">
                <a:solidFill>
                  <a:srgbClr val="2D2D2D"/>
                </a:solidFill>
                <a:highlight>
                  <a:srgbClr val="FFFF00"/>
                </a:highlight>
                <a:latin typeface="Montserrat"/>
                <a:ea typeface="Montserrat"/>
                <a:cs typeface="Montserrat"/>
              </a:rPr>
              <a:t>in return or rehoming may have different satisfaction ratings. </a:t>
            </a:r>
            <a:endParaRPr lang="en-US" sz="1800" b="0" i="0" dirty="0">
              <a:solidFill>
                <a:srgbClr val="2D2D2D"/>
              </a:solidFill>
              <a:highlight>
                <a:srgbClr val="FFFF00"/>
              </a:highlight>
              <a:latin typeface="Montserrat"/>
              <a:ea typeface="Montserrat"/>
              <a:cs typeface="Montserrat"/>
            </a:endParaRPr>
          </a:p>
          <a:p>
            <a:pPr>
              <a:defRPr sz="1800" b="0" i="0">
                <a:solidFill>
                  <a:srgbClr val="2D2D2D"/>
                </a:solidFill>
                <a:latin typeface="Montserrat"/>
                <a:ea typeface="Montserrat"/>
                <a:cs typeface="Montserrat"/>
              </a:defRPr>
            </a:pPr>
            <a:endParaRPr lang="en-US" dirty="0">
              <a:solidFill>
                <a:srgbClr val="2D2D2D"/>
              </a:solidFill>
              <a:highlight>
                <a:srgbClr val="FFFF00"/>
              </a:highlight>
              <a:latin typeface="Montserrat"/>
              <a:ea typeface="Montserrat"/>
              <a:cs typeface="Montserrat"/>
            </a:endParaRPr>
          </a:p>
          <a:p>
            <a:pPr>
              <a:defRPr sz="1800" b="0" i="0">
                <a:solidFill>
                  <a:srgbClr val="2D2D2D"/>
                </a:solidFill>
                <a:latin typeface="Montserrat"/>
                <a:ea typeface="Montserrat"/>
                <a:cs typeface="Montserrat"/>
              </a:defRPr>
            </a:pPr>
            <a:r>
              <a:rPr sz="1800" b="0" i="0" dirty="0">
                <a:solidFill>
                  <a:srgbClr val="2D2D2D"/>
                </a:solidFill>
                <a:latin typeface="Montserrat"/>
                <a:ea typeface="Montserrat"/>
                <a:cs typeface="Montserrat"/>
              </a:rPr>
              <a:t>Excluding them can make positive experiences more common in the observed data than in the target population.</a:t>
            </a:r>
          </a:p>
        </p:txBody>
      </p:sp>
      <p:sp>
        <p:nvSpPr>
          <p:cNvPr id="7" name="Rectangle 6">
            <a:extLst>
              <a:ext uri="{FF2B5EF4-FFF2-40B4-BE49-F238E27FC236}">
                <a16:creationId xmlns:a16="http://schemas.microsoft.com/office/drawing/2014/main" id="{3780C365-24B3-4ABB-A437-3301C34172CB}"/>
              </a:ext>
            </a:extLst>
          </p:cNvPr>
          <p:cNvSpPr>
            <a:spLocks noGrp="1"/>
          </p:cNvSpPr>
          <p:nvPr/>
        </p:nvSpPr>
        <p:spPr>
          <a:xfrm>
            <a:off x="5048250" y="1219200"/>
            <a:ext cx="3476625" cy="361950"/>
          </a:xfrm>
          <a:prstGeom prst="rect">
            <a:avLst/>
          </a:prstGeom>
          <a:noFill/>
          <a:ln w="0">
            <a:noFill/>
          </a:ln>
        </p:spPr>
        <p:txBody>
          <a:bodyPr anchor="t">
            <a:normAutofit fontScale="87167"/>
          </a:bodyPr>
          <a:lstStyle/>
          <a:p>
            <a:pPr>
              <a:defRPr sz="1875" b="1" i="0">
                <a:solidFill>
                  <a:srgbClr val="2C7A62"/>
                </a:solidFill>
                <a:latin typeface="Montserrat"/>
                <a:ea typeface="Montserrat"/>
                <a:cs typeface="Montserrat"/>
              </a:defRPr>
            </a:pPr>
            <a:r>
              <a:rPr sz="1875" b="1" i="0">
                <a:solidFill>
                  <a:srgbClr val="2C7A62"/>
                </a:solidFill>
                <a:latin typeface="Montserrat"/>
                <a:ea typeface="Montserrat"/>
                <a:cs typeface="Montserrat"/>
              </a:rPr>
              <a:t>A probability-based redesign</a:t>
            </a:r>
          </a:p>
        </p:txBody>
      </p:sp>
      <p:sp>
        <p:nvSpPr>
          <p:cNvPr id="8" name="Rectangle 7">
            <a:extLst>
              <a:ext uri="{FF2B5EF4-FFF2-40B4-BE49-F238E27FC236}">
                <a16:creationId xmlns:a16="http://schemas.microsoft.com/office/drawing/2014/main" id="{D7C2BABF-7E62-4015-BFBC-B14C7B159089}"/>
              </a:ext>
            </a:extLst>
          </p:cNvPr>
          <p:cNvSpPr>
            <a:spLocks noGrp="1"/>
          </p:cNvSpPr>
          <p:nvPr/>
        </p:nvSpPr>
        <p:spPr>
          <a:xfrm>
            <a:off x="5143500" y="1676400"/>
            <a:ext cx="3286125" cy="2095500"/>
          </a:xfrm>
          <a:prstGeom prst="rect">
            <a:avLst/>
          </a:prstGeom>
          <a:noFill/>
          <a:ln w="0">
            <a:noFill/>
          </a:ln>
        </p:spPr>
        <p:txBody>
          <a:bodyPr anchor="t">
            <a:normAutofit fontScale="87829" lnSpcReduction="10000"/>
          </a:bodyPr>
          <a:lstStyle/>
          <a:p>
            <a:pPr>
              <a:defRPr sz="1650" b="0" i="0">
                <a:solidFill>
                  <a:srgbClr val="2D2D2D"/>
                </a:solidFill>
                <a:latin typeface="Montserrat"/>
                <a:ea typeface="Montserrat"/>
                <a:cs typeface="Montserrat"/>
              </a:defRPr>
            </a:pPr>
            <a:r>
              <a:rPr sz="1650" b="0" i="0" dirty="0">
                <a:solidFill>
                  <a:srgbClr val="2D2D2D"/>
                </a:solidFill>
                <a:latin typeface="Montserrat"/>
                <a:ea typeface="Montserrat"/>
                <a:cs typeface="Montserrat"/>
              </a:rPr>
              <a:t>1. Build a frame of all completed adoptions</a:t>
            </a:r>
          </a:p>
          <a:p>
            <a:endParaRPr sz="1650" b="0" i="0" dirty="0">
              <a:solidFill>
                <a:srgbClr val="2D2D2D"/>
              </a:solidFill>
              <a:latin typeface="Montserrat"/>
              <a:ea typeface="Montserrat"/>
              <a:cs typeface="Montserrat"/>
            </a:endParaRPr>
          </a:p>
          <a:p>
            <a:pPr>
              <a:defRPr sz="1650" b="0" i="0">
                <a:solidFill>
                  <a:srgbClr val="2D2D2D"/>
                </a:solidFill>
                <a:latin typeface="Montserrat"/>
                <a:ea typeface="Montserrat"/>
                <a:cs typeface="Montserrat"/>
              </a:defRPr>
            </a:pPr>
            <a:r>
              <a:rPr sz="1650" b="0" i="0" dirty="0">
                <a:solidFill>
                  <a:srgbClr val="2D2D2D"/>
                </a:solidFill>
                <a:latin typeface="Montserrat"/>
                <a:ea typeface="Montserrat"/>
                <a:cs typeface="Montserrat"/>
              </a:rPr>
              <a:t>2. Randomly sample placements</a:t>
            </a:r>
          </a:p>
          <a:p>
            <a:endParaRPr sz="1650" b="0" i="0" dirty="0">
              <a:solidFill>
                <a:srgbClr val="2D2D2D"/>
              </a:solidFill>
              <a:latin typeface="Montserrat"/>
              <a:ea typeface="Montserrat"/>
              <a:cs typeface="Montserrat"/>
            </a:endParaRPr>
          </a:p>
          <a:p>
            <a:pPr>
              <a:defRPr sz="1650" b="0" i="0">
                <a:solidFill>
                  <a:srgbClr val="2D2D2D"/>
                </a:solidFill>
                <a:latin typeface="Montserrat"/>
                <a:ea typeface="Montserrat"/>
                <a:cs typeface="Montserrat"/>
              </a:defRPr>
            </a:pPr>
            <a:r>
              <a:rPr sz="1650" b="0" i="0" dirty="0">
                <a:solidFill>
                  <a:srgbClr val="2D2D2D"/>
                </a:solidFill>
                <a:latin typeface="Montserrat"/>
                <a:ea typeface="Montserrat"/>
                <a:cs typeface="Montserrat"/>
              </a:rPr>
              <a:t>3. Follow every sampled placement, including returns</a:t>
            </a:r>
          </a:p>
          <a:p>
            <a:endParaRPr sz="1650" b="0" i="0" dirty="0">
              <a:solidFill>
                <a:srgbClr val="2D2D2D"/>
              </a:solidFill>
              <a:latin typeface="Montserrat"/>
              <a:ea typeface="Montserrat"/>
              <a:cs typeface="Montserrat"/>
            </a:endParaRPr>
          </a:p>
          <a:p>
            <a:pPr>
              <a:defRPr sz="1650" b="0" i="0">
                <a:solidFill>
                  <a:srgbClr val="2D2D2D"/>
                </a:solidFill>
                <a:latin typeface="Montserrat"/>
                <a:ea typeface="Montserrat"/>
                <a:cs typeface="Montserrat"/>
              </a:defRPr>
            </a:pPr>
            <a:r>
              <a:rPr sz="1650" b="0" i="0" dirty="0">
                <a:solidFill>
                  <a:srgbClr val="2D2D2D"/>
                </a:solidFill>
                <a:latin typeface="Montserrat"/>
                <a:ea typeface="Montserrat"/>
                <a:cs typeface="Montserrat"/>
              </a:rPr>
              <a:t>4. Record and adjust for </a:t>
            </a:r>
            <a:r>
              <a:rPr sz="1650" b="0" i="0" dirty="0">
                <a:solidFill>
                  <a:srgbClr val="2D2D2D"/>
                </a:solidFill>
                <a:highlight>
                  <a:srgbClr val="FFFF00"/>
                </a:highlight>
                <a:latin typeface="Montserrat"/>
                <a:ea typeface="Montserrat"/>
                <a:cs typeface="Montserrat"/>
              </a:rPr>
              <a:t>nonresponse</a:t>
            </a:r>
          </a:p>
        </p:txBody>
      </p:sp>
      <p:sp>
        <p:nvSpPr>
          <p:cNvPr id="9" name="Rectangle 8">
            <a:extLst>
              <a:ext uri="{FF2B5EF4-FFF2-40B4-BE49-F238E27FC236}">
                <a16:creationId xmlns:a16="http://schemas.microsoft.com/office/drawing/2014/main" id="{92B2C910-FC7D-4C36-911B-1E38252198CC}"/>
              </a:ext>
            </a:extLst>
          </p:cNvPr>
          <p:cNvSpPr>
            <a:spLocks noGrp="1"/>
          </p:cNvSpPr>
          <p:nvPr/>
        </p:nvSpPr>
        <p:spPr>
          <a:xfrm>
            <a:off x="1000125" y="4029075"/>
            <a:ext cx="7143750" cy="552450"/>
          </a:xfrm>
          <a:prstGeom prst="rect">
            <a:avLst/>
          </a:prstGeom>
          <a:noFill/>
          <a:ln w="0">
            <a:noFill/>
          </a:ln>
        </p:spPr>
        <p:txBody>
          <a:bodyPr anchor="t">
            <a:normAutofit fontScale="91667"/>
          </a:bodyPr>
          <a:lstStyle/>
          <a:p>
            <a:pPr>
              <a:defRPr sz="1650" b="1" i="0">
                <a:solidFill>
                  <a:srgbClr val="1D4F91"/>
                </a:solidFill>
                <a:latin typeface="Montserrat"/>
                <a:ea typeface="Montserrat"/>
                <a:cs typeface="Montserrat"/>
              </a:defRPr>
            </a:pPr>
            <a:r>
              <a:rPr sz="1650" b="1" i="0" dirty="0">
                <a:solidFill>
                  <a:srgbClr val="1D4F91"/>
                </a:solidFill>
                <a:latin typeface="Montserrat"/>
                <a:ea typeface="Montserrat"/>
                <a:cs typeface="Montserrat"/>
              </a:rPr>
              <a:t>Would the redesigned sample estimate a different satisfaction rate? Explain the direction you expect and the assumption behind it.</a:t>
            </a:r>
          </a:p>
        </p:txBody>
      </p:sp>
    </p:spTree>
    <p:extLst>
      <p:ext uri="{BB962C8B-B14F-4D97-AF65-F5344CB8AC3E}">
        <p14:creationId xmlns:p14="http://schemas.microsoft.com/office/powerpoint/2010/main" val="1704419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2EB"/>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E500A4D-6010-47B1-A275-CBB2C77CAD69}"/>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dirty="0">
                <a:solidFill>
                  <a:srgbClr val="2D2D2D"/>
                </a:solidFill>
                <a:latin typeface="Montserrat"/>
                <a:ea typeface="Montserrat"/>
                <a:cs typeface="Montserrat"/>
              </a:rPr>
              <a:t>Redesigning a weak study</a:t>
            </a:r>
          </a:p>
        </p:txBody>
      </p:sp>
      <p:sp>
        <p:nvSpPr>
          <p:cNvPr id="2" name="Rectangle 1">
            <a:extLst>
              <a:ext uri="{FF2B5EF4-FFF2-40B4-BE49-F238E27FC236}">
                <a16:creationId xmlns:a16="http://schemas.microsoft.com/office/drawing/2014/main" id="{425A67E4-4C3F-4A55-81DE-50D2EFAC0A8E}"/>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7D8098D7-B967-46C9-B2C7-D4489D7367B1}"/>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C19D485F-9393-466C-98B9-B14CA449D95F}"/>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E3EFACBC-228A-46C6-B9EC-3E7CE4BCC870}"/>
              </a:ext>
            </a:extLst>
          </p:cNvPr>
          <p:cNvSpPr>
            <a:spLocks noGrp="1"/>
          </p:cNvSpPr>
          <p:nvPr/>
        </p:nvSpPr>
        <p:spPr>
          <a:xfrm>
            <a:off x="1047750" y="1238249"/>
            <a:ext cx="5893377" cy="790575"/>
          </a:xfrm>
          <a:prstGeom prst="rect">
            <a:avLst/>
          </a:prstGeom>
          <a:noFill/>
          <a:ln w="0">
            <a:noFill/>
          </a:ln>
        </p:spPr>
        <p:txBody>
          <a:bodyPr anchor="t">
            <a:normAutofit fontScale="96053" lnSpcReduction="10000"/>
          </a:bodyPr>
          <a:lstStyle/>
          <a:p>
            <a:pPr>
              <a:defRPr sz="2475" b="1" i="0">
                <a:solidFill>
                  <a:srgbClr val="1D4F91"/>
                </a:solidFill>
                <a:latin typeface="Montserrat"/>
                <a:ea typeface="Montserrat"/>
                <a:cs typeface="Montserrat"/>
              </a:defRPr>
            </a:pPr>
            <a:r>
              <a:rPr sz="2475" b="1" i="0" dirty="0">
                <a:solidFill>
                  <a:srgbClr val="1D4F91"/>
                </a:solidFill>
                <a:latin typeface="Montserrat"/>
                <a:ea typeface="Montserrat"/>
                <a:cs typeface="Montserrat"/>
              </a:rPr>
              <a:t>A stronger design changes at least one part of the study.</a:t>
            </a:r>
          </a:p>
        </p:txBody>
      </p:sp>
      <p:sp>
        <p:nvSpPr>
          <p:cNvPr id="6" name="Rectangle 5">
            <a:extLst>
              <a:ext uri="{FF2B5EF4-FFF2-40B4-BE49-F238E27FC236}">
                <a16:creationId xmlns:a16="http://schemas.microsoft.com/office/drawing/2014/main" id="{8F7D5C42-00A6-4DFF-A492-53B422A3BBC7}"/>
              </a:ext>
            </a:extLst>
          </p:cNvPr>
          <p:cNvSpPr>
            <a:spLocks noGrp="1"/>
          </p:cNvSpPr>
          <p:nvPr/>
        </p:nvSpPr>
        <p:spPr>
          <a:xfrm>
            <a:off x="1476375" y="2333625"/>
            <a:ext cx="571500" cy="457200"/>
          </a:xfrm>
          <a:prstGeom prst="rect">
            <a:avLst/>
          </a:prstGeom>
          <a:noFill/>
          <a:ln w="0">
            <a:noFill/>
          </a:ln>
        </p:spPr>
        <p:txBody>
          <a:bodyPr anchor="t">
            <a:normAutofit fontScale="98929" lnSpcReduction="10000"/>
          </a:bodyPr>
          <a:lstStyle/>
          <a:p>
            <a:pPr>
              <a:defRPr sz="2625" b="1" i="0">
                <a:solidFill>
                  <a:srgbClr val="00A9E0"/>
                </a:solidFill>
                <a:latin typeface="Montserrat"/>
                <a:ea typeface="Montserrat"/>
                <a:cs typeface="Montserrat"/>
              </a:defRPr>
            </a:pPr>
            <a:r>
              <a:rPr sz="2625" b="1" i="0">
                <a:solidFill>
                  <a:srgbClr val="00A9E0"/>
                </a:solidFill>
                <a:latin typeface="Montserrat"/>
                <a:ea typeface="Montserrat"/>
                <a:cs typeface="Montserrat"/>
              </a:rPr>
              <a:t>1</a:t>
            </a:r>
          </a:p>
        </p:txBody>
      </p:sp>
      <p:sp>
        <p:nvSpPr>
          <p:cNvPr id="7" name="Rectangle 6">
            <a:extLst>
              <a:ext uri="{FF2B5EF4-FFF2-40B4-BE49-F238E27FC236}">
                <a16:creationId xmlns:a16="http://schemas.microsoft.com/office/drawing/2014/main" id="{1CC101D5-7FB5-482A-B1BF-77371362E72E}"/>
              </a:ext>
            </a:extLst>
          </p:cNvPr>
          <p:cNvSpPr>
            <a:spLocks noGrp="1"/>
          </p:cNvSpPr>
          <p:nvPr/>
        </p:nvSpPr>
        <p:spPr>
          <a:xfrm>
            <a:off x="2047875" y="2381250"/>
            <a:ext cx="5334000" cy="361950"/>
          </a:xfrm>
          <a:prstGeom prst="rect">
            <a:avLst/>
          </a:prstGeom>
          <a:noFill/>
          <a:ln w="0">
            <a:noFill/>
          </a:ln>
        </p:spPr>
        <p:txBody>
          <a:bodyPr anchor="t">
            <a:normAutofit fontScale="87654" lnSpcReduction="10000"/>
          </a:bodyPr>
          <a:lstStyle/>
          <a:p>
            <a:pPr>
              <a:defRPr sz="2025" b="1" i="0">
                <a:solidFill>
                  <a:srgbClr val="2D2D2D"/>
                </a:solidFill>
                <a:latin typeface="Montserrat"/>
                <a:ea typeface="Montserrat"/>
                <a:cs typeface="Montserrat"/>
              </a:defRPr>
            </a:pPr>
            <a:r>
              <a:rPr sz="2025" b="1" i="0">
                <a:solidFill>
                  <a:srgbClr val="2D2D2D"/>
                </a:solidFill>
                <a:latin typeface="Montserrat"/>
                <a:ea typeface="Montserrat"/>
                <a:cs typeface="Montserrat"/>
              </a:rPr>
              <a:t>How individuals enter the data</a:t>
            </a:r>
          </a:p>
        </p:txBody>
      </p:sp>
      <p:sp>
        <p:nvSpPr>
          <p:cNvPr id="8" name="Rectangle 7">
            <a:extLst>
              <a:ext uri="{FF2B5EF4-FFF2-40B4-BE49-F238E27FC236}">
                <a16:creationId xmlns:a16="http://schemas.microsoft.com/office/drawing/2014/main" id="{13B9B3F5-94FF-4A04-ADE9-10106688A403}"/>
              </a:ext>
            </a:extLst>
          </p:cNvPr>
          <p:cNvSpPr>
            <a:spLocks noGrp="1"/>
          </p:cNvSpPr>
          <p:nvPr/>
        </p:nvSpPr>
        <p:spPr>
          <a:xfrm>
            <a:off x="1476375" y="3000375"/>
            <a:ext cx="571500" cy="457200"/>
          </a:xfrm>
          <a:prstGeom prst="rect">
            <a:avLst/>
          </a:prstGeom>
          <a:noFill/>
          <a:ln w="0">
            <a:noFill/>
          </a:ln>
        </p:spPr>
        <p:txBody>
          <a:bodyPr anchor="t">
            <a:normAutofit fontScale="98929" lnSpcReduction="10000"/>
          </a:bodyPr>
          <a:lstStyle/>
          <a:p>
            <a:pPr>
              <a:defRPr sz="2625" b="1" i="0">
                <a:solidFill>
                  <a:srgbClr val="00A9E0"/>
                </a:solidFill>
                <a:latin typeface="Montserrat"/>
                <a:ea typeface="Montserrat"/>
                <a:cs typeface="Montserrat"/>
              </a:defRPr>
            </a:pPr>
            <a:r>
              <a:rPr sz="2625" b="1" i="0">
                <a:solidFill>
                  <a:srgbClr val="00A9E0"/>
                </a:solidFill>
                <a:latin typeface="Montserrat"/>
                <a:ea typeface="Montserrat"/>
                <a:cs typeface="Montserrat"/>
              </a:rPr>
              <a:t>2</a:t>
            </a:r>
          </a:p>
        </p:txBody>
      </p:sp>
      <p:sp>
        <p:nvSpPr>
          <p:cNvPr id="9" name="Rectangle 8">
            <a:extLst>
              <a:ext uri="{FF2B5EF4-FFF2-40B4-BE49-F238E27FC236}">
                <a16:creationId xmlns:a16="http://schemas.microsoft.com/office/drawing/2014/main" id="{2F6F651E-91D3-4D33-8F21-52DC3A9209B9}"/>
              </a:ext>
            </a:extLst>
          </p:cNvPr>
          <p:cNvSpPr>
            <a:spLocks noGrp="1"/>
          </p:cNvSpPr>
          <p:nvPr/>
        </p:nvSpPr>
        <p:spPr>
          <a:xfrm>
            <a:off x="2047875" y="3048000"/>
            <a:ext cx="5334000" cy="361950"/>
          </a:xfrm>
          <a:prstGeom prst="rect">
            <a:avLst/>
          </a:prstGeom>
          <a:noFill/>
          <a:ln w="0">
            <a:noFill/>
          </a:ln>
        </p:spPr>
        <p:txBody>
          <a:bodyPr anchor="t">
            <a:normAutofit fontScale="87654" lnSpcReduction="10000"/>
          </a:bodyPr>
          <a:lstStyle/>
          <a:p>
            <a:pPr>
              <a:defRPr sz="2025" b="1" i="0">
                <a:solidFill>
                  <a:srgbClr val="2D2D2D"/>
                </a:solidFill>
                <a:latin typeface="Montserrat"/>
                <a:ea typeface="Montserrat"/>
                <a:cs typeface="Montserrat"/>
              </a:defRPr>
            </a:pPr>
            <a:r>
              <a:rPr sz="2025" b="1" i="0" dirty="0">
                <a:solidFill>
                  <a:srgbClr val="2D2D2D"/>
                </a:solidFill>
                <a:latin typeface="Montserrat"/>
                <a:ea typeface="Montserrat"/>
                <a:cs typeface="Montserrat"/>
              </a:rPr>
              <a:t>How the variables are measured</a:t>
            </a:r>
          </a:p>
        </p:txBody>
      </p:sp>
      <p:sp>
        <p:nvSpPr>
          <p:cNvPr id="10" name="Rectangle 9">
            <a:extLst>
              <a:ext uri="{FF2B5EF4-FFF2-40B4-BE49-F238E27FC236}">
                <a16:creationId xmlns:a16="http://schemas.microsoft.com/office/drawing/2014/main" id="{459A0251-1197-44B8-A3C9-461115CBE472}"/>
              </a:ext>
            </a:extLst>
          </p:cNvPr>
          <p:cNvSpPr>
            <a:spLocks noGrp="1"/>
          </p:cNvSpPr>
          <p:nvPr/>
        </p:nvSpPr>
        <p:spPr>
          <a:xfrm>
            <a:off x="1476375" y="3667125"/>
            <a:ext cx="571500" cy="457200"/>
          </a:xfrm>
          <a:prstGeom prst="rect">
            <a:avLst/>
          </a:prstGeom>
          <a:noFill/>
          <a:ln w="0">
            <a:noFill/>
          </a:ln>
        </p:spPr>
        <p:txBody>
          <a:bodyPr anchor="t">
            <a:normAutofit fontScale="98929" lnSpcReduction="10000"/>
          </a:bodyPr>
          <a:lstStyle/>
          <a:p>
            <a:pPr>
              <a:defRPr sz="2625" b="1" i="0">
                <a:solidFill>
                  <a:srgbClr val="00A9E0"/>
                </a:solidFill>
                <a:latin typeface="Montserrat"/>
                <a:ea typeface="Montserrat"/>
                <a:cs typeface="Montserrat"/>
              </a:defRPr>
            </a:pPr>
            <a:r>
              <a:rPr sz="2625" b="1" i="0">
                <a:solidFill>
                  <a:srgbClr val="00A9E0"/>
                </a:solidFill>
                <a:latin typeface="Montserrat"/>
                <a:ea typeface="Montserrat"/>
                <a:cs typeface="Montserrat"/>
              </a:rPr>
              <a:t>3</a:t>
            </a:r>
          </a:p>
        </p:txBody>
      </p:sp>
      <p:sp>
        <p:nvSpPr>
          <p:cNvPr id="11" name="Rectangle 10">
            <a:extLst>
              <a:ext uri="{FF2B5EF4-FFF2-40B4-BE49-F238E27FC236}">
                <a16:creationId xmlns:a16="http://schemas.microsoft.com/office/drawing/2014/main" id="{9366E53A-E3C2-40E7-86A2-DEAADC320252}"/>
              </a:ext>
            </a:extLst>
          </p:cNvPr>
          <p:cNvSpPr>
            <a:spLocks noGrp="1"/>
          </p:cNvSpPr>
          <p:nvPr/>
        </p:nvSpPr>
        <p:spPr>
          <a:xfrm>
            <a:off x="2047875" y="3714750"/>
            <a:ext cx="5275638" cy="619125"/>
          </a:xfrm>
          <a:prstGeom prst="rect">
            <a:avLst/>
          </a:prstGeom>
          <a:noFill/>
          <a:ln w="0">
            <a:noFill/>
          </a:ln>
        </p:spPr>
        <p:txBody>
          <a:bodyPr anchor="t">
            <a:normAutofit fontScale="97538" lnSpcReduction="10000"/>
          </a:bodyPr>
          <a:lstStyle/>
          <a:p>
            <a:pPr>
              <a:defRPr sz="1875" b="1" i="0">
                <a:solidFill>
                  <a:srgbClr val="2D2D2D"/>
                </a:solidFill>
                <a:latin typeface="Montserrat"/>
                <a:ea typeface="Montserrat"/>
                <a:cs typeface="Montserrat"/>
              </a:defRPr>
            </a:pPr>
            <a:r>
              <a:rPr sz="1875" b="1" i="0" dirty="0">
                <a:solidFill>
                  <a:srgbClr val="2D2D2D"/>
                </a:solidFill>
                <a:latin typeface="Montserrat"/>
                <a:ea typeface="Montserrat"/>
                <a:cs typeface="Montserrat"/>
              </a:rPr>
              <a:t>How treatments are assigned when causality is the goal</a:t>
            </a:r>
          </a:p>
        </p:txBody>
      </p:sp>
    </p:spTree>
    <p:extLst>
      <p:ext uri="{BB962C8B-B14F-4D97-AF65-F5344CB8AC3E}">
        <p14:creationId xmlns:p14="http://schemas.microsoft.com/office/powerpoint/2010/main" val="227430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233B269-1BC2-4CFE-A66E-17C6A2BBC3E4}"/>
              </a:ext>
            </a:extLst>
          </p:cNvPr>
          <p:cNvSpPr>
            <a:spLocks noGrp="1"/>
          </p:cNvSpPr>
          <p:nvPr/>
        </p:nvSpPr>
        <p:spPr>
          <a:xfrm>
            <a:off x="590550" y="285750"/>
            <a:ext cx="7962900" cy="552450"/>
          </a:xfrm>
          <a:prstGeom prst="rect">
            <a:avLst/>
          </a:prstGeom>
          <a:noFill/>
          <a:ln w="0">
            <a:noFill/>
          </a:ln>
        </p:spPr>
        <p:txBody>
          <a:bodyPr anchor="t">
            <a:normAutofit fontScale="92500"/>
          </a:bodyPr>
          <a:lstStyle/>
          <a:p>
            <a:pPr>
              <a:defRPr sz="2850" b="1" i="0">
                <a:solidFill>
                  <a:srgbClr val="2D2D2D"/>
                </a:solidFill>
                <a:latin typeface="Montserrat"/>
                <a:ea typeface="Montserrat"/>
                <a:cs typeface="Montserrat"/>
              </a:defRPr>
            </a:pPr>
            <a:r>
              <a:rPr sz="2850" b="1" i="0" dirty="0">
                <a:solidFill>
                  <a:srgbClr val="2D2D2D"/>
                </a:solidFill>
                <a:highlight>
                  <a:srgbClr val="FFFF00"/>
                </a:highlight>
                <a:latin typeface="Montserrat"/>
                <a:ea typeface="Montserrat"/>
                <a:cs typeface="Montserrat"/>
              </a:rPr>
              <a:t>News brief</a:t>
            </a:r>
            <a:r>
              <a:rPr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a:t>
            </a:r>
            <a:r>
              <a:rPr lang="zh-CN" altLang="en-US" sz="2850" b="1" i="0" dirty="0">
                <a:solidFill>
                  <a:srgbClr val="2D2D2D"/>
                </a:solidFill>
                <a:latin typeface="Montserrat"/>
                <a:ea typeface="Montserrat"/>
                <a:cs typeface="Montserrat"/>
              </a:rPr>
              <a:t> </a:t>
            </a:r>
            <a:r>
              <a:rPr sz="2850" b="1" i="0" dirty="0">
                <a:solidFill>
                  <a:srgbClr val="2D2D2D"/>
                </a:solidFill>
                <a:latin typeface="Montserrat"/>
                <a:ea typeface="Montserrat"/>
                <a:cs typeface="Montserrat"/>
              </a:rPr>
              <a:t>Homicide fell sharply in 35 cities</a:t>
            </a:r>
          </a:p>
        </p:txBody>
      </p:sp>
      <p:sp>
        <p:nvSpPr>
          <p:cNvPr id="2" name="Rectangle 1">
            <a:extLst>
              <a:ext uri="{FF2B5EF4-FFF2-40B4-BE49-F238E27FC236}">
                <a16:creationId xmlns:a16="http://schemas.microsoft.com/office/drawing/2014/main" id="{03E4FD6A-056A-48E1-A2AD-1D9E4E5EE55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72FDBD31-D477-4491-A781-241EDBB270B6}"/>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C623673F-B319-4315-A996-7DEA19DEDF0E}"/>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16ACAF9F-07F5-4025-9233-C6A37BD8D435}"/>
              </a:ext>
            </a:extLst>
          </p:cNvPr>
          <p:cNvSpPr>
            <a:spLocks noGrp="1"/>
          </p:cNvSpPr>
          <p:nvPr/>
        </p:nvSpPr>
        <p:spPr>
          <a:xfrm>
            <a:off x="781050" y="1143000"/>
            <a:ext cx="7581900" cy="228600"/>
          </a:xfrm>
          <a:prstGeom prst="rect">
            <a:avLst/>
          </a:prstGeom>
          <a:noFill/>
          <a:ln w="0">
            <a:noFill/>
          </a:ln>
        </p:spPr>
        <p:txBody>
          <a:bodyPr anchor="t">
            <a:normAutofit fontScale="87500" lnSpcReduction="10000"/>
          </a:bodyPr>
          <a:lstStyle/>
          <a:p>
            <a:pPr>
              <a:defRPr sz="1125" b="1" i="0">
                <a:solidFill>
                  <a:srgbClr val="1D4F91"/>
                </a:solidFill>
                <a:latin typeface="Montserrat"/>
                <a:ea typeface="Montserrat"/>
                <a:cs typeface="Montserrat"/>
              </a:defRPr>
            </a:pPr>
            <a:r>
              <a:rPr sz="1125" b="1" i="0">
                <a:solidFill>
                  <a:srgbClr val="1D4F91"/>
                </a:solidFill>
                <a:latin typeface="Montserrat"/>
                <a:ea typeface="Montserrat"/>
                <a:cs typeface="Montserrat"/>
              </a:rPr>
              <a:t>PUBLIC SAFETY  ·  JANUARY 22, 2026</a:t>
            </a:r>
          </a:p>
        </p:txBody>
      </p:sp>
      <p:sp>
        <p:nvSpPr>
          <p:cNvPr id="6" name="Rectangle 5">
            <a:extLst>
              <a:ext uri="{FF2B5EF4-FFF2-40B4-BE49-F238E27FC236}">
                <a16:creationId xmlns:a16="http://schemas.microsoft.com/office/drawing/2014/main" id="{845D9602-7581-4814-AD94-0F395487D969}"/>
              </a:ext>
            </a:extLst>
          </p:cNvPr>
          <p:cNvSpPr>
            <a:spLocks noGrp="1"/>
          </p:cNvSpPr>
          <p:nvPr/>
        </p:nvSpPr>
        <p:spPr>
          <a:xfrm>
            <a:off x="990600" y="1581150"/>
            <a:ext cx="7162800" cy="781050"/>
          </a:xfrm>
          <a:prstGeom prst="rect">
            <a:avLst/>
          </a:prstGeom>
          <a:noFill/>
          <a:ln w="0">
            <a:noFill/>
          </a:ln>
        </p:spPr>
        <p:txBody>
          <a:bodyPr anchor="ctr">
            <a:normAutofit fontScale="84398" lnSpcReduction="10000"/>
          </a:bodyPr>
          <a:lstStyle/>
          <a:p>
            <a:pPr>
              <a:defRPr sz="2025" b="1" i="0">
                <a:solidFill>
                  <a:srgbClr val="2D2D2D"/>
                </a:solidFill>
                <a:latin typeface="Montserrat"/>
                <a:ea typeface="Montserrat"/>
                <a:cs typeface="Montserrat"/>
              </a:defRPr>
            </a:pPr>
            <a:r>
              <a:rPr sz="2025" b="1" i="0">
                <a:solidFill>
                  <a:srgbClr val="2D2D2D"/>
                </a:solidFill>
                <a:latin typeface="Montserrat"/>
                <a:ea typeface="Montserrat"/>
                <a:cs typeface="Montserrat"/>
              </a:rPr>
              <a:t>A year-end report found that homicide rates fell 21% from 2024 to 2025 across 35 U.S. cities, about 922 fewer homicides.</a:t>
            </a:r>
          </a:p>
        </p:txBody>
      </p:sp>
      <p:sp>
        <p:nvSpPr>
          <p:cNvPr id="7" name="Rectangle 6">
            <a:extLst>
              <a:ext uri="{FF2B5EF4-FFF2-40B4-BE49-F238E27FC236}">
                <a16:creationId xmlns:a16="http://schemas.microsoft.com/office/drawing/2014/main" id="{3EFB7E1A-1708-49EB-998D-1BF630BDA6DB}"/>
              </a:ext>
            </a:extLst>
          </p:cNvPr>
          <p:cNvSpPr>
            <a:spLocks noGrp="1"/>
          </p:cNvSpPr>
          <p:nvPr/>
        </p:nvSpPr>
        <p:spPr>
          <a:xfrm>
            <a:off x="1428750" y="2571750"/>
            <a:ext cx="6286500" cy="19050"/>
          </a:xfrm>
          <a:prstGeom prst="rect">
            <a:avLst/>
          </a:prstGeom>
          <a:solidFill>
            <a:srgbClr val="D6D9DE"/>
          </a:solidFill>
          <a:ln w="0">
            <a:noFill/>
          </a:ln>
        </p:spPr>
      </p:sp>
      <p:sp>
        <p:nvSpPr>
          <p:cNvPr id="8" name="Rectangle 7">
            <a:extLst>
              <a:ext uri="{FF2B5EF4-FFF2-40B4-BE49-F238E27FC236}">
                <a16:creationId xmlns:a16="http://schemas.microsoft.com/office/drawing/2014/main" id="{9D35C412-36A1-44FB-8CC3-D6432A612436}"/>
              </a:ext>
            </a:extLst>
          </p:cNvPr>
          <p:cNvSpPr>
            <a:spLocks noGrp="1"/>
          </p:cNvSpPr>
          <p:nvPr/>
        </p:nvSpPr>
        <p:spPr>
          <a:xfrm>
            <a:off x="1285875" y="2800350"/>
            <a:ext cx="6572250" cy="876300"/>
          </a:xfrm>
          <a:prstGeom prst="rect">
            <a:avLst/>
          </a:prstGeom>
          <a:noFill/>
          <a:ln w="0">
            <a:noFill/>
          </a:ln>
        </p:spPr>
        <p:txBody>
          <a:bodyPr anchor="t">
            <a:normAutofit fontScale="95777"/>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Thirty-one of the 35 cities recorded declines. The report used cities that consistently supplied monthly police or municipal data.</a:t>
            </a:r>
          </a:p>
        </p:txBody>
      </p:sp>
      <p:sp>
        <p:nvSpPr>
          <p:cNvPr id="9" name="Rectangle 8">
            <a:extLst>
              <a:ext uri="{FF2B5EF4-FFF2-40B4-BE49-F238E27FC236}">
                <a16:creationId xmlns:a16="http://schemas.microsoft.com/office/drawing/2014/main" id="{53A71B55-7473-4BDF-825B-3E0DF1EDC881}"/>
              </a:ext>
            </a:extLst>
          </p:cNvPr>
          <p:cNvSpPr>
            <a:spLocks noGrp="1"/>
          </p:cNvSpPr>
          <p:nvPr/>
        </p:nvSpPr>
        <p:spPr>
          <a:xfrm>
            <a:off x="1476375" y="3876675"/>
            <a:ext cx="6191250" cy="542925"/>
          </a:xfrm>
          <a:prstGeom prst="rect">
            <a:avLst/>
          </a:prstGeom>
          <a:noFill/>
          <a:ln w="0">
            <a:noFill/>
          </a:ln>
        </p:spPr>
        <p:txBody>
          <a:bodyPr anchor="t">
            <a:normAutofit fontScale="89773" lnSpcReduction="10000"/>
          </a:bodyPr>
          <a:lstStyle/>
          <a:p>
            <a:pPr>
              <a:defRPr sz="1650" b="1" i="1">
                <a:solidFill>
                  <a:srgbClr val="B43A3A"/>
                </a:solidFill>
                <a:latin typeface="Montserrat"/>
                <a:ea typeface="Montserrat"/>
                <a:cs typeface="Montserrat"/>
              </a:defRPr>
            </a:pPr>
            <a:r>
              <a:rPr sz="1650" b="1" i="1">
                <a:solidFill>
                  <a:srgbClr val="B43A3A"/>
                </a:solidFill>
                <a:latin typeface="Montserrat"/>
                <a:ea typeface="Montserrat"/>
                <a:cs typeface="Montserrat"/>
              </a:rPr>
              <a:t>The authors warned that the cities do not form a nationally representative sample.</a:t>
            </a:r>
          </a:p>
        </p:txBody>
      </p:sp>
      <p:sp>
        <p:nvSpPr>
          <p:cNvPr id="10" name="Rectangle 9">
            <a:extLst>
              <a:ext uri="{FF2B5EF4-FFF2-40B4-BE49-F238E27FC236}">
                <a16:creationId xmlns:a16="http://schemas.microsoft.com/office/drawing/2014/main" id="{BF88AB78-B6C9-4D4A-BB79-BB32FAEFA7F6}"/>
              </a:ext>
            </a:extLst>
          </p:cNvPr>
          <p:cNvSpPr>
            <a:spLocks noGrp="1"/>
          </p:cNvSpPr>
          <p:nvPr/>
        </p:nvSpPr>
        <p:spPr>
          <a:xfrm>
            <a:off x="1952625" y="4524375"/>
            <a:ext cx="5238750" cy="171450"/>
          </a:xfrm>
          <a:prstGeom prst="rect">
            <a:avLst/>
          </a:prstGeom>
          <a:noFill/>
          <a:ln w="0">
            <a:noFill/>
          </a:ln>
        </p:spPr>
        <p:txBody>
          <a:bodyPr anchor="t">
            <a:normAutofit fontScale="65833" lnSpcReduction="20000"/>
          </a:bodyPr>
          <a:lstStyle/>
          <a:p>
            <a:pPr>
              <a:defRPr sz="900" b="0" i="0">
                <a:solidFill>
                  <a:srgbClr val="606975"/>
                </a:solidFill>
                <a:latin typeface="Montserrat"/>
                <a:ea typeface="Montserrat"/>
                <a:cs typeface="Montserrat"/>
              </a:defRPr>
            </a:pPr>
            <a:r>
              <a:rPr sz="900" b="0" i="0">
                <a:solidFill>
                  <a:srgbClr val="606975"/>
                </a:solidFill>
                <a:latin typeface="Montserrat"/>
                <a:ea typeface="Montserrat"/>
                <a:cs typeface="Montserrat"/>
              </a:rPr>
              <a:t>Paraphrased from AP News and the Council on Criminal Justice</a:t>
            </a:r>
          </a:p>
        </p:txBody>
      </p:sp>
    </p:spTree>
    <p:extLst>
      <p:ext uri="{BB962C8B-B14F-4D97-AF65-F5344CB8AC3E}">
        <p14:creationId xmlns:p14="http://schemas.microsoft.com/office/powerpoint/2010/main" val="282316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7EBDD5-E156-410B-A951-9CCEB149AF38}"/>
              </a:ext>
            </a:extLst>
          </p:cNvPr>
          <p:cNvSpPr>
            <a:spLocks noGrp="1"/>
          </p:cNvSpPr>
          <p:nvPr/>
        </p:nvSpPr>
        <p:spPr>
          <a:xfrm>
            <a:off x="590550" y="285750"/>
            <a:ext cx="7962900" cy="552450"/>
          </a:xfrm>
          <a:prstGeom prst="rect">
            <a:avLst/>
          </a:prstGeom>
          <a:noFill/>
          <a:ln w="0">
            <a:noFill/>
          </a:ln>
        </p:spPr>
        <p:txBody>
          <a:bodyPr anchor="t">
            <a:normAutofit fontScale="92500"/>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Homicide study  Population and individuals</a:t>
            </a:r>
          </a:p>
        </p:txBody>
      </p:sp>
      <p:sp>
        <p:nvSpPr>
          <p:cNvPr id="2" name="Rectangle 1">
            <a:extLst>
              <a:ext uri="{FF2B5EF4-FFF2-40B4-BE49-F238E27FC236}">
                <a16:creationId xmlns:a16="http://schemas.microsoft.com/office/drawing/2014/main" id="{1AC4489A-3410-4BF5-9BF9-B891303E2650}"/>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DA0626EC-13A7-4939-AAA9-07651D84E110}"/>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0504B70A-9939-43AF-BB55-D22458D1B454}"/>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6" name="Rectangle 5">
            <a:extLst>
              <a:ext uri="{FF2B5EF4-FFF2-40B4-BE49-F238E27FC236}">
                <a16:creationId xmlns:a16="http://schemas.microsoft.com/office/drawing/2014/main" id="{3EF28637-38C1-495D-B514-D5F6F3B78CEA}"/>
              </a:ext>
            </a:extLst>
          </p:cNvPr>
          <p:cNvSpPr>
            <a:spLocks noGrp="1"/>
          </p:cNvSpPr>
          <p:nvPr/>
        </p:nvSpPr>
        <p:spPr>
          <a:xfrm>
            <a:off x="742950" y="1571625"/>
            <a:ext cx="2095500" cy="361950"/>
          </a:xfrm>
          <a:prstGeom prst="rect">
            <a:avLst/>
          </a:prstGeom>
          <a:noFill/>
          <a:ln w="0">
            <a:noFill/>
          </a:ln>
        </p:spPr>
        <p:txBody>
          <a:bodyPr anchor="t">
            <a:normAutofit fontScale="98611" lnSpcReduction="10000"/>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Population</a:t>
            </a:r>
          </a:p>
        </p:txBody>
      </p:sp>
      <p:sp>
        <p:nvSpPr>
          <p:cNvPr id="7" name="Rectangle 6">
            <a:extLst>
              <a:ext uri="{FF2B5EF4-FFF2-40B4-BE49-F238E27FC236}">
                <a16:creationId xmlns:a16="http://schemas.microsoft.com/office/drawing/2014/main" id="{4255FB73-A524-4CE0-988B-E64273767C2F}"/>
              </a:ext>
            </a:extLst>
          </p:cNvPr>
          <p:cNvSpPr>
            <a:spLocks noGrp="1"/>
          </p:cNvSpPr>
          <p:nvPr/>
        </p:nvSpPr>
        <p:spPr>
          <a:xfrm>
            <a:off x="2857500" y="1571625"/>
            <a:ext cx="5429250" cy="571500"/>
          </a:xfrm>
          <a:prstGeom prst="rect">
            <a:avLst/>
          </a:prstGeom>
          <a:noFill/>
          <a:ln w="0">
            <a:noFill/>
          </a:ln>
        </p:spPr>
        <p:txBody>
          <a:bodyPr anchor="t">
            <a:normAutofit fontScale="85278" lnSpcReduction="10000"/>
          </a:bodyPr>
          <a:lstStyle/>
          <a:p>
            <a:pPr>
              <a:defRPr sz="2025" b="0" i="0">
                <a:solidFill>
                  <a:srgbClr val="2D2D2D"/>
                </a:solidFill>
                <a:latin typeface="Montserrat"/>
                <a:ea typeface="Montserrat"/>
                <a:cs typeface="Montserrat"/>
              </a:defRPr>
            </a:pPr>
            <a:r>
              <a:rPr sz="2025" b="0" i="0">
                <a:solidFill>
                  <a:srgbClr val="2D2D2D"/>
                </a:solidFill>
                <a:latin typeface="Montserrat"/>
                <a:ea typeface="Montserrat"/>
                <a:cs typeface="Montserrat"/>
              </a:rPr>
              <a:t>If the claim is national, which places belong in the target population?</a:t>
            </a:r>
          </a:p>
        </p:txBody>
      </p:sp>
      <p:sp>
        <p:nvSpPr>
          <p:cNvPr id="8" name="Rectangle 7">
            <a:extLst>
              <a:ext uri="{FF2B5EF4-FFF2-40B4-BE49-F238E27FC236}">
                <a16:creationId xmlns:a16="http://schemas.microsoft.com/office/drawing/2014/main" id="{89C62AC8-BFA8-4E8C-B34C-337CCDE042D0}"/>
              </a:ext>
            </a:extLst>
          </p:cNvPr>
          <p:cNvSpPr>
            <a:spLocks noGrp="1"/>
          </p:cNvSpPr>
          <p:nvPr/>
        </p:nvSpPr>
        <p:spPr>
          <a:xfrm>
            <a:off x="742950" y="2571750"/>
            <a:ext cx="2095500" cy="361950"/>
          </a:xfrm>
          <a:prstGeom prst="rect">
            <a:avLst/>
          </a:prstGeom>
          <a:noFill/>
          <a:ln w="0">
            <a:noFill/>
          </a:ln>
        </p:spPr>
        <p:txBody>
          <a:bodyPr anchor="t">
            <a:normAutofit fontScale="98611" lnSpcReduction="10000"/>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Individual</a:t>
            </a:r>
          </a:p>
        </p:txBody>
      </p:sp>
      <p:sp>
        <p:nvSpPr>
          <p:cNvPr id="9" name="Rectangle 8">
            <a:extLst>
              <a:ext uri="{FF2B5EF4-FFF2-40B4-BE49-F238E27FC236}">
                <a16:creationId xmlns:a16="http://schemas.microsoft.com/office/drawing/2014/main" id="{6CA90BCD-9EB3-4F4E-BBF4-15DED508ABEA}"/>
              </a:ext>
            </a:extLst>
          </p:cNvPr>
          <p:cNvSpPr>
            <a:spLocks noGrp="1"/>
          </p:cNvSpPr>
          <p:nvPr/>
        </p:nvSpPr>
        <p:spPr>
          <a:xfrm>
            <a:off x="2857500" y="2571750"/>
            <a:ext cx="5429250" cy="571500"/>
          </a:xfrm>
          <a:prstGeom prst="rect">
            <a:avLst/>
          </a:prstGeom>
          <a:noFill/>
          <a:ln w="0">
            <a:noFill/>
          </a:ln>
        </p:spPr>
        <p:txBody>
          <a:bodyPr anchor="t">
            <a:normAutofit fontScale="85278" lnSpcReduction="10000"/>
          </a:bodyPr>
          <a:lstStyle/>
          <a:p>
            <a:pPr>
              <a:defRPr sz="2025" b="0" i="0">
                <a:solidFill>
                  <a:srgbClr val="2D2D2D"/>
                </a:solidFill>
                <a:latin typeface="Montserrat"/>
                <a:ea typeface="Montserrat"/>
                <a:cs typeface="Montserrat"/>
              </a:defRPr>
            </a:pPr>
            <a:r>
              <a:rPr sz="2025" b="0" i="0">
                <a:solidFill>
                  <a:srgbClr val="2D2D2D"/>
                </a:solidFill>
                <a:latin typeface="Montserrat"/>
                <a:ea typeface="Montserrat"/>
                <a:cs typeface="Montserrat"/>
              </a:rPr>
              <a:t>For selection, is the individual a person, a homicide, or a city?</a:t>
            </a:r>
          </a:p>
        </p:txBody>
      </p:sp>
      <p:sp>
        <p:nvSpPr>
          <p:cNvPr id="10" name="Rectangle 9">
            <a:extLst>
              <a:ext uri="{FF2B5EF4-FFF2-40B4-BE49-F238E27FC236}">
                <a16:creationId xmlns:a16="http://schemas.microsoft.com/office/drawing/2014/main" id="{0FA289D5-32FB-45EE-9C17-FAD2B92DC3C0}"/>
              </a:ext>
            </a:extLst>
          </p:cNvPr>
          <p:cNvSpPr>
            <a:spLocks noGrp="1"/>
          </p:cNvSpPr>
          <p:nvPr/>
        </p:nvSpPr>
        <p:spPr>
          <a:xfrm>
            <a:off x="742950" y="3619500"/>
            <a:ext cx="2095500" cy="361950"/>
          </a:xfrm>
          <a:prstGeom prst="rect">
            <a:avLst/>
          </a:prstGeom>
          <a:noFill/>
          <a:ln w="0">
            <a:noFill/>
          </a:ln>
        </p:spPr>
        <p:txBody>
          <a:bodyPr anchor="t">
            <a:normAutofit fontScale="98611" lnSpcReduction="10000"/>
          </a:bodyPr>
          <a:lstStyle/>
          <a:p>
            <a:pPr>
              <a:defRPr sz="1800" b="1" i="0">
                <a:solidFill>
                  <a:srgbClr val="1D4F91"/>
                </a:solidFill>
                <a:latin typeface="Montserrat"/>
                <a:ea typeface="Montserrat"/>
                <a:cs typeface="Montserrat"/>
              </a:defRPr>
            </a:pPr>
            <a:r>
              <a:rPr sz="1800" b="1" i="0">
                <a:solidFill>
                  <a:srgbClr val="1D4F91"/>
                </a:solidFill>
                <a:latin typeface="Montserrat"/>
                <a:ea typeface="Montserrat"/>
                <a:cs typeface="Montserrat"/>
              </a:rPr>
              <a:t>Observation</a:t>
            </a:r>
          </a:p>
        </p:txBody>
      </p:sp>
      <p:sp>
        <p:nvSpPr>
          <p:cNvPr id="11" name="Rectangle 10">
            <a:extLst>
              <a:ext uri="{FF2B5EF4-FFF2-40B4-BE49-F238E27FC236}">
                <a16:creationId xmlns:a16="http://schemas.microsoft.com/office/drawing/2014/main" id="{D6E4BF87-50FF-489B-B843-20D3BD112199}"/>
              </a:ext>
            </a:extLst>
          </p:cNvPr>
          <p:cNvSpPr>
            <a:spLocks noGrp="1"/>
          </p:cNvSpPr>
          <p:nvPr/>
        </p:nvSpPr>
        <p:spPr>
          <a:xfrm>
            <a:off x="2857500" y="3619500"/>
            <a:ext cx="5429250" cy="628650"/>
          </a:xfrm>
          <a:prstGeom prst="rect">
            <a:avLst/>
          </a:prstGeom>
          <a:noFill/>
          <a:ln w="0">
            <a:noFill/>
          </a:ln>
        </p:spPr>
        <p:txBody>
          <a:bodyPr anchor="t">
            <a:normAutofit fontScale="97917" lnSpcReduction="10000"/>
          </a:bodyPr>
          <a:lstStyle/>
          <a:p>
            <a:pPr>
              <a:defRPr sz="1800" b="0" i="0">
                <a:solidFill>
                  <a:srgbClr val="2D2D2D"/>
                </a:solidFill>
                <a:latin typeface="Montserrat"/>
                <a:ea typeface="Montserrat"/>
                <a:cs typeface="Montserrat"/>
              </a:defRPr>
            </a:pPr>
            <a:r>
              <a:rPr sz="1800" b="0" i="0">
                <a:solidFill>
                  <a:srgbClr val="2D2D2D"/>
                </a:solidFill>
                <a:latin typeface="Montserrat"/>
                <a:ea typeface="Montserrat"/>
                <a:cs typeface="Montserrat"/>
              </a:rPr>
              <a:t>A city-year supplies a count and a rate. Two years allow a change to be calculated.</a:t>
            </a:r>
          </a:p>
        </p:txBody>
      </p:sp>
    </p:spTree>
    <p:extLst>
      <p:ext uri="{BB962C8B-B14F-4D97-AF65-F5344CB8AC3E}">
        <p14:creationId xmlns:p14="http://schemas.microsoft.com/office/powerpoint/2010/main" val="4142901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25959DD-5929-404D-878D-CA74F7CABB14}"/>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Homicide study  Who entered the data?</a:t>
            </a:r>
          </a:p>
        </p:txBody>
      </p:sp>
      <p:sp>
        <p:nvSpPr>
          <p:cNvPr id="2" name="Rectangle 1">
            <a:extLst>
              <a:ext uri="{FF2B5EF4-FFF2-40B4-BE49-F238E27FC236}">
                <a16:creationId xmlns:a16="http://schemas.microsoft.com/office/drawing/2014/main" id="{0F0BD798-A5E3-47D6-8D27-230A90BE9952}"/>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D822C017-B180-4B52-B98F-0764D2BFB710}"/>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CD6F158-9A73-421E-A668-3FA052513BBB}"/>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6" name="Rectangle 5">
            <a:extLst>
              <a:ext uri="{FF2B5EF4-FFF2-40B4-BE49-F238E27FC236}">
                <a16:creationId xmlns:a16="http://schemas.microsoft.com/office/drawing/2014/main" id="{7CB6DB53-ED10-4F7D-86F9-FE6C56CF83B9}"/>
              </a:ext>
            </a:extLst>
          </p:cNvPr>
          <p:cNvSpPr>
            <a:spLocks noGrp="1"/>
          </p:cNvSpPr>
          <p:nvPr/>
        </p:nvSpPr>
        <p:spPr>
          <a:xfrm>
            <a:off x="1047750" y="1771650"/>
            <a:ext cx="7048500" cy="38100"/>
          </a:xfrm>
          <a:prstGeom prst="rect">
            <a:avLst/>
          </a:prstGeom>
          <a:solidFill>
            <a:srgbClr val="D6D9DE"/>
          </a:solidFill>
          <a:ln w="0">
            <a:noFill/>
          </a:ln>
        </p:spPr>
      </p:sp>
      <p:sp>
        <p:nvSpPr>
          <p:cNvPr id="7" name="Oval 6">
            <a:extLst>
              <a:ext uri="{FF2B5EF4-FFF2-40B4-BE49-F238E27FC236}">
                <a16:creationId xmlns:a16="http://schemas.microsoft.com/office/drawing/2014/main" id="{05969993-9548-4D04-8FD3-723FF81E3A9C}"/>
              </a:ext>
            </a:extLst>
          </p:cNvPr>
          <p:cNvSpPr>
            <a:spLocks noGrp="1"/>
          </p:cNvSpPr>
          <p:nvPr/>
        </p:nvSpPr>
        <p:spPr>
          <a:xfrm>
            <a:off x="1143000" y="1609725"/>
            <a:ext cx="323850" cy="323850"/>
          </a:xfrm>
          <a:prstGeom prst="ellipse">
            <a:avLst/>
          </a:prstGeom>
          <a:solidFill>
            <a:srgbClr val="1D4F91"/>
          </a:solidFill>
          <a:ln w="9525">
            <a:solidFill>
              <a:srgbClr val="1D4F91"/>
            </a:solidFill>
          </a:ln>
        </p:spPr>
      </p:sp>
      <p:sp>
        <p:nvSpPr>
          <p:cNvPr id="8" name="Rectangle 7">
            <a:extLst>
              <a:ext uri="{FF2B5EF4-FFF2-40B4-BE49-F238E27FC236}">
                <a16:creationId xmlns:a16="http://schemas.microsoft.com/office/drawing/2014/main" id="{D6F8507D-58CA-4090-A813-E0415DCAD8AA}"/>
              </a:ext>
            </a:extLst>
          </p:cNvPr>
          <p:cNvSpPr>
            <a:spLocks noGrp="1"/>
          </p:cNvSpPr>
          <p:nvPr/>
        </p:nvSpPr>
        <p:spPr>
          <a:xfrm>
            <a:off x="1143000" y="1638300"/>
            <a:ext cx="323850" cy="247650"/>
          </a:xfrm>
          <a:prstGeom prst="rect">
            <a:avLst/>
          </a:prstGeom>
          <a:noFill/>
          <a:ln w="0">
            <a:noFill/>
          </a:ln>
        </p:spPr>
        <p:txBody>
          <a:bodyPr anchor="ctr">
            <a:normAutofit fontScale="87892" lnSpcReduction="10000"/>
          </a:bodyPr>
          <a:lstStyle/>
          <a:p>
            <a:pPr>
              <a:defRPr sz="1275" b="1" i="0">
                <a:solidFill>
                  <a:srgbClr val="FFFFFF"/>
                </a:solidFill>
                <a:latin typeface="Montserrat"/>
                <a:ea typeface="Montserrat"/>
                <a:cs typeface="Montserrat"/>
              </a:defRPr>
            </a:pPr>
            <a:r>
              <a:rPr sz="1275" b="1" i="0">
                <a:solidFill>
                  <a:srgbClr val="FFFFFF"/>
                </a:solidFill>
                <a:latin typeface="Montserrat"/>
                <a:ea typeface="Montserrat"/>
                <a:cs typeface="Montserrat"/>
              </a:rPr>
              <a:t>1</a:t>
            </a:r>
          </a:p>
        </p:txBody>
      </p:sp>
      <p:sp>
        <p:nvSpPr>
          <p:cNvPr id="9" name="Rectangle 8">
            <a:extLst>
              <a:ext uri="{FF2B5EF4-FFF2-40B4-BE49-F238E27FC236}">
                <a16:creationId xmlns:a16="http://schemas.microsoft.com/office/drawing/2014/main" id="{B8CBA5E5-0DA6-4C88-8A49-16529C935276}"/>
              </a:ext>
            </a:extLst>
          </p:cNvPr>
          <p:cNvSpPr>
            <a:spLocks noGrp="1"/>
          </p:cNvSpPr>
          <p:nvPr/>
        </p:nvSpPr>
        <p:spPr>
          <a:xfrm>
            <a:off x="1028700" y="2066925"/>
            <a:ext cx="1657350" cy="381000"/>
          </a:xfrm>
          <a:prstGeom prst="rect">
            <a:avLst/>
          </a:prstGeom>
          <a:noFill/>
          <a:ln w="0">
            <a:noFill/>
          </a:ln>
        </p:spPr>
        <p:txBody>
          <a:bodyPr anchor="t">
            <a:normAutofit/>
          </a:bodyPr>
          <a:lstStyle/>
          <a:p>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All U.S. cities</a:t>
            </a:r>
          </a:p>
        </p:txBody>
      </p:sp>
      <p:sp>
        <p:nvSpPr>
          <p:cNvPr id="10" name="Rectangle 9">
            <a:extLst>
              <a:ext uri="{FF2B5EF4-FFF2-40B4-BE49-F238E27FC236}">
                <a16:creationId xmlns:a16="http://schemas.microsoft.com/office/drawing/2014/main" id="{29DA9F9F-DB07-4631-97E0-01526ED232E2}"/>
              </a:ext>
            </a:extLst>
          </p:cNvPr>
          <p:cNvSpPr>
            <a:spLocks noGrp="1"/>
          </p:cNvSpPr>
          <p:nvPr/>
        </p:nvSpPr>
        <p:spPr>
          <a:xfrm>
            <a:off x="1028700" y="2514600"/>
            <a:ext cx="1657350" cy="990600"/>
          </a:xfrm>
          <a:prstGeom prst="rect">
            <a:avLst/>
          </a:prstGeom>
          <a:noFill/>
          <a:ln w="0">
            <a:noFill/>
          </a:ln>
        </p:spPr>
        <p:txBody>
          <a:bodyPr anchor="t">
            <a:normAutofit fontScale="92500"/>
          </a:bodyPr>
          <a:lstStyle/>
          <a:p>
            <a:pPr>
              <a:defRPr sz="1350" b="0" i="0">
                <a:solidFill>
                  <a:srgbClr val="2D2D2D"/>
                </a:solidFill>
                <a:latin typeface="Montserrat"/>
                <a:ea typeface="Montserrat"/>
                <a:cs typeface="Montserrat"/>
              </a:defRPr>
            </a:pPr>
            <a:r>
              <a:rPr sz="1350" b="0" i="0">
                <a:solidFill>
                  <a:srgbClr val="2D2D2D"/>
                </a:solidFill>
                <a:latin typeface="Montserrat"/>
                <a:ea typeface="Montserrat"/>
                <a:cs typeface="Montserrat"/>
              </a:rPr>
              <a:t>Target population implied by a national headline</a:t>
            </a:r>
          </a:p>
        </p:txBody>
      </p:sp>
      <p:sp>
        <p:nvSpPr>
          <p:cNvPr id="11" name="Oval 10">
            <a:extLst>
              <a:ext uri="{FF2B5EF4-FFF2-40B4-BE49-F238E27FC236}">
                <a16:creationId xmlns:a16="http://schemas.microsoft.com/office/drawing/2014/main" id="{A80923D0-0294-4BD7-822E-B2935CCEBF17}"/>
              </a:ext>
            </a:extLst>
          </p:cNvPr>
          <p:cNvSpPr>
            <a:spLocks noGrp="1"/>
          </p:cNvSpPr>
          <p:nvPr/>
        </p:nvSpPr>
        <p:spPr>
          <a:xfrm>
            <a:off x="3429000" y="1609725"/>
            <a:ext cx="323850" cy="323850"/>
          </a:xfrm>
          <a:prstGeom prst="ellipse">
            <a:avLst/>
          </a:prstGeom>
          <a:solidFill>
            <a:srgbClr val="1D4F91"/>
          </a:solidFill>
          <a:ln w="9525">
            <a:solidFill>
              <a:srgbClr val="1D4F91"/>
            </a:solidFill>
          </a:ln>
        </p:spPr>
      </p:sp>
      <p:sp>
        <p:nvSpPr>
          <p:cNvPr id="12" name="Rectangle 11">
            <a:extLst>
              <a:ext uri="{FF2B5EF4-FFF2-40B4-BE49-F238E27FC236}">
                <a16:creationId xmlns:a16="http://schemas.microsoft.com/office/drawing/2014/main" id="{883D41FF-EB1B-49DA-B9DE-E101BF36A41D}"/>
              </a:ext>
            </a:extLst>
          </p:cNvPr>
          <p:cNvSpPr>
            <a:spLocks noGrp="1"/>
          </p:cNvSpPr>
          <p:nvPr/>
        </p:nvSpPr>
        <p:spPr>
          <a:xfrm>
            <a:off x="3429000" y="1638300"/>
            <a:ext cx="323850" cy="247650"/>
          </a:xfrm>
          <a:prstGeom prst="rect">
            <a:avLst/>
          </a:prstGeom>
          <a:noFill/>
          <a:ln w="0">
            <a:noFill/>
          </a:ln>
        </p:spPr>
        <p:txBody>
          <a:bodyPr anchor="ctr">
            <a:normAutofit fontScale="87892" lnSpcReduction="10000"/>
          </a:bodyPr>
          <a:lstStyle/>
          <a:p>
            <a:pPr>
              <a:defRPr sz="1275" b="1" i="0">
                <a:solidFill>
                  <a:srgbClr val="FFFFFF"/>
                </a:solidFill>
                <a:latin typeface="Montserrat"/>
                <a:ea typeface="Montserrat"/>
                <a:cs typeface="Montserrat"/>
              </a:defRPr>
            </a:pPr>
            <a:r>
              <a:rPr sz="1275" b="1" i="0">
                <a:solidFill>
                  <a:srgbClr val="FFFFFF"/>
                </a:solidFill>
                <a:latin typeface="Montserrat"/>
                <a:ea typeface="Montserrat"/>
                <a:cs typeface="Montserrat"/>
              </a:rPr>
              <a:t>2</a:t>
            </a:r>
          </a:p>
        </p:txBody>
      </p:sp>
      <p:sp>
        <p:nvSpPr>
          <p:cNvPr id="13" name="Rectangle 12">
            <a:extLst>
              <a:ext uri="{FF2B5EF4-FFF2-40B4-BE49-F238E27FC236}">
                <a16:creationId xmlns:a16="http://schemas.microsoft.com/office/drawing/2014/main" id="{6993D509-AE40-4176-AA41-3487974F5C80}"/>
              </a:ext>
            </a:extLst>
          </p:cNvPr>
          <p:cNvSpPr>
            <a:spLocks noGrp="1"/>
          </p:cNvSpPr>
          <p:nvPr/>
        </p:nvSpPr>
        <p:spPr>
          <a:xfrm>
            <a:off x="3314700" y="2066925"/>
            <a:ext cx="1657350" cy="381000"/>
          </a:xfrm>
          <a:prstGeom prst="rect">
            <a:avLst/>
          </a:prstGeom>
          <a:noFill/>
          <a:ln w="0">
            <a:noFill/>
          </a:ln>
        </p:spPr>
        <p:txBody>
          <a:bodyPr anchor="t">
            <a:normAutofit fontScale="83222" lnSpcReduction="10000"/>
          </a:bodyPr>
          <a:lstStyle/>
          <a:p>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Available systems</a:t>
            </a:r>
          </a:p>
        </p:txBody>
      </p:sp>
      <p:sp>
        <p:nvSpPr>
          <p:cNvPr id="14" name="Rectangle 13">
            <a:extLst>
              <a:ext uri="{FF2B5EF4-FFF2-40B4-BE49-F238E27FC236}">
                <a16:creationId xmlns:a16="http://schemas.microsoft.com/office/drawing/2014/main" id="{9661FB7E-E8BA-4325-9FA5-C34E0A0A0352}"/>
              </a:ext>
            </a:extLst>
          </p:cNvPr>
          <p:cNvSpPr>
            <a:spLocks noGrp="1"/>
          </p:cNvSpPr>
          <p:nvPr/>
        </p:nvSpPr>
        <p:spPr>
          <a:xfrm>
            <a:off x="3314700" y="2514600"/>
            <a:ext cx="1657350" cy="990600"/>
          </a:xfrm>
          <a:prstGeom prst="rect">
            <a:avLst/>
          </a:prstGeom>
          <a:noFill/>
          <a:ln w="0">
            <a:noFill/>
          </a:ln>
        </p:spPr>
        <p:txBody>
          <a:bodyPr anchor="t">
            <a:normAutofit fontScale="92500"/>
          </a:bodyPr>
          <a:lstStyle/>
          <a:p>
            <a:pPr>
              <a:defRPr sz="1350" b="0" i="0">
                <a:solidFill>
                  <a:srgbClr val="2D2D2D"/>
                </a:solidFill>
                <a:latin typeface="Montserrat"/>
                <a:ea typeface="Montserrat"/>
                <a:cs typeface="Montserrat"/>
              </a:defRPr>
            </a:pPr>
            <a:r>
              <a:rPr sz="1350" b="0" i="0">
                <a:solidFill>
                  <a:srgbClr val="2D2D2D"/>
                </a:solidFill>
                <a:latin typeface="Montserrat"/>
                <a:ea typeface="Montserrat"/>
                <a:cs typeface="Montserrat"/>
              </a:rPr>
              <a:t>Police and municipal records with usable definitions</a:t>
            </a:r>
          </a:p>
        </p:txBody>
      </p:sp>
      <p:sp>
        <p:nvSpPr>
          <p:cNvPr id="15" name="Oval 14">
            <a:extLst>
              <a:ext uri="{FF2B5EF4-FFF2-40B4-BE49-F238E27FC236}">
                <a16:creationId xmlns:a16="http://schemas.microsoft.com/office/drawing/2014/main" id="{FFC4B4E4-24D9-493A-936A-A9C75DCFF53F}"/>
              </a:ext>
            </a:extLst>
          </p:cNvPr>
          <p:cNvSpPr>
            <a:spLocks noGrp="1"/>
          </p:cNvSpPr>
          <p:nvPr/>
        </p:nvSpPr>
        <p:spPr>
          <a:xfrm>
            <a:off x="5715000" y="1609725"/>
            <a:ext cx="323850" cy="323850"/>
          </a:xfrm>
          <a:prstGeom prst="ellipse">
            <a:avLst/>
          </a:prstGeom>
          <a:solidFill>
            <a:srgbClr val="B43A3A"/>
          </a:solidFill>
          <a:ln w="9525">
            <a:solidFill>
              <a:srgbClr val="B43A3A"/>
            </a:solidFill>
          </a:ln>
        </p:spPr>
      </p:sp>
      <p:sp>
        <p:nvSpPr>
          <p:cNvPr id="16" name="Rectangle 15">
            <a:extLst>
              <a:ext uri="{FF2B5EF4-FFF2-40B4-BE49-F238E27FC236}">
                <a16:creationId xmlns:a16="http://schemas.microsoft.com/office/drawing/2014/main" id="{8F0DFE91-A837-43A9-9E83-DF2AE92DF531}"/>
              </a:ext>
            </a:extLst>
          </p:cNvPr>
          <p:cNvSpPr>
            <a:spLocks noGrp="1"/>
          </p:cNvSpPr>
          <p:nvPr/>
        </p:nvSpPr>
        <p:spPr>
          <a:xfrm>
            <a:off x="5715000" y="1638300"/>
            <a:ext cx="323850" cy="247650"/>
          </a:xfrm>
          <a:prstGeom prst="rect">
            <a:avLst/>
          </a:prstGeom>
          <a:noFill/>
          <a:ln w="0">
            <a:noFill/>
          </a:ln>
        </p:spPr>
        <p:txBody>
          <a:bodyPr anchor="ctr">
            <a:normAutofit fontScale="87892" lnSpcReduction="10000"/>
          </a:bodyPr>
          <a:lstStyle/>
          <a:p>
            <a:pPr>
              <a:defRPr sz="1275" b="1" i="0">
                <a:solidFill>
                  <a:srgbClr val="FFFFFF"/>
                </a:solidFill>
                <a:latin typeface="Montserrat"/>
                <a:ea typeface="Montserrat"/>
                <a:cs typeface="Montserrat"/>
              </a:defRPr>
            </a:pPr>
            <a:r>
              <a:rPr sz="1275" b="1" i="0">
                <a:solidFill>
                  <a:srgbClr val="FFFFFF"/>
                </a:solidFill>
                <a:latin typeface="Montserrat"/>
                <a:ea typeface="Montserrat"/>
                <a:cs typeface="Montserrat"/>
              </a:rPr>
              <a:t>3</a:t>
            </a:r>
          </a:p>
        </p:txBody>
      </p:sp>
      <p:sp>
        <p:nvSpPr>
          <p:cNvPr id="17" name="Rectangle 16">
            <a:extLst>
              <a:ext uri="{FF2B5EF4-FFF2-40B4-BE49-F238E27FC236}">
                <a16:creationId xmlns:a16="http://schemas.microsoft.com/office/drawing/2014/main" id="{FD118C1D-FFC8-4EE9-B33E-2AF17A22D5FC}"/>
              </a:ext>
            </a:extLst>
          </p:cNvPr>
          <p:cNvSpPr>
            <a:spLocks noGrp="1"/>
          </p:cNvSpPr>
          <p:nvPr/>
        </p:nvSpPr>
        <p:spPr>
          <a:xfrm>
            <a:off x="5600700" y="2066925"/>
            <a:ext cx="1657350" cy="381000"/>
          </a:xfrm>
          <a:prstGeom prst="rect">
            <a:avLst/>
          </a:prstGeom>
          <a:noFill/>
          <a:ln w="0">
            <a:noFill/>
          </a:ln>
        </p:spPr>
        <p:txBody>
          <a:bodyPr anchor="t">
            <a:normAutofit fontScale="83877" lnSpcReduction="10000"/>
          </a:bodyPr>
          <a:lstStyle/>
          <a:p>
            <a:pPr>
              <a:defRPr sz="1500" b="1" i="0">
                <a:solidFill>
                  <a:srgbClr val="B43A3A"/>
                </a:solidFill>
                <a:latin typeface="Montserrat"/>
                <a:ea typeface="Montserrat"/>
                <a:cs typeface="Montserrat"/>
              </a:defRPr>
            </a:pPr>
            <a:r>
              <a:rPr sz="1500" b="1" i="0">
                <a:solidFill>
                  <a:srgbClr val="B43A3A"/>
                </a:solidFill>
                <a:latin typeface="Montserrat"/>
                <a:ea typeface="Montserrat"/>
                <a:cs typeface="Montserrat"/>
              </a:rPr>
              <a:t>Timely reporters</a:t>
            </a:r>
          </a:p>
        </p:txBody>
      </p:sp>
      <p:sp>
        <p:nvSpPr>
          <p:cNvPr id="18" name="Rectangle 17">
            <a:extLst>
              <a:ext uri="{FF2B5EF4-FFF2-40B4-BE49-F238E27FC236}">
                <a16:creationId xmlns:a16="http://schemas.microsoft.com/office/drawing/2014/main" id="{A0425387-5725-441B-B50F-26AC0D4B6430}"/>
              </a:ext>
            </a:extLst>
          </p:cNvPr>
          <p:cNvSpPr>
            <a:spLocks noGrp="1"/>
          </p:cNvSpPr>
          <p:nvPr/>
        </p:nvSpPr>
        <p:spPr>
          <a:xfrm>
            <a:off x="5600700" y="2514600"/>
            <a:ext cx="1657350" cy="990600"/>
          </a:xfrm>
          <a:prstGeom prst="rect">
            <a:avLst/>
          </a:prstGeom>
          <a:noFill/>
          <a:ln w="0">
            <a:noFill/>
          </a:ln>
        </p:spPr>
        <p:txBody>
          <a:bodyPr anchor="t">
            <a:normAutofit/>
          </a:bodyPr>
          <a:lstStyle/>
          <a:p>
            <a:pPr>
              <a:defRPr sz="1350" b="0" i="0">
                <a:solidFill>
                  <a:srgbClr val="2D2D2D"/>
                </a:solidFill>
                <a:latin typeface="Montserrat"/>
                <a:ea typeface="Montserrat"/>
                <a:cs typeface="Montserrat"/>
              </a:defRPr>
            </a:pPr>
            <a:r>
              <a:rPr sz="1350" b="0" i="0">
                <a:solidFill>
                  <a:srgbClr val="2D2D2D"/>
                </a:solidFill>
                <a:latin typeface="Montserrat"/>
                <a:ea typeface="Montserrat"/>
                <a:cs typeface="Montserrat"/>
              </a:rPr>
              <a:t>Cities reporting consistent monthly figures</a:t>
            </a:r>
          </a:p>
        </p:txBody>
      </p:sp>
      <p:sp>
        <p:nvSpPr>
          <p:cNvPr id="19" name="Rectangle 18">
            <a:extLst>
              <a:ext uri="{FF2B5EF4-FFF2-40B4-BE49-F238E27FC236}">
                <a16:creationId xmlns:a16="http://schemas.microsoft.com/office/drawing/2014/main" id="{883BF486-1A65-40D9-96C5-E96F4E773442}"/>
              </a:ext>
            </a:extLst>
          </p:cNvPr>
          <p:cNvSpPr>
            <a:spLocks noGrp="1"/>
          </p:cNvSpPr>
          <p:nvPr/>
        </p:nvSpPr>
        <p:spPr>
          <a:xfrm>
            <a:off x="5810250" y="3476625"/>
            <a:ext cx="2428875" cy="361950"/>
          </a:xfrm>
          <a:prstGeom prst="rect">
            <a:avLst/>
          </a:prstGeom>
          <a:noFill/>
          <a:ln w="0">
            <a:noFill/>
          </a:ln>
        </p:spPr>
        <p:txBody>
          <a:bodyPr anchor="t">
            <a:normAutofit fontScale="68893" lnSpcReduction="20000"/>
          </a:bodyPr>
          <a:lstStyle/>
          <a:p>
            <a:pPr>
              <a:defRPr sz="1725" b="1" i="0">
                <a:solidFill>
                  <a:srgbClr val="B43A3A"/>
                </a:solidFill>
                <a:latin typeface="Montserrat"/>
                <a:ea typeface="Montserrat"/>
                <a:cs typeface="Montserrat"/>
              </a:defRPr>
            </a:pPr>
            <a:r>
              <a:rPr sz="1725" b="1" i="0">
                <a:solidFill>
                  <a:srgbClr val="B43A3A"/>
                </a:solidFill>
                <a:latin typeface="Montserrat"/>
                <a:ea typeface="Montserrat"/>
                <a:cs typeface="Montserrat"/>
              </a:rPr>
              <a:t>Final study sample: 35 cities</a:t>
            </a:r>
          </a:p>
        </p:txBody>
      </p:sp>
      <p:sp>
        <p:nvSpPr>
          <p:cNvPr id="20" name="Rectangle 19">
            <a:extLst>
              <a:ext uri="{FF2B5EF4-FFF2-40B4-BE49-F238E27FC236}">
                <a16:creationId xmlns:a16="http://schemas.microsoft.com/office/drawing/2014/main" id="{0311DD8B-C6F9-4589-B842-16D218052061}"/>
              </a:ext>
            </a:extLst>
          </p:cNvPr>
          <p:cNvSpPr>
            <a:spLocks noGrp="1"/>
          </p:cNvSpPr>
          <p:nvPr/>
        </p:nvSpPr>
        <p:spPr>
          <a:xfrm>
            <a:off x="1000125" y="4048125"/>
            <a:ext cx="7143750" cy="457200"/>
          </a:xfrm>
          <a:prstGeom prst="rect">
            <a:avLst/>
          </a:prstGeom>
          <a:noFill/>
          <a:ln w="0">
            <a:noFill/>
          </a:ln>
        </p:spPr>
        <p:txBody>
          <a:bodyPr anchor="t">
            <a:normAutofit fontScale="73058" lnSpcReduction="20000"/>
          </a:bodyPr>
          <a:lstStyle/>
          <a:p>
            <a:pPr>
              <a:defRPr sz="1875" b="1" i="0">
                <a:solidFill>
                  <a:srgbClr val="1D4F91"/>
                </a:solidFill>
                <a:latin typeface="Montserrat"/>
                <a:ea typeface="Montserrat"/>
                <a:cs typeface="Montserrat"/>
              </a:defRPr>
            </a:pPr>
            <a:r>
              <a:rPr sz="1875" b="1" i="0">
                <a:solidFill>
                  <a:srgbClr val="1D4F91"/>
                </a:solidFill>
                <a:latin typeface="Montserrat"/>
                <a:ea typeface="Montserrat"/>
                <a:cs typeface="Montserrat"/>
              </a:rPr>
              <a:t>Which cities had little or no chance of appearing, and how might they differ?</a:t>
            </a:r>
          </a:p>
        </p:txBody>
      </p:sp>
    </p:spTree>
    <p:extLst>
      <p:ext uri="{BB962C8B-B14F-4D97-AF65-F5344CB8AC3E}">
        <p14:creationId xmlns:p14="http://schemas.microsoft.com/office/powerpoint/2010/main" val="1107311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0757182-4DD2-4E74-A0F5-0EB8E2175DEF}"/>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VDS three realms: data and future data</a:t>
            </a:r>
          </a:p>
        </p:txBody>
      </p:sp>
      <p:sp>
        <p:nvSpPr>
          <p:cNvPr id="2" name="Rectangle 1">
            <a:extLst>
              <a:ext uri="{FF2B5EF4-FFF2-40B4-BE49-F238E27FC236}">
                <a16:creationId xmlns:a16="http://schemas.microsoft.com/office/drawing/2014/main" id="{1945C59E-A57B-40B6-862B-29630CC91D79}"/>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FB8FC8C5-DBCD-443D-AF13-55B1DE3D2BF8}"/>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02E9FDC3-51B8-4CEB-A004-E9B1A6ECF6D6}"/>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pic>
        <p:nvPicPr>
          <p:cNvPr id="16" name="Picture 15"/>
          <p:cNvPicPr>
            <a:picLocks noChangeAspect="1"/>
          </p:cNvPicPr>
          <p:nvPr/>
        </p:nvPicPr>
        <p:blipFill>
          <a:blip r:embed="rId3"/>
          <a:stretch/>
        </p:blipFill>
        <p:spPr>
          <a:xfrm>
            <a:off x="428625" y="1254966"/>
            <a:ext cx="5572125" cy="2938368"/>
          </a:xfrm>
          <a:prstGeom prst="rect">
            <a:avLst/>
          </a:prstGeom>
        </p:spPr>
      </p:pic>
      <p:sp>
        <p:nvSpPr>
          <p:cNvPr id="6" name="Rectangle 5">
            <a:extLst>
              <a:ext uri="{FF2B5EF4-FFF2-40B4-BE49-F238E27FC236}">
                <a16:creationId xmlns:a16="http://schemas.microsoft.com/office/drawing/2014/main" id="{6C556F8A-FFBE-4CDD-BD06-B967A593E801}"/>
              </a:ext>
            </a:extLst>
          </p:cNvPr>
          <p:cNvSpPr>
            <a:spLocks noGrp="1"/>
          </p:cNvSpPr>
          <p:nvPr/>
        </p:nvSpPr>
        <p:spPr>
          <a:xfrm>
            <a:off x="6286500" y="1190625"/>
            <a:ext cx="2190750" cy="285750"/>
          </a:xfrm>
          <a:prstGeom prst="rect">
            <a:avLst/>
          </a:prstGeom>
          <a:noFill/>
          <a:ln w="0">
            <a:noFill/>
          </a:ln>
        </p:spPr>
        <p:txBody>
          <a:bodyPr anchor="t">
            <a:normAutofit fontScale="92273"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Reality</a:t>
            </a:r>
          </a:p>
        </p:txBody>
      </p:sp>
      <p:sp>
        <p:nvSpPr>
          <p:cNvPr id="7" name="Rectangle 6">
            <a:extLst>
              <a:ext uri="{FF2B5EF4-FFF2-40B4-BE49-F238E27FC236}">
                <a16:creationId xmlns:a16="http://schemas.microsoft.com/office/drawing/2014/main" id="{A1075CA6-2C7B-4023-B861-3C412EF8BDAB}"/>
              </a:ext>
            </a:extLst>
          </p:cNvPr>
          <p:cNvSpPr>
            <a:spLocks noGrp="1"/>
          </p:cNvSpPr>
          <p:nvPr/>
        </p:nvSpPr>
        <p:spPr>
          <a:xfrm>
            <a:off x="6286500" y="1543050"/>
            <a:ext cx="2190750" cy="685800"/>
          </a:xfrm>
          <a:prstGeom prst="rect">
            <a:avLst/>
          </a:prstGeom>
          <a:noFill/>
          <a:ln w="0">
            <a:noFill/>
          </a:ln>
        </p:spPr>
        <p:txBody>
          <a:bodyPr anchor="t">
            <a:normAutofit fontScale="90040" lnSpcReduction="10000"/>
          </a:bodyPr>
          <a:lstStyle/>
          <a:p>
            <a:pPr>
              <a:defRPr sz="1575" b="0" i="0">
                <a:solidFill>
                  <a:srgbClr val="2D2D2D"/>
                </a:solidFill>
                <a:latin typeface="Montserrat"/>
                <a:ea typeface="Montserrat"/>
                <a:cs typeface="Montserrat"/>
              </a:defRPr>
            </a:pPr>
            <a:r>
              <a:rPr sz="1575" b="0" i="0">
                <a:solidFill>
                  <a:srgbClr val="2D2D2D"/>
                </a:solidFill>
                <a:latin typeface="Montserrat"/>
                <a:ea typeface="Montserrat"/>
                <a:cs typeface="Montserrat"/>
              </a:rPr>
              <a:t>All individuals and their true values in the target population</a:t>
            </a:r>
          </a:p>
        </p:txBody>
      </p:sp>
      <p:sp>
        <p:nvSpPr>
          <p:cNvPr id="8" name="Rectangle 7">
            <a:extLst>
              <a:ext uri="{FF2B5EF4-FFF2-40B4-BE49-F238E27FC236}">
                <a16:creationId xmlns:a16="http://schemas.microsoft.com/office/drawing/2014/main" id="{1A3904F0-2784-440C-BBF1-51EE10DECD16}"/>
              </a:ext>
            </a:extLst>
          </p:cNvPr>
          <p:cNvSpPr>
            <a:spLocks noGrp="1"/>
          </p:cNvSpPr>
          <p:nvPr/>
        </p:nvSpPr>
        <p:spPr>
          <a:xfrm>
            <a:off x="6286500" y="2428875"/>
            <a:ext cx="2190750" cy="285750"/>
          </a:xfrm>
          <a:prstGeom prst="rect">
            <a:avLst/>
          </a:prstGeom>
          <a:noFill/>
          <a:ln w="0">
            <a:noFill/>
          </a:ln>
        </p:spPr>
        <p:txBody>
          <a:bodyPr anchor="t">
            <a:normAutofit fontScale="92273"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Data</a:t>
            </a:r>
          </a:p>
        </p:txBody>
      </p:sp>
      <p:sp>
        <p:nvSpPr>
          <p:cNvPr id="9" name="Rectangle 8">
            <a:extLst>
              <a:ext uri="{FF2B5EF4-FFF2-40B4-BE49-F238E27FC236}">
                <a16:creationId xmlns:a16="http://schemas.microsoft.com/office/drawing/2014/main" id="{03A6F379-364B-4909-B5BA-2768B37D7676}"/>
              </a:ext>
            </a:extLst>
          </p:cNvPr>
          <p:cNvSpPr>
            <a:spLocks noGrp="1"/>
          </p:cNvSpPr>
          <p:nvPr/>
        </p:nvSpPr>
        <p:spPr>
          <a:xfrm>
            <a:off x="6286500" y="2781300"/>
            <a:ext cx="2190750" cy="628650"/>
          </a:xfrm>
          <a:prstGeom prst="rect">
            <a:avLst/>
          </a:prstGeom>
          <a:noFill/>
          <a:ln w="0">
            <a:noFill/>
          </a:ln>
        </p:spPr>
        <p:txBody>
          <a:bodyPr anchor="t">
            <a:normAutofit fontScale="79079" lnSpcReduction="10000"/>
          </a:bodyPr>
          <a:lstStyle/>
          <a:p>
            <a:pPr>
              <a:defRPr sz="1575" b="0" i="0">
                <a:solidFill>
                  <a:srgbClr val="2D2D2D"/>
                </a:solidFill>
                <a:latin typeface="Montserrat"/>
                <a:ea typeface="Montserrat"/>
                <a:cs typeface="Montserrat"/>
              </a:defRPr>
            </a:pPr>
            <a:r>
              <a:rPr sz="1575" b="0" i="0">
                <a:solidFill>
                  <a:srgbClr val="2D2D2D"/>
                </a:solidFill>
                <a:latin typeface="Montserrat"/>
                <a:ea typeface="Montserrat"/>
                <a:cs typeface="Montserrat"/>
              </a:rPr>
              <a:t>The individuals selected and the variables recorded now</a:t>
            </a:r>
          </a:p>
        </p:txBody>
      </p:sp>
      <p:sp>
        <p:nvSpPr>
          <p:cNvPr id="10" name="Rectangle 9">
            <a:extLst>
              <a:ext uri="{FF2B5EF4-FFF2-40B4-BE49-F238E27FC236}">
                <a16:creationId xmlns:a16="http://schemas.microsoft.com/office/drawing/2014/main" id="{5FC4349A-1847-4F3C-A82E-B3F0E302765D}"/>
              </a:ext>
            </a:extLst>
          </p:cNvPr>
          <p:cNvSpPr>
            <a:spLocks noGrp="1"/>
          </p:cNvSpPr>
          <p:nvPr/>
        </p:nvSpPr>
        <p:spPr>
          <a:xfrm>
            <a:off x="6286500" y="3638550"/>
            <a:ext cx="2190750" cy="285750"/>
          </a:xfrm>
          <a:prstGeom prst="rect">
            <a:avLst/>
          </a:prstGeom>
          <a:noFill/>
          <a:ln w="0">
            <a:noFill/>
          </a:ln>
        </p:spPr>
        <p:txBody>
          <a:bodyPr anchor="t">
            <a:normAutofit fontScale="92273" lnSpcReduction="20000"/>
          </a:bodyPr>
          <a:lstStyle/>
          <a:p>
            <a:pPr>
              <a:defRPr sz="1650" b="1" i="0">
                <a:solidFill>
                  <a:srgbClr val="1D4F91"/>
                </a:solidFill>
                <a:latin typeface="Montserrat"/>
                <a:ea typeface="Montserrat"/>
                <a:cs typeface="Montserrat"/>
              </a:defRPr>
            </a:pPr>
            <a:r>
              <a:rPr sz="1650" b="1" i="0">
                <a:solidFill>
                  <a:srgbClr val="1D4F91"/>
                </a:solidFill>
                <a:latin typeface="Montserrat"/>
                <a:ea typeface="Montserrat"/>
                <a:cs typeface="Montserrat"/>
              </a:rPr>
              <a:t>Future data</a:t>
            </a:r>
          </a:p>
        </p:txBody>
      </p:sp>
      <p:sp>
        <p:nvSpPr>
          <p:cNvPr id="11" name="Rectangle 10">
            <a:extLst>
              <a:ext uri="{FF2B5EF4-FFF2-40B4-BE49-F238E27FC236}">
                <a16:creationId xmlns:a16="http://schemas.microsoft.com/office/drawing/2014/main" id="{25E6EA23-6F7E-4B32-8499-A638538193E9}"/>
              </a:ext>
            </a:extLst>
          </p:cNvPr>
          <p:cNvSpPr>
            <a:spLocks noGrp="1"/>
          </p:cNvSpPr>
          <p:nvPr/>
        </p:nvSpPr>
        <p:spPr>
          <a:xfrm>
            <a:off x="6286500" y="3990975"/>
            <a:ext cx="2190750" cy="533400"/>
          </a:xfrm>
          <a:prstGeom prst="rect">
            <a:avLst/>
          </a:prstGeom>
          <a:noFill/>
          <a:ln w="0">
            <a:noFill/>
          </a:ln>
        </p:spPr>
        <p:txBody>
          <a:bodyPr anchor="t">
            <a:normAutofit fontScale="81422" lnSpcReduction="20000"/>
          </a:bodyPr>
          <a:lstStyle/>
          <a:p>
            <a:pPr>
              <a:defRPr sz="1500" b="0" i="0">
                <a:solidFill>
                  <a:srgbClr val="2D2D2D"/>
                </a:solidFill>
                <a:latin typeface="Montserrat"/>
                <a:ea typeface="Montserrat"/>
                <a:cs typeface="Montserrat"/>
              </a:defRPr>
            </a:pPr>
            <a:r>
              <a:rPr sz="1500" b="0" i="0">
                <a:solidFill>
                  <a:srgbClr val="2D2D2D"/>
                </a:solidFill>
                <a:latin typeface="Montserrat"/>
                <a:ea typeface="Montserrat"/>
                <a:cs typeface="Montserrat"/>
              </a:rPr>
              <a:t>What another sample or later measurement would record</a:t>
            </a:r>
          </a:p>
        </p:txBody>
      </p:sp>
    </p:spTree>
    <p:extLst>
      <p:ext uri="{BB962C8B-B14F-4D97-AF65-F5344CB8AC3E}">
        <p14:creationId xmlns:p14="http://schemas.microsoft.com/office/powerpoint/2010/main" val="2081507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2E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00C570B-C25D-4934-BB83-BFAC3EB605C4}"/>
              </a:ext>
            </a:extLst>
          </p:cNvPr>
          <p:cNvSpPr>
            <a:spLocks noGrp="1"/>
          </p:cNvSpPr>
          <p:nvPr/>
        </p:nvSpPr>
        <p:spPr>
          <a:xfrm>
            <a:off x="590550" y="285750"/>
            <a:ext cx="7962900" cy="552450"/>
          </a:xfrm>
          <a:prstGeom prst="rect">
            <a:avLst/>
          </a:prstGeom>
          <a:noFill/>
          <a:ln w="0">
            <a:noFill/>
          </a:ln>
        </p:spPr>
        <p:txBody>
          <a:bodyPr anchor="t">
            <a:normAutofit fontScale="85000" lnSpcReduction="10000"/>
          </a:bodyPr>
          <a:lstStyle/>
          <a:p>
            <a:pPr>
              <a:defRPr sz="2850" b="1" i="0">
                <a:solidFill>
                  <a:srgbClr val="2D2D2D"/>
                </a:solidFill>
                <a:latin typeface="Montserrat"/>
                <a:ea typeface="Montserrat"/>
                <a:cs typeface="Montserrat"/>
              </a:defRPr>
            </a:pPr>
            <a:r>
              <a:rPr sz="2850" b="1" i="0">
                <a:solidFill>
                  <a:srgbClr val="2D2D2D"/>
                </a:solidFill>
                <a:latin typeface="Montserrat"/>
                <a:ea typeface="Montserrat"/>
                <a:cs typeface="Montserrat"/>
              </a:rPr>
              <a:t>From a study description to a data biography</a:t>
            </a:r>
          </a:p>
        </p:txBody>
      </p:sp>
      <p:sp>
        <p:nvSpPr>
          <p:cNvPr id="2" name="Rectangle 1">
            <a:extLst>
              <a:ext uri="{FF2B5EF4-FFF2-40B4-BE49-F238E27FC236}">
                <a16:creationId xmlns:a16="http://schemas.microsoft.com/office/drawing/2014/main" id="{6383A7D7-21AB-4BF3-8233-BC74BB3E8EBB}"/>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0CEECD4F-2BB6-4C82-B779-4F1A75C226BC}"/>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4FA67DB3-625A-4C47-866B-CFB51A59FE6F}"/>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F746F1D7-9759-43D6-9CF9-31BA2A5F8EAE}"/>
              </a:ext>
            </a:extLst>
          </p:cNvPr>
          <p:cNvSpPr>
            <a:spLocks noGrp="1"/>
          </p:cNvSpPr>
          <p:nvPr/>
        </p:nvSpPr>
        <p:spPr>
          <a:xfrm>
            <a:off x="685800" y="1133475"/>
            <a:ext cx="2476500" cy="228600"/>
          </a:xfrm>
          <a:prstGeom prst="rect">
            <a:avLst/>
          </a:prstGeom>
          <a:noFill/>
          <a:ln w="0">
            <a:noFill/>
          </a:ln>
        </p:spPr>
        <p:txBody>
          <a:bodyPr anchor="t">
            <a:normAutofit fontScale="87500" lnSpcReduction="10000"/>
          </a:bodyPr>
          <a:lstStyle/>
          <a:p>
            <a:pPr>
              <a:defRPr sz="1125" b="1" i="0">
                <a:solidFill>
                  <a:srgbClr val="1D4F91"/>
                </a:solidFill>
                <a:latin typeface="Montserrat"/>
                <a:ea typeface="Montserrat"/>
                <a:cs typeface="Montserrat"/>
              </a:defRPr>
            </a:pPr>
            <a:r>
              <a:rPr sz="1125" b="1" i="0">
                <a:solidFill>
                  <a:srgbClr val="1D4F91"/>
                </a:solidFill>
                <a:latin typeface="Montserrat"/>
                <a:ea typeface="Montserrat"/>
                <a:cs typeface="Montserrat"/>
              </a:rPr>
              <a:t>GENERAL DESCRIPTION</a:t>
            </a:r>
          </a:p>
        </p:txBody>
      </p:sp>
      <p:sp>
        <p:nvSpPr>
          <p:cNvPr id="6" name="Rectangle 5">
            <a:extLst>
              <a:ext uri="{FF2B5EF4-FFF2-40B4-BE49-F238E27FC236}">
                <a16:creationId xmlns:a16="http://schemas.microsoft.com/office/drawing/2014/main" id="{67A2C7BA-F5CC-43E8-B963-74C77D9683B3}"/>
              </a:ext>
            </a:extLst>
          </p:cNvPr>
          <p:cNvSpPr>
            <a:spLocks noGrp="1"/>
          </p:cNvSpPr>
          <p:nvPr/>
        </p:nvSpPr>
        <p:spPr>
          <a:xfrm>
            <a:off x="685800" y="1447800"/>
            <a:ext cx="3429000" cy="1047750"/>
          </a:xfrm>
          <a:prstGeom prst="rect">
            <a:avLst/>
          </a:prstGeom>
          <a:noFill/>
          <a:ln w="0">
            <a:noFill/>
          </a:ln>
        </p:spPr>
        <p:txBody>
          <a:bodyPr anchor="t">
            <a:normAutofit fontScale="86954" lnSpcReduction="20000"/>
          </a:bodyPr>
          <a:lstStyle/>
          <a:p>
            <a:pPr>
              <a:defRPr sz="2025" b="1" i="0">
                <a:solidFill>
                  <a:srgbClr val="2D2D2D"/>
                </a:solidFill>
                <a:latin typeface="Montserrat"/>
                <a:ea typeface="Montserrat"/>
                <a:cs typeface="Montserrat"/>
              </a:defRPr>
            </a:pPr>
            <a:r>
              <a:rPr sz="2025" b="1" i="0">
                <a:solidFill>
                  <a:srgbClr val="2D2D2D"/>
                </a:solidFill>
                <a:latin typeface="Montserrat"/>
                <a:ea typeface="Montserrat"/>
                <a:cs typeface="Montserrat"/>
              </a:rPr>
              <a:t>“A survey of adopters found that more than 94% rated their adoption positively.”</a:t>
            </a:r>
          </a:p>
        </p:txBody>
      </p:sp>
      <p:sp>
        <p:nvSpPr>
          <p:cNvPr id="7" name="Rectangle 6">
            <a:extLst>
              <a:ext uri="{FF2B5EF4-FFF2-40B4-BE49-F238E27FC236}">
                <a16:creationId xmlns:a16="http://schemas.microsoft.com/office/drawing/2014/main" id="{B2F9EB7B-349F-49D5-A6B4-532432636A4E}"/>
              </a:ext>
            </a:extLst>
          </p:cNvPr>
          <p:cNvSpPr>
            <a:spLocks noGrp="1"/>
          </p:cNvSpPr>
          <p:nvPr/>
        </p:nvSpPr>
        <p:spPr>
          <a:xfrm>
            <a:off x="685800" y="2714625"/>
            <a:ext cx="3429000" cy="323850"/>
          </a:xfrm>
          <a:prstGeom prst="rect">
            <a:avLst/>
          </a:prstGeom>
          <a:noFill/>
          <a:ln w="0">
            <a:noFill/>
          </a:ln>
        </p:spPr>
        <p:txBody>
          <a:bodyPr anchor="t">
            <a:normAutofit/>
          </a:bodyPr>
          <a:lstStyle/>
          <a:p>
            <a:pPr>
              <a:defRPr sz="1500" b="0" i="0">
                <a:solidFill>
                  <a:srgbClr val="606975"/>
                </a:solidFill>
                <a:latin typeface="Montserrat"/>
                <a:ea typeface="Montserrat"/>
                <a:cs typeface="Montserrat"/>
              </a:defRPr>
            </a:pPr>
            <a:r>
              <a:rPr sz="1500" b="0" i="0">
                <a:solidFill>
                  <a:srgbClr val="606975"/>
                </a:solidFill>
                <a:latin typeface="Montserrat"/>
                <a:ea typeface="Montserrat"/>
                <a:cs typeface="Montserrat"/>
              </a:rPr>
              <a:t>A headline tells us the result.</a:t>
            </a:r>
          </a:p>
        </p:txBody>
      </p:sp>
      <p:sp>
        <p:nvSpPr>
          <p:cNvPr id="8" name="Rectangle 7">
            <a:extLst>
              <a:ext uri="{FF2B5EF4-FFF2-40B4-BE49-F238E27FC236}">
                <a16:creationId xmlns:a16="http://schemas.microsoft.com/office/drawing/2014/main" id="{57C61477-316A-44D8-B097-5552E65434B5}"/>
              </a:ext>
            </a:extLst>
          </p:cNvPr>
          <p:cNvSpPr>
            <a:spLocks noGrp="1"/>
          </p:cNvSpPr>
          <p:nvPr/>
        </p:nvSpPr>
        <p:spPr>
          <a:xfrm>
            <a:off x="685800" y="3095625"/>
            <a:ext cx="3429000" cy="609600"/>
          </a:xfrm>
          <a:prstGeom prst="rect">
            <a:avLst/>
          </a:prstGeom>
          <a:noFill/>
          <a:ln w="0">
            <a:noFill/>
          </a:ln>
        </p:spPr>
        <p:txBody>
          <a:bodyPr anchor="t">
            <a:normAutofit fontScale="86944"/>
          </a:bodyPr>
          <a:lstStyle/>
          <a:p>
            <a:pPr>
              <a:defRPr sz="1800" b="1" i="0">
                <a:solidFill>
                  <a:srgbClr val="2C7A62"/>
                </a:solidFill>
                <a:latin typeface="Montserrat"/>
                <a:ea typeface="Montserrat"/>
                <a:cs typeface="Montserrat"/>
              </a:defRPr>
            </a:pPr>
            <a:r>
              <a:rPr sz="1800" b="1" i="0">
                <a:solidFill>
                  <a:srgbClr val="2C7A62"/>
                </a:solidFill>
                <a:latin typeface="Montserrat"/>
                <a:ea typeface="Montserrat"/>
                <a:cs typeface="Montserrat"/>
              </a:rPr>
              <a:t>A data biography tells us how the result became possible.</a:t>
            </a:r>
          </a:p>
        </p:txBody>
      </p:sp>
      <p:sp>
        <p:nvSpPr>
          <p:cNvPr id="9" name="Rectangle 8">
            <a:extLst>
              <a:ext uri="{FF2B5EF4-FFF2-40B4-BE49-F238E27FC236}">
                <a16:creationId xmlns:a16="http://schemas.microsoft.com/office/drawing/2014/main" id="{9EFECC94-7139-42D1-AB24-52736CBA0D5F}"/>
              </a:ext>
            </a:extLst>
          </p:cNvPr>
          <p:cNvSpPr>
            <a:spLocks noGrp="1"/>
          </p:cNvSpPr>
          <p:nvPr/>
        </p:nvSpPr>
        <p:spPr>
          <a:xfrm>
            <a:off x="4457700" y="1238250"/>
            <a:ext cx="28575" cy="3095625"/>
          </a:xfrm>
          <a:prstGeom prst="rect">
            <a:avLst/>
          </a:prstGeom>
          <a:solidFill>
            <a:srgbClr val="00A9E0"/>
          </a:solidFill>
          <a:ln w="0">
            <a:noFill/>
          </a:ln>
        </p:spPr>
      </p:sp>
      <p:sp>
        <p:nvSpPr>
          <p:cNvPr id="10" name="Rectangle 9">
            <a:extLst>
              <a:ext uri="{FF2B5EF4-FFF2-40B4-BE49-F238E27FC236}">
                <a16:creationId xmlns:a16="http://schemas.microsoft.com/office/drawing/2014/main" id="{7925EEC2-CF95-4DC0-9D66-E451E10C69D5}"/>
              </a:ext>
            </a:extLst>
          </p:cNvPr>
          <p:cNvSpPr>
            <a:spLocks noGrp="1"/>
          </p:cNvSpPr>
          <p:nvPr/>
        </p:nvSpPr>
        <p:spPr>
          <a:xfrm>
            <a:off x="4857750" y="1133475"/>
            <a:ext cx="3143250" cy="228600"/>
          </a:xfrm>
          <a:prstGeom prst="rect">
            <a:avLst/>
          </a:prstGeom>
          <a:noFill/>
          <a:ln w="0">
            <a:noFill/>
          </a:ln>
        </p:spPr>
        <p:txBody>
          <a:bodyPr anchor="t">
            <a:normAutofit fontScale="87500" lnSpcReduction="10000"/>
          </a:bodyPr>
          <a:lstStyle/>
          <a:p>
            <a:pPr>
              <a:defRPr sz="1125" b="1" i="0">
                <a:solidFill>
                  <a:srgbClr val="1D4F91"/>
                </a:solidFill>
                <a:latin typeface="Montserrat"/>
                <a:ea typeface="Montserrat"/>
                <a:cs typeface="Montserrat"/>
              </a:defRPr>
            </a:pPr>
            <a:r>
              <a:rPr sz="1125" b="1" i="0" dirty="0">
                <a:solidFill>
                  <a:srgbClr val="1D4F91"/>
                </a:solidFill>
                <a:highlight>
                  <a:srgbClr val="FFFF00"/>
                </a:highlight>
                <a:latin typeface="Montserrat"/>
                <a:ea typeface="Montserrat"/>
                <a:cs typeface="Montserrat"/>
              </a:rPr>
              <a:t>DATA BIOGRAPHY</a:t>
            </a:r>
          </a:p>
        </p:txBody>
      </p:sp>
      <p:sp>
        <p:nvSpPr>
          <p:cNvPr id="11" name="Rectangle 10">
            <a:extLst>
              <a:ext uri="{FF2B5EF4-FFF2-40B4-BE49-F238E27FC236}">
                <a16:creationId xmlns:a16="http://schemas.microsoft.com/office/drawing/2014/main" id="{DE329359-CF3C-4A4D-8A4A-B76F74A9DFFE}"/>
              </a:ext>
            </a:extLst>
          </p:cNvPr>
          <p:cNvSpPr>
            <a:spLocks noGrp="1"/>
          </p:cNvSpPr>
          <p:nvPr/>
        </p:nvSpPr>
        <p:spPr>
          <a:xfrm>
            <a:off x="4857750" y="1495425"/>
            <a:ext cx="3333750" cy="323850"/>
          </a:xfrm>
          <a:prstGeom prst="rect">
            <a:avLst/>
          </a:prstGeom>
          <a:noFill/>
          <a:ln w="0">
            <a:noFill/>
          </a:ln>
        </p:spPr>
        <p:txBody>
          <a:bodyPr anchor="t">
            <a:normAutofit fontScale="77384" lnSpcReduction="20000"/>
          </a:bodyPr>
          <a:lstStyle/>
          <a:p>
            <a:pPr>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Who produced the data, and why?</a:t>
            </a:r>
          </a:p>
        </p:txBody>
      </p:sp>
      <p:sp>
        <p:nvSpPr>
          <p:cNvPr id="12" name="Rectangle 11">
            <a:extLst>
              <a:ext uri="{FF2B5EF4-FFF2-40B4-BE49-F238E27FC236}">
                <a16:creationId xmlns:a16="http://schemas.microsoft.com/office/drawing/2014/main" id="{3D59A38B-2F8C-4E93-93FE-1C2B7BAA9843}"/>
              </a:ext>
            </a:extLst>
          </p:cNvPr>
          <p:cNvSpPr>
            <a:spLocks noGrp="1"/>
          </p:cNvSpPr>
          <p:nvPr/>
        </p:nvSpPr>
        <p:spPr>
          <a:xfrm>
            <a:off x="4857750" y="1971675"/>
            <a:ext cx="3333750" cy="457200"/>
          </a:xfrm>
          <a:prstGeom prst="rect">
            <a:avLst/>
          </a:prstGeom>
          <a:noFill/>
          <a:ln w="0">
            <a:noFill/>
          </a:ln>
        </p:spPr>
        <p:txBody>
          <a:bodyPr anchor="t">
            <a:normAutofit fontScale="87727" lnSpcReduction="20000"/>
          </a:bodyPr>
          <a:lstStyle/>
          <a:p>
            <a:pPr>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How were observations generated or selected?</a:t>
            </a:r>
          </a:p>
        </p:txBody>
      </p:sp>
      <p:sp>
        <p:nvSpPr>
          <p:cNvPr id="13" name="Rectangle 12">
            <a:extLst>
              <a:ext uri="{FF2B5EF4-FFF2-40B4-BE49-F238E27FC236}">
                <a16:creationId xmlns:a16="http://schemas.microsoft.com/office/drawing/2014/main" id="{B118671A-C4D6-4BB6-885B-F059EBF28F07}"/>
              </a:ext>
            </a:extLst>
          </p:cNvPr>
          <p:cNvSpPr>
            <a:spLocks noGrp="1"/>
          </p:cNvSpPr>
          <p:nvPr/>
        </p:nvSpPr>
        <p:spPr>
          <a:xfrm>
            <a:off x="4857750" y="2571750"/>
            <a:ext cx="3333750" cy="552450"/>
          </a:xfrm>
          <a:prstGeom prst="rect">
            <a:avLst/>
          </a:prstGeom>
          <a:noFill/>
          <a:ln w="0">
            <a:noFill/>
          </a:ln>
        </p:spPr>
        <p:txBody>
          <a:bodyPr anchor="t">
            <a:normAutofit fontScale="76667" lnSpcReduction="20000"/>
          </a:bodyPr>
          <a:lstStyle/>
          <a:p>
            <a:pPr>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What are the cases and variables? How were they measured?</a:t>
            </a:r>
          </a:p>
        </p:txBody>
      </p:sp>
      <p:sp>
        <p:nvSpPr>
          <p:cNvPr id="14" name="Rectangle 13">
            <a:extLst>
              <a:ext uri="{FF2B5EF4-FFF2-40B4-BE49-F238E27FC236}">
                <a16:creationId xmlns:a16="http://schemas.microsoft.com/office/drawing/2014/main" id="{08EC56DC-D09E-4263-8441-C354561FDE6C}"/>
              </a:ext>
            </a:extLst>
          </p:cNvPr>
          <p:cNvSpPr>
            <a:spLocks noGrp="1"/>
          </p:cNvSpPr>
          <p:nvPr/>
        </p:nvSpPr>
        <p:spPr>
          <a:xfrm>
            <a:off x="4857750" y="3276600"/>
            <a:ext cx="3333750" cy="457200"/>
          </a:xfrm>
          <a:prstGeom prst="rect">
            <a:avLst/>
          </a:prstGeom>
          <a:noFill/>
          <a:ln w="0">
            <a:noFill/>
          </a:ln>
        </p:spPr>
        <p:txBody>
          <a:bodyPr anchor="t">
            <a:normAutofit fontScale="87727" lnSpcReduction="20000"/>
          </a:bodyPr>
          <a:lstStyle/>
          <a:p>
            <a:pPr>
              <a:defRPr sz="1650" b="1" i="0">
                <a:solidFill>
                  <a:srgbClr val="2D2D2D"/>
                </a:solidFill>
                <a:latin typeface="Montserrat"/>
                <a:ea typeface="Montserrat"/>
                <a:cs typeface="Montserrat"/>
              </a:defRPr>
            </a:pPr>
            <a:r>
              <a:rPr sz="1650" b="1" i="0">
                <a:solidFill>
                  <a:srgbClr val="2D2D2D"/>
                </a:solidFill>
                <a:latin typeface="Montserrat"/>
                <a:ea typeface="Montserrat"/>
                <a:cs typeface="Montserrat"/>
              </a:rPr>
              <a:t>What is covered, missing, filtered, or excluded?</a:t>
            </a:r>
          </a:p>
        </p:txBody>
      </p:sp>
      <p:sp>
        <p:nvSpPr>
          <p:cNvPr id="15" name="Rectangle 14">
            <a:extLst>
              <a:ext uri="{FF2B5EF4-FFF2-40B4-BE49-F238E27FC236}">
                <a16:creationId xmlns:a16="http://schemas.microsoft.com/office/drawing/2014/main" id="{BF9CD518-28BC-4ED1-945C-868697F89FDA}"/>
              </a:ext>
            </a:extLst>
          </p:cNvPr>
          <p:cNvSpPr>
            <a:spLocks noGrp="1"/>
          </p:cNvSpPr>
          <p:nvPr/>
        </p:nvSpPr>
        <p:spPr>
          <a:xfrm>
            <a:off x="4857750" y="3876675"/>
            <a:ext cx="3333750" cy="361950"/>
          </a:xfrm>
          <a:prstGeom prst="rect">
            <a:avLst/>
          </a:prstGeom>
          <a:noFill/>
          <a:ln w="0">
            <a:noFill/>
          </a:ln>
        </p:spPr>
        <p:txBody>
          <a:bodyPr anchor="t">
            <a:normAutofit fontScale="74984" lnSpcReduction="20000"/>
          </a:bodyPr>
          <a:lstStyle/>
          <a:p>
            <a:pPr>
              <a:defRPr sz="1650" b="1" i="0">
                <a:solidFill>
                  <a:srgbClr val="B43A3A"/>
                </a:solidFill>
                <a:latin typeface="Montserrat"/>
                <a:ea typeface="Montserrat"/>
                <a:cs typeface="Montserrat"/>
              </a:defRPr>
            </a:pPr>
            <a:r>
              <a:rPr sz="1650" b="1" i="0">
                <a:solidFill>
                  <a:srgbClr val="B43A3A"/>
                </a:solidFill>
                <a:latin typeface="Montserrat"/>
                <a:ea typeface="Montserrat"/>
                <a:cs typeface="Montserrat"/>
              </a:rPr>
              <a:t>Which claims can these data support?</a:t>
            </a:r>
          </a:p>
        </p:txBody>
      </p:sp>
    </p:spTree>
    <p:extLst>
      <p:ext uri="{BB962C8B-B14F-4D97-AF65-F5344CB8AC3E}">
        <p14:creationId xmlns:p14="http://schemas.microsoft.com/office/powerpoint/2010/main" val="1444995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181D09D-4978-49BA-B618-27195774398C}"/>
              </a:ext>
            </a:extLst>
          </p:cNvPr>
          <p:cNvSpPr>
            <a:spLocks noGrp="1"/>
          </p:cNvSpPr>
          <p:nvPr/>
        </p:nvSpPr>
        <p:spPr>
          <a:xfrm>
            <a:off x="385676" y="200543"/>
            <a:ext cx="6510598" cy="1019176"/>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lang="en-US" altLang="zh-CN" sz="2850" b="1" i="0" dirty="0">
                <a:solidFill>
                  <a:srgbClr val="2D2D2D"/>
                </a:solidFill>
                <a:latin typeface="Montserrat"/>
                <a:ea typeface="Montserrat"/>
                <a:cs typeface="Montserrat"/>
              </a:rPr>
              <a:t>Let’s</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find</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some</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data</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with</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Taffy</a:t>
            </a:r>
            <a:r>
              <a:rPr lang="zh-CN" altLang="en-US" sz="2850" b="1" i="0" dirty="0">
                <a:solidFill>
                  <a:srgbClr val="2D2D2D"/>
                </a:solidFill>
                <a:latin typeface="Montserrat"/>
                <a:ea typeface="Montserrat"/>
                <a:cs typeface="Montserrat"/>
              </a:rPr>
              <a:t> </a:t>
            </a:r>
            <a:endParaRPr lang="en-US" altLang="zh-CN" sz="2850" b="1" i="0" dirty="0">
              <a:solidFill>
                <a:srgbClr val="2D2D2D"/>
              </a:solidFill>
              <a:latin typeface="Montserrat"/>
              <a:ea typeface="Montserrat"/>
              <a:cs typeface="Montserrat"/>
            </a:endParaRPr>
          </a:p>
          <a:p>
            <a:pPr>
              <a:defRPr sz="2850" b="1" i="0">
                <a:solidFill>
                  <a:srgbClr val="2D2D2D"/>
                </a:solidFill>
                <a:latin typeface="Montserrat"/>
                <a:ea typeface="Montserrat"/>
                <a:cs typeface="Montserrat"/>
              </a:defRPr>
            </a:pPr>
            <a:r>
              <a:rPr lang="en-US" altLang="zh-CN" sz="2850" b="1" i="0" dirty="0">
                <a:solidFill>
                  <a:srgbClr val="2D2D2D"/>
                </a:solidFill>
                <a:latin typeface="Montserrat"/>
                <a:ea typeface="Montserrat"/>
                <a:cs typeface="Montserrat"/>
              </a:rPr>
              <a:t>and</a:t>
            </a:r>
            <a:r>
              <a:rPr lang="zh-CN" altLang="en-US" sz="2850" b="1" i="0" dirty="0">
                <a:solidFill>
                  <a:srgbClr val="2D2D2D"/>
                </a:solidFill>
                <a:latin typeface="Montserrat"/>
                <a:ea typeface="Montserrat"/>
                <a:cs typeface="Montserrat"/>
              </a:rPr>
              <a:t> </a:t>
            </a:r>
            <a:r>
              <a:rPr sz="2850" b="1" i="0" dirty="0">
                <a:solidFill>
                  <a:srgbClr val="2D2D2D"/>
                </a:solidFill>
                <a:latin typeface="Montserrat"/>
                <a:ea typeface="Montserrat"/>
                <a:cs typeface="Montserrat"/>
              </a:rPr>
              <a:t>Build a first data biography</a:t>
            </a:r>
          </a:p>
        </p:txBody>
      </p:sp>
      <p:sp>
        <p:nvSpPr>
          <p:cNvPr id="3" name="Rectangle 2">
            <a:extLst>
              <a:ext uri="{FF2B5EF4-FFF2-40B4-BE49-F238E27FC236}">
                <a16:creationId xmlns:a16="http://schemas.microsoft.com/office/drawing/2014/main" id="{1306EA61-E6E9-4255-9D94-53D6F1D37AFB}"/>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2F0E020D-D944-4A2F-93C5-597E541C21BF}"/>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pic>
        <p:nvPicPr>
          <p:cNvPr id="15" name="Picture 14">
            <a:extLst>
              <a:ext uri="{FF2B5EF4-FFF2-40B4-BE49-F238E27FC236}">
                <a16:creationId xmlns:a16="http://schemas.microsoft.com/office/drawing/2014/main" id="{8E783E4A-481F-BDFA-C888-DDDB23FAEC71}"/>
              </a:ext>
            </a:extLst>
          </p:cNvPr>
          <p:cNvPicPr>
            <a:picLocks noChangeAspect="1"/>
          </p:cNvPicPr>
          <p:nvPr/>
        </p:nvPicPr>
        <p:blipFill>
          <a:blip r:embed="rId3"/>
          <a:stretch>
            <a:fillRect/>
          </a:stretch>
        </p:blipFill>
        <p:spPr>
          <a:xfrm>
            <a:off x="477549" y="1219719"/>
            <a:ext cx="6210474" cy="3460357"/>
          </a:xfrm>
          <a:prstGeom prst="rect">
            <a:avLst/>
          </a:prstGeom>
        </p:spPr>
      </p:pic>
    </p:spTree>
    <p:extLst>
      <p:ext uri="{BB962C8B-B14F-4D97-AF65-F5344CB8AC3E}">
        <p14:creationId xmlns:p14="http://schemas.microsoft.com/office/powerpoint/2010/main" val="1978464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AF5FA"/>
        </a:solidFill>
        <a:effectLst/>
      </p:bgPr>
    </p:bg>
    <p:spTree>
      <p:nvGrpSpPr>
        <p:cNvPr id="1" name="">
          <a:extLst>
            <a:ext uri="{FF2B5EF4-FFF2-40B4-BE49-F238E27FC236}">
              <a16:creationId xmlns:a16="http://schemas.microsoft.com/office/drawing/2014/main" id="{9D1F80E6-E146-A342-F205-BAB766FB0C77}"/>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62020B2-F6FF-D4EA-B23E-332B44854E70}"/>
              </a:ext>
            </a:extLst>
          </p:cNvPr>
          <p:cNvSpPr>
            <a:spLocks noGrp="1"/>
          </p:cNvSpPr>
          <p:nvPr/>
        </p:nvSpPr>
        <p:spPr>
          <a:xfrm>
            <a:off x="385676" y="200543"/>
            <a:ext cx="6510598" cy="1019176"/>
          </a:xfrm>
          <a:prstGeom prst="rect">
            <a:avLst/>
          </a:prstGeom>
          <a:noFill/>
          <a:ln w="0">
            <a:noFill/>
          </a:ln>
        </p:spPr>
        <p:txBody>
          <a:bodyPr anchor="t">
            <a:normAutofit/>
          </a:bodyPr>
          <a:lstStyle/>
          <a:p>
            <a:pPr>
              <a:defRPr sz="2850" b="1" i="0">
                <a:solidFill>
                  <a:srgbClr val="2D2D2D"/>
                </a:solidFill>
                <a:latin typeface="Montserrat"/>
                <a:ea typeface="Montserrat"/>
                <a:cs typeface="Montserrat"/>
              </a:defRPr>
            </a:pPr>
            <a:r>
              <a:rPr lang="en-US" altLang="zh-CN" sz="2850" b="1" i="0" dirty="0">
                <a:solidFill>
                  <a:srgbClr val="2D2D2D"/>
                </a:solidFill>
                <a:latin typeface="Montserrat"/>
                <a:ea typeface="Montserrat"/>
                <a:cs typeface="Montserrat"/>
              </a:rPr>
              <a:t>Let’s</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find</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some</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data</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with</a:t>
            </a:r>
            <a:r>
              <a:rPr lang="zh-CN" altLang="en-US" sz="2850" b="1" i="0" dirty="0">
                <a:solidFill>
                  <a:srgbClr val="2D2D2D"/>
                </a:solidFill>
                <a:latin typeface="Montserrat"/>
                <a:ea typeface="Montserrat"/>
                <a:cs typeface="Montserrat"/>
              </a:rPr>
              <a:t> </a:t>
            </a:r>
            <a:r>
              <a:rPr lang="en-US" altLang="zh-CN" sz="2850" b="1" i="0" dirty="0">
                <a:solidFill>
                  <a:srgbClr val="2D2D2D"/>
                </a:solidFill>
                <a:latin typeface="Montserrat"/>
                <a:ea typeface="Montserrat"/>
                <a:cs typeface="Montserrat"/>
              </a:rPr>
              <a:t>Taffy</a:t>
            </a:r>
            <a:r>
              <a:rPr lang="zh-CN" altLang="en-US" sz="2850" b="1" i="0" dirty="0">
                <a:solidFill>
                  <a:srgbClr val="2D2D2D"/>
                </a:solidFill>
                <a:latin typeface="Montserrat"/>
                <a:ea typeface="Montserrat"/>
                <a:cs typeface="Montserrat"/>
              </a:rPr>
              <a:t> </a:t>
            </a:r>
            <a:endParaRPr lang="en-US" altLang="zh-CN" sz="2850" b="1" i="0" dirty="0">
              <a:solidFill>
                <a:srgbClr val="2D2D2D"/>
              </a:solidFill>
              <a:latin typeface="Montserrat"/>
              <a:ea typeface="Montserrat"/>
              <a:cs typeface="Montserrat"/>
            </a:endParaRPr>
          </a:p>
          <a:p>
            <a:pPr>
              <a:defRPr sz="2850" b="1" i="0">
                <a:solidFill>
                  <a:srgbClr val="2D2D2D"/>
                </a:solidFill>
                <a:latin typeface="Montserrat"/>
                <a:ea typeface="Montserrat"/>
                <a:cs typeface="Montserrat"/>
              </a:defRPr>
            </a:pPr>
            <a:r>
              <a:rPr lang="en-US" altLang="zh-CN" sz="2850" b="1" i="0" dirty="0">
                <a:solidFill>
                  <a:srgbClr val="2D2D2D"/>
                </a:solidFill>
                <a:latin typeface="Montserrat"/>
                <a:ea typeface="Montserrat"/>
                <a:cs typeface="Montserrat"/>
              </a:rPr>
              <a:t>and</a:t>
            </a:r>
            <a:r>
              <a:rPr lang="zh-CN" altLang="en-US" sz="2850" b="1" i="0" dirty="0">
                <a:solidFill>
                  <a:srgbClr val="2D2D2D"/>
                </a:solidFill>
                <a:latin typeface="Montserrat"/>
                <a:ea typeface="Montserrat"/>
                <a:cs typeface="Montserrat"/>
              </a:rPr>
              <a:t> </a:t>
            </a:r>
            <a:r>
              <a:rPr sz="2850" b="1" i="0" dirty="0">
                <a:solidFill>
                  <a:srgbClr val="2D2D2D"/>
                </a:solidFill>
                <a:latin typeface="Montserrat"/>
                <a:ea typeface="Montserrat"/>
                <a:cs typeface="Montserrat"/>
              </a:rPr>
              <a:t>Build a first data biography</a:t>
            </a:r>
          </a:p>
        </p:txBody>
      </p:sp>
      <p:sp>
        <p:nvSpPr>
          <p:cNvPr id="3" name="Rectangle 2">
            <a:extLst>
              <a:ext uri="{FF2B5EF4-FFF2-40B4-BE49-F238E27FC236}">
                <a16:creationId xmlns:a16="http://schemas.microsoft.com/office/drawing/2014/main" id="{31E47E30-FAAE-AB67-9EF2-6945B5E4A4BF}"/>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3B0CA9FF-3B53-1044-EC19-A2E1BD2984DF}"/>
              </a:ext>
            </a:extLst>
          </p:cNvPr>
          <p:cNvSpPr>
            <a:spLocks noGrp="1"/>
          </p:cNvSpPr>
          <p:nvPr/>
        </p:nvSpPr>
        <p:spPr>
          <a:xfrm>
            <a:off x="266700" y="4905375"/>
            <a:ext cx="5334000" cy="171450"/>
          </a:xfrm>
          <a:prstGeom prst="rect">
            <a:avLst/>
          </a:prstGeom>
          <a:noFill/>
          <a:ln w="0">
            <a:noFill/>
          </a:ln>
        </p:spPr>
        <p:txBody>
          <a:bodyPr anchor="ctr">
            <a:normAutofit fontScale="78636" lnSpcReduction="20000"/>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pic>
        <p:nvPicPr>
          <p:cNvPr id="2" name="Picture 1">
            <a:extLst>
              <a:ext uri="{FF2B5EF4-FFF2-40B4-BE49-F238E27FC236}">
                <a16:creationId xmlns:a16="http://schemas.microsoft.com/office/drawing/2014/main" id="{8494AFC8-564C-0C23-875C-303F9659256C}"/>
              </a:ext>
            </a:extLst>
          </p:cNvPr>
          <p:cNvPicPr>
            <a:picLocks noChangeAspect="1"/>
          </p:cNvPicPr>
          <p:nvPr/>
        </p:nvPicPr>
        <p:blipFill>
          <a:blip r:embed="rId3"/>
          <a:stretch>
            <a:fillRect/>
          </a:stretch>
        </p:blipFill>
        <p:spPr>
          <a:xfrm>
            <a:off x="489568" y="1197214"/>
            <a:ext cx="4780701" cy="3565163"/>
          </a:xfrm>
          <a:prstGeom prst="rect">
            <a:avLst/>
          </a:prstGeom>
        </p:spPr>
      </p:pic>
    </p:spTree>
    <p:extLst>
      <p:ext uri="{BB962C8B-B14F-4D97-AF65-F5344CB8AC3E}">
        <p14:creationId xmlns:p14="http://schemas.microsoft.com/office/powerpoint/2010/main" val="4149815284"/>
      </p:ext>
    </p:extLst>
  </p:cSld>
  <p:clrMapOvr>
    <a:masterClrMapping/>
  </p:clrMapOvr>
</p:sld>
</file>

<file path=ppt/theme/theme1.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2.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3.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744</TotalTime>
  <Words>3949</Words>
  <Application>Microsoft Macintosh PowerPoint</Application>
  <DocSecurity>0</DocSecurity>
  <PresentationFormat>On-screen Show (16:9)</PresentationFormat>
  <Paragraphs>402</Paragraphs>
  <Slides>40</Slides>
  <Notes>34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Arial</vt:lpstr>
      <vt:lpstr>Calibri</vt:lpstr>
      <vt:lpstr>Calibri Light</vt:lpstr>
      <vt:lpstr>Montserrat</vt:lpstr>
      <vt:lpstr>Verdana</vt:lpstr>
      <vt:lpstr>Theme1</vt:lpstr>
      <vt:lpstr>Theme1</vt:lpstr>
      <vt:lpstr>Study design, sampling, and bias Two real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Study design, sampling, and bias Two real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Tian Zheng</cp:lastModifiedBy>
  <cp:revision>4</cp:revision>
  <cp:lastPrinted>2026-09-16T13:33:28Z</cp:lastPrinted>
  <dcterms:created xsi:type="dcterms:W3CDTF">2026-09-14T21:00:15Z</dcterms:created>
  <dcterms:modified xsi:type="dcterms:W3CDTF">2026-09-16T13:42:09Z</dcterms:modified>
</cp:coreProperties>
</file>